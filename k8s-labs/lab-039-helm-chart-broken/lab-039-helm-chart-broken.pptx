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1.xml"/><Relationship Id="rId8"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109728" cy="5143500"/>
          </a:xfrm>
          <a:prstGeom prst="rect">
            <a:avLst/>
          </a:prstGeom>
          <a:solidFill>
            <a:srgbClr val="0E7C7B"/>
          </a:solidFill>
          <a:ln w="12700">
            <a:solidFill>
              <a:srgbClr val="0E7C7B"/>
            </a:solidFill>
            <a:prstDash val="solid"/>
          </a:ln>
        </p:spPr>
      </p:sp>
      <p:sp>
        <p:nvSpPr>
          <p:cNvPr id="3" name="Shape 1"/>
          <p:cNvSpPr/>
          <p:nvPr/>
        </p:nvSpPr>
        <p:spPr>
          <a:xfrm>
            <a:off x="0" y="3474720"/>
            <a:ext cx="9144000" cy="1668780"/>
          </a:xfrm>
          <a:prstGeom prst="rect">
            <a:avLst/>
          </a:prstGeom>
          <a:solidFill>
            <a:srgbClr val="091420"/>
          </a:solidFill>
          <a:ln w="12700">
            <a:solidFill>
              <a:srgbClr val="091420"/>
            </a:solidFill>
            <a:prstDash val="solid"/>
          </a:ln>
        </p:spPr>
      </p:sp>
      <p:pic>
        <p:nvPicPr>
          <p:cNvPr id="4" name="Image 0" descr="preencoded.png">    </p:cNvPr>
          <p:cNvPicPr>
            <a:picLocks noChangeAspect="1"/>
          </p:cNvPicPr>
          <p:nvPr/>
        </p:nvPicPr>
        <p:blipFill>
          <a:blip r:embed="rId1"/>
          <a:stretch>
            <a:fillRect/>
          </a:stretch>
        </p:blipFill>
        <p:spPr>
          <a:xfrm>
            <a:off x="548640" y="502920"/>
            <a:ext cx="1005840" cy="1005840"/>
          </a:xfrm>
          <a:prstGeom prst="rect">
            <a:avLst/>
          </a:prstGeom>
        </p:spPr>
      </p:pic>
      <p:sp>
        <p:nvSpPr>
          <p:cNvPr id="5" name="Text 2"/>
          <p:cNvSpPr/>
          <p:nvPr/>
        </p:nvSpPr>
        <p:spPr>
          <a:xfrm>
            <a:off x="457200" y="1645920"/>
            <a:ext cx="8229600" cy="457200"/>
          </a:xfrm>
          <a:prstGeom prst="rect">
            <a:avLst/>
          </a:prstGeom>
          <a:noFill/>
          <a:ln/>
        </p:spPr>
        <p:txBody>
          <a:bodyPr wrap="square" rtlCol="0" anchor="ctr"/>
          <a:lstStyle/>
          <a:p>
            <a:pPr indent="0" marL="0">
              <a:buNone/>
            </a:pPr>
            <a:r>
              <a:rPr lang="en-US" sz="1600" b="1" spc="400" kern="0" dirty="0">
                <a:solidFill>
                  <a:srgbClr val="14A5A3"/>
                </a:solidFill>
                <a:latin typeface="Calibri" pitchFamily="34" charset="0"/>
                <a:ea typeface="Calibri" pitchFamily="34" charset="-122"/>
                <a:cs typeface="Calibri" pitchFamily="34" charset="-120"/>
              </a:rPr>
              <a:t>Lab 039</a:t>
            </a:r>
            <a:endParaRPr lang="en-US" sz="1600" dirty="0"/>
          </a:p>
        </p:txBody>
      </p:sp>
      <p:sp>
        <p:nvSpPr>
          <p:cNvPr id="6" name="Text 3"/>
          <p:cNvSpPr/>
          <p:nvPr/>
        </p:nvSpPr>
        <p:spPr>
          <a:xfrm>
            <a:off x="457200" y="1965960"/>
            <a:ext cx="8229600" cy="1371600"/>
          </a:xfrm>
          <a:prstGeom prst="rect">
            <a:avLst/>
          </a:prstGeom>
          <a:noFill/>
          <a:ln/>
        </p:spPr>
        <p:txBody>
          <a:bodyPr wrap="square" rtlCol="0" anchor="ctr"/>
          <a:lstStyle/>
          <a:p>
            <a:pPr indent="0" marL="0">
              <a:buNone/>
            </a:pPr>
            <a:r>
              <a:rPr lang="en-US" sz="4400" b="1" dirty="0">
                <a:solidFill>
                  <a:srgbClr val="FFFFFF"/>
                </a:solidFill>
                <a:latin typeface="Calibri" pitchFamily="34" charset="0"/>
                <a:ea typeface="Calibri" pitchFamily="34" charset="-122"/>
                <a:cs typeface="Calibri" pitchFamily="34" charset="-120"/>
              </a:rPr>
              <a:t>Helm Chart</a:t>
            </a:r>
            <a:endParaRPr lang="en-US" sz="4400" dirty="0"/>
          </a:p>
          <a:p>
            <a:pPr indent="0" marL="0">
              <a:buNone/>
            </a:pPr>
            <a:r>
              <a:rPr lang="en-US" sz="4400" b="1" dirty="0">
                <a:solidFill>
                  <a:srgbClr val="FFFFFF"/>
                </a:solidFill>
                <a:latin typeface="Calibri" pitchFamily="34" charset="0"/>
                <a:ea typeface="Calibri" pitchFamily="34" charset="-122"/>
                <a:cs typeface="Calibri" pitchFamily="34" charset="-120"/>
              </a:rPr>
              <a:t>Won't Install</a:t>
            </a:r>
            <a:endParaRPr lang="en-US" sz="4400" dirty="0"/>
          </a:p>
        </p:txBody>
      </p:sp>
      <p:sp>
        <p:nvSpPr>
          <p:cNvPr id="7" name="Text 4"/>
          <p:cNvSpPr/>
          <p:nvPr/>
        </p:nvSpPr>
        <p:spPr>
          <a:xfrm>
            <a:off x="457200" y="3520440"/>
            <a:ext cx="8229600" cy="411480"/>
          </a:xfrm>
          <a:prstGeom prst="rect">
            <a:avLst/>
          </a:prstGeom>
          <a:noFill/>
          <a:ln/>
        </p:spPr>
        <p:txBody>
          <a:bodyPr wrap="square" rtlCol="0" anchor="ctr"/>
          <a:lstStyle/>
          <a:p>
            <a:pPr indent="0" marL="0">
              <a:buNone/>
            </a:pPr>
            <a:r>
              <a:rPr lang="en-US" sz="1400" i="1" dirty="0">
                <a:solidFill>
                  <a:srgbClr val="8899AA"/>
                </a:solidFill>
                <a:latin typeface="Calibri" pitchFamily="34" charset="0"/>
                <a:ea typeface="Calibri" pitchFamily="34" charset="-122"/>
                <a:cs typeface="Calibri" pitchFamily="34" charset="-120"/>
              </a:rPr>
              <a:t>9 bugs · 4 files · 3 failure layers</a:t>
            </a:r>
            <a:endParaRPr lang="en-US" sz="1400" dirty="0"/>
          </a:p>
        </p:txBody>
      </p:sp>
      <p:sp>
        <p:nvSpPr>
          <p:cNvPr id="8" name="Text 5"/>
          <p:cNvSpPr/>
          <p:nvPr/>
        </p:nvSpPr>
        <p:spPr>
          <a:xfrm>
            <a:off x="457200" y="4023360"/>
            <a:ext cx="8229600" cy="365760"/>
          </a:xfrm>
          <a:prstGeom prst="rect">
            <a:avLst/>
          </a:prstGeom>
          <a:noFill/>
          <a:ln/>
        </p:spPr>
        <p:txBody>
          <a:bodyPr wrap="square" rtlCol="0" anchor="ctr"/>
          <a:lstStyle/>
          <a:p>
            <a:pPr indent="0" marL="0">
              <a:buNone/>
            </a:pPr>
            <a:r>
              <a:rPr lang="en-US" sz="1100" dirty="0">
                <a:solidFill>
                  <a:srgbClr val="8899AA"/>
                </a:solidFill>
                <a:latin typeface="Calibri" pitchFamily="34" charset="0"/>
                <a:ea typeface="Calibri" pitchFamily="34" charset="-122"/>
                <a:cs typeface="Calibri" pitchFamily="34" charset="-120"/>
              </a:rPr>
              <a:t>Kubernetes Labs · cloud-engineer-labs</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Shape 1"/>
          <p:cNvSpPr/>
          <p:nvPr/>
        </p:nvSpPr>
        <p:spPr>
          <a:xfrm>
            <a:off x="0" y="0"/>
            <a:ext cx="73152" cy="685800"/>
          </a:xfrm>
          <a:prstGeom prst="rect">
            <a:avLst/>
          </a:prstGeom>
          <a:solidFill>
            <a:srgbClr val="0E7C7B"/>
          </a:solidFill>
          <a:ln w="12700">
            <a:solidFill>
              <a:srgbClr val="0E7C7B"/>
            </a:solidFill>
            <a:prstDash val="solid"/>
          </a:ln>
        </p:spPr>
      </p:sp>
      <p:sp>
        <p:nvSpPr>
          <p:cNvPr id="4" name="Text 2"/>
          <p:cNvSpPr/>
          <p:nvPr/>
        </p:nvSpPr>
        <p:spPr>
          <a:xfrm>
            <a:off x="182880" y="0"/>
            <a:ext cx="8778240" cy="6858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What Is Helm — and Why Does It Exist?</a:t>
            </a:r>
            <a:endParaRPr lang="en-US" sz="2200" dirty="0"/>
          </a:p>
        </p:txBody>
      </p:sp>
      <p:sp>
        <p:nvSpPr>
          <p:cNvPr id="5" name="Shape 3"/>
          <p:cNvSpPr/>
          <p:nvPr/>
        </p:nvSpPr>
        <p:spPr>
          <a:xfrm>
            <a:off x="0" y="4800600"/>
            <a:ext cx="9144000" cy="342900"/>
          </a:xfrm>
          <a:prstGeom prst="rect">
            <a:avLst/>
          </a:prstGeom>
          <a:solidFill>
            <a:srgbClr val="0D1B2A"/>
          </a:solidFill>
          <a:ln w="12700">
            <a:solidFill>
              <a:srgbClr val="0D1B2A"/>
            </a:solidFill>
            <a:prstDash val="solid"/>
          </a:ln>
        </p:spPr>
      </p:sp>
      <p:sp>
        <p:nvSpPr>
          <p:cNvPr id="6" name="Text 4"/>
          <p:cNvSpPr/>
          <p:nvPr/>
        </p:nvSpPr>
        <p:spPr>
          <a:xfrm>
            <a:off x="182880" y="4800600"/>
            <a:ext cx="8778240" cy="342900"/>
          </a:xfrm>
          <a:prstGeom prst="rect">
            <a:avLst/>
          </a:prstGeom>
          <a:noFill/>
          <a:ln/>
        </p:spPr>
        <p:txBody>
          <a:bodyPr wrap="square" lIns="0" tIns="0" rIns="0" bIns="0" rtlCol="0" anchor="ctr"/>
          <a:lstStyle/>
          <a:p>
            <a:pPr indent="0" marL="0">
              <a:buNone/>
            </a:pPr>
            <a:r>
              <a:rPr lang="en-US" sz="900" dirty="0">
                <a:solidFill>
                  <a:srgbClr val="8899AA"/>
                </a:solidFill>
                <a:latin typeface="Calibri" pitchFamily="34" charset="0"/>
                <a:ea typeface="Calibri" pitchFamily="34" charset="-122"/>
                <a:cs typeface="Calibri" pitchFamily="34" charset="-120"/>
              </a:rPr>
              <a:t>Lab 039 — Helm Chart Won't Install</a:t>
            </a:r>
            <a:endParaRPr lang="en-US" sz="900" dirty="0"/>
          </a:p>
        </p:txBody>
      </p:sp>
      <p:sp>
        <p:nvSpPr>
          <p:cNvPr id="7" name="Shape 5"/>
          <p:cNvSpPr/>
          <p:nvPr/>
        </p:nvSpPr>
        <p:spPr>
          <a:xfrm>
            <a:off x="274320" y="868680"/>
            <a:ext cx="4114800" cy="3749040"/>
          </a:xfrm>
          <a:prstGeom prst="rect">
            <a:avLst/>
          </a:prstGeom>
          <a:solidFill>
            <a:srgbClr val="FFFFFF"/>
          </a:solidFill>
          <a:ln w="12700">
            <a:solidFill>
              <a:srgbClr val="D0DCE8"/>
            </a:solidFill>
            <a:prstDash val="solid"/>
          </a:ln>
          <a:effectLst>
            <a:outerShdw sx="100000" sy="100000" kx="0" ky="0" algn="bl" rotWithShape="0" blurRad="50800" dist="25400" dir="8100000">
              <a:srgbClr val="000000">
                <a:alpha val="8000"/>
              </a:srgbClr>
            </a:outerShdw>
          </a:effectLst>
        </p:spPr>
      </p:sp>
      <p:sp>
        <p:nvSpPr>
          <p:cNvPr id="8" name="Text 6"/>
          <p:cNvSpPr/>
          <p:nvPr/>
        </p:nvSpPr>
        <p:spPr>
          <a:xfrm>
            <a:off x="457200" y="960120"/>
            <a:ext cx="3749040" cy="365760"/>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The Problem Helm Solves</a:t>
            </a:r>
            <a:endParaRPr lang="en-US" sz="1300" dirty="0"/>
          </a:p>
        </p:txBody>
      </p:sp>
      <p:sp>
        <p:nvSpPr>
          <p:cNvPr id="9" name="Text 7"/>
          <p:cNvSpPr/>
          <p:nvPr/>
        </p:nvSpPr>
        <p:spPr>
          <a:xfrm>
            <a:off x="457200" y="1371600"/>
            <a:ext cx="3749040" cy="3017520"/>
          </a:xfrm>
          <a:prstGeom prst="rect">
            <a:avLst/>
          </a:prstGeom>
          <a:noFill/>
          <a:ln/>
        </p:spPr>
        <p:txBody>
          <a:bodyPr wrap="square" rtlCol="0" anchor="t"/>
          <a:lstStyle/>
          <a:p>
            <a:pPr indent="0" marL="0">
              <a:buNone/>
            </a:pPr>
            <a:r>
              <a:rPr lang="en-US" sz="1200" dirty="0">
                <a:solidFill>
                  <a:srgbClr val="334455"/>
                </a:solidFill>
                <a:latin typeface="Calibri" pitchFamily="34" charset="0"/>
                <a:ea typeface="Calibri" pitchFamily="34" charset="-122"/>
                <a:cs typeface="Calibri" pitchFamily="34" charset="-120"/>
              </a:rPr>
              <a:t>Deploying an app to Kubernetes means writing YAML for Deployments, Services, ConfigMaps, Secrets and more — and doing it again for every environment.</a:t>
            </a:r>
            <a:endParaRPr lang="en-US" sz="1200" dirty="0"/>
          </a:p>
          <a:p>
            <a:pPr indent="0" marL="0">
              <a:buNone/>
            </a:pPr>
            <a:r>
              <a:rPr lang="en-US" sz="1200" dirty="0">
                <a:solidFill>
                  <a:srgbClr val="334455"/>
                </a:solidFill>
                <a:latin typeface="Calibri" pitchFamily="34" charset="0"/>
                <a:ea typeface="Calibri" pitchFamily="34" charset="-122"/>
                <a:cs typeface="Calibri" pitchFamily="34" charset="-120"/>
              </a:rPr>
              <a:t> </a:t>
            </a:r>
            <a:endParaRPr lang="en-US" sz="1200" dirty="0"/>
          </a:p>
          <a:p>
            <a:pPr indent="0" marL="0">
              <a:buNone/>
            </a:pPr>
            <a:r>
              <a:rPr lang="en-US" sz="1200" dirty="0">
                <a:solidFill>
                  <a:srgbClr val="334455"/>
                </a:solidFill>
                <a:latin typeface="Calibri" pitchFamily="34" charset="0"/>
                <a:ea typeface="Calibri" pitchFamily="34" charset="-122"/>
                <a:cs typeface="Calibri" pitchFamily="34" charset="-120"/>
              </a:rPr>
              <a:t>Helm packages all of that into a </a:t>
            </a:r>
            <a:pPr indent="0" marL="0">
              <a:buNone/>
            </a:pPr>
            <a:r>
              <a:rPr lang="en-US" sz="1200" b="1" dirty="0">
                <a:solidFill>
                  <a:srgbClr val="334455"/>
                </a:solidFill>
                <a:latin typeface="Calibri" pitchFamily="34" charset="0"/>
                <a:ea typeface="Calibri" pitchFamily="34" charset="-122"/>
                <a:cs typeface="Calibri" pitchFamily="34" charset="-120"/>
              </a:rPr>
              <a:t>chart</a:t>
            </a:r>
            <a:pPr indent="0" marL="0">
              <a:buNone/>
            </a:pPr>
            <a:r>
              <a:rPr lang="en-US" sz="1200" dirty="0">
                <a:solidFill>
                  <a:srgbClr val="334455"/>
                </a:solidFill>
                <a:latin typeface="Calibri" pitchFamily="34" charset="0"/>
                <a:ea typeface="Calibri" pitchFamily="34" charset="-122"/>
                <a:cs typeface="Calibri" pitchFamily="34" charset="-120"/>
              </a:rPr>
              <a:t> — a reusable, versioned bundle with variables. Instead of duplicating YAML, you fill in values and Helm renders the final manifests for you.</a:t>
            </a:r>
            <a:endParaRPr lang="en-US" sz="1200" dirty="0"/>
          </a:p>
          <a:p>
            <a:pPr indent="0" marL="0">
              <a:buNone/>
            </a:pPr>
            <a:r>
              <a:rPr lang="en-US" sz="1200" dirty="0">
                <a:solidFill>
                  <a:srgbClr val="334455"/>
                </a:solidFill>
                <a:latin typeface="Calibri" pitchFamily="34" charset="0"/>
                <a:ea typeface="Calibri" pitchFamily="34" charset="-122"/>
                <a:cs typeface="Calibri" pitchFamily="34" charset="-120"/>
              </a:rPr>
              <a:t> </a:t>
            </a:r>
            <a:endParaRPr lang="en-US" sz="1200" dirty="0"/>
          </a:p>
          <a:p>
            <a:pPr indent="0" marL="0">
              <a:buNone/>
            </a:pPr>
            <a:r>
              <a:rPr lang="en-US" sz="1200" dirty="0">
                <a:solidFill>
                  <a:srgbClr val="334455"/>
                </a:solidFill>
                <a:latin typeface="Calibri" pitchFamily="34" charset="0"/>
                <a:ea typeface="Calibri" pitchFamily="34" charset="-122"/>
                <a:cs typeface="Calibri" pitchFamily="34" charset="-120"/>
              </a:rPr>
              <a:t>Think of it as: </a:t>
            </a:r>
            <a:pPr indent="0" marL="0">
              <a:buNone/>
            </a:pPr>
            <a:r>
              <a:rPr lang="en-US" sz="1200" b="1" dirty="0">
                <a:solidFill>
                  <a:srgbClr val="0E7C7B"/>
                </a:solidFill>
                <a:latin typeface="Calibri" pitchFamily="34" charset="0"/>
                <a:ea typeface="Calibri" pitchFamily="34" charset="-122"/>
                <a:cs typeface="Calibri" pitchFamily="34" charset="-120"/>
              </a:rPr>
              <a:t>apt/yum for Kubernetes.</a:t>
            </a:r>
            <a:endParaRPr lang="en-US" sz="1200" dirty="0"/>
          </a:p>
        </p:txBody>
      </p:sp>
      <p:sp>
        <p:nvSpPr>
          <p:cNvPr id="10" name="Shape 8"/>
          <p:cNvSpPr/>
          <p:nvPr/>
        </p:nvSpPr>
        <p:spPr>
          <a:xfrm>
            <a:off x="4663440" y="868680"/>
            <a:ext cx="4206240" cy="3749040"/>
          </a:xfrm>
          <a:prstGeom prst="rect">
            <a:avLst/>
          </a:prstGeom>
          <a:solidFill>
            <a:srgbClr val="FFFFFF"/>
          </a:solidFill>
          <a:ln w="12700">
            <a:solidFill>
              <a:srgbClr val="D0DCE8"/>
            </a:solidFill>
            <a:prstDash val="solid"/>
          </a:ln>
          <a:effectLst>
            <a:outerShdw sx="100000" sy="100000" kx="0" ky="0" algn="bl" rotWithShape="0" blurRad="50800" dist="25400" dir="8100000">
              <a:srgbClr val="000000">
                <a:alpha val="8000"/>
              </a:srgbClr>
            </a:outerShdw>
          </a:effectLst>
        </p:spPr>
      </p:sp>
      <p:sp>
        <p:nvSpPr>
          <p:cNvPr id="11" name="Text 9"/>
          <p:cNvSpPr/>
          <p:nvPr/>
        </p:nvSpPr>
        <p:spPr>
          <a:xfrm>
            <a:off x="4846320" y="960120"/>
            <a:ext cx="3840480" cy="365760"/>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What Helm Gives You</a:t>
            </a:r>
            <a:endParaRPr lang="en-US" sz="1300" dirty="0"/>
          </a:p>
        </p:txBody>
      </p:sp>
      <p:pic>
        <p:nvPicPr>
          <p:cNvPr id="12" name="Image 0" descr="preencoded.png">    </p:cNvPr>
          <p:cNvPicPr>
            <a:picLocks noChangeAspect="1"/>
          </p:cNvPicPr>
          <p:nvPr/>
        </p:nvPicPr>
        <p:blipFill>
          <a:blip r:embed="rId1"/>
          <a:stretch>
            <a:fillRect/>
          </a:stretch>
        </p:blipFill>
        <p:spPr>
          <a:xfrm>
            <a:off x="4754880" y="1417320"/>
            <a:ext cx="347472" cy="347472"/>
          </a:xfrm>
          <a:prstGeom prst="rect">
            <a:avLst/>
          </a:prstGeom>
        </p:spPr>
      </p:pic>
      <p:sp>
        <p:nvSpPr>
          <p:cNvPr id="13" name="Text 10"/>
          <p:cNvSpPr/>
          <p:nvPr/>
        </p:nvSpPr>
        <p:spPr>
          <a:xfrm>
            <a:off x="5212080" y="1417320"/>
            <a:ext cx="3474720" cy="274320"/>
          </a:xfrm>
          <a:prstGeom prst="rect">
            <a:avLst/>
          </a:prstGeom>
          <a:noFill/>
          <a:ln/>
        </p:spPr>
        <p:txBody>
          <a:bodyPr wrap="square"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Templating</a:t>
            </a:r>
            <a:endParaRPr lang="en-US" sz="1200" dirty="0"/>
          </a:p>
        </p:txBody>
      </p:sp>
      <p:sp>
        <p:nvSpPr>
          <p:cNvPr id="14" name="Text 11"/>
          <p:cNvSpPr/>
          <p:nvPr/>
        </p:nvSpPr>
        <p:spPr>
          <a:xfrm>
            <a:off x="5212080" y="1691640"/>
            <a:ext cx="3474720" cy="594360"/>
          </a:xfrm>
          <a:prstGeom prst="rect">
            <a:avLst/>
          </a:prstGeom>
          <a:noFill/>
          <a:ln/>
        </p:spPr>
        <p:txBody>
          <a:bodyPr wrap="square" rtlCol="0" anchor="ctr"/>
          <a:lstStyle/>
          <a:p>
            <a:pPr indent="0" marL="0">
              <a:buNone/>
            </a:pPr>
            <a:r>
              <a:rPr lang="en-US" sz="1100" dirty="0">
                <a:solidFill>
                  <a:srgbClr val="445566"/>
                </a:solidFill>
                <a:latin typeface="Calibri" pitchFamily="34" charset="0"/>
                <a:ea typeface="Calibri" pitchFamily="34" charset="-122"/>
                <a:cs typeface="Calibri" pitchFamily="34" charset="-120"/>
              </a:rPr>
              <a:t>Variables replace hardcoded values. One chart, many environments.</a:t>
            </a:r>
            <a:endParaRPr lang="en-US" sz="1100" dirty="0"/>
          </a:p>
        </p:txBody>
      </p:sp>
      <p:pic>
        <p:nvPicPr>
          <p:cNvPr id="15" name="Image 1" descr="preencoded.png">    </p:cNvPr>
          <p:cNvPicPr>
            <a:picLocks noChangeAspect="1"/>
          </p:cNvPicPr>
          <p:nvPr/>
        </p:nvPicPr>
        <p:blipFill>
          <a:blip r:embed="rId2"/>
          <a:stretch>
            <a:fillRect/>
          </a:stretch>
        </p:blipFill>
        <p:spPr>
          <a:xfrm>
            <a:off x="4754880" y="2423160"/>
            <a:ext cx="347472" cy="347472"/>
          </a:xfrm>
          <a:prstGeom prst="rect">
            <a:avLst/>
          </a:prstGeom>
        </p:spPr>
      </p:pic>
      <p:sp>
        <p:nvSpPr>
          <p:cNvPr id="16" name="Text 12"/>
          <p:cNvSpPr/>
          <p:nvPr/>
        </p:nvSpPr>
        <p:spPr>
          <a:xfrm>
            <a:off x="5212080" y="2423160"/>
            <a:ext cx="3474720" cy="274320"/>
          </a:xfrm>
          <a:prstGeom prst="rect">
            <a:avLst/>
          </a:prstGeom>
          <a:noFill/>
          <a:ln/>
        </p:spPr>
        <p:txBody>
          <a:bodyPr wrap="square"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Versioning</a:t>
            </a:r>
            <a:endParaRPr lang="en-US" sz="1200" dirty="0"/>
          </a:p>
        </p:txBody>
      </p:sp>
      <p:sp>
        <p:nvSpPr>
          <p:cNvPr id="17" name="Text 13"/>
          <p:cNvSpPr/>
          <p:nvPr/>
        </p:nvSpPr>
        <p:spPr>
          <a:xfrm>
            <a:off x="5212080" y="2697480"/>
            <a:ext cx="3474720" cy="594360"/>
          </a:xfrm>
          <a:prstGeom prst="rect">
            <a:avLst/>
          </a:prstGeom>
          <a:noFill/>
          <a:ln/>
        </p:spPr>
        <p:txBody>
          <a:bodyPr wrap="square" rtlCol="0" anchor="ctr"/>
          <a:lstStyle/>
          <a:p>
            <a:pPr indent="0" marL="0">
              <a:buNone/>
            </a:pPr>
            <a:r>
              <a:rPr lang="en-US" sz="1100" dirty="0">
                <a:solidFill>
                  <a:srgbClr val="445566"/>
                </a:solidFill>
                <a:latin typeface="Calibri" pitchFamily="34" charset="0"/>
                <a:ea typeface="Calibri" pitchFamily="34" charset="-122"/>
                <a:cs typeface="Calibri" pitchFamily="34" charset="-120"/>
              </a:rPr>
              <a:t>Charts are versioned. Roll back a bad deploy with one command.</a:t>
            </a:r>
            <a:endParaRPr lang="en-US" sz="1100" dirty="0"/>
          </a:p>
        </p:txBody>
      </p:sp>
      <p:pic>
        <p:nvPicPr>
          <p:cNvPr id="18" name="Image 2" descr="preencoded.png">    </p:cNvPr>
          <p:cNvPicPr>
            <a:picLocks noChangeAspect="1"/>
          </p:cNvPicPr>
          <p:nvPr/>
        </p:nvPicPr>
        <p:blipFill>
          <a:blip r:embed="rId3"/>
          <a:stretch>
            <a:fillRect/>
          </a:stretch>
        </p:blipFill>
        <p:spPr>
          <a:xfrm>
            <a:off x="4754880" y="3429000"/>
            <a:ext cx="347472" cy="347472"/>
          </a:xfrm>
          <a:prstGeom prst="rect">
            <a:avLst/>
          </a:prstGeom>
        </p:spPr>
      </p:pic>
      <p:sp>
        <p:nvSpPr>
          <p:cNvPr id="19" name="Text 14"/>
          <p:cNvSpPr/>
          <p:nvPr/>
        </p:nvSpPr>
        <p:spPr>
          <a:xfrm>
            <a:off x="5212080" y="3429000"/>
            <a:ext cx="3474720" cy="274320"/>
          </a:xfrm>
          <a:prstGeom prst="rect">
            <a:avLst/>
          </a:prstGeom>
          <a:noFill/>
          <a:ln/>
        </p:spPr>
        <p:txBody>
          <a:bodyPr wrap="square"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Reuse</a:t>
            </a:r>
            <a:endParaRPr lang="en-US" sz="1200" dirty="0"/>
          </a:p>
        </p:txBody>
      </p:sp>
      <p:sp>
        <p:nvSpPr>
          <p:cNvPr id="20" name="Text 15"/>
          <p:cNvSpPr/>
          <p:nvPr/>
        </p:nvSpPr>
        <p:spPr>
          <a:xfrm>
            <a:off x="5212080" y="3703320"/>
            <a:ext cx="3474720" cy="594360"/>
          </a:xfrm>
          <a:prstGeom prst="rect">
            <a:avLst/>
          </a:prstGeom>
          <a:noFill/>
          <a:ln/>
        </p:spPr>
        <p:txBody>
          <a:bodyPr wrap="square" rtlCol="0" anchor="ctr"/>
          <a:lstStyle/>
          <a:p>
            <a:pPr indent="0" marL="0">
              <a:buNone/>
            </a:pPr>
            <a:r>
              <a:rPr lang="en-US" sz="1100" dirty="0">
                <a:solidFill>
                  <a:srgbClr val="445566"/>
                </a:solidFill>
                <a:latin typeface="Calibri" pitchFamily="34" charset="0"/>
                <a:ea typeface="Calibri" pitchFamily="34" charset="-122"/>
                <a:cs typeface="Calibri" pitchFamily="34" charset="-120"/>
              </a:rPr>
              <a:t>Public chart repositories (Artifact Hub) — install Postgres, Redis etc. without writing YAML.</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Shape 1"/>
          <p:cNvSpPr/>
          <p:nvPr/>
        </p:nvSpPr>
        <p:spPr>
          <a:xfrm>
            <a:off x="0" y="0"/>
            <a:ext cx="73152" cy="685800"/>
          </a:xfrm>
          <a:prstGeom prst="rect">
            <a:avLst/>
          </a:prstGeom>
          <a:solidFill>
            <a:srgbClr val="0E7C7B"/>
          </a:solidFill>
          <a:ln w="12700">
            <a:solidFill>
              <a:srgbClr val="0E7C7B"/>
            </a:solidFill>
            <a:prstDash val="solid"/>
          </a:ln>
        </p:spPr>
      </p:sp>
      <p:sp>
        <p:nvSpPr>
          <p:cNvPr id="4" name="Text 2"/>
          <p:cNvSpPr/>
          <p:nvPr/>
        </p:nvSpPr>
        <p:spPr>
          <a:xfrm>
            <a:off x="182880" y="0"/>
            <a:ext cx="8778240" cy="6858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Anatomy of a Helm Chart — What Every File Does</a:t>
            </a:r>
            <a:endParaRPr lang="en-US" sz="2200" dirty="0"/>
          </a:p>
        </p:txBody>
      </p:sp>
      <p:sp>
        <p:nvSpPr>
          <p:cNvPr id="5" name="Shape 3"/>
          <p:cNvSpPr/>
          <p:nvPr/>
        </p:nvSpPr>
        <p:spPr>
          <a:xfrm>
            <a:off x="0" y="4800600"/>
            <a:ext cx="9144000" cy="342900"/>
          </a:xfrm>
          <a:prstGeom prst="rect">
            <a:avLst/>
          </a:prstGeom>
          <a:solidFill>
            <a:srgbClr val="0D1B2A"/>
          </a:solidFill>
          <a:ln w="12700">
            <a:solidFill>
              <a:srgbClr val="0D1B2A"/>
            </a:solidFill>
            <a:prstDash val="solid"/>
          </a:ln>
        </p:spPr>
      </p:sp>
      <p:sp>
        <p:nvSpPr>
          <p:cNvPr id="6" name="Text 4"/>
          <p:cNvSpPr/>
          <p:nvPr/>
        </p:nvSpPr>
        <p:spPr>
          <a:xfrm>
            <a:off x="182880" y="4800600"/>
            <a:ext cx="8778240" cy="342900"/>
          </a:xfrm>
          <a:prstGeom prst="rect">
            <a:avLst/>
          </a:prstGeom>
          <a:noFill/>
          <a:ln/>
        </p:spPr>
        <p:txBody>
          <a:bodyPr wrap="square" lIns="0" tIns="0" rIns="0" bIns="0" rtlCol="0" anchor="ctr"/>
          <a:lstStyle/>
          <a:p>
            <a:pPr indent="0" marL="0">
              <a:buNone/>
            </a:pPr>
            <a:r>
              <a:rPr lang="en-US" sz="900" dirty="0">
                <a:solidFill>
                  <a:srgbClr val="8899AA"/>
                </a:solidFill>
                <a:latin typeface="Calibri" pitchFamily="34" charset="0"/>
                <a:ea typeface="Calibri" pitchFamily="34" charset="-122"/>
                <a:cs typeface="Calibri" pitchFamily="34" charset="-120"/>
              </a:rPr>
              <a:t>Lab 039 — Helm Chart Won't Install</a:t>
            </a:r>
            <a:endParaRPr lang="en-US" sz="900" dirty="0"/>
          </a:p>
        </p:txBody>
      </p:sp>
      <p:sp>
        <p:nvSpPr>
          <p:cNvPr id="7" name="Shape 5"/>
          <p:cNvSpPr/>
          <p:nvPr/>
        </p:nvSpPr>
        <p:spPr>
          <a:xfrm>
            <a:off x="274320" y="804672"/>
            <a:ext cx="8595360" cy="694944"/>
          </a:xfrm>
          <a:prstGeom prst="rect">
            <a:avLst/>
          </a:prstGeom>
          <a:solidFill>
            <a:srgbClr val="FFFFFF"/>
          </a:solidFill>
          <a:ln w="12700">
            <a:solidFill>
              <a:srgbClr val="D8E4EE"/>
            </a:solidFill>
            <a:prstDash val="solid"/>
          </a:ln>
          <a:effectLst>
            <a:outerShdw sx="100000" sy="100000" kx="0" ky="0" algn="bl" rotWithShape="0" blurRad="38100" dist="12700" dir="8100000">
              <a:srgbClr val="000000">
                <a:alpha val="6000"/>
              </a:srgbClr>
            </a:outerShdw>
          </a:effectLst>
        </p:spPr>
      </p:sp>
      <p:sp>
        <p:nvSpPr>
          <p:cNvPr id="8" name="Shape 6"/>
          <p:cNvSpPr/>
          <p:nvPr/>
        </p:nvSpPr>
        <p:spPr>
          <a:xfrm>
            <a:off x="274320" y="804672"/>
            <a:ext cx="64008" cy="694944"/>
          </a:xfrm>
          <a:prstGeom prst="rect">
            <a:avLst/>
          </a:prstGeom>
          <a:solidFill>
            <a:srgbClr val="0E7C7B"/>
          </a:solidFill>
          <a:ln w="12700">
            <a:solidFill>
              <a:srgbClr val="0E7C7B"/>
            </a:solidFill>
            <a:prstDash val="solid"/>
          </a:ln>
        </p:spPr>
      </p:sp>
      <p:sp>
        <p:nvSpPr>
          <p:cNvPr id="9" name="Text 7"/>
          <p:cNvSpPr/>
          <p:nvPr/>
        </p:nvSpPr>
        <p:spPr>
          <a:xfrm>
            <a:off x="502920" y="877824"/>
            <a:ext cx="1920240" cy="256032"/>
          </a:xfrm>
          <a:prstGeom prst="rect">
            <a:avLst/>
          </a:prstGeom>
          <a:noFill/>
          <a:ln/>
        </p:spPr>
        <p:txBody>
          <a:bodyPr wrap="square" rtlCol="0" anchor="ctr"/>
          <a:lstStyle/>
          <a:p>
            <a:pPr indent="0" marL="0">
              <a:buNone/>
            </a:pPr>
            <a:r>
              <a:rPr lang="en-US" sz="1100" b="1" dirty="0">
                <a:solidFill>
                  <a:srgbClr val="0D1B2A"/>
                </a:solidFill>
                <a:latin typeface="Consolas" pitchFamily="34" charset="0"/>
                <a:ea typeface="Consolas" pitchFamily="34" charset="-122"/>
                <a:cs typeface="Consolas" pitchFamily="34" charset="-120"/>
              </a:rPr>
              <a:t>Chart.yaml</a:t>
            </a:r>
            <a:endParaRPr lang="en-US" sz="1100" dirty="0"/>
          </a:p>
        </p:txBody>
      </p:sp>
      <p:sp>
        <p:nvSpPr>
          <p:cNvPr id="10" name="Text 8"/>
          <p:cNvSpPr/>
          <p:nvPr/>
        </p:nvSpPr>
        <p:spPr>
          <a:xfrm>
            <a:off x="502920" y="1133856"/>
            <a:ext cx="8229600" cy="329184"/>
          </a:xfrm>
          <a:prstGeom prst="rect">
            <a:avLst/>
          </a:prstGeom>
          <a:noFill/>
          <a:ln/>
        </p:spPr>
        <p:txBody>
          <a:bodyPr wrap="square" rtlCol="0" anchor="ctr"/>
          <a:lstStyle/>
          <a:p>
            <a:pPr indent="0" marL="0">
              <a:buNone/>
            </a:pPr>
            <a:r>
              <a:rPr lang="en-US" sz="1000" dirty="0">
                <a:solidFill>
                  <a:srgbClr val="445566"/>
                </a:solidFill>
                <a:latin typeface="Calibri" pitchFamily="34" charset="0"/>
                <a:ea typeface="Calibri" pitchFamily="34" charset="-122"/>
                <a:cs typeface="Calibri" pitchFamily="34" charset="-120"/>
              </a:rPr>
              <a:t>Chart identity. Required fields: apiVersion (must be v2 for Helm 3) and name. Also holds version, appVersion, description. Helm reads this first — if it's wrong, nothing else runs.</a:t>
            </a:r>
            <a:endParaRPr lang="en-US" sz="1000" dirty="0"/>
          </a:p>
        </p:txBody>
      </p:sp>
      <p:sp>
        <p:nvSpPr>
          <p:cNvPr id="11" name="Shape 9"/>
          <p:cNvSpPr/>
          <p:nvPr/>
        </p:nvSpPr>
        <p:spPr>
          <a:xfrm>
            <a:off x="274320" y="1572768"/>
            <a:ext cx="8595360" cy="694944"/>
          </a:xfrm>
          <a:prstGeom prst="rect">
            <a:avLst/>
          </a:prstGeom>
          <a:solidFill>
            <a:srgbClr val="FFFFFF"/>
          </a:solidFill>
          <a:ln w="12700">
            <a:solidFill>
              <a:srgbClr val="D8E4EE"/>
            </a:solidFill>
            <a:prstDash val="solid"/>
          </a:ln>
          <a:effectLst>
            <a:outerShdw sx="100000" sy="100000" kx="0" ky="0" algn="bl" rotWithShape="0" blurRad="38100" dist="12700" dir="8100000">
              <a:srgbClr val="000000">
                <a:alpha val="6000"/>
              </a:srgbClr>
            </a:outerShdw>
          </a:effectLst>
        </p:spPr>
      </p:sp>
      <p:sp>
        <p:nvSpPr>
          <p:cNvPr id="12" name="Shape 10"/>
          <p:cNvSpPr/>
          <p:nvPr/>
        </p:nvSpPr>
        <p:spPr>
          <a:xfrm>
            <a:off x="274320" y="1572768"/>
            <a:ext cx="64008" cy="694944"/>
          </a:xfrm>
          <a:prstGeom prst="rect">
            <a:avLst/>
          </a:prstGeom>
          <a:solidFill>
            <a:srgbClr val="2563EB"/>
          </a:solidFill>
          <a:ln w="12700">
            <a:solidFill>
              <a:srgbClr val="2563EB"/>
            </a:solidFill>
            <a:prstDash val="solid"/>
          </a:ln>
        </p:spPr>
      </p:sp>
      <p:sp>
        <p:nvSpPr>
          <p:cNvPr id="13" name="Text 11"/>
          <p:cNvSpPr/>
          <p:nvPr/>
        </p:nvSpPr>
        <p:spPr>
          <a:xfrm>
            <a:off x="502920" y="1645920"/>
            <a:ext cx="1920240" cy="256032"/>
          </a:xfrm>
          <a:prstGeom prst="rect">
            <a:avLst/>
          </a:prstGeom>
          <a:noFill/>
          <a:ln/>
        </p:spPr>
        <p:txBody>
          <a:bodyPr wrap="square" rtlCol="0" anchor="ctr"/>
          <a:lstStyle/>
          <a:p>
            <a:pPr indent="0" marL="0">
              <a:buNone/>
            </a:pPr>
            <a:r>
              <a:rPr lang="en-US" sz="1100" b="1" dirty="0">
                <a:solidFill>
                  <a:srgbClr val="0D1B2A"/>
                </a:solidFill>
                <a:latin typeface="Consolas" pitchFamily="34" charset="0"/>
                <a:ea typeface="Consolas" pitchFamily="34" charset="-122"/>
                <a:cs typeface="Consolas" pitchFamily="34" charset="-120"/>
              </a:rPr>
              <a:t>values.yaml</a:t>
            </a:r>
            <a:endParaRPr lang="en-US" sz="1100" dirty="0"/>
          </a:p>
        </p:txBody>
      </p:sp>
      <p:sp>
        <p:nvSpPr>
          <p:cNvPr id="14" name="Text 12"/>
          <p:cNvSpPr/>
          <p:nvPr/>
        </p:nvSpPr>
        <p:spPr>
          <a:xfrm>
            <a:off x="502920" y="1901952"/>
            <a:ext cx="8229600" cy="329184"/>
          </a:xfrm>
          <a:prstGeom prst="rect">
            <a:avLst/>
          </a:prstGeom>
          <a:noFill/>
          <a:ln/>
        </p:spPr>
        <p:txBody>
          <a:bodyPr wrap="square" rtlCol="0" anchor="ctr"/>
          <a:lstStyle/>
          <a:p>
            <a:pPr indent="0" marL="0">
              <a:buNone/>
            </a:pPr>
            <a:r>
              <a:rPr lang="en-US" sz="1000" dirty="0">
                <a:solidFill>
                  <a:srgbClr val="445566"/>
                </a:solidFill>
                <a:latin typeface="Calibri" pitchFamily="34" charset="0"/>
                <a:ea typeface="Calibri" pitchFamily="34" charset="-122"/>
                <a:cs typeface="Calibri" pitchFamily="34" charset="-120"/>
              </a:rPr>
              <a:t>Default variable values. Every {{ .Values.x }} in your templates resolves from here. Field names must match exactly — YAML is case-sensitive. Types matter too: port: "80" (string) ≠ port: 80 (integer).</a:t>
            </a:r>
            <a:endParaRPr lang="en-US" sz="1000" dirty="0"/>
          </a:p>
        </p:txBody>
      </p:sp>
      <p:sp>
        <p:nvSpPr>
          <p:cNvPr id="15" name="Shape 13"/>
          <p:cNvSpPr/>
          <p:nvPr/>
        </p:nvSpPr>
        <p:spPr>
          <a:xfrm>
            <a:off x="274320" y="2340864"/>
            <a:ext cx="8595360" cy="694944"/>
          </a:xfrm>
          <a:prstGeom prst="rect">
            <a:avLst/>
          </a:prstGeom>
          <a:solidFill>
            <a:srgbClr val="FFFFFF"/>
          </a:solidFill>
          <a:ln w="12700">
            <a:solidFill>
              <a:srgbClr val="D8E4EE"/>
            </a:solidFill>
            <a:prstDash val="solid"/>
          </a:ln>
          <a:effectLst>
            <a:outerShdw sx="100000" sy="100000" kx="0" ky="0" algn="bl" rotWithShape="0" blurRad="38100" dist="12700" dir="8100000">
              <a:srgbClr val="000000">
                <a:alpha val="6000"/>
              </a:srgbClr>
            </a:outerShdw>
          </a:effectLst>
        </p:spPr>
      </p:sp>
      <p:sp>
        <p:nvSpPr>
          <p:cNvPr id="16" name="Shape 14"/>
          <p:cNvSpPr/>
          <p:nvPr/>
        </p:nvSpPr>
        <p:spPr>
          <a:xfrm>
            <a:off x="274320" y="2340864"/>
            <a:ext cx="64008" cy="694944"/>
          </a:xfrm>
          <a:prstGeom prst="rect">
            <a:avLst/>
          </a:prstGeom>
          <a:solidFill>
            <a:srgbClr val="7C3AED"/>
          </a:solidFill>
          <a:ln w="12700">
            <a:solidFill>
              <a:srgbClr val="7C3AED"/>
            </a:solidFill>
            <a:prstDash val="solid"/>
          </a:ln>
        </p:spPr>
      </p:sp>
      <p:sp>
        <p:nvSpPr>
          <p:cNvPr id="17" name="Text 15"/>
          <p:cNvSpPr/>
          <p:nvPr/>
        </p:nvSpPr>
        <p:spPr>
          <a:xfrm>
            <a:off x="502920" y="2414016"/>
            <a:ext cx="1920240" cy="256032"/>
          </a:xfrm>
          <a:prstGeom prst="rect">
            <a:avLst/>
          </a:prstGeom>
          <a:noFill/>
          <a:ln/>
        </p:spPr>
        <p:txBody>
          <a:bodyPr wrap="square" rtlCol="0" anchor="ctr"/>
          <a:lstStyle/>
          <a:p>
            <a:pPr indent="0" marL="0">
              <a:buNone/>
            </a:pPr>
            <a:r>
              <a:rPr lang="en-US" sz="1100" b="1" dirty="0">
                <a:solidFill>
                  <a:srgbClr val="0D1B2A"/>
                </a:solidFill>
                <a:latin typeface="Consolas" pitchFamily="34" charset="0"/>
                <a:ea typeface="Consolas" pitchFamily="34" charset="-122"/>
                <a:cs typeface="Consolas" pitchFamily="34" charset="-120"/>
              </a:rPr>
              <a:t>templates/</a:t>
            </a:r>
            <a:endParaRPr lang="en-US" sz="1100" dirty="0"/>
          </a:p>
        </p:txBody>
      </p:sp>
      <p:sp>
        <p:nvSpPr>
          <p:cNvPr id="18" name="Text 16"/>
          <p:cNvSpPr/>
          <p:nvPr/>
        </p:nvSpPr>
        <p:spPr>
          <a:xfrm>
            <a:off x="502920" y="2670048"/>
            <a:ext cx="8229600" cy="329184"/>
          </a:xfrm>
          <a:prstGeom prst="rect">
            <a:avLst/>
          </a:prstGeom>
          <a:noFill/>
          <a:ln/>
        </p:spPr>
        <p:txBody>
          <a:bodyPr wrap="square" rtlCol="0" anchor="ctr"/>
          <a:lstStyle/>
          <a:p>
            <a:pPr indent="0" marL="0">
              <a:buNone/>
            </a:pPr>
            <a:r>
              <a:rPr lang="en-US" sz="1000" dirty="0">
                <a:solidFill>
                  <a:srgbClr val="445566"/>
                </a:solidFill>
                <a:latin typeface="Calibri" pitchFamily="34" charset="0"/>
                <a:ea typeface="Calibri" pitchFamily="34" charset="-122"/>
                <a:cs typeface="Calibri" pitchFamily="34" charset="-120"/>
              </a:rPr>
              <a:t>Go template files that produce Kubernetes YAML. Helm renders these by substituting {{ .Values.x }} references with values from values.yaml and {{ .Release.x }} with install-time metadata.</a:t>
            </a:r>
            <a:endParaRPr lang="en-US" sz="1000" dirty="0"/>
          </a:p>
        </p:txBody>
      </p:sp>
      <p:sp>
        <p:nvSpPr>
          <p:cNvPr id="19" name="Shape 17"/>
          <p:cNvSpPr/>
          <p:nvPr/>
        </p:nvSpPr>
        <p:spPr>
          <a:xfrm>
            <a:off x="274320" y="3108960"/>
            <a:ext cx="8595360" cy="694944"/>
          </a:xfrm>
          <a:prstGeom prst="rect">
            <a:avLst/>
          </a:prstGeom>
          <a:solidFill>
            <a:srgbClr val="FFFFFF"/>
          </a:solidFill>
          <a:ln w="12700">
            <a:solidFill>
              <a:srgbClr val="D8E4EE"/>
            </a:solidFill>
            <a:prstDash val="solid"/>
          </a:ln>
          <a:effectLst>
            <a:outerShdw sx="100000" sy="100000" kx="0" ky="0" algn="bl" rotWithShape="0" blurRad="38100" dist="12700" dir="8100000">
              <a:srgbClr val="000000">
                <a:alpha val="6000"/>
              </a:srgbClr>
            </a:outerShdw>
          </a:effectLst>
        </p:spPr>
      </p:sp>
      <p:sp>
        <p:nvSpPr>
          <p:cNvPr id="20" name="Shape 18"/>
          <p:cNvSpPr/>
          <p:nvPr/>
        </p:nvSpPr>
        <p:spPr>
          <a:xfrm>
            <a:off x="274320" y="3108960"/>
            <a:ext cx="64008" cy="694944"/>
          </a:xfrm>
          <a:prstGeom prst="rect">
            <a:avLst/>
          </a:prstGeom>
          <a:solidFill>
            <a:srgbClr val="059669"/>
          </a:solidFill>
          <a:ln w="12700">
            <a:solidFill>
              <a:srgbClr val="059669"/>
            </a:solidFill>
            <a:prstDash val="solid"/>
          </a:ln>
        </p:spPr>
      </p:sp>
      <p:sp>
        <p:nvSpPr>
          <p:cNvPr id="21" name="Text 19"/>
          <p:cNvSpPr/>
          <p:nvPr/>
        </p:nvSpPr>
        <p:spPr>
          <a:xfrm>
            <a:off x="502920" y="3182112"/>
            <a:ext cx="1920240" cy="256032"/>
          </a:xfrm>
          <a:prstGeom prst="rect">
            <a:avLst/>
          </a:prstGeom>
          <a:noFill/>
          <a:ln/>
        </p:spPr>
        <p:txBody>
          <a:bodyPr wrap="square" rtlCol="0" anchor="ctr"/>
          <a:lstStyle/>
          <a:p>
            <a:pPr indent="0" marL="0">
              <a:buNone/>
            </a:pPr>
            <a:r>
              <a:rPr lang="en-US" sz="1100" b="1" dirty="0">
                <a:solidFill>
                  <a:srgbClr val="0D1B2A"/>
                </a:solidFill>
                <a:latin typeface="Consolas" pitchFamily="34" charset="0"/>
                <a:ea typeface="Consolas" pitchFamily="34" charset="-122"/>
                <a:cs typeface="Consolas" pitchFamily="34" charset="-120"/>
              </a:rPr>
              <a:t>templates/deployment.yaml</a:t>
            </a:r>
            <a:endParaRPr lang="en-US" sz="1100" dirty="0"/>
          </a:p>
        </p:txBody>
      </p:sp>
      <p:sp>
        <p:nvSpPr>
          <p:cNvPr id="22" name="Text 20"/>
          <p:cNvSpPr/>
          <p:nvPr/>
        </p:nvSpPr>
        <p:spPr>
          <a:xfrm>
            <a:off x="502920" y="3438144"/>
            <a:ext cx="8229600" cy="329184"/>
          </a:xfrm>
          <a:prstGeom prst="rect">
            <a:avLst/>
          </a:prstGeom>
          <a:noFill/>
          <a:ln/>
        </p:spPr>
        <p:txBody>
          <a:bodyPr wrap="square" rtlCol="0" anchor="ctr"/>
          <a:lstStyle/>
          <a:p>
            <a:pPr indent="0" marL="0">
              <a:buNone/>
            </a:pPr>
            <a:r>
              <a:rPr lang="en-US" sz="1000" dirty="0">
                <a:solidFill>
                  <a:srgbClr val="445566"/>
                </a:solidFill>
                <a:latin typeface="Calibri" pitchFamily="34" charset="0"/>
                <a:ea typeface="Calibri" pitchFamily="34" charset="-122"/>
                <a:cs typeface="Calibri" pitchFamily="34" charset="-120"/>
              </a:rPr>
              <a:t>Defines the Deployment resource. Pod labels defined here must match the selector — and must match the Service selector or traffic won't route.</a:t>
            </a:r>
            <a:endParaRPr lang="en-US" sz="1000" dirty="0"/>
          </a:p>
        </p:txBody>
      </p:sp>
      <p:sp>
        <p:nvSpPr>
          <p:cNvPr id="23" name="Shape 21"/>
          <p:cNvSpPr/>
          <p:nvPr/>
        </p:nvSpPr>
        <p:spPr>
          <a:xfrm>
            <a:off x="274320" y="3877056"/>
            <a:ext cx="8595360" cy="694944"/>
          </a:xfrm>
          <a:prstGeom prst="rect">
            <a:avLst/>
          </a:prstGeom>
          <a:solidFill>
            <a:srgbClr val="FFFFFF"/>
          </a:solidFill>
          <a:ln w="12700">
            <a:solidFill>
              <a:srgbClr val="D8E4EE"/>
            </a:solidFill>
            <a:prstDash val="solid"/>
          </a:ln>
          <a:effectLst>
            <a:outerShdw sx="100000" sy="100000" kx="0" ky="0" algn="bl" rotWithShape="0" blurRad="38100" dist="12700" dir="8100000">
              <a:srgbClr val="000000">
                <a:alpha val="6000"/>
              </a:srgbClr>
            </a:outerShdw>
          </a:effectLst>
        </p:spPr>
      </p:sp>
      <p:sp>
        <p:nvSpPr>
          <p:cNvPr id="24" name="Shape 22"/>
          <p:cNvSpPr/>
          <p:nvPr/>
        </p:nvSpPr>
        <p:spPr>
          <a:xfrm>
            <a:off x="274320" y="3877056"/>
            <a:ext cx="64008" cy="694944"/>
          </a:xfrm>
          <a:prstGeom prst="rect">
            <a:avLst/>
          </a:prstGeom>
          <a:solidFill>
            <a:srgbClr val="DC2626"/>
          </a:solidFill>
          <a:ln w="12700">
            <a:solidFill>
              <a:srgbClr val="DC2626"/>
            </a:solidFill>
            <a:prstDash val="solid"/>
          </a:ln>
        </p:spPr>
      </p:sp>
      <p:sp>
        <p:nvSpPr>
          <p:cNvPr id="25" name="Text 23"/>
          <p:cNvSpPr/>
          <p:nvPr/>
        </p:nvSpPr>
        <p:spPr>
          <a:xfrm>
            <a:off x="502920" y="3950208"/>
            <a:ext cx="1920240" cy="256032"/>
          </a:xfrm>
          <a:prstGeom prst="rect">
            <a:avLst/>
          </a:prstGeom>
          <a:noFill/>
          <a:ln/>
        </p:spPr>
        <p:txBody>
          <a:bodyPr wrap="square" rtlCol="0" anchor="ctr"/>
          <a:lstStyle/>
          <a:p>
            <a:pPr indent="0" marL="0">
              <a:buNone/>
            </a:pPr>
            <a:r>
              <a:rPr lang="en-US" sz="1100" b="1" dirty="0">
                <a:solidFill>
                  <a:srgbClr val="0D1B2A"/>
                </a:solidFill>
                <a:latin typeface="Consolas" pitchFamily="34" charset="0"/>
                <a:ea typeface="Consolas" pitchFamily="34" charset="-122"/>
                <a:cs typeface="Consolas" pitchFamily="34" charset="-120"/>
              </a:rPr>
              <a:t>templates/service.yaml</a:t>
            </a:r>
            <a:endParaRPr lang="en-US" sz="1100" dirty="0"/>
          </a:p>
        </p:txBody>
      </p:sp>
      <p:sp>
        <p:nvSpPr>
          <p:cNvPr id="26" name="Text 24"/>
          <p:cNvSpPr/>
          <p:nvPr/>
        </p:nvSpPr>
        <p:spPr>
          <a:xfrm>
            <a:off x="502920" y="4206240"/>
            <a:ext cx="8229600" cy="329184"/>
          </a:xfrm>
          <a:prstGeom prst="rect">
            <a:avLst/>
          </a:prstGeom>
          <a:noFill/>
          <a:ln/>
        </p:spPr>
        <p:txBody>
          <a:bodyPr wrap="square" rtlCol="0" anchor="ctr"/>
          <a:lstStyle/>
          <a:p>
            <a:pPr indent="0" marL="0">
              <a:buNone/>
            </a:pPr>
            <a:r>
              <a:rPr lang="en-US" sz="1000" dirty="0">
                <a:solidFill>
                  <a:srgbClr val="445566"/>
                </a:solidFill>
                <a:latin typeface="Calibri" pitchFamily="34" charset="0"/>
                <a:ea typeface="Calibri" pitchFamily="34" charset="-122"/>
                <a:cs typeface="Calibri" pitchFamily="34" charset="-120"/>
              </a:rPr>
              <a:t>Defines the Service. The selector field must exactly match the labels on the pods. A mismatch installs silently but the Service has no endpoints — traffic goes nowhere.</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Shape 1"/>
          <p:cNvSpPr/>
          <p:nvPr/>
        </p:nvSpPr>
        <p:spPr>
          <a:xfrm>
            <a:off x="0" y="0"/>
            <a:ext cx="73152" cy="685800"/>
          </a:xfrm>
          <a:prstGeom prst="rect">
            <a:avLst/>
          </a:prstGeom>
          <a:solidFill>
            <a:srgbClr val="0E7C7B"/>
          </a:solidFill>
          <a:ln w="12700">
            <a:solidFill>
              <a:srgbClr val="0E7C7B"/>
            </a:solidFill>
            <a:prstDash val="solid"/>
          </a:ln>
        </p:spPr>
      </p:sp>
      <p:sp>
        <p:nvSpPr>
          <p:cNvPr id="4" name="Text 2"/>
          <p:cNvSpPr/>
          <p:nvPr/>
        </p:nvSpPr>
        <p:spPr>
          <a:xfrm>
            <a:off x="182880" y="0"/>
            <a:ext cx="8778240" cy="6858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How Helm Renders a Chart — The Flow</a:t>
            </a:r>
            <a:endParaRPr lang="en-US" sz="2200" dirty="0"/>
          </a:p>
        </p:txBody>
      </p:sp>
      <p:sp>
        <p:nvSpPr>
          <p:cNvPr id="5" name="Shape 3"/>
          <p:cNvSpPr/>
          <p:nvPr/>
        </p:nvSpPr>
        <p:spPr>
          <a:xfrm>
            <a:off x="0" y="4800600"/>
            <a:ext cx="9144000" cy="342900"/>
          </a:xfrm>
          <a:prstGeom prst="rect">
            <a:avLst/>
          </a:prstGeom>
          <a:solidFill>
            <a:srgbClr val="0D1B2A"/>
          </a:solidFill>
          <a:ln w="12700">
            <a:solidFill>
              <a:srgbClr val="0D1B2A"/>
            </a:solidFill>
            <a:prstDash val="solid"/>
          </a:ln>
        </p:spPr>
      </p:sp>
      <p:sp>
        <p:nvSpPr>
          <p:cNvPr id="6" name="Text 4"/>
          <p:cNvSpPr/>
          <p:nvPr/>
        </p:nvSpPr>
        <p:spPr>
          <a:xfrm>
            <a:off x="182880" y="4800600"/>
            <a:ext cx="8778240" cy="342900"/>
          </a:xfrm>
          <a:prstGeom prst="rect">
            <a:avLst/>
          </a:prstGeom>
          <a:noFill/>
          <a:ln/>
        </p:spPr>
        <p:txBody>
          <a:bodyPr wrap="square" lIns="0" tIns="0" rIns="0" bIns="0" rtlCol="0" anchor="ctr"/>
          <a:lstStyle/>
          <a:p>
            <a:pPr indent="0" marL="0">
              <a:buNone/>
            </a:pPr>
            <a:r>
              <a:rPr lang="en-US" sz="900" dirty="0">
                <a:solidFill>
                  <a:srgbClr val="8899AA"/>
                </a:solidFill>
                <a:latin typeface="Calibri" pitchFamily="34" charset="0"/>
                <a:ea typeface="Calibri" pitchFamily="34" charset="-122"/>
                <a:cs typeface="Calibri" pitchFamily="34" charset="-120"/>
              </a:rPr>
              <a:t>Lab 039 — Helm Chart Won't Install</a:t>
            </a:r>
            <a:endParaRPr lang="en-US" sz="900" dirty="0"/>
          </a:p>
        </p:txBody>
      </p:sp>
      <p:sp>
        <p:nvSpPr>
          <p:cNvPr id="7" name="Shape 5"/>
          <p:cNvSpPr/>
          <p:nvPr/>
        </p:nvSpPr>
        <p:spPr>
          <a:xfrm>
            <a:off x="274320" y="1005840"/>
            <a:ext cx="1508760" cy="1005840"/>
          </a:xfrm>
          <a:prstGeom prst="rect">
            <a:avLst/>
          </a:prstGeom>
          <a:solidFill>
            <a:srgbClr val="2563EB"/>
          </a:solidFill>
          <a:ln w="12700">
            <a:solidFill>
              <a:srgbClr val="2563EB"/>
            </a:solidFill>
            <a:prstDash val="solid"/>
          </a:ln>
          <a:effectLst>
            <a:outerShdw sx="100000" sy="100000" kx="0" ky="0" algn="bl" rotWithShape="0" blurRad="76200" dist="25400" dir="8100000">
              <a:srgbClr val="000000">
                <a:alpha val="20000"/>
              </a:srgbClr>
            </a:outerShdw>
          </a:effectLst>
        </p:spPr>
      </p:sp>
      <p:sp>
        <p:nvSpPr>
          <p:cNvPr id="8" name="Text 6"/>
          <p:cNvSpPr/>
          <p:nvPr/>
        </p:nvSpPr>
        <p:spPr>
          <a:xfrm>
            <a:off x="274320" y="1078992"/>
            <a:ext cx="150876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values.yaml</a:t>
            </a:r>
            <a:endParaRPr lang="en-US" sz="1100" dirty="0"/>
          </a:p>
        </p:txBody>
      </p:sp>
      <p:sp>
        <p:nvSpPr>
          <p:cNvPr id="9" name="Text 7"/>
          <p:cNvSpPr/>
          <p:nvPr/>
        </p:nvSpPr>
        <p:spPr>
          <a:xfrm>
            <a:off x="274320" y="1463040"/>
            <a:ext cx="1508760" cy="411480"/>
          </a:xfrm>
          <a:prstGeom prst="rect">
            <a:avLst/>
          </a:prstGeom>
          <a:noFill/>
          <a:ln/>
        </p:spPr>
        <p:txBody>
          <a:bodyPr wrap="square"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Your variable defaults</a:t>
            </a:r>
            <a:endParaRPr lang="en-US" sz="900" dirty="0"/>
          </a:p>
        </p:txBody>
      </p:sp>
      <p:sp>
        <p:nvSpPr>
          <p:cNvPr id="10" name="Shape 8"/>
          <p:cNvSpPr/>
          <p:nvPr/>
        </p:nvSpPr>
        <p:spPr>
          <a:xfrm>
            <a:off x="1783080" y="1463040"/>
            <a:ext cx="210312" cy="73152"/>
          </a:xfrm>
          <a:prstGeom prst="rect">
            <a:avLst/>
          </a:prstGeom>
          <a:solidFill>
            <a:srgbClr val="8899AA"/>
          </a:solidFill>
          <a:ln w="12700">
            <a:solidFill>
              <a:srgbClr val="8899AA"/>
            </a:solidFill>
            <a:prstDash val="solid"/>
          </a:ln>
        </p:spPr>
      </p:sp>
      <p:sp>
        <p:nvSpPr>
          <p:cNvPr id="11" name="Shape 9"/>
          <p:cNvSpPr/>
          <p:nvPr/>
        </p:nvSpPr>
        <p:spPr>
          <a:xfrm>
            <a:off x="1993392" y="1005840"/>
            <a:ext cx="1508760" cy="1005840"/>
          </a:xfrm>
          <a:prstGeom prst="rect">
            <a:avLst/>
          </a:prstGeom>
          <a:solidFill>
            <a:srgbClr val="0E7C7B"/>
          </a:solidFill>
          <a:ln w="12700">
            <a:solidFill>
              <a:srgbClr val="0E7C7B"/>
            </a:solidFill>
            <a:prstDash val="solid"/>
          </a:ln>
          <a:effectLst>
            <a:outerShdw sx="100000" sy="100000" kx="0" ky="0" algn="bl" rotWithShape="0" blurRad="76200" dist="25400" dir="8100000">
              <a:srgbClr val="000000">
                <a:alpha val="20000"/>
              </a:srgbClr>
            </a:outerShdw>
          </a:effectLst>
        </p:spPr>
      </p:sp>
      <p:sp>
        <p:nvSpPr>
          <p:cNvPr id="12" name="Text 10"/>
          <p:cNvSpPr/>
          <p:nvPr/>
        </p:nvSpPr>
        <p:spPr>
          <a:xfrm>
            <a:off x="1993392" y="1078992"/>
            <a:ext cx="150876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helm install</a:t>
            </a:r>
            <a:endParaRPr lang="en-US" sz="1100" dirty="0"/>
          </a:p>
        </p:txBody>
      </p:sp>
      <p:sp>
        <p:nvSpPr>
          <p:cNvPr id="13" name="Text 11"/>
          <p:cNvSpPr/>
          <p:nvPr/>
        </p:nvSpPr>
        <p:spPr>
          <a:xfrm>
            <a:off x="1993392" y="1463040"/>
            <a:ext cx="1508760" cy="411480"/>
          </a:xfrm>
          <a:prstGeom prst="rect">
            <a:avLst/>
          </a:prstGeom>
          <a:noFill/>
          <a:ln/>
        </p:spPr>
        <p:txBody>
          <a:bodyPr wrap="square"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You run the command</a:t>
            </a:r>
            <a:endParaRPr lang="en-US" sz="900" dirty="0"/>
          </a:p>
        </p:txBody>
      </p:sp>
      <p:sp>
        <p:nvSpPr>
          <p:cNvPr id="14" name="Shape 12"/>
          <p:cNvSpPr/>
          <p:nvPr/>
        </p:nvSpPr>
        <p:spPr>
          <a:xfrm>
            <a:off x="3502152" y="1463040"/>
            <a:ext cx="210312" cy="73152"/>
          </a:xfrm>
          <a:prstGeom prst="rect">
            <a:avLst/>
          </a:prstGeom>
          <a:solidFill>
            <a:srgbClr val="8899AA"/>
          </a:solidFill>
          <a:ln w="12700">
            <a:solidFill>
              <a:srgbClr val="8899AA"/>
            </a:solidFill>
            <a:prstDash val="solid"/>
          </a:ln>
        </p:spPr>
      </p:sp>
      <p:sp>
        <p:nvSpPr>
          <p:cNvPr id="15" name="Shape 13"/>
          <p:cNvSpPr/>
          <p:nvPr/>
        </p:nvSpPr>
        <p:spPr>
          <a:xfrm>
            <a:off x="3712464" y="1005840"/>
            <a:ext cx="1508760" cy="1005840"/>
          </a:xfrm>
          <a:prstGeom prst="rect">
            <a:avLst/>
          </a:prstGeom>
          <a:solidFill>
            <a:srgbClr val="7C3AED"/>
          </a:solidFill>
          <a:ln w="12700">
            <a:solidFill>
              <a:srgbClr val="7C3AED"/>
            </a:solidFill>
            <a:prstDash val="solid"/>
          </a:ln>
          <a:effectLst>
            <a:outerShdw sx="100000" sy="100000" kx="0" ky="0" algn="bl" rotWithShape="0" blurRad="76200" dist="25400" dir="8100000">
              <a:srgbClr val="000000">
                <a:alpha val="20000"/>
              </a:srgbClr>
            </a:outerShdw>
          </a:effectLst>
        </p:spPr>
      </p:sp>
      <p:sp>
        <p:nvSpPr>
          <p:cNvPr id="16" name="Text 14"/>
          <p:cNvSpPr/>
          <p:nvPr/>
        </p:nvSpPr>
        <p:spPr>
          <a:xfrm>
            <a:off x="3712464" y="1078992"/>
            <a:ext cx="150876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Go Templating</a:t>
            </a:r>
            <a:endParaRPr lang="en-US" sz="1100" dirty="0"/>
          </a:p>
        </p:txBody>
      </p:sp>
      <p:sp>
        <p:nvSpPr>
          <p:cNvPr id="17" name="Text 15"/>
          <p:cNvSpPr/>
          <p:nvPr/>
        </p:nvSpPr>
        <p:spPr>
          <a:xfrm>
            <a:off x="3712464" y="1463040"/>
            <a:ext cx="1508760" cy="411480"/>
          </a:xfrm>
          <a:prstGeom prst="rect">
            <a:avLst/>
          </a:prstGeom>
          <a:noFill/>
          <a:ln/>
        </p:spPr>
        <p:txBody>
          <a:bodyPr wrap="square"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 .Values.x }} substituted</a:t>
            </a:r>
            <a:endParaRPr lang="en-US" sz="900" dirty="0"/>
          </a:p>
        </p:txBody>
      </p:sp>
      <p:sp>
        <p:nvSpPr>
          <p:cNvPr id="18" name="Shape 16"/>
          <p:cNvSpPr/>
          <p:nvPr/>
        </p:nvSpPr>
        <p:spPr>
          <a:xfrm>
            <a:off x="5221224" y="1463040"/>
            <a:ext cx="210312" cy="73152"/>
          </a:xfrm>
          <a:prstGeom prst="rect">
            <a:avLst/>
          </a:prstGeom>
          <a:solidFill>
            <a:srgbClr val="8899AA"/>
          </a:solidFill>
          <a:ln w="12700">
            <a:solidFill>
              <a:srgbClr val="8899AA"/>
            </a:solidFill>
            <a:prstDash val="solid"/>
          </a:ln>
        </p:spPr>
      </p:sp>
      <p:sp>
        <p:nvSpPr>
          <p:cNvPr id="19" name="Shape 17"/>
          <p:cNvSpPr/>
          <p:nvPr/>
        </p:nvSpPr>
        <p:spPr>
          <a:xfrm>
            <a:off x="5431536" y="1005840"/>
            <a:ext cx="1508760" cy="1005840"/>
          </a:xfrm>
          <a:prstGeom prst="rect">
            <a:avLst/>
          </a:prstGeom>
          <a:solidFill>
            <a:srgbClr val="059669"/>
          </a:solidFill>
          <a:ln w="12700">
            <a:solidFill>
              <a:srgbClr val="059669"/>
            </a:solidFill>
            <a:prstDash val="solid"/>
          </a:ln>
          <a:effectLst>
            <a:outerShdw sx="100000" sy="100000" kx="0" ky="0" algn="bl" rotWithShape="0" blurRad="76200" dist="25400" dir="8100000">
              <a:srgbClr val="000000">
                <a:alpha val="20000"/>
              </a:srgbClr>
            </a:outerShdw>
          </a:effectLst>
        </p:spPr>
      </p:sp>
      <p:sp>
        <p:nvSpPr>
          <p:cNvPr id="20" name="Text 18"/>
          <p:cNvSpPr/>
          <p:nvPr/>
        </p:nvSpPr>
        <p:spPr>
          <a:xfrm>
            <a:off x="5431536" y="1078992"/>
            <a:ext cx="150876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Rendered YAML</a:t>
            </a:r>
            <a:endParaRPr lang="en-US" sz="1100" dirty="0"/>
          </a:p>
        </p:txBody>
      </p:sp>
      <p:sp>
        <p:nvSpPr>
          <p:cNvPr id="21" name="Text 19"/>
          <p:cNvSpPr/>
          <p:nvPr/>
        </p:nvSpPr>
        <p:spPr>
          <a:xfrm>
            <a:off x="5431536" y="1463040"/>
            <a:ext cx="1508760" cy="411480"/>
          </a:xfrm>
          <a:prstGeom prst="rect">
            <a:avLst/>
          </a:prstGeom>
          <a:noFill/>
          <a:ln/>
        </p:spPr>
        <p:txBody>
          <a:bodyPr wrap="square"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Valid K8s manifests</a:t>
            </a:r>
            <a:endParaRPr lang="en-US" sz="900" dirty="0"/>
          </a:p>
        </p:txBody>
      </p:sp>
      <p:sp>
        <p:nvSpPr>
          <p:cNvPr id="22" name="Shape 20"/>
          <p:cNvSpPr/>
          <p:nvPr/>
        </p:nvSpPr>
        <p:spPr>
          <a:xfrm>
            <a:off x="6940296" y="1463040"/>
            <a:ext cx="210312" cy="73152"/>
          </a:xfrm>
          <a:prstGeom prst="rect">
            <a:avLst/>
          </a:prstGeom>
          <a:solidFill>
            <a:srgbClr val="8899AA"/>
          </a:solidFill>
          <a:ln w="12700">
            <a:solidFill>
              <a:srgbClr val="8899AA"/>
            </a:solidFill>
            <a:prstDash val="solid"/>
          </a:ln>
        </p:spPr>
      </p:sp>
      <p:sp>
        <p:nvSpPr>
          <p:cNvPr id="23" name="Shape 21"/>
          <p:cNvSpPr/>
          <p:nvPr/>
        </p:nvSpPr>
        <p:spPr>
          <a:xfrm>
            <a:off x="7150608" y="1005840"/>
            <a:ext cx="1508760" cy="1005840"/>
          </a:xfrm>
          <a:prstGeom prst="rect">
            <a:avLst/>
          </a:prstGeom>
          <a:solidFill>
            <a:srgbClr val="F4A261"/>
          </a:solidFill>
          <a:ln w="12700">
            <a:solidFill>
              <a:srgbClr val="F4A261"/>
            </a:solidFill>
            <a:prstDash val="solid"/>
          </a:ln>
          <a:effectLst>
            <a:outerShdw sx="100000" sy="100000" kx="0" ky="0" algn="bl" rotWithShape="0" blurRad="76200" dist="25400" dir="8100000">
              <a:srgbClr val="000000">
                <a:alpha val="20000"/>
              </a:srgbClr>
            </a:outerShdw>
          </a:effectLst>
        </p:spPr>
      </p:sp>
      <p:sp>
        <p:nvSpPr>
          <p:cNvPr id="24" name="Text 22"/>
          <p:cNvSpPr/>
          <p:nvPr/>
        </p:nvSpPr>
        <p:spPr>
          <a:xfrm>
            <a:off x="7150608" y="1078992"/>
            <a:ext cx="1508760" cy="411480"/>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Kubernetes API</a:t>
            </a:r>
            <a:endParaRPr lang="en-US" sz="1100" dirty="0"/>
          </a:p>
        </p:txBody>
      </p:sp>
      <p:sp>
        <p:nvSpPr>
          <p:cNvPr id="25" name="Text 23"/>
          <p:cNvSpPr/>
          <p:nvPr/>
        </p:nvSpPr>
        <p:spPr>
          <a:xfrm>
            <a:off x="7150608" y="1463040"/>
            <a:ext cx="1508760" cy="411480"/>
          </a:xfrm>
          <a:prstGeom prst="rect">
            <a:avLst/>
          </a:prstGeom>
          <a:noFill/>
          <a:ln/>
        </p:spPr>
        <p:txBody>
          <a:bodyPr wrap="square" rtlCol="0" anchor="t"/>
          <a:lstStyle/>
          <a:p>
            <a:pPr algn="ctr" indent="0" marL="0">
              <a:buNone/>
            </a:pPr>
            <a:r>
              <a:rPr lang="en-US" sz="900" dirty="0">
                <a:solidFill>
                  <a:srgbClr val="FFFFFF"/>
                </a:solidFill>
                <a:latin typeface="Calibri" pitchFamily="34" charset="0"/>
                <a:ea typeface="Calibri" pitchFamily="34" charset="-122"/>
                <a:cs typeface="Calibri" pitchFamily="34" charset="-120"/>
              </a:rPr>
              <a:t>Resources created</a:t>
            </a:r>
            <a:endParaRPr lang="en-US" sz="900" dirty="0"/>
          </a:p>
        </p:txBody>
      </p:sp>
      <p:sp>
        <p:nvSpPr>
          <p:cNvPr id="26" name="Shape 24"/>
          <p:cNvSpPr/>
          <p:nvPr/>
        </p:nvSpPr>
        <p:spPr>
          <a:xfrm>
            <a:off x="274320" y="2331720"/>
            <a:ext cx="8595360" cy="502920"/>
          </a:xfrm>
          <a:prstGeom prst="rect">
            <a:avLst/>
          </a:prstGeom>
          <a:solidFill>
            <a:srgbClr val="1A2E42"/>
          </a:solidFill>
          <a:ln w="12700">
            <a:solidFill>
              <a:srgbClr val="0E7C7B"/>
            </a:solidFill>
            <a:prstDash val="solid"/>
          </a:ln>
        </p:spPr>
      </p:sp>
      <p:sp>
        <p:nvSpPr>
          <p:cNvPr id="27" name="Text 25"/>
          <p:cNvSpPr/>
          <p:nvPr/>
        </p:nvSpPr>
        <p:spPr>
          <a:xfrm>
            <a:off x="457200" y="2359152"/>
            <a:ext cx="8229600" cy="438912"/>
          </a:xfrm>
          <a:prstGeom prst="rect">
            <a:avLst/>
          </a:prstGeom>
          <a:noFill/>
          <a:ln/>
        </p:spPr>
        <p:txBody>
          <a:bodyPr wrap="square" rtlCol="0" anchor="ctr"/>
          <a:lstStyle/>
          <a:p>
            <a:pPr indent="0" marL="0">
              <a:buNone/>
            </a:pPr>
            <a:r>
              <a:rPr lang="en-US" sz="1100" dirty="0">
                <a:solidFill>
                  <a:srgbClr val="14A5A3"/>
                </a:solidFill>
                <a:latin typeface="Calibri" pitchFamily="34" charset="0"/>
                <a:ea typeface="Calibri" pitchFamily="34" charset="-122"/>
                <a:cs typeface="Calibri" pitchFamily="34" charset="-120"/>
              </a:rPr>
              <a:t>⚡  Two places things break: (1) Helm rendering stage — bad templates, wrong field names, Chart.yaml errors  ·  (2) Kubernetes acceptance stage — invalid label values, wrong port types</a:t>
            </a:r>
            <a:endParaRPr lang="en-US" sz="1100" dirty="0"/>
          </a:p>
        </p:txBody>
      </p:sp>
      <p:sp>
        <p:nvSpPr>
          <p:cNvPr id="28" name="Text 26"/>
          <p:cNvSpPr/>
          <p:nvPr/>
        </p:nvSpPr>
        <p:spPr>
          <a:xfrm>
            <a:off x="274320" y="2971800"/>
            <a:ext cx="859536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helm template — Your Essential Debugging Tool</a:t>
            </a:r>
            <a:endParaRPr lang="en-US" sz="1400" dirty="0"/>
          </a:p>
        </p:txBody>
      </p:sp>
      <p:sp>
        <p:nvSpPr>
          <p:cNvPr id="29" name="Shape 27"/>
          <p:cNvSpPr/>
          <p:nvPr/>
        </p:nvSpPr>
        <p:spPr>
          <a:xfrm>
            <a:off x="274320" y="3383280"/>
            <a:ext cx="2697480" cy="1234440"/>
          </a:xfrm>
          <a:prstGeom prst="rect">
            <a:avLst/>
          </a:prstGeom>
          <a:solidFill>
            <a:srgbClr val="1A2E42"/>
          </a:solidFill>
          <a:ln w="12700">
            <a:solidFill>
              <a:srgbClr val="2A4A62"/>
            </a:solidFill>
            <a:prstDash val="solid"/>
          </a:ln>
          <a:effectLst>
            <a:outerShdw sx="100000" sy="100000" kx="0" ky="0" algn="bl" rotWithShape="0" blurRad="50800" dist="25400" dir="8100000">
              <a:srgbClr val="000000">
                <a:alpha val="15000"/>
              </a:srgbClr>
            </a:outerShdw>
          </a:effectLst>
        </p:spPr>
      </p:sp>
      <p:sp>
        <p:nvSpPr>
          <p:cNvPr id="30" name="Text 28"/>
          <p:cNvSpPr/>
          <p:nvPr/>
        </p:nvSpPr>
        <p:spPr>
          <a:xfrm>
            <a:off x="365760" y="3456432"/>
            <a:ext cx="2514600" cy="274320"/>
          </a:xfrm>
          <a:prstGeom prst="rect">
            <a:avLst/>
          </a:prstGeom>
          <a:noFill/>
          <a:ln/>
        </p:spPr>
        <p:txBody>
          <a:bodyPr wrap="square" rtlCol="0" anchor="ctr"/>
          <a:lstStyle/>
          <a:p>
            <a:pPr indent="0" marL="0">
              <a:buNone/>
            </a:pPr>
            <a:r>
              <a:rPr lang="en-US" sz="1100" b="1" dirty="0">
                <a:solidFill>
                  <a:srgbClr val="14A5A3"/>
                </a:solidFill>
                <a:latin typeface="Calibri" pitchFamily="34" charset="0"/>
                <a:ea typeface="Calibri" pitchFamily="34" charset="-122"/>
                <a:cs typeface="Calibri" pitchFamily="34" charset="-120"/>
              </a:rPr>
              <a:t>What it does</a:t>
            </a:r>
            <a:endParaRPr lang="en-US" sz="1100" dirty="0"/>
          </a:p>
        </p:txBody>
      </p:sp>
      <p:sp>
        <p:nvSpPr>
          <p:cNvPr id="31" name="Text 29"/>
          <p:cNvSpPr/>
          <p:nvPr/>
        </p:nvSpPr>
        <p:spPr>
          <a:xfrm>
            <a:off x="365760" y="3749040"/>
            <a:ext cx="2514600" cy="804672"/>
          </a:xfrm>
          <a:prstGeom prst="rect">
            <a:avLst/>
          </a:prstGeom>
          <a:noFill/>
          <a:ln/>
        </p:spPr>
        <p:txBody>
          <a:bodyPr wrap="square" rtlCol="0" anchor="ctr"/>
          <a:lstStyle/>
          <a:p>
            <a:pPr indent="0" marL="0">
              <a:buNone/>
            </a:pPr>
            <a:r>
              <a:rPr lang="en-US" sz="1000" dirty="0">
                <a:solidFill>
                  <a:srgbClr val="AABBCC"/>
                </a:solidFill>
                <a:latin typeface="Calibri" pitchFamily="34" charset="0"/>
                <a:ea typeface="Calibri" pitchFamily="34" charset="-122"/>
                <a:cs typeface="Calibri" pitchFamily="34" charset="-120"/>
              </a:rPr>
              <a:t>Renders all templates to YAML output without installing anything into the cluster. Shows every template error.</a:t>
            </a:r>
            <a:endParaRPr lang="en-US" sz="1000" dirty="0"/>
          </a:p>
        </p:txBody>
      </p:sp>
      <p:sp>
        <p:nvSpPr>
          <p:cNvPr id="32" name="Shape 30"/>
          <p:cNvSpPr/>
          <p:nvPr/>
        </p:nvSpPr>
        <p:spPr>
          <a:xfrm>
            <a:off x="3154680" y="3383280"/>
            <a:ext cx="2697480" cy="1234440"/>
          </a:xfrm>
          <a:prstGeom prst="rect">
            <a:avLst/>
          </a:prstGeom>
          <a:solidFill>
            <a:srgbClr val="1A2E42"/>
          </a:solidFill>
          <a:ln w="12700">
            <a:solidFill>
              <a:srgbClr val="2A4A62"/>
            </a:solidFill>
            <a:prstDash val="solid"/>
          </a:ln>
          <a:effectLst>
            <a:outerShdw sx="100000" sy="100000" kx="0" ky="0" algn="bl" rotWithShape="0" blurRad="50800" dist="25400" dir="8100000">
              <a:srgbClr val="000000">
                <a:alpha val="15000"/>
              </a:srgbClr>
            </a:outerShdw>
          </a:effectLst>
        </p:spPr>
      </p:sp>
      <p:sp>
        <p:nvSpPr>
          <p:cNvPr id="33" name="Text 31"/>
          <p:cNvSpPr/>
          <p:nvPr/>
        </p:nvSpPr>
        <p:spPr>
          <a:xfrm>
            <a:off x="3246120" y="3456432"/>
            <a:ext cx="2514600" cy="274320"/>
          </a:xfrm>
          <a:prstGeom prst="rect">
            <a:avLst/>
          </a:prstGeom>
          <a:noFill/>
          <a:ln/>
        </p:spPr>
        <p:txBody>
          <a:bodyPr wrap="square" rtlCol="0" anchor="ctr"/>
          <a:lstStyle/>
          <a:p>
            <a:pPr indent="0" marL="0">
              <a:buNone/>
            </a:pPr>
            <a:r>
              <a:rPr lang="en-US" sz="1100" b="1" dirty="0">
                <a:solidFill>
                  <a:srgbClr val="14A5A3"/>
                </a:solidFill>
                <a:latin typeface="Calibri" pitchFamily="34" charset="0"/>
                <a:ea typeface="Calibri" pitchFamily="34" charset="-122"/>
                <a:cs typeface="Calibri" pitchFamily="34" charset="-120"/>
              </a:rPr>
              <a:t>Why use it first</a:t>
            </a:r>
            <a:endParaRPr lang="en-US" sz="1100" dirty="0"/>
          </a:p>
        </p:txBody>
      </p:sp>
      <p:sp>
        <p:nvSpPr>
          <p:cNvPr id="34" name="Text 32"/>
          <p:cNvSpPr/>
          <p:nvPr/>
        </p:nvSpPr>
        <p:spPr>
          <a:xfrm>
            <a:off x="3246120" y="3749040"/>
            <a:ext cx="2514600" cy="804672"/>
          </a:xfrm>
          <a:prstGeom prst="rect">
            <a:avLst/>
          </a:prstGeom>
          <a:noFill/>
          <a:ln/>
        </p:spPr>
        <p:txBody>
          <a:bodyPr wrap="square" rtlCol="0" anchor="ctr"/>
          <a:lstStyle/>
          <a:p>
            <a:pPr indent="0" marL="0">
              <a:buNone/>
            </a:pPr>
            <a:r>
              <a:rPr lang="en-US" sz="1000" dirty="0">
                <a:solidFill>
                  <a:srgbClr val="AABBCC"/>
                </a:solidFill>
                <a:latin typeface="Calibri" pitchFamily="34" charset="0"/>
                <a:ea typeface="Calibri" pitchFamily="34" charset="-122"/>
                <a:cs typeface="Calibri" pitchFamily="34" charset="-120"/>
              </a:rPr>
              <a:t>Safe — zero cluster changes. Surfaces errors at both the Helm layer and shows the raw YAML Kubernetes would receive.</a:t>
            </a:r>
            <a:endParaRPr lang="en-US" sz="1000" dirty="0"/>
          </a:p>
        </p:txBody>
      </p:sp>
      <p:sp>
        <p:nvSpPr>
          <p:cNvPr id="35" name="Shape 33"/>
          <p:cNvSpPr/>
          <p:nvPr/>
        </p:nvSpPr>
        <p:spPr>
          <a:xfrm>
            <a:off x="6035040" y="3383280"/>
            <a:ext cx="2697480" cy="1234440"/>
          </a:xfrm>
          <a:prstGeom prst="rect">
            <a:avLst/>
          </a:prstGeom>
          <a:solidFill>
            <a:srgbClr val="1A2E42"/>
          </a:solidFill>
          <a:ln w="12700">
            <a:solidFill>
              <a:srgbClr val="2A4A62"/>
            </a:solidFill>
            <a:prstDash val="solid"/>
          </a:ln>
          <a:effectLst>
            <a:outerShdw sx="100000" sy="100000" kx="0" ky="0" algn="bl" rotWithShape="0" blurRad="50800" dist="25400" dir="8100000">
              <a:srgbClr val="000000">
                <a:alpha val="15000"/>
              </a:srgbClr>
            </a:outerShdw>
          </a:effectLst>
        </p:spPr>
      </p:sp>
      <p:sp>
        <p:nvSpPr>
          <p:cNvPr id="36" name="Text 34"/>
          <p:cNvSpPr/>
          <p:nvPr/>
        </p:nvSpPr>
        <p:spPr>
          <a:xfrm>
            <a:off x="6126480" y="3456432"/>
            <a:ext cx="2514600" cy="274320"/>
          </a:xfrm>
          <a:prstGeom prst="rect">
            <a:avLst/>
          </a:prstGeom>
          <a:noFill/>
          <a:ln/>
        </p:spPr>
        <p:txBody>
          <a:bodyPr wrap="square" rtlCol="0" anchor="ctr"/>
          <a:lstStyle/>
          <a:p>
            <a:pPr indent="0" marL="0">
              <a:buNone/>
            </a:pPr>
            <a:r>
              <a:rPr lang="en-US" sz="1100" b="1" dirty="0">
                <a:solidFill>
                  <a:srgbClr val="14A5A3"/>
                </a:solidFill>
                <a:latin typeface="Calibri" pitchFamily="34" charset="0"/>
                <a:ea typeface="Calibri" pitchFamily="34" charset="-122"/>
                <a:cs typeface="Calibri" pitchFamily="34" charset="-120"/>
              </a:rPr>
              <a:t>When it passes</a:t>
            </a:r>
            <a:endParaRPr lang="en-US" sz="1100" dirty="0"/>
          </a:p>
        </p:txBody>
      </p:sp>
      <p:sp>
        <p:nvSpPr>
          <p:cNvPr id="37" name="Text 35"/>
          <p:cNvSpPr/>
          <p:nvPr/>
        </p:nvSpPr>
        <p:spPr>
          <a:xfrm>
            <a:off x="6126480" y="3749040"/>
            <a:ext cx="2514600" cy="804672"/>
          </a:xfrm>
          <a:prstGeom prst="rect">
            <a:avLst/>
          </a:prstGeom>
          <a:noFill/>
          <a:ln/>
        </p:spPr>
        <p:txBody>
          <a:bodyPr wrap="square" rtlCol="0" anchor="ctr"/>
          <a:lstStyle/>
          <a:p>
            <a:pPr indent="0" marL="0">
              <a:buNone/>
            </a:pPr>
            <a:r>
              <a:rPr lang="en-US" sz="1000" dirty="0">
                <a:solidFill>
                  <a:srgbClr val="AABBCC"/>
                </a:solidFill>
                <a:latin typeface="Calibri" pitchFamily="34" charset="0"/>
                <a:ea typeface="Calibri" pitchFamily="34" charset="-122"/>
                <a:cs typeface="Calibri" pitchFamily="34" charset="-120"/>
              </a:rPr>
              <a:t>Helm rendering is clean. Remaining bugs are in how Kubernetes accepts the YAML — type errors, label rules, selector mismatches.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Shape 1"/>
          <p:cNvSpPr/>
          <p:nvPr/>
        </p:nvSpPr>
        <p:spPr>
          <a:xfrm>
            <a:off x="0" y="0"/>
            <a:ext cx="73152" cy="685800"/>
          </a:xfrm>
          <a:prstGeom prst="rect">
            <a:avLst/>
          </a:prstGeom>
          <a:solidFill>
            <a:srgbClr val="0E7C7B"/>
          </a:solidFill>
          <a:ln w="12700">
            <a:solidFill>
              <a:srgbClr val="0E7C7B"/>
            </a:solidFill>
            <a:prstDash val="solid"/>
          </a:ln>
        </p:spPr>
      </p:sp>
      <p:sp>
        <p:nvSpPr>
          <p:cNvPr id="4" name="Text 2"/>
          <p:cNvSpPr/>
          <p:nvPr/>
        </p:nvSpPr>
        <p:spPr>
          <a:xfrm>
            <a:off x="182880" y="0"/>
            <a:ext cx="8778240" cy="6858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helm create — Your Reference Baseline</a:t>
            </a:r>
            <a:endParaRPr lang="en-US" sz="2200" dirty="0"/>
          </a:p>
        </p:txBody>
      </p:sp>
      <p:sp>
        <p:nvSpPr>
          <p:cNvPr id="5" name="Shape 3"/>
          <p:cNvSpPr/>
          <p:nvPr/>
        </p:nvSpPr>
        <p:spPr>
          <a:xfrm>
            <a:off x="0" y="4800600"/>
            <a:ext cx="9144000" cy="342900"/>
          </a:xfrm>
          <a:prstGeom prst="rect">
            <a:avLst/>
          </a:prstGeom>
          <a:solidFill>
            <a:srgbClr val="0D1B2A"/>
          </a:solidFill>
          <a:ln w="12700">
            <a:solidFill>
              <a:srgbClr val="0D1B2A"/>
            </a:solidFill>
            <a:prstDash val="solid"/>
          </a:ln>
        </p:spPr>
      </p:sp>
      <p:sp>
        <p:nvSpPr>
          <p:cNvPr id="6" name="Text 4"/>
          <p:cNvSpPr/>
          <p:nvPr/>
        </p:nvSpPr>
        <p:spPr>
          <a:xfrm>
            <a:off x="182880" y="4800600"/>
            <a:ext cx="8778240" cy="342900"/>
          </a:xfrm>
          <a:prstGeom prst="rect">
            <a:avLst/>
          </a:prstGeom>
          <a:noFill/>
          <a:ln/>
        </p:spPr>
        <p:txBody>
          <a:bodyPr wrap="square" lIns="0" tIns="0" rIns="0" bIns="0" rtlCol="0" anchor="ctr"/>
          <a:lstStyle/>
          <a:p>
            <a:pPr indent="0" marL="0">
              <a:buNone/>
            </a:pPr>
            <a:r>
              <a:rPr lang="en-US" sz="900" dirty="0">
                <a:solidFill>
                  <a:srgbClr val="8899AA"/>
                </a:solidFill>
                <a:latin typeface="Calibri" pitchFamily="34" charset="0"/>
                <a:ea typeface="Calibri" pitchFamily="34" charset="-122"/>
                <a:cs typeface="Calibri" pitchFamily="34" charset="-120"/>
              </a:rPr>
              <a:t>Lab 039 — Helm Chart Won't Install</a:t>
            </a:r>
            <a:endParaRPr lang="en-US" sz="900" dirty="0"/>
          </a:p>
        </p:txBody>
      </p:sp>
      <p:sp>
        <p:nvSpPr>
          <p:cNvPr id="7" name="Shape 5"/>
          <p:cNvSpPr/>
          <p:nvPr/>
        </p:nvSpPr>
        <p:spPr>
          <a:xfrm>
            <a:off x="274320" y="822960"/>
            <a:ext cx="3931920" cy="3794760"/>
          </a:xfrm>
          <a:prstGeom prst="rect">
            <a:avLst/>
          </a:prstGeom>
          <a:solidFill>
            <a:srgbClr val="FFFFFF"/>
          </a:solidFill>
          <a:ln w="12700">
            <a:solidFill>
              <a:srgbClr val="D0DCE8"/>
            </a:solidFill>
            <a:prstDash val="solid"/>
          </a:ln>
          <a:effectLst>
            <a:outerShdw sx="100000" sy="100000" kx="0" ky="0" algn="bl" rotWithShape="0" blurRad="50800" dist="25400" dir="8100000">
              <a:srgbClr val="000000">
                <a:alpha val="8000"/>
              </a:srgbClr>
            </a:outerShdw>
          </a:effectLst>
        </p:spPr>
      </p:sp>
      <p:sp>
        <p:nvSpPr>
          <p:cNvPr id="8" name="Text 6"/>
          <p:cNvSpPr/>
          <p:nvPr/>
        </p:nvSpPr>
        <p:spPr>
          <a:xfrm>
            <a:off x="457200" y="914400"/>
            <a:ext cx="3566160" cy="347472"/>
          </a:xfrm>
          <a:prstGeom prst="rect">
            <a:avLst/>
          </a:prstGeom>
          <a:noFill/>
          <a:ln/>
        </p:spPr>
        <p:txBody>
          <a:bodyPr wrap="square" rtlCol="0" anchor="ctr"/>
          <a:lstStyle/>
          <a:p>
            <a:pPr indent="0" marL="0">
              <a:buNone/>
            </a:pPr>
            <a:r>
              <a:rPr lang="en-US" sz="1300" b="1" dirty="0">
                <a:solidFill>
                  <a:srgbClr val="0D1B2A"/>
                </a:solidFill>
                <a:latin typeface="Calibri" pitchFamily="34" charset="0"/>
                <a:ea typeface="Calibri" pitchFamily="34" charset="-122"/>
                <a:cs typeface="Calibri" pitchFamily="34" charset="-120"/>
              </a:rPr>
              <a:t>When You're Unsure What's Valid</a:t>
            </a:r>
            <a:endParaRPr lang="en-US" sz="1300" dirty="0"/>
          </a:p>
        </p:txBody>
      </p:sp>
      <p:sp>
        <p:nvSpPr>
          <p:cNvPr id="9" name="Text 7"/>
          <p:cNvSpPr/>
          <p:nvPr/>
        </p:nvSpPr>
        <p:spPr>
          <a:xfrm>
            <a:off x="457200" y="1298448"/>
            <a:ext cx="3566160" cy="320040"/>
          </a:xfrm>
          <a:prstGeom prst="rect">
            <a:avLst/>
          </a:prstGeom>
          <a:noFill/>
          <a:ln/>
        </p:spPr>
        <p:txBody>
          <a:bodyPr wrap="square" rtlCol="0" anchor="ctr"/>
          <a:lstStyle/>
          <a:p>
            <a:pPr indent="0" marL="0">
              <a:buNone/>
            </a:pPr>
            <a:r>
              <a:rPr lang="en-US" sz="1100" dirty="0">
                <a:solidFill>
                  <a:srgbClr val="445566"/>
                </a:solidFill>
                <a:latin typeface="Calibri" pitchFamily="34" charset="0"/>
                <a:ea typeface="Calibri" pitchFamily="34" charset="-122"/>
                <a:cs typeface="Calibri" pitchFamily="34" charset="-120"/>
              </a:rPr>
              <a:t>Run this on any machine with Helm installed:</a:t>
            </a:r>
            <a:endParaRPr lang="en-US" sz="1100" dirty="0"/>
          </a:p>
        </p:txBody>
      </p:sp>
      <p:sp>
        <p:nvSpPr>
          <p:cNvPr id="10" name="Shape 8"/>
          <p:cNvSpPr/>
          <p:nvPr/>
        </p:nvSpPr>
        <p:spPr>
          <a:xfrm>
            <a:off x="411480" y="1645920"/>
            <a:ext cx="3611880" cy="502920"/>
          </a:xfrm>
          <a:prstGeom prst="rect">
            <a:avLst/>
          </a:prstGeom>
          <a:solidFill>
            <a:srgbClr val="0D1B2A"/>
          </a:solidFill>
          <a:ln w="12700">
            <a:solidFill>
              <a:srgbClr val="0E7C7B"/>
            </a:solidFill>
            <a:prstDash val="solid"/>
          </a:ln>
        </p:spPr>
      </p:sp>
      <p:sp>
        <p:nvSpPr>
          <p:cNvPr id="11" name="Text 9"/>
          <p:cNvSpPr/>
          <p:nvPr/>
        </p:nvSpPr>
        <p:spPr>
          <a:xfrm>
            <a:off x="502920" y="1664208"/>
            <a:ext cx="3429000" cy="457200"/>
          </a:xfrm>
          <a:prstGeom prst="rect">
            <a:avLst/>
          </a:prstGeom>
          <a:noFill/>
          <a:ln/>
        </p:spPr>
        <p:txBody>
          <a:bodyPr wrap="square" rtlCol="0" anchor="ctr"/>
          <a:lstStyle/>
          <a:p>
            <a:pPr indent="0" marL="0">
              <a:buNone/>
            </a:pPr>
            <a:r>
              <a:rPr lang="en-US" sz="1100" dirty="0">
                <a:solidFill>
                  <a:srgbClr val="14A5A3"/>
                </a:solidFill>
                <a:latin typeface="Consolas" pitchFamily="34" charset="0"/>
                <a:ea typeface="Consolas" pitchFamily="34" charset="-122"/>
                <a:cs typeface="Consolas" pitchFamily="34" charset="-120"/>
              </a:rPr>
              <a:t>helm create testchart</a:t>
            </a:r>
            <a:endParaRPr lang="en-US" sz="1100" dirty="0"/>
          </a:p>
          <a:p>
            <a:pPr indent="0" marL="0">
              <a:buNone/>
            </a:pPr>
            <a:r>
              <a:rPr lang="en-US" sz="1100" dirty="0">
                <a:solidFill>
                  <a:srgbClr val="14A5A3"/>
                </a:solidFill>
                <a:latin typeface="Consolas" pitchFamily="34" charset="0"/>
                <a:ea typeface="Consolas" pitchFamily="34" charset="-122"/>
                <a:cs typeface="Consolas" pitchFamily="34" charset="-120"/>
              </a:rPr>
              <a:t>cat testchart/Chart.yaml</a:t>
            </a:r>
            <a:endParaRPr lang="en-US" sz="1100" dirty="0"/>
          </a:p>
        </p:txBody>
      </p:sp>
      <p:sp>
        <p:nvSpPr>
          <p:cNvPr id="12" name="Text 10"/>
          <p:cNvSpPr/>
          <p:nvPr/>
        </p:nvSpPr>
        <p:spPr>
          <a:xfrm>
            <a:off x="457200" y="2212848"/>
            <a:ext cx="3566160" cy="2240280"/>
          </a:xfrm>
          <a:prstGeom prst="rect">
            <a:avLst/>
          </a:prstGeom>
          <a:noFill/>
          <a:ln/>
        </p:spPr>
        <p:txBody>
          <a:bodyPr wrap="square" rtlCol="0" anchor="ctr"/>
          <a:lstStyle/>
          <a:p>
            <a:pPr indent="0" marL="0">
              <a:buNone/>
            </a:pPr>
            <a:r>
              <a:rPr lang="en-US" sz="1100" dirty="0">
                <a:solidFill>
                  <a:srgbClr val="445566"/>
                </a:solidFill>
                <a:latin typeface="Calibri" pitchFamily="34" charset="0"/>
                <a:ea typeface="Calibri" pitchFamily="34" charset="-122"/>
                <a:cs typeface="Calibri" pitchFamily="34" charset="-120"/>
              </a:rPr>
              <a:t>This scaffolds a complete, valid chart with all correct defaults — apiVersion: v2, a proper name field, quoted appVersion, working templates.</a:t>
            </a:r>
            <a:endParaRPr lang="en-US" sz="1100" dirty="0"/>
          </a:p>
          <a:p>
            <a:pPr indent="0" marL="0">
              <a:buNone/>
            </a:pPr>
            <a:r>
              <a:rPr lang="en-US" sz="1100" dirty="0">
                <a:solidFill>
                  <a:srgbClr val="445566"/>
                </a:solidFill>
                <a:latin typeface="Calibri" pitchFamily="34" charset="0"/>
                <a:ea typeface="Calibri" pitchFamily="34" charset="-122"/>
                <a:cs typeface="Calibri" pitchFamily="34" charset="-120"/>
              </a:rPr>
              <a:t> </a:t>
            </a:r>
            <a:endParaRPr lang="en-US" sz="1100" dirty="0"/>
          </a:p>
          <a:p>
            <a:pPr indent="0" marL="0">
              <a:buNone/>
            </a:pPr>
            <a:r>
              <a:rPr lang="en-US" sz="1100" dirty="0">
                <a:solidFill>
                  <a:srgbClr val="445566"/>
                </a:solidFill>
                <a:latin typeface="Calibri" pitchFamily="34" charset="0"/>
                <a:ea typeface="Calibri" pitchFamily="34" charset="-122"/>
                <a:cs typeface="Calibri" pitchFamily="34" charset="-120"/>
              </a:rPr>
              <a:t>Use it as a sanity check any time you're unsure what a field should look like, or as a starting point for a new chart.</a:t>
            </a:r>
            <a:endParaRPr lang="en-US" sz="1100" dirty="0"/>
          </a:p>
          <a:p>
            <a:pPr indent="0" marL="0">
              <a:buNone/>
            </a:pPr>
            <a:r>
              <a:rPr lang="en-US" sz="1100" dirty="0">
                <a:solidFill>
                  <a:srgbClr val="445566"/>
                </a:solidFill>
                <a:latin typeface="Calibri" pitchFamily="34" charset="0"/>
                <a:ea typeface="Calibri" pitchFamily="34" charset="-122"/>
                <a:cs typeface="Calibri" pitchFamily="34" charset="-120"/>
              </a:rPr>
              <a:t> </a:t>
            </a:r>
            <a:endParaRPr lang="en-US" sz="1100" dirty="0"/>
          </a:p>
          <a:p>
            <a:pPr indent="0" marL="0">
              <a:buNone/>
            </a:pPr>
            <a:r>
              <a:rPr lang="en-US" sz="1100" dirty="0">
                <a:solidFill>
                  <a:srgbClr val="445566"/>
                </a:solidFill>
                <a:latin typeface="Calibri" pitchFamily="34" charset="0"/>
                <a:ea typeface="Calibri" pitchFamily="34" charset="-122"/>
                <a:cs typeface="Calibri" pitchFamily="34" charset="-120"/>
              </a:rPr>
              <a:t>Delete the folder when done:</a:t>
            </a:r>
            <a:endParaRPr lang="en-US" sz="1100" dirty="0"/>
          </a:p>
          <a:p>
            <a:pPr indent="0" marL="0">
              <a:buNone/>
            </a:pPr>
            <a:r>
              <a:rPr lang="en-US" sz="1100" b="1" dirty="0">
                <a:solidFill>
                  <a:srgbClr val="0E7C7B"/>
                </a:solidFill>
                <a:latin typeface="Calibri" pitchFamily="34" charset="0"/>
                <a:ea typeface="Calibri" pitchFamily="34" charset="-122"/>
                <a:cs typeface="Calibri" pitchFamily="34" charset="-120"/>
              </a:rPr>
              <a:t>rm -rf testchart</a:t>
            </a:r>
            <a:endParaRPr lang="en-US" sz="1100" dirty="0"/>
          </a:p>
        </p:txBody>
      </p:sp>
      <p:sp>
        <p:nvSpPr>
          <p:cNvPr id="13" name="Shape 11"/>
          <p:cNvSpPr/>
          <p:nvPr/>
        </p:nvSpPr>
        <p:spPr>
          <a:xfrm>
            <a:off x="4389120" y="822960"/>
            <a:ext cx="4480560" cy="3794760"/>
          </a:xfrm>
          <a:prstGeom prst="rect">
            <a:avLst/>
          </a:prstGeom>
          <a:solidFill>
            <a:srgbClr val="0D1B2A"/>
          </a:solidFill>
          <a:ln w="12700">
            <a:solidFill>
              <a:srgbClr val="2A4A62"/>
            </a:solidFill>
            <a:prstDash val="solid"/>
          </a:ln>
          <a:effectLst>
            <a:outerShdw sx="100000" sy="100000" kx="0" ky="0" algn="bl" rotWithShape="0" blurRad="50800" dist="25400" dir="8100000">
              <a:srgbClr val="000000">
                <a:alpha val="10000"/>
              </a:srgbClr>
            </a:outerShdw>
          </a:effectLst>
        </p:spPr>
      </p:sp>
      <p:sp>
        <p:nvSpPr>
          <p:cNvPr id="14" name="Text 12"/>
          <p:cNvSpPr/>
          <p:nvPr/>
        </p:nvSpPr>
        <p:spPr>
          <a:xfrm>
            <a:off x="4572000" y="914400"/>
            <a:ext cx="4114800" cy="347472"/>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What helm create Produces</a:t>
            </a:r>
            <a:endParaRPr lang="en-US" sz="1300" dirty="0"/>
          </a:p>
        </p:txBody>
      </p:sp>
      <p:sp>
        <p:nvSpPr>
          <p:cNvPr id="15" name="Text 13"/>
          <p:cNvSpPr/>
          <p:nvPr/>
        </p:nvSpPr>
        <p:spPr>
          <a:xfrm>
            <a:off x="4572000" y="1353312"/>
            <a:ext cx="4114800" cy="310896"/>
          </a:xfrm>
          <a:prstGeom prst="rect">
            <a:avLst/>
          </a:prstGeom>
          <a:noFill/>
          <a:ln/>
        </p:spPr>
        <p:txBody>
          <a:bodyPr wrap="square" rtlCol="0" anchor="ctr"/>
          <a:lstStyle/>
          <a:p>
            <a:pPr indent="0" marL="0">
              <a:buNone/>
            </a:pPr>
            <a:r>
              <a:rPr lang="en-US" sz="1050" b="1" dirty="0">
                <a:solidFill>
                  <a:srgbClr val="14A5A3"/>
                </a:solidFill>
                <a:latin typeface="Consolas" pitchFamily="34" charset="0"/>
                <a:ea typeface="Consolas" pitchFamily="34" charset="-122"/>
                <a:cs typeface="Consolas" pitchFamily="34" charset="-120"/>
              </a:rPr>
              <a:t>testchart/</a:t>
            </a:r>
            <a:endParaRPr lang="en-US" sz="1050" dirty="0"/>
          </a:p>
        </p:txBody>
      </p:sp>
      <p:sp>
        <p:nvSpPr>
          <p:cNvPr id="16" name="Text 14"/>
          <p:cNvSpPr/>
          <p:nvPr/>
        </p:nvSpPr>
        <p:spPr>
          <a:xfrm>
            <a:off x="4572000" y="1682496"/>
            <a:ext cx="4114800" cy="310896"/>
          </a:xfrm>
          <a:prstGeom prst="rect">
            <a:avLst/>
          </a:prstGeom>
          <a:noFill/>
          <a:ln/>
        </p:spPr>
        <p:txBody>
          <a:bodyPr wrap="square" rtlCol="0" anchor="ctr"/>
          <a:lstStyle/>
          <a:p>
            <a:pPr indent="0" marL="0">
              <a:buNone/>
            </a:pPr>
            <a:r>
              <a:rPr lang="en-US" sz="1050" dirty="0">
                <a:solidFill>
                  <a:srgbClr val="FFFFFF"/>
                </a:solidFill>
                <a:latin typeface="Consolas" pitchFamily="34" charset="0"/>
                <a:ea typeface="Consolas" pitchFamily="34" charset="-122"/>
                <a:cs typeface="Consolas" pitchFamily="34" charset="-120"/>
              </a:rPr>
              <a:t>    Chart.yaml          ← identity file</a:t>
            </a:r>
            <a:endParaRPr lang="en-US" sz="1050" dirty="0"/>
          </a:p>
        </p:txBody>
      </p:sp>
      <p:sp>
        <p:nvSpPr>
          <p:cNvPr id="17" name="Text 15"/>
          <p:cNvSpPr/>
          <p:nvPr/>
        </p:nvSpPr>
        <p:spPr>
          <a:xfrm>
            <a:off x="4572000" y="2011680"/>
            <a:ext cx="4114800" cy="310896"/>
          </a:xfrm>
          <a:prstGeom prst="rect">
            <a:avLst/>
          </a:prstGeom>
          <a:noFill/>
          <a:ln/>
        </p:spPr>
        <p:txBody>
          <a:bodyPr wrap="square" rtlCol="0" anchor="ctr"/>
          <a:lstStyle/>
          <a:p>
            <a:pPr indent="0" marL="0">
              <a:buNone/>
            </a:pPr>
            <a:r>
              <a:rPr lang="en-US" sz="1050" dirty="0">
                <a:solidFill>
                  <a:srgbClr val="FFFFFF"/>
                </a:solidFill>
                <a:latin typeface="Consolas" pitchFamily="34" charset="0"/>
                <a:ea typeface="Consolas" pitchFamily="34" charset="-122"/>
                <a:cs typeface="Consolas" pitchFamily="34" charset="-120"/>
              </a:rPr>
              <a:t>    values.yaml         ← default values</a:t>
            </a:r>
            <a:endParaRPr lang="en-US" sz="1050" dirty="0"/>
          </a:p>
        </p:txBody>
      </p:sp>
      <p:sp>
        <p:nvSpPr>
          <p:cNvPr id="18" name="Text 16"/>
          <p:cNvSpPr/>
          <p:nvPr/>
        </p:nvSpPr>
        <p:spPr>
          <a:xfrm>
            <a:off x="4572000" y="2340864"/>
            <a:ext cx="4114800" cy="310896"/>
          </a:xfrm>
          <a:prstGeom prst="rect">
            <a:avLst/>
          </a:prstGeom>
          <a:noFill/>
          <a:ln/>
        </p:spPr>
        <p:txBody>
          <a:bodyPr wrap="square" rtlCol="0" anchor="ctr"/>
          <a:lstStyle/>
          <a:p>
            <a:pPr indent="0" marL="0">
              <a:buNone/>
            </a:pPr>
            <a:r>
              <a:rPr lang="en-US" sz="1050" dirty="0">
                <a:solidFill>
                  <a:srgbClr val="FFFFFF"/>
                </a:solidFill>
                <a:latin typeface="Consolas" pitchFamily="34" charset="0"/>
                <a:ea typeface="Consolas" pitchFamily="34" charset="-122"/>
                <a:cs typeface="Consolas" pitchFamily="34" charset="-120"/>
              </a:rPr>
              <a:t>    templates/          ← rendered manifests</a:t>
            </a:r>
            <a:endParaRPr lang="en-US" sz="1050" dirty="0"/>
          </a:p>
        </p:txBody>
      </p:sp>
      <p:sp>
        <p:nvSpPr>
          <p:cNvPr id="19" name="Text 17"/>
          <p:cNvSpPr/>
          <p:nvPr/>
        </p:nvSpPr>
        <p:spPr>
          <a:xfrm>
            <a:off x="4572000" y="2670048"/>
            <a:ext cx="4114800" cy="310896"/>
          </a:xfrm>
          <a:prstGeom prst="rect">
            <a:avLst/>
          </a:prstGeom>
          <a:noFill/>
          <a:ln/>
        </p:spPr>
        <p:txBody>
          <a:bodyPr wrap="square" rtlCol="0" anchor="ctr"/>
          <a:lstStyle/>
          <a:p>
            <a:pPr indent="0" marL="0">
              <a:buNone/>
            </a:pPr>
            <a:r>
              <a:rPr lang="en-US" sz="1050" dirty="0">
                <a:solidFill>
                  <a:srgbClr val="8899AA"/>
                </a:solidFill>
                <a:latin typeface="Consolas" pitchFamily="34" charset="0"/>
                <a:ea typeface="Consolas" pitchFamily="34" charset="-122"/>
                <a:cs typeface="Consolas" pitchFamily="34" charset="-120"/>
              </a:rPr>
              <a:t>        deployment.yaml</a:t>
            </a:r>
            <a:endParaRPr lang="en-US" sz="1050" dirty="0"/>
          </a:p>
        </p:txBody>
      </p:sp>
      <p:sp>
        <p:nvSpPr>
          <p:cNvPr id="20" name="Text 18"/>
          <p:cNvSpPr/>
          <p:nvPr/>
        </p:nvSpPr>
        <p:spPr>
          <a:xfrm>
            <a:off x="4572000" y="2999232"/>
            <a:ext cx="4114800" cy="310896"/>
          </a:xfrm>
          <a:prstGeom prst="rect">
            <a:avLst/>
          </a:prstGeom>
          <a:noFill/>
          <a:ln/>
        </p:spPr>
        <p:txBody>
          <a:bodyPr wrap="square" rtlCol="0" anchor="ctr"/>
          <a:lstStyle/>
          <a:p>
            <a:pPr indent="0" marL="0">
              <a:buNone/>
            </a:pPr>
            <a:r>
              <a:rPr lang="en-US" sz="1050" dirty="0">
                <a:solidFill>
                  <a:srgbClr val="8899AA"/>
                </a:solidFill>
                <a:latin typeface="Consolas" pitchFamily="34" charset="0"/>
                <a:ea typeface="Consolas" pitchFamily="34" charset="-122"/>
                <a:cs typeface="Consolas" pitchFamily="34" charset="-120"/>
              </a:rPr>
              <a:t>        service.yaml</a:t>
            </a:r>
            <a:endParaRPr lang="en-US" sz="1050" dirty="0"/>
          </a:p>
        </p:txBody>
      </p:sp>
      <p:sp>
        <p:nvSpPr>
          <p:cNvPr id="21" name="Text 19"/>
          <p:cNvSpPr/>
          <p:nvPr/>
        </p:nvSpPr>
        <p:spPr>
          <a:xfrm>
            <a:off x="4572000" y="3328416"/>
            <a:ext cx="4114800" cy="310896"/>
          </a:xfrm>
          <a:prstGeom prst="rect">
            <a:avLst/>
          </a:prstGeom>
          <a:noFill/>
          <a:ln/>
        </p:spPr>
        <p:txBody>
          <a:bodyPr wrap="square" rtlCol="0" anchor="ctr"/>
          <a:lstStyle/>
          <a:p>
            <a:pPr indent="0" marL="0">
              <a:buNone/>
            </a:pPr>
            <a:r>
              <a:rPr lang="en-US" sz="1050" dirty="0">
                <a:solidFill>
                  <a:srgbClr val="8899AA"/>
                </a:solidFill>
                <a:latin typeface="Consolas" pitchFamily="34" charset="0"/>
                <a:ea typeface="Consolas" pitchFamily="34" charset="-122"/>
                <a:cs typeface="Consolas" pitchFamily="34" charset="-120"/>
              </a:rPr>
              <a:t>        serviceaccount.yaml</a:t>
            </a:r>
            <a:endParaRPr lang="en-US" sz="1050" dirty="0"/>
          </a:p>
        </p:txBody>
      </p:sp>
      <p:sp>
        <p:nvSpPr>
          <p:cNvPr id="22" name="Text 20"/>
          <p:cNvSpPr/>
          <p:nvPr/>
        </p:nvSpPr>
        <p:spPr>
          <a:xfrm>
            <a:off x="4572000" y="3657600"/>
            <a:ext cx="4114800" cy="310896"/>
          </a:xfrm>
          <a:prstGeom prst="rect">
            <a:avLst/>
          </a:prstGeom>
          <a:noFill/>
          <a:ln/>
        </p:spPr>
        <p:txBody>
          <a:bodyPr wrap="square" rtlCol="0" anchor="ctr"/>
          <a:lstStyle/>
          <a:p>
            <a:pPr indent="0" marL="0">
              <a:buNone/>
            </a:pPr>
            <a:r>
              <a:rPr lang="en-US" sz="1050" dirty="0">
                <a:solidFill>
                  <a:srgbClr val="8899AA"/>
                </a:solidFill>
                <a:latin typeface="Consolas" pitchFamily="34" charset="0"/>
                <a:ea typeface="Consolas" pitchFamily="34" charset="-122"/>
                <a:cs typeface="Consolas" pitchFamily="34" charset="-120"/>
              </a:rPr>
              <a:t>        _helpers.tpl        ← shared template funcs</a:t>
            </a:r>
            <a:endParaRPr lang="en-US" sz="1050" dirty="0"/>
          </a:p>
        </p:txBody>
      </p:sp>
      <p:sp>
        <p:nvSpPr>
          <p:cNvPr id="23" name="Text 21"/>
          <p:cNvSpPr/>
          <p:nvPr/>
        </p:nvSpPr>
        <p:spPr>
          <a:xfrm>
            <a:off x="4572000" y="3986784"/>
            <a:ext cx="4114800" cy="310896"/>
          </a:xfrm>
          <a:prstGeom prst="rect">
            <a:avLst/>
          </a:prstGeom>
          <a:noFill/>
          <a:ln/>
        </p:spPr>
        <p:txBody>
          <a:bodyPr wrap="square" rtlCol="0" anchor="ctr"/>
          <a:lstStyle/>
          <a:p>
            <a:pPr indent="0" marL="0">
              <a:buNone/>
            </a:pPr>
            <a:r>
              <a:rPr lang="en-US" sz="1050" dirty="0">
                <a:solidFill>
                  <a:srgbClr val="8899AA"/>
                </a:solidFill>
                <a:latin typeface="Consolas" pitchFamily="34" charset="0"/>
                <a:ea typeface="Consolas" pitchFamily="34" charset="-122"/>
                <a:cs typeface="Consolas" pitchFamily="34" charset="-120"/>
              </a:rPr>
              <a:t>        NOTES.txt           ← post-install message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Shape 1"/>
          <p:cNvSpPr/>
          <p:nvPr/>
        </p:nvSpPr>
        <p:spPr>
          <a:xfrm>
            <a:off x="0" y="0"/>
            <a:ext cx="73152" cy="685800"/>
          </a:xfrm>
          <a:prstGeom prst="rect">
            <a:avLst/>
          </a:prstGeom>
          <a:solidFill>
            <a:srgbClr val="0E7C7B"/>
          </a:solidFill>
          <a:ln w="12700">
            <a:solidFill>
              <a:srgbClr val="0E7C7B"/>
            </a:solidFill>
            <a:prstDash val="solid"/>
          </a:ln>
        </p:spPr>
      </p:sp>
      <p:sp>
        <p:nvSpPr>
          <p:cNvPr id="4" name="Text 2"/>
          <p:cNvSpPr/>
          <p:nvPr/>
        </p:nvSpPr>
        <p:spPr>
          <a:xfrm>
            <a:off x="182880" y="0"/>
            <a:ext cx="8778240" cy="6858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The 9 Bugs — Three Failure Layers</a:t>
            </a:r>
            <a:endParaRPr lang="en-US" sz="2200" dirty="0"/>
          </a:p>
        </p:txBody>
      </p:sp>
      <p:sp>
        <p:nvSpPr>
          <p:cNvPr id="5" name="Shape 3"/>
          <p:cNvSpPr/>
          <p:nvPr/>
        </p:nvSpPr>
        <p:spPr>
          <a:xfrm>
            <a:off x="0" y="4800600"/>
            <a:ext cx="9144000" cy="342900"/>
          </a:xfrm>
          <a:prstGeom prst="rect">
            <a:avLst/>
          </a:prstGeom>
          <a:solidFill>
            <a:srgbClr val="0D1B2A"/>
          </a:solidFill>
          <a:ln w="12700">
            <a:solidFill>
              <a:srgbClr val="0D1B2A"/>
            </a:solidFill>
            <a:prstDash val="solid"/>
          </a:ln>
        </p:spPr>
      </p:sp>
      <p:sp>
        <p:nvSpPr>
          <p:cNvPr id="6" name="Text 4"/>
          <p:cNvSpPr/>
          <p:nvPr/>
        </p:nvSpPr>
        <p:spPr>
          <a:xfrm>
            <a:off x="182880" y="4800600"/>
            <a:ext cx="8778240" cy="342900"/>
          </a:xfrm>
          <a:prstGeom prst="rect">
            <a:avLst/>
          </a:prstGeom>
          <a:noFill/>
          <a:ln/>
        </p:spPr>
        <p:txBody>
          <a:bodyPr wrap="square" lIns="0" tIns="0" rIns="0" bIns="0" rtlCol="0" anchor="ctr"/>
          <a:lstStyle/>
          <a:p>
            <a:pPr indent="0" marL="0">
              <a:buNone/>
            </a:pPr>
            <a:r>
              <a:rPr lang="en-US" sz="900" dirty="0">
                <a:solidFill>
                  <a:srgbClr val="8899AA"/>
                </a:solidFill>
                <a:latin typeface="Calibri" pitchFamily="34" charset="0"/>
                <a:ea typeface="Calibri" pitchFamily="34" charset="-122"/>
                <a:cs typeface="Calibri" pitchFamily="34" charset="-120"/>
              </a:rPr>
              <a:t>Lab 039 — Helm Chart Won't Install</a:t>
            </a:r>
            <a:endParaRPr lang="en-US" sz="900" dirty="0"/>
          </a:p>
        </p:txBody>
      </p:sp>
      <p:sp>
        <p:nvSpPr>
          <p:cNvPr id="7" name="Shape 5"/>
          <p:cNvSpPr/>
          <p:nvPr/>
        </p:nvSpPr>
        <p:spPr>
          <a:xfrm>
            <a:off x="274320" y="804672"/>
            <a:ext cx="8595360" cy="1261872"/>
          </a:xfrm>
          <a:prstGeom prst="rect">
            <a:avLst/>
          </a:prstGeom>
          <a:solidFill>
            <a:srgbClr val="0D1F30"/>
          </a:solidFill>
          <a:ln w="12700">
            <a:solidFill>
              <a:srgbClr val="E63946"/>
            </a:solidFill>
            <a:prstDash val="solid"/>
          </a:ln>
        </p:spPr>
      </p:sp>
      <p:sp>
        <p:nvSpPr>
          <p:cNvPr id="8" name="Shape 6"/>
          <p:cNvSpPr/>
          <p:nvPr/>
        </p:nvSpPr>
        <p:spPr>
          <a:xfrm>
            <a:off x="274320" y="804672"/>
            <a:ext cx="73152" cy="1261872"/>
          </a:xfrm>
          <a:prstGeom prst="rect">
            <a:avLst/>
          </a:prstGeom>
          <a:solidFill>
            <a:srgbClr val="E63946"/>
          </a:solidFill>
          <a:ln w="12700">
            <a:solidFill>
              <a:srgbClr val="E63946"/>
            </a:solidFill>
            <a:prstDash val="solid"/>
          </a:ln>
        </p:spPr>
      </p:sp>
      <p:sp>
        <p:nvSpPr>
          <p:cNvPr id="9" name="Text 7"/>
          <p:cNvSpPr/>
          <p:nvPr/>
        </p:nvSpPr>
        <p:spPr>
          <a:xfrm>
            <a:off x="502920" y="877824"/>
            <a:ext cx="8229600" cy="292608"/>
          </a:xfrm>
          <a:prstGeom prst="rect">
            <a:avLst/>
          </a:prstGeom>
          <a:noFill/>
          <a:ln/>
        </p:spPr>
        <p:txBody>
          <a:bodyPr wrap="square" rtlCol="0" anchor="ctr"/>
          <a:lstStyle/>
          <a:p>
            <a:pPr indent="0" marL="0">
              <a:buNone/>
            </a:pPr>
            <a:r>
              <a:rPr lang="en-US" sz="1200" b="1" dirty="0">
                <a:solidFill>
                  <a:srgbClr val="E63946"/>
                </a:solidFill>
                <a:latin typeface="Calibri" pitchFamily="34" charset="0"/>
                <a:ea typeface="Calibri" pitchFamily="34" charset="-122"/>
                <a:cs typeface="Calibri" pitchFamily="34" charset="-120"/>
              </a:rPr>
              <a:t>Layer 1 — Helm Won't Read the Chart</a:t>
            </a:r>
            <a:endParaRPr lang="en-US" sz="1200" dirty="0"/>
          </a:p>
        </p:txBody>
      </p:sp>
      <p:sp>
        <p:nvSpPr>
          <p:cNvPr id="10" name="Text 8"/>
          <p:cNvSpPr/>
          <p:nvPr/>
        </p:nvSpPr>
        <p:spPr>
          <a:xfrm>
            <a:off x="594360" y="1188720"/>
            <a:ext cx="8046720" cy="256032"/>
          </a:xfrm>
          <a:prstGeom prst="rect">
            <a:avLst/>
          </a:prstGeom>
          <a:noFill/>
          <a:ln/>
        </p:spPr>
        <p:txBody>
          <a:bodyPr wrap="square" rtlCol="0" anchor="ctr"/>
          <a:lstStyle/>
          <a:p>
            <a:pPr indent="0" marL="0">
              <a:buNone/>
            </a:pPr>
            <a:r>
              <a:rPr lang="en-US" sz="1050" dirty="0">
                <a:solidFill>
                  <a:srgbClr val="BBCCDD"/>
                </a:solidFill>
                <a:latin typeface="Calibri" pitchFamily="34" charset="0"/>
                <a:ea typeface="Calibri" pitchFamily="34" charset="-122"/>
                <a:cs typeface="Calibri" pitchFamily="34" charset="-120"/>
              </a:rPr>
              <a:t>▸  Chart.yaml: apiVersion: v1 (must be v2 for Helm 3)</a:t>
            </a:r>
            <a:endParaRPr lang="en-US" sz="1050" dirty="0"/>
          </a:p>
        </p:txBody>
      </p:sp>
      <p:sp>
        <p:nvSpPr>
          <p:cNvPr id="11" name="Text 9"/>
          <p:cNvSpPr/>
          <p:nvPr/>
        </p:nvSpPr>
        <p:spPr>
          <a:xfrm>
            <a:off x="594360" y="1463040"/>
            <a:ext cx="8046720" cy="256032"/>
          </a:xfrm>
          <a:prstGeom prst="rect">
            <a:avLst/>
          </a:prstGeom>
          <a:noFill/>
          <a:ln/>
        </p:spPr>
        <p:txBody>
          <a:bodyPr wrap="square" rtlCol="0" anchor="ctr"/>
          <a:lstStyle/>
          <a:p>
            <a:pPr indent="0" marL="0">
              <a:buNone/>
            </a:pPr>
            <a:r>
              <a:rPr lang="en-US" sz="1050" dirty="0">
                <a:solidFill>
                  <a:srgbClr val="BBCCDD"/>
                </a:solidFill>
                <a:latin typeface="Calibri" pitchFamily="34" charset="0"/>
                <a:ea typeface="Calibri" pitchFamily="34" charset="-122"/>
                <a:cs typeface="Calibri" pitchFamily="34" charset="-120"/>
              </a:rPr>
              <a:t>▸  Chart.yaml: name field missing entirely</a:t>
            </a:r>
            <a:endParaRPr lang="en-US" sz="1050" dirty="0"/>
          </a:p>
        </p:txBody>
      </p:sp>
      <p:sp>
        <p:nvSpPr>
          <p:cNvPr id="12" name="Text 10"/>
          <p:cNvSpPr/>
          <p:nvPr/>
        </p:nvSpPr>
        <p:spPr>
          <a:xfrm>
            <a:off x="594360" y="1737360"/>
            <a:ext cx="8046720" cy="256032"/>
          </a:xfrm>
          <a:prstGeom prst="rect">
            <a:avLst/>
          </a:prstGeom>
          <a:noFill/>
          <a:ln/>
        </p:spPr>
        <p:txBody>
          <a:bodyPr wrap="square" rtlCol="0" anchor="ctr"/>
          <a:lstStyle/>
          <a:p>
            <a:pPr indent="0" marL="0">
              <a:buNone/>
            </a:pPr>
            <a:r>
              <a:rPr lang="en-US" sz="1050" dirty="0">
                <a:solidFill>
                  <a:srgbClr val="BBCCDD"/>
                </a:solidFill>
                <a:latin typeface="Calibri" pitchFamily="34" charset="0"/>
                <a:ea typeface="Calibri" pitchFamily="34" charset="-122"/>
                <a:cs typeface="Calibri" pitchFamily="34" charset="-120"/>
              </a:rPr>
              <a:t>▸  Chart.yaml: appVersion unquoted (float not string)</a:t>
            </a:r>
            <a:endParaRPr lang="en-US" sz="1050" dirty="0"/>
          </a:p>
        </p:txBody>
      </p:sp>
      <p:sp>
        <p:nvSpPr>
          <p:cNvPr id="13" name="Shape 11"/>
          <p:cNvSpPr/>
          <p:nvPr/>
        </p:nvSpPr>
        <p:spPr>
          <a:xfrm>
            <a:off x="274320" y="2157984"/>
            <a:ext cx="8595360" cy="1261872"/>
          </a:xfrm>
          <a:prstGeom prst="rect">
            <a:avLst/>
          </a:prstGeom>
          <a:solidFill>
            <a:srgbClr val="0D1F30"/>
          </a:solidFill>
          <a:ln w="12700">
            <a:solidFill>
              <a:srgbClr val="F4A261"/>
            </a:solidFill>
            <a:prstDash val="solid"/>
          </a:ln>
        </p:spPr>
      </p:sp>
      <p:sp>
        <p:nvSpPr>
          <p:cNvPr id="14" name="Shape 12"/>
          <p:cNvSpPr/>
          <p:nvPr/>
        </p:nvSpPr>
        <p:spPr>
          <a:xfrm>
            <a:off x="274320" y="2157984"/>
            <a:ext cx="73152" cy="1261872"/>
          </a:xfrm>
          <a:prstGeom prst="rect">
            <a:avLst/>
          </a:prstGeom>
          <a:solidFill>
            <a:srgbClr val="F4A261"/>
          </a:solidFill>
          <a:ln w="12700">
            <a:solidFill>
              <a:srgbClr val="F4A261"/>
            </a:solidFill>
            <a:prstDash val="solid"/>
          </a:ln>
        </p:spPr>
      </p:sp>
      <p:sp>
        <p:nvSpPr>
          <p:cNvPr id="15" name="Text 13"/>
          <p:cNvSpPr/>
          <p:nvPr/>
        </p:nvSpPr>
        <p:spPr>
          <a:xfrm>
            <a:off x="502920" y="2231136"/>
            <a:ext cx="8229600" cy="292608"/>
          </a:xfrm>
          <a:prstGeom prst="rect">
            <a:avLst/>
          </a:prstGeom>
          <a:noFill/>
          <a:ln/>
        </p:spPr>
        <p:txBody>
          <a:bodyPr wrap="square" rtlCol="0" anchor="ctr"/>
          <a:lstStyle/>
          <a:p>
            <a:pPr indent="0" marL="0">
              <a:buNone/>
            </a:pPr>
            <a:r>
              <a:rPr lang="en-US" sz="1200" b="1" dirty="0">
                <a:solidFill>
                  <a:srgbClr val="F4A261"/>
                </a:solidFill>
                <a:latin typeface="Calibri" pitchFamily="34" charset="0"/>
                <a:ea typeface="Calibri" pitchFamily="34" charset="-122"/>
                <a:cs typeface="Calibri" pitchFamily="34" charset="-120"/>
              </a:rPr>
              <a:t>Layer 2 — Kubernetes Rejects the Output</a:t>
            </a:r>
            <a:endParaRPr lang="en-US" sz="1200" dirty="0"/>
          </a:p>
        </p:txBody>
      </p:sp>
      <p:sp>
        <p:nvSpPr>
          <p:cNvPr id="16" name="Text 14"/>
          <p:cNvSpPr/>
          <p:nvPr/>
        </p:nvSpPr>
        <p:spPr>
          <a:xfrm>
            <a:off x="594360" y="2542032"/>
            <a:ext cx="8046720" cy="256032"/>
          </a:xfrm>
          <a:prstGeom prst="rect">
            <a:avLst/>
          </a:prstGeom>
          <a:noFill/>
          <a:ln/>
        </p:spPr>
        <p:txBody>
          <a:bodyPr wrap="square" rtlCol="0" anchor="ctr"/>
          <a:lstStyle/>
          <a:p>
            <a:pPr indent="0" marL="0">
              <a:buNone/>
            </a:pPr>
            <a:r>
              <a:rPr lang="en-US" sz="1050" dirty="0">
                <a:solidFill>
                  <a:srgbClr val="BBCCDD"/>
                </a:solidFill>
                <a:latin typeface="Calibri" pitchFamily="34" charset="0"/>
                <a:ea typeface="Calibri" pitchFamily="34" charset="-122"/>
                <a:cs typeface="Calibri" pitchFamily="34" charset="-120"/>
              </a:rPr>
              <a:t>▸  values.yaml: appLabel: "web app" — space in label value</a:t>
            </a:r>
            <a:endParaRPr lang="en-US" sz="1050" dirty="0"/>
          </a:p>
        </p:txBody>
      </p:sp>
      <p:sp>
        <p:nvSpPr>
          <p:cNvPr id="17" name="Text 15"/>
          <p:cNvSpPr/>
          <p:nvPr/>
        </p:nvSpPr>
        <p:spPr>
          <a:xfrm>
            <a:off x="594360" y="2816352"/>
            <a:ext cx="8046720" cy="256032"/>
          </a:xfrm>
          <a:prstGeom prst="rect">
            <a:avLst/>
          </a:prstGeom>
          <a:noFill/>
          <a:ln/>
        </p:spPr>
        <p:txBody>
          <a:bodyPr wrap="square" rtlCol="0" anchor="ctr"/>
          <a:lstStyle/>
          <a:p>
            <a:pPr indent="0" marL="0">
              <a:buNone/>
            </a:pPr>
            <a:r>
              <a:rPr lang="en-US" sz="1050" dirty="0">
                <a:solidFill>
                  <a:srgbClr val="BBCCDD"/>
                </a:solidFill>
                <a:latin typeface="Calibri" pitchFamily="34" charset="0"/>
                <a:ea typeface="Calibri" pitchFamily="34" charset="-122"/>
                <a:cs typeface="Calibri" pitchFamily="34" charset="-120"/>
              </a:rPr>
              <a:t>▸  values.yaml: port: "80" — string not integer</a:t>
            </a:r>
            <a:endParaRPr lang="en-US" sz="1050" dirty="0"/>
          </a:p>
        </p:txBody>
      </p:sp>
      <p:sp>
        <p:nvSpPr>
          <p:cNvPr id="18" name="Text 16"/>
          <p:cNvSpPr/>
          <p:nvPr/>
        </p:nvSpPr>
        <p:spPr>
          <a:xfrm>
            <a:off x="594360" y="3090672"/>
            <a:ext cx="8046720" cy="256032"/>
          </a:xfrm>
          <a:prstGeom prst="rect">
            <a:avLst/>
          </a:prstGeom>
          <a:noFill/>
          <a:ln/>
        </p:spPr>
        <p:txBody>
          <a:bodyPr wrap="square" rtlCol="0" anchor="ctr"/>
          <a:lstStyle/>
          <a:p>
            <a:pPr indent="0" marL="0">
              <a:buNone/>
            </a:pPr>
            <a:r>
              <a:rPr lang="en-US" sz="1050" dirty="0">
                <a:solidFill>
                  <a:srgbClr val="BBCCDD"/>
                </a:solidFill>
                <a:latin typeface="Calibri" pitchFamily="34" charset="0"/>
                <a:ea typeface="Calibri" pitchFamily="34" charset="-122"/>
                <a:cs typeface="Calibri" pitchFamily="34" charset="-120"/>
              </a:rPr>
              <a:t>▸  deployment.yaml: {{ .Values.image.tag } — missing closing }}</a:t>
            </a:r>
            <a:endParaRPr lang="en-US" sz="1050" dirty="0"/>
          </a:p>
        </p:txBody>
      </p:sp>
      <p:sp>
        <p:nvSpPr>
          <p:cNvPr id="19" name="Shape 17"/>
          <p:cNvSpPr/>
          <p:nvPr/>
        </p:nvSpPr>
        <p:spPr>
          <a:xfrm>
            <a:off x="274320" y="3511296"/>
            <a:ext cx="8595360" cy="1261872"/>
          </a:xfrm>
          <a:prstGeom prst="rect">
            <a:avLst/>
          </a:prstGeom>
          <a:solidFill>
            <a:srgbClr val="0D1F30"/>
          </a:solidFill>
          <a:ln w="12700">
            <a:solidFill>
              <a:srgbClr val="2DC653"/>
            </a:solidFill>
            <a:prstDash val="solid"/>
          </a:ln>
        </p:spPr>
      </p:sp>
      <p:sp>
        <p:nvSpPr>
          <p:cNvPr id="20" name="Shape 18"/>
          <p:cNvSpPr/>
          <p:nvPr/>
        </p:nvSpPr>
        <p:spPr>
          <a:xfrm>
            <a:off x="274320" y="3511296"/>
            <a:ext cx="73152" cy="1261872"/>
          </a:xfrm>
          <a:prstGeom prst="rect">
            <a:avLst/>
          </a:prstGeom>
          <a:solidFill>
            <a:srgbClr val="2DC653"/>
          </a:solidFill>
          <a:ln w="12700">
            <a:solidFill>
              <a:srgbClr val="2DC653"/>
            </a:solidFill>
            <a:prstDash val="solid"/>
          </a:ln>
        </p:spPr>
      </p:sp>
      <p:sp>
        <p:nvSpPr>
          <p:cNvPr id="21" name="Text 19"/>
          <p:cNvSpPr/>
          <p:nvPr/>
        </p:nvSpPr>
        <p:spPr>
          <a:xfrm>
            <a:off x="502920" y="3584448"/>
            <a:ext cx="8229600" cy="292608"/>
          </a:xfrm>
          <a:prstGeom prst="rect">
            <a:avLst/>
          </a:prstGeom>
          <a:noFill/>
          <a:ln/>
        </p:spPr>
        <p:txBody>
          <a:bodyPr wrap="square" rtlCol="0" anchor="ctr"/>
          <a:lstStyle/>
          <a:p>
            <a:pPr indent="0" marL="0">
              <a:buNone/>
            </a:pPr>
            <a:r>
              <a:rPr lang="en-US" sz="1200" b="1" dirty="0">
                <a:solidFill>
                  <a:srgbClr val="2DC653"/>
                </a:solidFill>
                <a:latin typeface="Calibri" pitchFamily="34" charset="0"/>
                <a:ea typeface="Calibri" pitchFamily="34" charset="-122"/>
                <a:cs typeface="Calibri" pitchFamily="34" charset="-120"/>
              </a:rPr>
              <a:t>Layer 3 — Installs but Doesn't Work</a:t>
            </a:r>
            <a:endParaRPr lang="en-US" sz="1200" dirty="0"/>
          </a:p>
        </p:txBody>
      </p:sp>
      <p:sp>
        <p:nvSpPr>
          <p:cNvPr id="22" name="Text 20"/>
          <p:cNvSpPr/>
          <p:nvPr/>
        </p:nvSpPr>
        <p:spPr>
          <a:xfrm>
            <a:off x="594360" y="3895344"/>
            <a:ext cx="8046720" cy="256032"/>
          </a:xfrm>
          <a:prstGeom prst="rect">
            <a:avLst/>
          </a:prstGeom>
          <a:noFill/>
          <a:ln/>
        </p:spPr>
        <p:txBody>
          <a:bodyPr wrap="square" rtlCol="0" anchor="ctr"/>
          <a:lstStyle/>
          <a:p>
            <a:pPr indent="0" marL="0">
              <a:buNone/>
            </a:pPr>
            <a:r>
              <a:rPr lang="en-US" sz="1050" dirty="0">
                <a:solidFill>
                  <a:srgbClr val="BBCCDD"/>
                </a:solidFill>
                <a:latin typeface="Calibri" pitchFamily="34" charset="0"/>
                <a:ea typeface="Calibri" pitchFamily="34" charset="-122"/>
                <a:cs typeface="Calibri" pitchFamily="34" charset="-120"/>
              </a:rPr>
              <a:t>▸  deployment.yaml: .Values.image.imagePullPolicy — wrong field name, renders empty</a:t>
            </a:r>
            <a:endParaRPr lang="en-US" sz="1050" dirty="0"/>
          </a:p>
        </p:txBody>
      </p:sp>
      <p:sp>
        <p:nvSpPr>
          <p:cNvPr id="23" name="Text 21"/>
          <p:cNvSpPr/>
          <p:nvPr/>
        </p:nvSpPr>
        <p:spPr>
          <a:xfrm>
            <a:off x="594360" y="4169664"/>
            <a:ext cx="8046720" cy="256032"/>
          </a:xfrm>
          <a:prstGeom prst="rect">
            <a:avLst/>
          </a:prstGeom>
          <a:noFill/>
          <a:ln/>
        </p:spPr>
        <p:txBody>
          <a:bodyPr wrap="square" rtlCol="0" anchor="ctr"/>
          <a:lstStyle/>
          <a:p>
            <a:pPr indent="0" marL="0">
              <a:buNone/>
            </a:pPr>
            <a:r>
              <a:rPr lang="en-US" sz="1050" dirty="0">
                <a:solidFill>
                  <a:srgbClr val="BBCCDD"/>
                </a:solidFill>
                <a:latin typeface="Calibri" pitchFamily="34" charset="0"/>
                <a:ea typeface="Calibri" pitchFamily="34" charset="-122"/>
                <a:cs typeface="Calibri" pitchFamily="34" charset="-120"/>
              </a:rPr>
              <a:t>▸  service.yaml: selector uses Release.Name not appLabel — selector never matches pods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Shape 1"/>
          <p:cNvSpPr/>
          <p:nvPr/>
        </p:nvSpPr>
        <p:spPr>
          <a:xfrm>
            <a:off x="0" y="0"/>
            <a:ext cx="73152" cy="685800"/>
          </a:xfrm>
          <a:prstGeom prst="rect">
            <a:avLst/>
          </a:prstGeom>
          <a:solidFill>
            <a:srgbClr val="0E7C7B"/>
          </a:solidFill>
          <a:ln w="12700">
            <a:solidFill>
              <a:srgbClr val="0E7C7B"/>
            </a:solidFill>
            <a:prstDash val="solid"/>
          </a:ln>
        </p:spPr>
      </p:sp>
      <p:sp>
        <p:nvSpPr>
          <p:cNvPr id="4" name="Text 2"/>
          <p:cNvSpPr/>
          <p:nvPr/>
        </p:nvSpPr>
        <p:spPr>
          <a:xfrm>
            <a:off x="182880" y="0"/>
            <a:ext cx="8778240" cy="6858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Bug Fix 1 — Chart.yaml: Three Required Field Issues</a:t>
            </a:r>
            <a:endParaRPr lang="en-US" sz="2200" dirty="0"/>
          </a:p>
        </p:txBody>
      </p:sp>
      <p:sp>
        <p:nvSpPr>
          <p:cNvPr id="5" name="Shape 3"/>
          <p:cNvSpPr/>
          <p:nvPr/>
        </p:nvSpPr>
        <p:spPr>
          <a:xfrm>
            <a:off x="0" y="4800600"/>
            <a:ext cx="9144000" cy="342900"/>
          </a:xfrm>
          <a:prstGeom prst="rect">
            <a:avLst/>
          </a:prstGeom>
          <a:solidFill>
            <a:srgbClr val="0D1B2A"/>
          </a:solidFill>
          <a:ln w="12700">
            <a:solidFill>
              <a:srgbClr val="0D1B2A"/>
            </a:solidFill>
            <a:prstDash val="solid"/>
          </a:ln>
        </p:spPr>
      </p:sp>
      <p:sp>
        <p:nvSpPr>
          <p:cNvPr id="6" name="Text 4"/>
          <p:cNvSpPr/>
          <p:nvPr/>
        </p:nvSpPr>
        <p:spPr>
          <a:xfrm>
            <a:off x="182880" y="4800600"/>
            <a:ext cx="8778240" cy="342900"/>
          </a:xfrm>
          <a:prstGeom prst="rect">
            <a:avLst/>
          </a:prstGeom>
          <a:noFill/>
          <a:ln/>
        </p:spPr>
        <p:txBody>
          <a:bodyPr wrap="square" lIns="0" tIns="0" rIns="0" bIns="0" rtlCol="0" anchor="ctr"/>
          <a:lstStyle/>
          <a:p>
            <a:pPr indent="0" marL="0">
              <a:buNone/>
            </a:pPr>
            <a:r>
              <a:rPr lang="en-US" sz="900" dirty="0">
                <a:solidFill>
                  <a:srgbClr val="8899AA"/>
                </a:solidFill>
                <a:latin typeface="Calibri" pitchFamily="34" charset="0"/>
                <a:ea typeface="Calibri" pitchFamily="34" charset="-122"/>
                <a:cs typeface="Calibri" pitchFamily="34" charset="-120"/>
              </a:rPr>
              <a:t>Lab 039 — Helm Chart Won't Install</a:t>
            </a:r>
            <a:endParaRPr lang="en-US" sz="900" dirty="0"/>
          </a:p>
        </p:txBody>
      </p:sp>
      <p:sp>
        <p:nvSpPr>
          <p:cNvPr id="7" name="Shape 5"/>
          <p:cNvSpPr/>
          <p:nvPr/>
        </p:nvSpPr>
        <p:spPr>
          <a:xfrm>
            <a:off x="274320" y="804672"/>
            <a:ext cx="4023360" cy="1920240"/>
          </a:xfrm>
          <a:prstGeom prst="rect">
            <a:avLst/>
          </a:prstGeom>
          <a:solidFill>
            <a:srgbClr val="2D0A0A"/>
          </a:solidFill>
          <a:ln w="12700">
            <a:solidFill>
              <a:srgbClr val="E63946"/>
            </a:solidFill>
            <a:prstDash val="solid"/>
          </a:ln>
        </p:spPr>
      </p:sp>
      <p:sp>
        <p:nvSpPr>
          <p:cNvPr id="8" name="Text 6"/>
          <p:cNvSpPr/>
          <p:nvPr/>
        </p:nvSpPr>
        <p:spPr>
          <a:xfrm>
            <a:off x="365760" y="841248"/>
            <a:ext cx="1828800" cy="274320"/>
          </a:xfrm>
          <a:prstGeom prst="rect">
            <a:avLst/>
          </a:prstGeom>
          <a:noFill/>
          <a:ln/>
        </p:spPr>
        <p:txBody>
          <a:bodyPr wrap="square" rtlCol="0" anchor="ctr"/>
          <a:lstStyle/>
          <a:p>
            <a:pPr indent="0" marL="0">
              <a:buNone/>
            </a:pPr>
            <a:r>
              <a:rPr lang="en-US" sz="1100" b="1" dirty="0">
                <a:solidFill>
                  <a:srgbClr val="E63946"/>
                </a:solidFill>
                <a:latin typeface="Calibri" pitchFamily="34" charset="0"/>
                <a:ea typeface="Calibri" pitchFamily="34" charset="-122"/>
                <a:cs typeface="Calibri" pitchFamily="34" charset="-120"/>
              </a:rPr>
              <a:t>❌  BROKEN</a:t>
            </a:r>
            <a:endParaRPr lang="en-US" sz="1100" dirty="0"/>
          </a:p>
        </p:txBody>
      </p:sp>
      <p:sp>
        <p:nvSpPr>
          <p:cNvPr id="9" name="Text 7"/>
          <p:cNvSpPr/>
          <p:nvPr/>
        </p:nvSpPr>
        <p:spPr>
          <a:xfrm>
            <a:off x="365760" y="1143000"/>
            <a:ext cx="3749040" cy="1463040"/>
          </a:xfrm>
          <a:prstGeom prst="rect">
            <a:avLst/>
          </a:prstGeom>
          <a:noFill/>
          <a:ln/>
        </p:spPr>
        <p:txBody>
          <a:bodyPr wrap="square" rtlCol="0" anchor="ctr"/>
          <a:lstStyle/>
          <a:p>
            <a:pPr indent="0" marL="0">
              <a:buNone/>
            </a:pPr>
            <a:r>
              <a:rPr lang="en-US" sz="1050" dirty="0">
                <a:solidFill>
                  <a:srgbClr val="FFAAAA"/>
                </a:solidFill>
                <a:latin typeface="Consolas" pitchFamily="34" charset="0"/>
                <a:ea typeface="Consolas" pitchFamily="34" charset="-122"/>
                <a:cs typeface="Consolas" pitchFamily="34" charset="-120"/>
              </a:rPr>
              <a:t>apiVersion: v1</a:t>
            </a:r>
            <a:endParaRPr lang="en-US" sz="1050" dirty="0"/>
          </a:p>
          <a:p>
            <a:pPr indent="0" marL="0">
              <a:buNone/>
            </a:pPr>
            <a:r>
              <a:rPr lang="en-US" sz="1050" dirty="0">
                <a:solidFill>
                  <a:srgbClr val="FFAAAA"/>
                </a:solidFill>
                <a:latin typeface="Consolas" pitchFamily="34" charset="0"/>
                <a:ea typeface="Consolas" pitchFamily="34" charset="-122"/>
                <a:cs typeface="Consolas" pitchFamily="34" charset="-120"/>
              </a:rPr>
              <a:t># name field missing</a:t>
            </a:r>
            <a:endParaRPr lang="en-US" sz="1050" dirty="0"/>
          </a:p>
          <a:p>
            <a:pPr indent="0" marL="0">
              <a:buNone/>
            </a:pPr>
            <a:r>
              <a:rPr lang="en-US" sz="1050" dirty="0">
                <a:solidFill>
                  <a:srgbClr val="FFAAAA"/>
                </a:solidFill>
                <a:latin typeface="Consolas" pitchFamily="34" charset="0"/>
                <a:ea typeface="Consolas" pitchFamily="34" charset="-122"/>
                <a:cs typeface="Consolas" pitchFamily="34" charset="-120"/>
              </a:rPr>
              <a:t>appVersion: 1.0</a:t>
            </a:r>
            <a:endParaRPr lang="en-US" sz="1050" dirty="0"/>
          </a:p>
          <a:p>
            <a:pPr indent="0" marL="0">
              <a:buNone/>
            </a:pPr>
            <a:r>
              <a:rPr lang="en-US" sz="1050" dirty="0">
                <a:solidFill>
                  <a:srgbClr val="FFAAAA"/>
                </a:solidFill>
                <a:latin typeface="Consolas" pitchFamily="34" charset="0"/>
                <a:ea typeface="Consolas" pitchFamily="34" charset="-122"/>
                <a:cs typeface="Consolas" pitchFamily="34" charset="-120"/>
              </a:rPr>
              <a:t>description: A web application chart</a:t>
            </a:r>
            <a:endParaRPr lang="en-US" sz="1050" dirty="0"/>
          </a:p>
          <a:p>
            <a:pPr indent="0" marL="0">
              <a:buNone/>
            </a:pPr>
            <a:r>
              <a:rPr lang="en-US" sz="1050" dirty="0">
                <a:solidFill>
                  <a:srgbClr val="FFAAAA"/>
                </a:solidFill>
                <a:latin typeface="Consolas" pitchFamily="34" charset="0"/>
                <a:ea typeface="Consolas" pitchFamily="34" charset="-122"/>
                <a:cs typeface="Consolas" pitchFamily="34" charset="-120"/>
              </a:rPr>
              <a:t>version: 1.0.0</a:t>
            </a:r>
            <a:endParaRPr lang="en-US" sz="1050" dirty="0"/>
          </a:p>
          <a:p>
            <a:pPr indent="0" marL="0">
              <a:buNone/>
            </a:pPr>
            <a:r>
              <a:rPr lang="en-US" sz="1050" dirty="0">
                <a:solidFill>
                  <a:srgbClr val="FFAAAA"/>
                </a:solidFill>
                <a:latin typeface="Consolas" pitchFamily="34" charset="0"/>
                <a:ea typeface="Consolas" pitchFamily="34" charset="-122"/>
                <a:cs typeface="Consolas" pitchFamily="34" charset="-120"/>
              </a:rPr>
              <a:t>type: application</a:t>
            </a:r>
            <a:endParaRPr lang="en-US" sz="1050" dirty="0"/>
          </a:p>
        </p:txBody>
      </p:sp>
      <p:sp>
        <p:nvSpPr>
          <p:cNvPr id="10" name="Shape 8"/>
          <p:cNvSpPr/>
          <p:nvPr/>
        </p:nvSpPr>
        <p:spPr>
          <a:xfrm>
            <a:off x="4846320" y="804672"/>
            <a:ext cx="4023360" cy="1920240"/>
          </a:xfrm>
          <a:prstGeom prst="rect">
            <a:avLst/>
          </a:prstGeom>
          <a:solidFill>
            <a:srgbClr val="0A2D0A"/>
          </a:solidFill>
          <a:ln w="12700">
            <a:solidFill>
              <a:srgbClr val="2DC653"/>
            </a:solidFill>
            <a:prstDash val="solid"/>
          </a:ln>
        </p:spPr>
      </p:sp>
      <p:sp>
        <p:nvSpPr>
          <p:cNvPr id="11" name="Text 9"/>
          <p:cNvSpPr/>
          <p:nvPr/>
        </p:nvSpPr>
        <p:spPr>
          <a:xfrm>
            <a:off x="4937760" y="841248"/>
            <a:ext cx="1828800" cy="274320"/>
          </a:xfrm>
          <a:prstGeom prst="rect">
            <a:avLst/>
          </a:prstGeom>
          <a:noFill/>
          <a:ln/>
        </p:spPr>
        <p:txBody>
          <a:bodyPr wrap="square" rtlCol="0" anchor="ctr"/>
          <a:lstStyle/>
          <a:p>
            <a:pPr indent="0" marL="0">
              <a:buNone/>
            </a:pPr>
            <a:r>
              <a:rPr lang="en-US" sz="1100" b="1" dirty="0">
                <a:solidFill>
                  <a:srgbClr val="2DC653"/>
                </a:solidFill>
                <a:latin typeface="Calibri" pitchFamily="34" charset="0"/>
                <a:ea typeface="Calibri" pitchFamily="34" charset="-122"/>
                <a:cs typeface="Calibri" pitchFamily="34" charset="-120"/>
              </a:rPr>
              <a:t>✅  FIXED</a:t>
            </a:r>
            <a:endParaRPr lang="en-US" sz="1100" dirty="0"/>
          </a:p>
        </p:txBody>
      </p:sp>
      <p:sp>
        <p:nvSpPr>
          <p:cNvPr id="12" name="Text 10"/>
          <p:cNvSpPr/>
          <p:nvPr/>
        </p:nvSpPr>
        <p:spPr>
          <a:xfrm>
            <a:off x="4937760" y="1143000"/>
            <a:ext cx="3749040" cy="1463040"/>
          </a:xfrm>
          <a:prstGeom prst="rect">
            <a:avLst/>
          </a:prstGeom>
          <a:noFill/>
          <a:ln/>
        </p:spPr>
        <p:txBody>
          <a:bodyPr wrap="square" rtlCol="0" anchor="ctr"/>
          <a:lstStyle/>
          <a:p>
            <a:pPr indent="0" marL="0">
              <a:buNone/>
            </a:pPr>
            <a:r>
              <a:rPr lang="en-US" sz="1050" dirty="0">
                <a:solidFill>
                  <a:srgbClr val="AAFFAA"/>
                </a:solidFill>
                <a:latin typeface="Consolas" pitchFamily="34" charset="0"/>
                <a:ea typeface="Consolas" pitchFamily="34" charset="-122"/>
                <a:cs typeface="Consolas" pitchFamily="34" charset="-120"/>
              </a:rPr>
              <a:t>apiVersion: v2</a:t>
            </a:r>
            <a:endParaRPr lang="en-US" sz="1050" dirty="0"/>
          </a:p>
          <a:p>
            <a:pPr indent="0" marL="0">
              <a:buNone/>
            </a:pPr>
            <a:r>
              <a:rPr lang="en-US" sz="1050" dirty="0">
                <a:solidFill>
                  <a:srgbClr val="AAFFAA"/>
                </a:solidFill>
                <a:latin typeface="Consolas" pitchFamily="34" charset="0"/>
                <a:ea typeface="Consolas" pitchFamily="34" charset="-122"/>
                <a:cs typeface="Consolas" pitchFamily="34" charset="-120"/>
              </a:rPr>
              <a:t>name: webapp</a:t>
            </a:r>
            <a:endParaRPr lang="en-US" sz="1050" dirty="0"/>
          </a:p>
          <a:p>
            <a:pPr indent="0" marL="0">
              <a:buNone/>
            </a:pPr>
            <a:r>
              <a:rPr lang="en-US" sz="1050" dirty="0">
                <a:solidFill>
                  <a:srgbClr val="AAFFAA"/>
                </a:solidFill>
                <a:latin typeface="Consolas" pitchFamily="34" charset="0"/>
                <a:ea typeface="Consolas" pitchFamily="34" charset="-122"/>
                <a:cs typeface="Consolas" pitchFamily="34" charset="-120"/>
              </a:rPr>
              <a:t>appVersion: "1.0"</a:t>
            </a:r>
            <a:endParaRPr lang="en-US" sz="1050" dirty="0"/>
          </a:p>
          <a:p>
            <a:pPr indent="0" marL="0">
              <a:buNone/>
            </a:pPr>
            <a:r>
              <a:rPr lang="en-US" sz="1050" dirty="0">
                <a:solidFill>
                  <a:srgbClr val="AAFFAA"/>
                </a:solidFill>
                <a:latin typeface="Consolas" pitchFamily="34" charset="0"/>
                <a:ea typeface="Consolas" pitchFamily="34" charset="-122"/>
                <a:cs typeface="Consolas" pitchFamily="34" charset="-120"/>
              </a:rPr>
              <a:t>description: A web application chart</a:t>
            </a:r>
            <a:endParaRPr lang="en-US" sz="1050" dirty="0"/>
          </a:p>
          <a:p>
            <a:pPr indent="0" marL="0">
              <a:buNone/>
            </a:pPr>
            <a:r>
              <a:rPr lang="en-US" sz="1050" dirty="0">
                <a:solidFill>
                  <a:srgbClr val="AAFFAA"/>
                </a:solidFill>
                <a:latin typeface="Consolas" pitchFamily="34" charset="0"/>
                <a:ea typeface="Consolas" pitchFamily="34" charset="-122"/>
                <a:cs typeface="Consolas" pitchFamily="34" charset="-120"/>
              </a:rPr>
              <a:t>version: 1.0.0</a:t>
            </a:r>
            <a:endParaRPr lang="en-US" sz="1050" dirty="0"/>
          </a:p>
          <a:p>
            <a:pPr indent="0" marL="0">
              <a:buNone/>
            </a:pPr>
            <a:r>
              <a:rPr lang="en-US" sz="1050" dirty="0">
                <a:solidFill>
                  <a:srgbClr val="AAFFAA"/>
                </a:solidFill>
                <a:latin typeface="Consolas" pitchFamily="34" charset="0"/>
                <a:ea typeface="Consolas" pitchFamily="34" charset="-122"/>
                <a:cs typeface="Consolas" pitchFamily="34" charset="-120"/>
              </a:rPr>
              <a:t>type: application</a:t>
            </a:r>
            <a:endParaRPr lang="en-US" sz="1050" dirty="0"/>
          </a:p>
        </p:txBody>
      </p:sp>
      <p:sp>
        <p:nvSpPr>
          <p:cNvPr id="13" name="Shape 11"/>
          <p:cNvSpPr/>
          <p:nvPr/>
        </p:nvSpPr>
        <p:spPr>
          <a:xfrm>
            <a:off x="274320" y="2926080"/>
            <a:ext cx="2697480" cy="1691640"/>
          </a:xfrm>
          <a:prstGeom prst="rect">
            <a:avLst/>
          </a:prstGeom>
          <a:solidFill>
            <a:srgbClr val="FFFFFF"/>
          </a:solidFill>
          <a:ln w="12700">
            <a:solidFill>
              <a:srgbClr val="D0DCE8"/>
            </a:solidFill>
            <a:prstDash val="solid"/>
          </a:ln>
          <a:effectLst>
            <a:outerShdw sx="100000" sy="100000" kx="0" ky="0" algn="bl" rotWithShape="0" blurRad="50800" dist="25400" dir="8100000">
              <a:srgbClr val="000000">
                <a:alpha val="8000"/>
              </a:srgbClr>
            </a:outerShdw>
          </a:effectLst>
        </p:spPr>
      </p:sp>
      <p:sp>
        <p:nvSpPr>
          <p:cNvPr id="14" name="Shape 12"/>
          <p:cNvSpPr/>
          <p:nvPr/>
        </p:nvSpPr>
        <p:spPr>
          <a:xfrm>
            <a:off x="274320" y="2926080"/>
            <a:ext cx="2697480" cy="54864"/>
          </a:xfrm>
          <a:prstGeom prst="rect">
            <a:avLst/>
          </a:prstGeom>
          <a:solidFill>
            <a:srgbClr val="0E7C7B"/>
          </a:solidFill>
          <a:ln w="12700">
            <a:solidFill>
              <a:srgbClr val="0E7C7B"/>
            </a:solidFill>
            <a:prstDash val="solid"/>
          </a:ln>
        </p:spPr>
      </p:sp>
      <p:sp>
        <p:nvSpPr>
          <p:cNvPr id="15" name="Text 13"/>
          <p:cNvSpPr/>
          <p:nvPr/>
        </p:nvSpPr>
        <p:spPr>
          <a:xfrm>
            <a:off x="365760" y="2999232"/>
            <a:ext cx="2514600" cy="292608"/>
          </a:xfrm>
          <a:prstGeom prst="rect">
            <a:avLst/>
          </a:prstGeom>
          <a:noFill/>
          <a:ln/>
        </p:spPr>
        <p:txBody>
          <a:bodyPr wrap="square" rtlCol="0" anchor="ctr"/>
          <a:lstStyle/>
          <a:p>
            <a:pPr indent="0" marL="0">
              <a:buNone/>
            </a:pPr>
            <a:r>
              <a:rPr lang="en-US" sz="1100" b="1" dirty="0">
                <a:solidFill>
                  <a:srgbClr val="0D1B2A"/>
                </a:solidFill>
                <a:latin typeface="Consolas" pitchFamily="34" charset="0"/>
                <a:ea typeface="Consolas" pitchFamily="34" charset="-122"/>
                <a:cs typeface="Consolas" pitchFamily="34" charset="-120"/>
              </a:rPr>
              <a:t>apiVersion: v2</a:t>
            </a:r>
            <a:endParaRPr lang="en-US" sz="1100" dirty="0"/>
          </a:p>
        </p:txBody>
      </p:sp>
      <p:sp>
        <p:nvSpPr>
          <p:cNvPr id="16" name="Text 14"/>
          <p:cNvSpPr/>
          <p:nvPr/>
        </p:nvSpPr>
        <p:spPr>
          <a:xfrm>
            <a:off x="365760" y="3310128"/>
            <a:ext cx="2514600" cy="1234440"/>
          </a:xfrm>
          <a:prstGeom prst="rect">
            <a:avLst/>
          </a:prstGeom>
          <a:noFill/>
          <a:ln/>
        </p:spPr>
        <p:txBody>
          <a:bodyPr wrap="square" rtlCol="0" anchor="ctr"/>
          <a:lstStyle/>
          <a:p>
            <a:pPr indent="0" marL="0">
              <a:buNone/>
            </a:pPr>
            <a:r>
              <a:rPr lang="en-US" sz="1000" dirty="0">
                <a:solidFill>
                  <a:srgbClr val="445566"/>
                </a:solidFill>
                <a:latin typeface="Calibri" pitchFamily="34" charset="0"/>
                <a:ea typeface="Calibri" pitchFamily="34" charset="-122"/>
                <a:cs typeface="Calibri" pitchFamily="34" charset="-120"/>
              </a:rPr>
              <a:t>Helm 3 requires v2. The v1 format is Helm 2 — deprecated since 2020. If you inherit a v1 chart it needs updating. helm create always generates v2.</a:t>
            </a:r>
            <a:endParaRPr lang="en-US" sz="1000" dirty="0"/>
          </a:p>
        </p:txBody>
      </p:sp>
      <p:sp>
        <p:nvSpPr>
          <p:cNvPr id="17" name="Shape 15"/>
          <p:cNvSpPr/>
          <p:nvPr/>
        </p:nvSpPr>
        <p:spPr>
          <a:xfrm>
            <a:off x="3154680" y="2926080"/>
            <a:ext cx="2697480" cy="1691640"/>
          </a:xfrm>
          <a:prstGeom prst="rect">
            <a:avLst/>
          </a:prstGeom>
          <a:solidFill>
            <a:srgbClr val="FFFFFF"/>
          </a:solidFill>
          <a:ln w="12700">
            <a:solidFill>
              <a:srgbClr val="D0DCE8"/>
            </a:solidFill>
            <a:prstDash val="solid"/>
          </a:ln>
          <a:effectLst>
            <a:outerShdw sx="100000" sy="100000" kx="0" ky="0" algn="bl" rotWithShape="0" blurRad="50800" dist="25400" dir="8100000">
              <a:srgbClr val="000000">
                <a:alpha val="8000"/>
              </a:srgbClr>
            </a:outerShdw>
          </a:effectLst>
        </p:spPr>
      </p:sp>
      <p:sp>
        <p:nvSpPr>
          <p:cNvPr id="18" name="Shape 16"/>
          <p:cNvSpPr/>
          <p:nvPr/>
        </p:nvSpPr>
        <p:spPr>
          <a:xfrm>
            <a:off x="3154680" y="2926080"/>
            <a:ext cx="2697480" cy="54864"/>
          </a:xfrm>
          <a:prstGeom prst="rect">
            <a:avLst/>
          </a:prstGeom>
          <a:solidFill>
            <a:srgbClr val="0E7C7B"/>
          </a:solidFill>
          <a:ln w="12700">
            <a:solidFill>
              <a:srgbClr val="0E7C7B"/>
            </a:solidFill>
            <a:prstDash val="solid"/>
          </a:ln>
        </p:spPr>
      </p:sp>
      <p:sp>
        <p:nvSpPr>
          <p:cNvPr id="19" name="Text 17"/>
          <p:cNvSpPr/>
          <p:nvPr/>
        </p:nvSpPr>
        <p:spPr>
          <a:xfrm>
            <a:off x="3246120" y="2999232"/>
            <a:ext cx="2514600" cy="292608"/>
          </a:xfrm>
          <a:prstGeom prst="rect">
            <a:avLst/>
          </a:prstGeom>
          <a:noFill/>
          <a:ln/>
        </p:spPr>
        <p:txBody>
          <a:bodyPr wrap="square" rtlCol="0" anchor="ctr"/>
          <a:lstStyle/>
          <a:p>
            <a:pPr indent="0" marL="0">
              <a:buNone/>
            </a:pPr>
            <a:r>
              <a:rPr lang="en-US" sz="1100" b="1" dirty="0">
                <a:solidFill>
                  <a:srgbClr val="0D1B2A"/>
                </a:solidFill>
                <a:latin typeface="Consolas" pitchFamily="34" charset="0"/>
                <a:ea typeface="Consolas" pitchFamily="34" charset="-122"/>
                <a:cs typeface="Consolas" pitchFamily="34" charset="-120"/>
              </a:rPr>
              <a:t>name is mandatory</a:t>
            </a:r>
            <a:endParaRPr lang="en-US" sz="1100" dirty="0"/>
          </a:p>
        </p:txBody>
      </p:sp>
      <p:sp>
        <p:nvSpPr>
          <p:cNvPr id="20" name="Text 18"/>
          <p:cNvSpPr/>
          <p:nvPr/>
        </p:nvSpPr>
        <p:spPr>
          <a:xfrm>
            <a:off x="3246120" y="3310128"/>
            <a:ext cx="2514600" cy="1234440"/>
          </a:xfrm>
          <a:prstGeom prst="rect">
            <a:avLst/>
          </a:prstGeom>
          <a:noFill/>
          <a:ln/>
        </p:spPr>
        <p:txBody>
          <a:bodyPr wrap="square" rtlCol="0" anchor="ctr"/>
          <a:lstStyle/>
          <a:p>
            <a:pPr indent="0" marL="0">
              <a:buNone/>
            </a:pPr>
            <a:r>
              <a:rPr lang="en-US" sz="1000" dirty="0">
                <a:solidFill>
                  <a:srgbClr val="445566"/>
                </a:solidFill>
                <a:latin typeface="Calibri" pitchFamily="34" charset="0"/>
                <a:ea typeface="Calibri" pitchFamily="34" charset="-122"/>
                <a:cs typeface="Calibri" pitchFamily="34" charset="-120"/>
              </a:rPr>
              <a:t>One of only two required fields (along with apiVersion). Without it Helm can't identify the chart. The error is immediate and explicit.</a:t>
            </a:r>
            <a:endParaRPr lang="en-US" sz="1000" dirty="0"/>
          </a:p>
        </p:txBody>
      </p:sp>
      <p:sp>
        <p:nvSpPr>
          <p:cNvPr id="21" name="Shape 19"/>
          <p:cNvSpPr/>
          <p:nvPr/>
        </p:nvSpPr>
        <p:spPr>
          <a:xfrm>
            <a:off x="6035040" y="2926080"/>
            <a:ext cx="2697480" cy="1691640"/>
          </a:xfrm>
          <a:prstGeom prst="rect">
            <a:avLst/>
          </a:prstGeom>
          <a:solidFill>
            <a:srgbClr val="FFFFFF"/>
          </a:solidFill>
          <a:ln w="12700">
            <a:solidFill>
              <a:srgbClr val="D0DCE8"/>
            </a:solidFill>
            <a:prstDash val="solid"/>
          </a:ln>
          <a:effectLst>
            <a:outerShdw sx="100000" sy="100000" kx="0" ky="0" algn="bl" rotWithShape="0" blurRad="50800" dist="25400" dir="8100000">
              <a:srgbClr val="000000">
                <a:alpha val="8000"/>
              </a:srgbClr>
            </a:outerShdw>
          </a:effectLst>
        </p:spPr>
      </p:sp>
      <p:sp>
        <p:nvSpPr>
          <p:cNvPr id="22" name="Shape 20"/>
          <p:cNvSpPr/>
          <p:nvPr/>
        </p:nvSpPr>
        <p:spPr>
          <a:xfrm>
            <a:off x="6035040" y="2926080"/>
            <a:ext cx="2697480" cy="54864"/>
          </a:xfrm>
          <a:prstGeom prst="rect">
            <a:avLst/>
          </a:prstGeom>
          <a:solidFill>
            <a:srgbClr val="0E7C7B"/>
          </a:solidFill>
          <a:ln w="12700">
            <a:solidFill>
              <a:srgbClr val="0E7C7B"/>
            </a:solidFill>
            <a:prstDash val="solid"/>
          </a:ln>
        </p:spPr>
      </p:sp>
      <p:sp>
        <p:nvSpPr>
          <p:cNvPr id="23" name="Text 21"/>
          <p:cNvSpPr/>
          <p:nvPr/>
        </p:nvSpPr>
        <p:spPr>
          <a:xfrm>
            <a:off x="6126480" y="2999232"/>
            <a:ext cx="2514600" cy="292608"/>
          </a:xfrm>
          <a:prstGeom prst="rect">
            <a:avLst/>
          </a:prstGeom>
          <a:noFill/>
          <a:ln/>
        </p:spPr>
        <p:txBody>
          <a:bodyPr wrap="square" rtlCol="0" anchor="ctr"/>
          <a:lstStyle/>
          <a:p>
            <a:pPr indent="0" marL="0">
              <a:buNone/>
            </a:pPr>
            <a:r>
              <a:rPr lang="en-US" sz="1100" b="1" dirty="0">
                <a:solidFill>
                  <a:srgbClr val="0D1B2A"/>
                </a:solidFill>
                <a:latin typeface="Consolas" pitchFamily="34" charset="0"/>
                <a:ea typeface="Consolas" pitchFamily="34" charset="-122"/>
                <a:cs typeface="Consolas" pitchFamily="34" charset="-120"/>
              </a:rPr>
              <a:t>Quote appVersion</a:t>
            </a:r>
            <a:endParaRPr lang="en-US" sz="1100" dirty="0"/>
          </a:p>
        </p:txBody>
      </p:sp>
      <p:sp>
        <p:nvSpPr>
          <p:cNvPr id="24" name="Text 22"/>
          <p:cNvSpPr/>
          <p:nvPr/>
        </p:nvSpPr>
        <p:spPr>
          <a:xfrm>
            <a:off x="6126480" y="3310128"/>
            <a:ext cx="2514600" cy="1234440"/>
          </a:xfrm>
          <a:prstGeom prst="rect">
            <a:avLst/>
          </a:prstGeom>
          <a:noFill/>
          <a:ln/>
        </p:spPr>
        <p:txBody>
          <a:bodyPr wrap="square" rtlCol="0" anchor="ctr"/>
          <a:lstStyle/>
          <a:p>
            <a:pPr indent="0" marL="0">
              <a:buNone/>
            </a:pPr>
            <a:r>
              <a:rPr lang="en-US" sz="1000" dirty="0">
                <a:solidFill>
                  <a:srgbClr val="445566"/>
                </a:solidFill>
                <a:latin typeface="Calibri" pitchFamily="34" charset="0"/>
                <a:ea typeface="Calibri" pitchFamily="34" charset="-122"/>
                <a:cs typeface="Calibri" pitchFamily="34" charset="-120"/>
              </a:rPr>
              <a:t>Unquoted 1.0 is a YAML float. Quoted "1.0" is a string. appVersion is informational but some tooling parses it — always quote values that look like numbers but are text.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Shape 1"/>
          <p:cNvSpPr/>
          <p:nvPr/>
        </p:nvSpPr>
        <p:spPr>
          <a:xfrm>
            <a:off x="0" y="0"/>
            <a:ext cx="73152" cy="685800"/>
          </a:xfrm>
          <a:prstGeom prst="rect">
            <a:avLst/>
          </a:prstGeom>
          <a:solidFill>
            <a:srgbClr val="0E7C7B"/>
          </a:solidFill>
          <a:ln w="12700">
            <a:solidFill>
              <a:srgbClr val="0E7C7B"/>
            </a:solidFill>
            <a:prstDash val="solid"/>
          </a:ln>
        </p:spPr>
      </p:sp>
      <p:sp>
        <p:nvSpPr>
          <p:cNvPr id="4" name="Text 2"/>
          <p:cNvSpPr/>
          <p:nvPr/>
        </p:nvSpPr>
        <p:spPr>
          <a:xfrm>
            <a:off x="182880" y="0"/>
            <a:ext cx="8778240" cy="6858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Bug Fix 2 — values.yaml: Types and Label Rules</a:t>
            </a:r>
            <a:endParaRPr lang="en-US" sz="2200" dirty="0"/>
          </a:p>
        </p:txBody>
      </p:sp>
      <p:sp>
        <p:nvSpPr>
          <p:cNvPr id="5" name="Shape 3"/>
          <p:cNvSpPr/>
          <p:nvPr/>
        </p:nvSpPr>
        <p:spPr>
          <a:xfrm>
            <a:off x="0" y="4800600"/>
            <a:ext cx="9144000" cy="342900"/>
          </a:xfrm>
          <a:prstGeom prst="rect">
            <a:avLst/>
          </a:prstGeom>
          <a:solidFill>
            <a:srgbClr val="0D1B2A"/>
          </a:solidFill>
          <a:ln w="12700">
            <a:solidFill>
              <a:srgbClr val="0D1B2A"/>
            </a:solidFill>
            <a:prstDash val="solid"/>
          </a:ln>
        </p:spPr>
      </p:sp>
      <p:sp>
        <p:nvSpPr>
          <p:cNvPr id="6" name="Text 4"/>
          <p:cNvSpPr/>
          <p:nvPr/>
        </p:nvSpPr>
        <p:spPr>
          <a:xfrm>
            <a:off x="182880" y="4800600"/>
            <a:ext cx="8778240" cy="342900"/>
          </a:xfrm>
          <a:prstGeom prst="rect">
            <a:avLst/>
          </a:prstGeom>
          <a:noFill/>
          <a:ln/>
        </p:spPr>
        <p:txBody>
          <a:bodyPr wrap="square" lIns="0" tIns="0" rIns="0" bIns="0" rtlCol="0" anchor="ctr"/>
          <a:lstStyle/>
          <a:p>
            <a:pPr indent="0" marL="0">
              <a:buNone/>
            </a:pPr>
            <a:r>
              <a:rPr lang="en-US" sz="900" dirty="0">
                <a:solidFill>
                  <a:srgbClr val="8899AA"/>
                </a:solidFill>
                <a:latin typeface="Calibri" pitchFamily="34" charset="0"/>
                <a:ea typeface="Calibri" pitchFamily="34" charset="-122"/>
                <a:cs typeface="Calibri" pitchFamily="34" charset="-120"/>
              </a:rPr>
              <a:t>Lab 039 — Helm Chart Won't Install</a:t>
            </a:r>
            <a:endParaRPr lang="en-US" sz="900" dirty="0"/>
          </a:p>
        </p:txBody>
      </p:sp>
      <p:sp>
        <p:nvSpPr>
          <p:cNvPr id="7" name="Shape 5"/>
          <p:cNvSpPr/>
          <p:nvPr/>
        </p:nvSpPr>
        <p:spPr>
          <a:xfrm>
            <a:off x="274320" y="804672"/>
            <a:ext cx="4023360" cy="2148840"/>
          </a:xfrm>
          <a:prstGeom prst="rect">
            <a:avLst/>
          </a:prstGeom>
          <a:solidFill>
            <a:srgbClr val="2D0A0A"/>
          </a:solidFill>
          <a:ln w="12700">
            <a:solidFill>
              <a:srgbClr val="E63946"/>
            </a:solidFill>
            <a:prstDash val="solid"/>
          </a:ln>
        </p:spPr>
      </p:sp>
      <p:sp>
        <p:nvSpPr>
          <p:cNvPr id="8" name="Text 6"/>
          <p:cNvSpPr/>
          <p:nvPr/>
        </p:nvSpPr>
        <p:spPr>
          <a:xfrm>
            <a:off x="365760" y="841248"/>
            <a:ext cx="1828800" cy="274320"/>
          </a:xfrm>
          <a:prstGeom prst="rect">
            <a:avLst/>
          </a:prstGeom>
          <a:noFill/>
          <a:ln/>
        </p:spPr>
        <p:txBody>
          <a:bodyPr wrap="square" rtlCol="0" anchor="ctr"/>
          <a:lstStyle/>
          <a:p>
            <a:pPr indent="0" marL="0">
              <a:buNone/>
            </a:pPr>
            <a:r>
              <a:rPr lang="en-US" sz="1100" b="1" dirty="0">
                <a:solidFill>
                  <a:srgbClr val="E63946"/>
                </a:solidFill>
                <a:latin typeface="Calibri" pitchFamily="34" charset="0"/>
                <a:ea typeface="Calibri" pitchFamily="34" charset="-122"/>
                <a:cs typeface="Calibri" pitchFamily="34" charset="-120"/>
              </a:rPr>
              <a:t>❌  BROKEN</a:t>
            </a:r>
            <a:endParaRPr lang="en-US" sz="1100" dirty="0"/>
          </a:p>
        </p:txBody>
      </p:sp>
      <p:sp>
        <p:nvSpPr>
          <p:cNvPr id="9" name="Text 7"/>
          <p:cNvSpPr/>
          <p:nvPr/>
        </p:nvSpPr>
        <p:spPr>
          <a:xfrm>
            <a:off x="365760" y="1143000"/>
            <a:ext cx="3749040" cy="1691640"/>
          </a:xfrm>
          <a:prstGeom prst="rect">
            <a:avLst/>
          </a:prstGeom>
          <a:noFill/>
          <a:ln/>
        </p:spPr>
        <p:txBody>
          <a:bodyPr wrap="square" rtlCol="0" anchor="ctr"/>
          <a:lstStyle/>
          <a:p>
            <a:pPr indent="0" marL="0">
              <a:buNone/>
            </a:pPr>
            <a:r>
              <a:rPr lang="en-US" sz="1050" dirty="0">
                <a:solidFill>
                  <a:srgbClr val="FFAAAA"/>
                </a:solidFill>
                <a:latin typeface="Consolas" pitchFamily="34" charset="0"/>
                <a:ea typeface="Consolas" pitchFamily="34" charset="-122"/>
                <a:cs typeface="Consolas" pitchFamily="34" charset="-120"/>
              </a:rPr>
              <a:t>appLabel: "web app"   # space!</a:t>
            </a:r>
            <a:endParaRPr lang="en-US" sz="1050" dirty="0"/>
          </a:p>
          <a:p>
            <a:pPr indent="0" marL="0">
              <a:buNone/>
            </a:pPr>
            <a:r>
              <a:rPr lang="en-US" sz="1050" dirty="0">
                <a:solidFill>
                  <a:srgbClr val="FFAAAA"/>
                </a:solidFill>
                <a:latin typeface="Consolas" pitchFamily="34" charset="0"/>
                <a:ea typeface="Consolas" pitchFamily="34" charset="-122"/>
                <a:cs typeface="Consolas" pitchFamily="34" charset="-120"/>
              </a:rPr>
              <a:t>service:</a:t>
            </a:r>
            <a:endParaRPr lang="en-US" sz="1050" dirty="0"/>
          </a:p>
          <a:p>
            <a:pPr indent="0" marL="0">
              <a:buNone/>
            </a:pPr>
            <a:r>
              <a:rPr lang="en-US" sz="1050" dirty="0">
                <a:solidFill>
                  <a:srgbClr val="FFAAAA"/>
                </a:solidFill>
                <a:latin typeface="Consolas" pitchFamily="34" charset="0"/>
                <a:ea typeface="Consolas" pitchFamily="34" charset="-122"/>
                <a:cs typeface="Consolas" pitchFamily="34" charset="-120"/>
              </a:rPr>
              <a:t>  port: "80"          # string!</a:t>
            </a:r>
            <a:endParaRPr lang="en-US" sz="1050" dirty="0"/>
          </a:p>
          <a:p>
            <a:pPr indent="0" marL="0">
              <a:buNone/>
            </a:pPr>
            <a:r>
              <a:rPr lang="en-US" sz="1050" dirty="0">
                <a:solidFill>
                  <a:srgbClr val="FFAAAA"/>
                </a:solidFill>
                <a:latin typeface="Consolas" pitchFamily="34" charset="0"/>
                <a:ea typeface="Consolas" pitchFamily="34" charset="-122"/>
                <a:cs typeface="Consolas" pitchFamily="34" charset="-120"/>
              </a:rPr>
              <a:t>image:</a:t>
            </a:r>
            <a:endParaRPr lang="en-US" sz="1050" dirty="0"/>
          </a:p>
          <a:p>
            <a:pPr indent="0" marL="0">
              <a:buNone/>
            </a:pPr>
            <a:r>
              <a:rPr lang="en-US" sz="1050" dirty="0">
                <a:solidFill>
                  <a:srgbClr val="FFAAAA"/>
                </a:solidFill>
                <a:latin typeface="Consolas" pitchFamily="34" charset="0"/>
                <a:ea typeface="Consolas" pitchFamily="34" charset="-122"/>
                <a:cs typeface="Consolas" pitchFamily="34" charset="-120"/>
              </a:rPr>
              <a:t>  pullPolicy: IfNotPresent</a:t>
            </a:r>
            <a:endParaRPr lang="en-US" sz="1050" dirty="0"/>
          </a:p>
        </p:txBody>
      </p:sp>
      <p:sp>
        <p:nvSpPr>
          <p:cNvPr id="10" name="Shape 8"/>
          <p:cNvSpPr/>
          <p:nvPr/>
        </p:nvSpPr>
        <p:spPr>
          <a:xfrm>
            <a:off x="4846320" y="804672"/>
            <a:ext cx="4023360" cy="2148840"/>
          </a:xfrm>
          <a:prstGeom prst="rect">
            <a:avLst/>
          </a:prstGeom>
          <a:solidFill>
            <a:srgbClr val="0A2D0A"/>
          </a:solidFill>
          <a:ln w="12700">
            <a:solidFill>
              <a:srgbClr val="2DC653"/>
            </a:solidFill>
            <a:prstDash val="solid"/>
          </a:ln>
        </p:spPr>
      </p:sp>
      <p:sp>
        <p:nvSpPr>
          <p:cNvPr id="11" name="Text 9"/>
          <p:cNvSpPr/>
          <p:nvPr/>
        </p:nvSpPr>
        <p:spPr>
          <a:xfrm>
            <a:off x="4937760" y="841248"/>
            <a:ext cx="1828800" cy="274320"/>
          </a:xfrm>
          <a:prstGeom prst="rect">
            <a:avLst/>
          </a:prstGeom>
          <a:noFill/>
          <a:ln/>
        </p:spPr>
        <p:txBody>
          <a:bodyPr wrap="square" rtlCol="0" anchor="ctr"/>
          <a:lstStyle/>
          <a:p>
            <a:pPr indent="0" marL="0">
              <a:buNone/>
            </a:pPr>
            <a:r>
              <a:rPr lang="en-US" sz="1100" b="1" dirty="0">
                <a:solidFill>
                  <a:srgbClr val="2DC653"/>
                </a:solidFill>
                <a:latin typeface="Calibri" pitchFamily="34" charset="0"/>
                <a:ea typeface="Calibri" pitchFamily="34" charset="-122"/>
                <a:cs typeface="Calibri" pitchFamily="34" charset="-120"/>
              </a:rPr>
              <a:t>✅  FIXED</a:t>
            </a:r>
            <a:endParaRPr lang="en-US" sz="1100" dirty="0"/>
          </a:p>
        </p:txBody>
      </p:sp>
      <p:sp>
        <p:nvSpPr>
          <p:cNvPr id="12" name="Text 10"/>
          <p:cNvSpPr/>
          <p:nvPr/>
        </p:nvSpPr>
        <p:spPr>
          <a:xfrm>
            <a:off x="4937760" y="1143000"/>
            <a:ext cx="3749040" cy="1691640"/>
          </a:xfrm>
          <a:prstGeom prst="rect">
            <a:avLst/>
          </a:prstGeom>
          <a:noFill/>
          <a:ln/>
        </p:spPr>
        <p:txBody>
          <a:bodyPr wrap="square" rtlCol="0" anchor="ctr"/>
          <a:lstStyle/>
          <a:p>
            <a:pPr indent="0" marL="0">
              <a:buNone/>
            </a:pPr>
            <a:r>
              <a:rPr lang="en-US" sz="1050" dirty="0">
                <a:solidFill>
                  <a:srgbClr val="AAFFAA"/>
                </a:solidFill>
                <a:latin typeface="Consolas" pitchFamily="34" charset="0"/>
                <a:ea typeface="Consolas" pitchFamily="34" charset="-122"/>
                <a:cs typeface="Consolas" pitchFamily="34" charset="-120"/>
              </a:rPr>
              <a:t>appLabel: "webapp"    # no space</a:t>
            </a:r>
            <a:endParaRPr lang="en-US" sz="1050" dirty="0"/>
          </a:p>
          <a:p>
            <a:pPr indent="0" marL="0">
              <a:buNone/>
            </a:pPr>
            <a:r>
              <a:rPr lang="en-US" sz="1050" dirty="0">
                <a:solidFill>
                  <a:srgbClr val="AAFFAA"/>
                </a:solidFill>
                <a:latin typeface="Consolas" pitchFamily="34" charset="0"/>
                <a:ea typeface="Consolas" pitchFamily="34" charset="-122"/>
                <a:cs typeface="Consolas" pitchFamily="34" charset="-120"/>
              </a:rPr>
              <a:t>service:</a:t>
            </a:r>
            <a:endParaRPr lang="en-US" sz="1050" dirty="0"/>
          </a:p>
          <a:p>
            <a:pPr indent="0" marL="0">
              <a:buNone/>
            </a:pPr>
            <a:r>
              <a:rPr lang="en-US" sz="1050" dirty="0">
                <a:solidFill>
                  <a:srgbClr val="AAFFAA"/>
                </a:solidFill>
                <a:latin typeface="Consolas" pitchFamily="34" charset="0"/>
                <a:ea typeface="Consolas" pitchFamily="34" charset="-122"/>
                <a:cs typeface="Consolas" pitchFamily="34" charset="-120"/>
              </a:rPr>
              <a:t>  port: 80            # integer</a:t>
            </a:r>
            <a:endParaRPr lang="en-US" sz="1050" dirty="0"/>
          </a:p>
          <a:p>
            <a:pPr indent="0" marL="0">
              <a:buNone/>
            </a:pPr>
            <a:r>
              <a:rPr lang="en-US" sz="1050" dirty="0">
                <a:solidFill>
                  <a:srgbClr val="AAFFAA"/>
                </a:solidFill>
                <a:latin typeface="Consolas" pitchFamily="34" charset="0"/>
                <a:ea typeface="Consolas" pitchFamily="34" charset="-122"/>
                <a:cs typeface="Consolas" pitchFamily="34" charset="-120"/>
              </a:rPr>
              <a:t>image:</a:t>
            </a:r>
            <a:endParaRPr lang="en-US" sz="1050" dirty="0"/>
          </a:p>
          <a:p>
            <a:pPr indent="0" marL="0">
              <a:buNone/>
            </a:pPr>
            <a:r>
              <a:rPr lang="en-US" sz="1050" dirty="0">
                <a:solidFill>
                  <a:srgbClr val="AAFFAA"/>
                </a:solidFill>
                <a:latin typeface="Consolas" pitchFamily="34" charset="0"/>
                <a:ea typeface="Consolas" pitchFamily="34" charset="-122"/>
                <a:cs typeface="Consolas" pitchFamily="34" charset="-120"/>
              </a:rPr>
              <a:t>  pullPolicy: IfNotPresent</a:t>
            </a:r>
            <a:endParaRPr lang="en-US" sz="1050" dirty="0"/>
          </a:p>
        </p:txBody>
      </p:sp>
      <p:sp>
        <p:nvSpPr>
          <p:cNvPr id="13" name="Shape 11"/>
          <p:cNvSpPr/>
          <p:nvPr/>
        </p:nvSpPr>
        <p:spPr>
          <a:xfrm>
            <a:off x="274320" y="3090672"/>
            <a:ext cx="4160520" cy="1554480"/>
          </a:xfrm>
          <a:prstGeom prst="rect">
            <a:avLst/>
          </a:prstGeom>
          <a:solidFill>
            <a:srgbClr val="FFFFFF"/>
          </a:solidFill>
          <a:ln w="12700">
            <a:solidFill>
              <a:srgbClr val="D0DCE8"/>
            </a:solidFill>
            <a:prstDash val="solid"/>
          </a:ln>
          <a:effectLst>
            <a:outerShdw sx="100000" sy="100000" kx="0" ky="0" algn="bl" rotWithShape="0" blurRad="50800" dist="25400" dir="8100000">
              <a:srgbClr val="000000">
                <a:alpha val="8000"/>
              </a:srgbClr>
            </a:outerShdw>
          </a:effectLst>
        </p:spPr>
      </p:sp>
      <p:sp>
        <p:nvSpPr>
          <p:cNvPr id="14" name="Shape 12"/>
          <p:cNvSpPr/>
          <p:nvPr/>
        </p:nvSpPr>
        <p:spPr>
          <a:xfrm>
            <a:off x="274320" y="3090672"/>
            <a:ext cx="4160520" cy="54864"/>
          </a:xfrm>
          <a:prstGeom prst="rect">
            <a:avLst/>
          </a:prstGeom>
          <a:solidFill>
            <a:srgbClr val="0E7C7B"/>
          </a:solidFill>
          <a:ln w="12700">
            <a:solidFill>
              <a:srgbClr val="0E7C7B"/>
            </a:solidFill>
            <a:prstDash val="solid"/>
          </a:ln>
        </p:spPr>
      </p:sp>
      <p:sp>
        <p:nvSpPr>
          <p:cNvPr id="15" name="Text 13"/>
          <p:cNvSpPr/>
          <p:nvPr/>
        </p:nvSpPr>
        <p:spPr>
          <a:xfrm>
            <a:off x="384048" y="3163824"/>
            <a:ext cx="3931920" cy="292608"/>
          </a:xfrm>
          <a:prstGeom prst="rect">
            <a:avLst/>
          </a:prstGeom>
          <a:noFill/>
          <a:ln/>
        </p:spPr>
        <p:txBody>
          <a:bodyPr wrap="square"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Kubernetes Label Rules</a:t>
            </a:r>
            <a:endParaRPr lang="en-US" sz="1200" dirty="0"/>
          </a:p>
        </p:txBody>
      </p:sp>
      <p:sp>
        <p:nvSpPr>
          <p:cNvPr id="16" name="Text 14"/>
          <p:cNvSpPr/>
          <p:nvPr/>
        </p:nvSpPr>
        <p:spPr>
          <a:xfrm>
            <a:off x="384048" y="3474720"/>
            <a:ext cx="3931920" cy="1097280"/>
          </a:xfrm>
          <a:prstGeom prst="rect">
            <a:avLst/>
          </a:prstGeom>
          <a:noFill/>
          <a:ln/>
        </p:spPr>
        <p:txBody>
          <a:bodyPr wrap="square" rtlCol="0" anchor="ctr"/>
          <a:lstStyle/>
          <a:p>
            <a:pPr indent="0" marL="0">
              <a:buNone/>
            </a:pPr>
            <a:r>
              <a:rPr lang="en-US" sz="1050" dirty="0">
                <a:solidFill>
                  <a:srgbClr val="445566"/>
                </a:solidFill>
                <a:latin typeface="Calibri" pitchFamily="34" charset="0"/>
                <a:ea typeface="Calibri" pitchFamily="34" charset="-122"/>
                <a:cs typeface="Calibri" pitchFamily="34" charset="-120"/>
              </a:rPr>
              <a:t>Label values must match [a-zA-Z0-9][-a-zA-Z0-9_.]*  and be ≤63 characters. A space is not in that character set. The Kubernetes API server rejects the resource outright — not a Helm error, a K8s API error. You'd see this after helm template succeeds but kubectl apply fails.</a:t>
            </a:r>
            <a:endParaRPr lang="en-US" sz="1050" dirty="0"/>
          </a:p>
        </p:txBody>
      </p:sp>
      <p:sp>
        <p:nvSpPr>
          <p:cNvPr id="17" name="Shape 15"/>
          <p:cNvSpPr/>
          <p:nvPr/>
        </p:nvSpPr>
        <p:spPr>
          <a:xfrm>
            <a:off x="4709160" y="3090672"/>
            <a:ext cx="4160520" cy="1554480"/>
          </a:xfrm>
          <a:prstGeom prst="rect">
            <a:avLst/>
          </a:prstGeom>
          <a:solidFill>
            <a:srgbClr val="FFFFFF"/>
          </a:solidFill>
          <a:ln w="12700">
            <a:solidFill>
              <a:srgbClr val="D0DCE8"/>
            </a:solidFill>
            <a:prstDash val="solid"/>
          </a:ln>
          <a:effectLst>
            <a:outerShdw sx="100000" sy="100000" kx="0" ky="0" algn="bl" rotWithShape="0" blurRad="50800" dist="25400" dir="8100000">
              <a:srgbClr val="000000">
                <a:alpha val="8000"/>
              </a:srgbClr>
            </a:outerShdw>
          </a:effectLst>
        </p:spPr>
      </p:sp>
      <p:sp>
        <p:nvSpPr>
          <p:cNvPr id="18" name="Shape 16"/>
          <p:cNvSpPr/>
          <p:nvPr/>
        </p:nvSpPr>
        <p:spPr>
          <a:xfrm>
            <a:off x="4709160" y="3090672"/>
            <a:ext cx="4160520" cy="54864"/>
          </a:xfrm>
          <a:prstGeom prst="rect">
            <a:avLst/>
          </a:prstGeom>
          <a:solidFill>
            <a:srgbClr val="0E7C7B"/>
          </a:solidFill>
          <a:ln w="12700">
            <a:solidFill>
              <a:srgbClr val="0E7C7B"/>
            </a:solidFill>
            <a:prstDash val="solid"/>
          </a:ln>
        </p:spPr>
      </p:sp>
      <p:sp>
        <p:nvSpPr>
          <p:cNvPr id="19" name="Text 17"/>
          <p:cNvSpPr/>
          <p:nvPr/>
        </p:nvSpPr>
        <p:spPr>
          <a:xfrm>
            <a:off x="4818888" y="3163824"/>
            <a:ext cx="3931920" cy="292608"/>
          </a:xfrm>
          <a:prstGeom prst="rect">
            <a:avLst/>
          </a:prstGeom>
          <a:noFill/>
          <a:ln/>
        </p:spPr>
        <p:txBody>
          <a:bodyPr wrap="square" rtlCol="0" anchor="ctr"/>
          <a:lstStyle/>
          <a:p>
            <a:pPr indent="0" marL="0">
              <a:buNone/>
            </a:pPr>
            <a:r>
              <a:rPr lang="en-US" sz="1200" b="1" dirty="0">
                <a:solidFill>
                  <a:srgbClr val="0D1B2A"/>
                </a:solidFill>
                <a:latin typeface="Calibri" pitchFamily="34" charset="0"/>
                <a:ea typeface="Calibri" pitchFamily="34" charset="-122"/>
                <a:cs typeface="Calibri" pitchFamily="34" charset="-120"/>
              </a:rPr>
              <a:t>YAML Type System</a:t>
            </a:r>
            <a:endParaRPr lang="en-US" sz="1200" dirty="0"/>
          </a:p>
        </p:txBody>
      </p:sp>
      <p:sp>
        <p:nvSpPr>
          <p:cNvPr id="20" name="Text 18"/>
          <p:cNvSpPr/>
          <p:nvPr/>
        </p:nvSpPr>
        <p:spPr>
          <a:xfrm>
            <a:off x="4818888" y="3474720"/>
            <a:ext cx="3931920" cy="1097280"/>
          </a:xfrm>
          <a:prstGeom prst="rect">
            <a:avLst/>
          </a:prstGeom>
          <a:noFill/>
          <a:ln/>
        </p:spPr>
        <p:txBody>
          <a:bodyPr wrap="square" rtlCol="0" anchor="ctr"/>
          <a:lstStyle/>
          <a:p>
            <a:pPr indent="0" marL="0">
              <a:buNone/>
            </a:pPr>
            <a:r>
              <a:rPr lang="en-US" sz="1050" dirty="0">
                <a:solidFill>
                  <a:srgbClr val="445566"/>
                </a:solidFill>
                <a:latin typeface="Calibri" pitchFamily="34" charset="0"/>
                <a:ea typeface="Calibri" pitchFamily="34" charset="-122"/>
                <a:cs typeface="Calibri" pitchFamily="34" charset="-120"/>
              </a:rPr>
              <a:t>YAML auto-types unquoted values. port: "80" is a string literal. port: 80 is an integer. Kubernetes Service port fields require integers — the API server rejects the string. Same applies to image tags: tag: 1.25 becomes a float; tag: "1.25" is a string. When in doubt, quote it.</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0F4F8"/>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Shape 1"/>
          <p:cNvSpPr/>
          <p:nvPr/>
        </p:nvSpPr>
        <p:spPr>
          <a:xfrm>
            <a:off x="0" y="0"/>
            <a:ext cx="73152" cy="685800"/>
          </a:xfrm>
          <a:prstGeom prst="rect">
            <a:avLst/>
          </a:prstGeom>
          <a:solidFill>
            <a:srgbClr val="0E7C7B"/>
          </a:solidFill>
          <a:ln w="12700">
            <a:solidFill>
              <a:srgbClr val="0E7C7B"/>
            </a:solidFill>
            <a:prstDash val="solid"/>
          </a:ln>
        </p:spPr>
      </p:sp>
      <p:sp>
        <p:nvSpPr>
          <p:cNvPr id="4" name="Text 2"/>
          <p:cNvSpPr/>
          <p:nvPr/>
        </p:nvSpPr>
        <p:spPr>
          <a:xfrm>
            <a:off x="182880" y="0"/>
            <a:ext cx="8778240" cy="6858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Bug Fix 3 — deployment.yaml: Syntax and Reference Errors</a:t>
            </a:r>
            <a:endParaRPr lang="en-US" sz="2200" dirty="0"/>
          </a:p>
        </p:txBody>
      </p:sp>
      <p:sp>
        <p:nvSpPr>
          <p:cNvPr id="5" name="Shape 3"/>
          <p:cNvSpPr/>
          <p:nvPr/>
        </p:nvSpPr>
        <p:spPr>
          <a:xfrm>
            <a:off x="0" y="4800600"/>
            <a:ext cx="9144000" cy="342900"/>
          </a:xfrm>
          <a:prstGeom prst="rect">
            <a:avLst/>
          </a:prstGeom>
          <a:solidFill>
            <a:srgbClr val="0D1B2A"/>
          </a:solidFill>
          <a:ln w="12700">
            <a:solidFill>
              <a:srgbClr val="0D1B2A"/>
            </a:solidFill>
            <a:prstDash val="solid"/>
          </a:ln>
        </p:spPr>
      </p:sp>
      <p:sp>
        <p:nvSpPr>
          <p:cNvPr id="6" name="Text 4"/>
          <p:cNvSpPr/>
          <p:nvPr/>
        </p:nvSpPr>
        <p:spPr>
          <a:xfrm>
            <a:off x="182880" y="4800600"/>
            <a:ext cx="8778240" cy="342900"/>
          </a:xfrm>
          <a:prstGeom prst="rect">
            <a:avLst/>
          </a:prstGeom>
          <a:noFill/>
          <a:ln/>
        </p:spPr>
        <p:txBody>
          <a:bodyPr wrap="square" lIns="0" tIns="0" rIns="0" bIns="0" rtlCol="0" anchor="ctr"/>
          <a:lstStyle/>
          <a:p>
            <a:pPr indent="0" marL="0">
              <a:buNone/>
            </a:pPr>
            <a:r>
              <a:rPr lang="en-US" sz="900" dirty="0">
                <a:solidFill>
                  <a:srgbClr val="8899AA"/>
                </a:solidFill>
                <a:latin typeface="Calibri" pitchFamily="34" charset="0"/>
                <a:ea typeface="Calibri" pitchFamily="34" charset="-122"/>
                <a:cs typeface="Calibri" pitchFamily="34" charset="-120"/>
              </a:rPr>
              <a:t>Lab 039 — Helm Chart Won't Install</a:t>
            </a:r>
            <a:endParaRPr lang="en-US" sz="900" dirty="0"/>
          </a:p>
        </p:txBody>
      </p:sp>
      <p:sp>
        <p:nvSpPr>
          <p:cNvPr id="7" name="Shape 5"/>
          <p:cNvSpPr/>
          <p:nvPr/>
        </p:nvSpPr>
        <p:spPr>
          <a:xfrm>
            <a:off x="274320" y="804672"/>
            <a:ext cx="8595360" cy="1097280"/>
          </a:xfrm>
          <a:prstGeom prst="rect">
            <a:avLst/>
          </a:prstGeom>
          <a:solidFill>
            <a:srgbClr val="2D0A0A"/>
          </a:solidFill>
          <a:ln w="12700">
            <a:solidFill>
              <a:srgbClr val="E63946"/>
            </a:solidFill>
            <a:prstDash val="solid"/>
          </a:ln>
        </p:spPr>
      </p:sp>
      <p:sp>
        <p:nvSpPr>
          <p:cNvPr id="8" name="Text 6"/>
          <p:cNvSpPr/>
          <p:nvPr/>
        </p:nvSpPr>
        <p:spPr>
          <a:xfrm>
            <a:off x="365760" y="841248"/>
            <a:ext cx="1828800" cy="256032"/>
          </a:xfrm>
          <a:prstGeom prst="rect">
            <a:avLst/>
          </a:prstGeom>
          <a:noFill/>
          <a:ln/>
        </p:spPr>
        <p:txBody>
          <a:bodyPr wrap="square" rtlCol="0" anchor="ctr"/>
          <a:lstStyle/>
          <a:p>
            <a:pPr indent="0" marL="0">
              <a:buNone/>
            </a:pPr>
            <a:r>
              <a:rPr lang="en-US" sz="1100" b="1" dirty="0">
                <a:solidFill>
                  <a:srgbClr val="E63946"/>
                </a:solidFill>
                <a:latin typeface="Calibri" pitchFamily="34" charset="0"/>
                <a:ea typeface="Calibri" pitchFamily="34" charset="-122"/>
                <a:cs typeface="Calibri" pitchFamily="34" charset="-120"/>
              </a:rPr>
              <a:t>❌  BROKEN</a:t>
            </a:r>
            <a:endParaRPr lang="en-US" sz="1100" dirty="0"/>
          </a:p>
        </p:txBody>
      </p:sp>
      <p:sp>
        <p:nvSpPr>
          <p:cNvPr id="9" name="Text 7"/>
          <p:cNvSpPr/>
          <p:nvPr/>
        </p:nvSpPr>
        <p:spPr>
          <a:xfrm>
            <a:off x="365760" y="1115568"/>
            <a:ext cx="8229600" cy="274320"/>
          </a:xfrm>
          <a:prstGeom prst="rect">
            <a:avLst/>
          </a:prstGeom>
          <a:noFill/>
          <a:ln/>
        </p:spPr>
        <p:txBody>
          <a:bodyPr wrap="square" rtlCol="0" anchor="ctr"/>
          <a:lstStyle/>
          <a:p>
            <a:pPr indent="0" marL="0">
              <a:buNone/>
            </a:pPr>
            <a:r>
              <a:rPr lang="en-US" sz="1050" dirty="0">
                <a:solidFill>
                  <a:srgbClr val="FFAAAA"/>
                </a:solidFill>
                <a:latin typeface="Consolas" pitchFamily="34" charset="0"/>
                <a:ea typeface="Consolas" pitchFamily="34" charset="-122"/>
                <a:cs typeface="Consolas" pitchFamily="34" charset="-120"/>
              </a:rPr>
              <a:t>image: "{{ .Values.image.repository }}:{{ .Values.image.tag }"    ← missing }}</a:t>
            </a:r>
            <a:endParaRPr lang="en-US" sz="1050" dirty="0"/>
          </a:p>
        </p:txBody>
      </p:sp>
      <p:sp>
        <p:nvSpPr>
          <p:cNvPr id="10" name="Text 8"/>
          <p:cNvSpPr/>
          <p:nvPr/>
        </p:nvSpPr>
        <p:spPr>
          <a:xfrm>
            <a:off x="365760" y="1417320"/>
            <a:ext cx="8229600" cy="274320"/>
          </a:xfrm>
          <a:prstGeom prst="rect">
            <a:avLst/>
          </a:prstGeom>
          <a:noFill/>
          <a:ln/>
        </p:spPr>
        <p:txBody>
          <a:bodyPr wrap="square" rtlCol="0" anchor="ctr"/>
          <a:lstStyle/>
          <a:p>
            <a:pPr indent="0" marL="0">
              <a:buNone/>
            </a:pPr>
            <a:r>
              <a:rPr lang="en-US" sz="1050" dirty="0">
                <a:solidFill>
                  <a:srgbClr val="FFAAAA"/>
                </a:solidFill>
                <a:latin typeface="Consolas" pitchFamily="34" charset="0"/>
                <a:ea typeface="Consolas" pitchFamily="34" charset="-122"/>
                <a:cs typeface="Consolas" pitchFamily="34" charset="-120"/>
              </a:rPr>
              <a:t>imagePullPolicy: {{ .Values.image.imagePullPolicy }}               ← wrong field name</a:t>
            </a:r>
            <a:endParaRPr lang="en-US" sz="1050" dirty="0"/>
          </a:p>
        </p:txBody>
      </p:sp>
      <p:sp>
        <p:nvSpPr>
          <p:cNvPr id="11" name="Shape 9"/>
          <p:cNvSpPr/>
          <p:nvPr/>
        </p:nvSpPr>
        <p:spPr>
          <a:xfrm>
            <a:off x="274320" y="2011680"/>
            <a:ext cx="8595360" cy="1097280"/>
          </a:xfrm>
          <a:prstGeom prst="rect">
            <a:avLst/>
          </a:prstGeom>
          <a:solidFill>
            <a:srgbClr val="0A2D0A"/>
          </a:solidFill>
          <a:ln w="12700">
            <a:solidFill>
              <a:srgbClr val="2DC653"/>
            </a:solidFill>
            <a:prstDash val="solid"/>
          </a:ln>
        </p:spPr>
      </p:sp>
      <p:sp>
        <p:nvSpPr>
          <p:cNvPr id="12" name="Text 10"/>
          <p:cNvSpPr/>
          <p:nvPr/>
        </p:nvSpPr>
        <p:spPr>
          <a:xfrm>
            <a:off x="365760" y="2048256"/>
            <a:ext cx="1828800" cy="256032"/>
          </a:xfrm>
          <a:prstGeom prst="rect">
            <a:avLst/>
          </a:prstGeom>
          <a:noFill/>
          <a:ln/>
        </p:spPr>
        <p:txBody>
          <a:bodyPr wrap="square" rtlCol="0" anchor="ctr"/>
          <a:lstStyle/>
          <a:p>
            <a:pPr indent="0" marL="0">
              <a:buNone/>
            </a:pPr>
            <a:r>
              <a:rPr lang="en-US" sz="1100" b="1" dirty="0">
                <a:solidFill>
                  <a:srgbClr val="2DC653"/>
                </a:solidFill>
                <a:latin typeface="Calibri" pitchFamily="34" charset="0"/>
                <a:ea typeface="Calibri" pitchFamily="34" charset="-122"/>
                <a:cs typeface="Calibri" pitchFamily="34" charset="-120"/>
              </a:rPr>
              <a:t>✅  FIXED</a:t>
            </a:r>
            <a:endParaRPr lang="en-US" sz="1100" dirty="0"/>
          </a:p>
        </p:txBody>
      </p:sp>
      <p:sp>
        <p:nvSpPr>
          <p:cNvPr id="13" name="Text 11"/>
          <p:cNvSpPr/>
          <p:nvPr/>
        </p:nvSpPr>
        <p:spPr>
          <a:xfrm>
            <a:off x="365760" y="2322576"/>
            <a:ext cx="8229600" cy="274320"/>
          </a:xfrm>
          <a:prstGeom prst="rect">
            <a:avLst/>
          </a:prstGeom>
          <a:noFill/>
          <a:ln/>
        </p:spPr>
        <p:txBody>
          <a:bodyPr wrap="square" rtlCol="0" anchor="ctr"/>
          <a:lstStyle/>
          <a:p>
            <a:pPr indent="0" marL="0">
              <a:buNone/>
            </a:pPr>
            <a:r>
              <a:rPr lang="en-US" sz="1050" dirty="0">
                <a:solidFill>
                  <a:srgbClr val="AAFFAA"/>
                </a:solidFill>
                <a:latin typeface="Consolas" pitchFamily="34" charset="0"/>
                <a:ea typeface="Consolas" pitchFamily="34" charset="-122"/>
                <a:cs typeface="Consolas" pitchFamily="34" charset="-120"/>
              </a:rPr>
              <a:t>image: "{{ .Values.image.repository }}:{{ .Values.image.tag }}"   ← both braces closed</a:t>
            </a:r>
            <a:endParaRPr lang="en-US" sz="1050" dirty="0"/>
          </a:p>
        </p:txBody>
      </p:sp>
      <p:sp>
        <p:nvSpPr>
          <p:cNvPr id="14" name="Text 12"/>
          <p:cNvSpPr/>
          <p:nvPr/>
        </p:nvSpPr>
        <p:spPr>
          <a:xfrm>
            <a:off x="365760" y="2624328"/>
            <a:ext cx="8229600" cy="274320"/>
          </a:xfrm>
          <a:prstGeom prst="rect">
            <a:avLst/>
          </a:prstGeom>
          <a:noFill/>
          <a:ln/>
        </p:spPr>
        <p:txBody>
          <a:bodyPr wrap="square" rtlCol="0" anchor="ctr"/>
          <a:lstStyle/>
          <a:p>
            <a:pPr indent="0" marL="0">
              <a:buNone/>
            </a:pPr>
            <a:r>
              <a:rPr lang="en-US" sz="1050" dirty="0">
                <a:solidFill>
                  <a:srgbClr val="AAFFAA"/>
                </a:solidFill>
                <a:latin typeface="Consolas" pitchFamily="34" charset="0"/>
                <a:ea typeface="Consolas" pitchFamily="34" charset="-122"/>
                <a:cs typeface="Consolas" pitchFamily="34" charset="-120"/>
              </a:rPr>
              <a:t>imagePullPolicy: {{ .Values.image.pullPolicy }}                    ← matches values.yaml</a:t>
            </a:r>
            <a:endParaRPr lang="en-US" sz="1050" dirty="0"/>
          </a:p>
        </p:txBody>
      </p:sp>
      <p:sp>
        <p:nvSpPr>
          <p:cNvPr id="15" name="Shape 13"/>
          <p:cNvSpPr/>
          <p:nvPr/>
        </p:nvSpPr>
        <p:spPr>
          <a:xfrm>
            <a:off x="274320" y="3273552"/>
            <a:ext cx="2697480" cy="1344168"/>
          </a:xfrm>
          <a:prstGeom prst="rect">
            <a:avLst/>
          </a:prstGeom>
          <a:solidFill>
            <a:srgbClr val="FFFFFF"/>
          </a:solidFill>
          <a:ln w="12700">
            <a:solidFill>
              <a:srgbClr val="D0DCE8"/>
            </a:solidFill>
            <a:prstDash val="solid"/>
          </a:ln>
          <a:effectLst>
            <a:outerShdw sx="100000" sy="100000" kx="0" ky="0" algn="bl" rotWithShape="0" blurRad="50800" dist="25400" dir="8100000">
              <a:srgbClr val="000000">
                <a:alpha val="8000"/>
              </a:srgbClr>
            </a:outerShdw>
          </a:effectLst>
        </p:spPr>
      </p:sp>
      <p:sp>
        <p:nvSpPr>
          <p:cNvPr id="16" name="Shape 14"/>
          <p:cNvSpPr/>
          <p:nvPr/>
        </p:nvSpPr>
        <p:spPr>
          <a:xfrm>
            <a:off x="274320" y="3273552"/>
            <a:ext cx="2697480" cy="54864"/>
          </a:xfrm>
          <a:prstGeom prst="rect">
            <a:avLst/>
          </a:prstGeom>
          <a:solidFill>
            <a:srgbClr val="0E7C7B"/>
          </a:solidFill>
          <a:ln w="12700">
            <a:solidFill>
              <a:srgbClr val="0E7C7B"/>
            </a:solidFill>
            <a:prstDash val="solid"/>
          </a:ln>
        </p:spPr>
      </p:sp>
      <p:sp>
        <p:nvSpPr>
          <p:cNvPr id="17" name="Text 15"/>
          <p:cNvSpPr/>
          <p:nvPr/>
        </p:nvSpPr>
        <p:spPr>
          <a:xfrm>
            <a:off x="365760" y="3346704"/>
            <a:ext cx="2514600" cy="274320"/>
          </a:xfrm>
          <a:prstGeom prst="rect">
            <a:avLst/>
          </a:prstGeom>
          <a:noFill/>
          <a:ln/>
        </p:spPr>
        <p:txBody>
          <a:bodyPr wrap="square"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Go Template Syntax — {{ }}</a:t>
            </a:r>
            <a:endParaRPr lang="en-US" sz="1100" dirty="0"/>
          </a:p>
        </p:txBody>
      </p:sp>
      <p:sp>
        <p:nvSpPr>
          <p:cNvPr id="18" name="Text 16"/>
          <p:cNvSpPr/>
          <p:nvPr/>
        </p:nvSpPr>
        <p:spPr>
          <a:xfrm>
            <a:off x="365760" y="3639312"/>
            <a:ext cx="2514600" cy="914400"/>
          </a:xfrm>
          <a:prstGeom prst="rect">
            <a:avLst/>
          </a:prstGeom>
          <a:noFill/>
          <a:ln/>
        </p:spPr>
        <p:txBody>
          <a:bodyPr wrap="square" rtlCol="0" anchor="ctr"/>
          <a:lstStyle/>
          <a:p>
            <a:pPr indent="0" marL="0">
              <a:buNone/>
            </a:pPr>
            <a:r>
              <a:rPr lang="en-US" sz="1000" dirty="0">
                <a:solidFill>
                  <a:srgbClr val="445566"/>
                </a:solidFill>
                <a:latin typeface="Calibri" pitchFamily="34" charset="0"/>
                <a:ea typeface="Calibri" pitchFamily="34" charset="-122"/>
                <a:cs typeface="Calibri" pitchFamily="34" charset="-120"/>
              </a:rPr>
              <a:t>Every template expression needs matching double braces on both sides. A single missing } causes a parse error that stops the entire chart from rendering. helm template points you at the file and line number.</a:t>
            </a:r>
            <a:endParaRPr lang="en-US" sz="1000" dirty="0"/>
          </a:p>
        </p:txBody>
      </p:sp>
      <p:sp>
        <p:nvSpPr>
          <p:cNvPr id="19" name="Shape 17"/>
          <p:cNvSpPr/>
          <p:nvPr/>
        </p:nvSpPr>
        <p:spPr>
          <a:xfrm>
            <a:off x="3154680" y="3273552"/>
            <a:ext cx="2697480" cy="1344168"/>
          </a:xfrm>
          <a:prstGeom prst="rect">
            <a:avLst/>
          </a:prstGeom>
          <a:solidFill>
            <a:srgbClr val="FFFFFF"/>
          </a:solidFill>
          <a:ln w="12700">
            <a:solidFill>
              <a:srgbClr val="D0DCE8"/>
            </a:solidFill>
            <a:prstDash val="solid"/>
          </a:ln>
          <a:effectLst>
            <a:outerShdw sx="100000" sy="100000" kx="0" ky="0" algn="bl" rotWithShape="0" blurRad="50800" dist="25400" dir="8100000">
              <a:srgbClr val="000000">
                <a:alpha val="8000"/>
              </a:srgbClr>
            </a:outerShdw>
          </a:effectLst>
        </p:spPr>
      </p:sp>
      <p:sp>
        <p:nvSpPr>
          <p:cNvPr id="20" name="Shape 18"/>
          <p:cNvSpPr/>
          <p:nvPr/>
        </p:nvSpPr>
        <p:spPr>
          <a:xfrm>
            <a:off x="3154680" y="3273552"/>
            <a:ext cx="2697480" cy="54864"/>
          </a:xfrm>
          <a:prstGeom prst="rect">
            <a:avLst/>
          </a:prstGeom>
          <a:solidFill>
            <a:srgbClr val="0E7C7B"/>
          </a:solidFill>
          <a:ln w="12700">
            <a:solidFill>
              <a:srgbClr val="0E7C7B"/>
            </a:solidFill>
            <a:prstDash val="solid"/>
          </a:ln>
        </p:spPr>
      </p:sp>
      <p:sp>
        <p:nvSpPr>
          <p:cNvPr id="21" name="Text 19"/>
          <p:cNvSpPr/>
          <p:nvPr/>
        </p:nvSpPr>
        <p:spPr>
          <a:xfrm>
            <a:off x="3246120" y="3346704"/>
            <a:ext cx="2514600" cy="274320"/>
          </a:xfrm>
          <a:prstGeom prst="rect">
            <a:avLst/>
          </a:prstGeom>
          <a:noFill/>
          <a:ln/>
        </p:spPr>
        <p:txBody>
          <a:bodyPr wrap="square"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Silent Empty Values</a:t>
            </a:r>
            <a:endParaRPr lang="en-US" sz="1100" dirty="0"/>
          </a:p>
        </p:txBody>
      </p:sp>
      <p:sp>
        <p:nvSpPr>
          <p:cNvPr id="22" name="Text 20"/>
          <p:cNvSpPr/>
          <p:nvPr/>
        </p:nvSpPr>
        <p:spPr>
          <a:xfrm>
            <a:off x="3246120" y="3639312"/>
            <a:ext cx="2514600" cy="914400"/>
          </a:xfrm>
          <a:prstGeom prst="rect">
            <a:avLst/>
          </a:prstGeom>
          <a:noFill/>
          <a:ln/>
        </p:spPr>
        <p:txBody>
          <a:bodyPr wrap="square" rtlCol="0" anchor="ctr"/>
          <a:lstStyle/>
          <a:p>
            <a:pPr indent="0" marL="0">
              <a:buNone/>
            </a:pPr>
            <a:r>
              <a:rPr lang="en-US" sz="1000" dirty="0">
                <a:solidFill>
                  <a:srgbClr val="445566"/>
                </a:solidFill>
                <a:latin typeface="Calibri" pitchFamily="34" charset="0"/>
                <a:ea typeface="Calibri" pitchFamily="34" charset="-122"/>
                <a:cs typeface="Calibri" pitchFamily="34" charset="-120"/>
              </a:rPr>
              <a:t>imagePullPolicy renders empty with no error — Go templates produce an empty string for missing paths. The only way to catch this is to read the rendered output from helm template and check every field is populated as expected.</a:t>
            </a:r>
            <a:endParaRPr lang="en-US" sz="1000" dirty="0"/>
          </a:p>
        </p:txBody>
      </p:sp>
      <p:sp>
        <p:nvSpPr>
          <p:cNvPr id="23" name="Shape 21"/>
          <p:cNvSpPr/>
          <p:nvPr/>
        </p:nvSpPr>
        <p:spPr>
          <a:xfrm>
            <a:off x="6035040" y="3273552"/>
            <a:ext cx="2697480" cy="1344168"/>
          </a:xfrm>
          <a:prstGeom prst="rect">
            <a:avLst/>
          </a:prstGeom>
          <a:solidFill>
            <a:srgbClr val="FFFFFF"/>
          </a:solidFill>
          <a:ln w="12700">
            <a:solidFill>
              <a:srgbClr val="D0DCE8"/>
            </a:solidFill>
            <a:prstDash val="solid"/>
          </a:ln>
          <a:effectLst>
            <a:outerShdw sx="100000" sy="100000" kx="0" ky="0" algn="bl" rotWithShape="0" blurRad="50800" dist="25400" dir="8100000">
              <a:srgbClr val="000000">
                <a:alpha val="8000"/>
              </a:srgbClr>
            </a:outerShdw>
          </a:effectLst>
        </p:spPr>
      </p:sp>
      <p:sp>
        <p:nvSpPr>
          <p:cNvPr id="24" name="Shape 22"/>
          <p:cNvSpPr/>
          <p:nvPr/>
        </p:nvSpPr>
        <p:spPr>
          <a:xfrm>
            <a:off x="6035040" y="3273552"/>
            <a:ext cx="2697480" cy="54864"/>
          </a:xfrm>
          <a:prstGeom prst="rect">
            <a:avLst/>
          </a:prstGeom>
          <a:solidFill>
            <a:srgbClr val="0E7C7B"/>
          </a:solidFill>
          <a:ln w="12700">
            <a:solidFill>
              <a:srgbClr val="0E7C7B"/>
            </a:solidFill>
            <a:prstDash val="solid"/>
          </a:ln>
        </p:spPr>
      </p:sp>
      <p:sp>
        <p:nvSpPr>
          <p:cNvPr id="25" name="Text 23"/>
          <p:cNvSpPr/>
          <p:nvPr/>
        </p:nvSpPr>
        <p:spPr>
          <a:xfrm>
            <a:off x="6126480" y="3346704"/>
            <a:ext cx="2514600" cy="274320"/>
          </a:xfrm>
          <a:prstGeom prst="rect">
            <a:avLst/>
          </a:prstGeom>
          <a:noFill/>
          <a:ln/>
        </p:spPr>
        <p:txBody>
          <a:bodyPr wrap="square" rtlCol="0" anchor="ctr"/>
          <a:lstStyle/>
          <a:p>
            <a:pPr indent="0" marL="0">
              <a:buNone/>
            </a:pPr>
            <a:r>
              <a:rPr lang="en-US" sz="1100" b="1" dirty="0">
                <a:solidFill>
                  <a:srgbClr val="0D1B2A"/>
                </a:solidFill>
                <a:latin typeface="Calibri" pitchFamily="34" charset="0"/>
                <a:ea typeface="Calibri" pitchFamily="34" charset="-122"/>
                <a:cs typeface="Calibri" pitchFamily="34" charset="-120"/>
              </a:rPr>
              <a:t>Case Sensitivity</a:t>
            </a:r>
            <a:endParaRPr lang="en-US" sz="1100" dirty="0"/>
          </a:p>
        </p:txBody>
      </p:sp>
      <p:sp>
        <p:nvSpPr>
          <p:cNvPr id="26" name="Text 24"/>
          <p:cNvSpPr/>
          <p:nvPr/>
        </p:nvSpPr>
        <p:spPr>
          <a:xfrm>
            <a:off x="6126480" y="3639312"/>
            <a:ext cx="2514600" cy="914400"/>
          </a:xfrm>
          <a:prstGeom prst="rect">
            <a:avLst/>
          </a:prstGeom>
          <a:noFill/>
          <a:ln/>
        </p:spPr>
        <p:txBody>
          <a:bodyPr wrap="square" rtlCol="0" anchor="ctr"/>
          <a:lstStyle/>
          <a:p>
            <a:pPr indent="0" marL="0">
              <a:buNone/>
            </a:pPr>
            <a:r>
              <a:rPr lang="en-US" sz="1000" dirty="0">
                <a:solidFill>
                  <a:srgbClr val="445566"/>
                </a:solidFill>
                <a:latin typeface="Calibri" pitchFamily="34" charset="0"/>
                <a:ea typeface="Calibri" pitchFamily="34" charset="-122"/>
                <a:cs typeface="Calibri" pitchFamily="34" charset="-120"/>
              </a:rPr>
              <a:t>Go templates and YAML are both case-sensitive. .Values.image.pullPolicy and .Values.image.PullPolicy are different paths. One resolves correctly, one silently renders empty. Always check field names match values.yaml exactly.</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Shape 1"/>
          <p:cNvSpPr/>
          <p:nvPr/>
        </p:nvSpPr>
        <p:spPr>
          <a:xfrm>
            <a:off x="0" y="0"/>
            <a:ext cx="73152" cy="685800"/>
          </a:xfrm>
          <a:prstGeom prst="rect">
            <a:avLst/>
          </a:prstGeom>
          <a:solidFill>
            <a:srgbClr val="0E7C7B"/>
          </a:solidFill>
          <a:ln w="12700">
            <a:solidFill>
              <a:srgbClr val="0E7C7B"/>
            </a:solidFill>
            <a:prstDash val="solid"/>
          </a:ln>
        </p:spPr>
      </p:sp>
      <p:sp>
        <p:nvSpPr>
          <p:cNvPr id="4" name="Text 2"/>
          <p:cNvSpPr/>
          <p:nvPr/>
        </p:nvSpPr>
        <p:spPr>
          <a:xfrm>
            <a:off x="182880" y="0"/>
            <a:ext cx="8778240" cy="6858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Bug Fix 4 — service.yaml: The Silent Killer</a:t>
            </a:r>
            <a:endParaRPr lang="en-US" sz="2200" dirty="0"/>
          </a:p>
        </p:txBody>
      </p:sp>
      <p:sp>
        <p:nvSpPr>
          <p:cNvPr id="5" name="Shape 3"/>
          <p:cNvSpPr/>
          <p:nvPr/>
        </p:nvSpPr>
        <p:spPr>
          <a:xfrm>
            <a:off x="0" y="4800600"/>
            <a:ext cx="9144000" cy="342900"/>
          </a:xfrm>
          <a:prstGeom prst="rect">
            <a:avLst/>
          </a:prstGeom>
          <a:solidFill>
            <a:srgbClr val="0D1B2A"/>
          </a:solidFill>
          <a:ln w="12700">
            <a:solidFill>
              <a:srgbClr val="0D1B2A"/>
            </a:solidFill>
            <a:prstDash val="solid"/>
          </a:ln>
        </p:spPr>
      </p:sp>
      <p:sp>
        <p:nvSpPr>
          <p:cNvPr id="6" name="Text 4"/>
          <p:cNvSpPr/>
          <p:nvPr/>
        </p:nvSpPr>
        <p:spPr>
          <a:xfrm>
            <a:off x="182880" y="4800600"/>
            <a:ext cx="8778240" cy="342900"/>
          </a:xfrm>
          <a:prstGeom prst="rect">
            <a:avLst/>
          </a:prstGeom>
          <a:noFill/>
          <a:ln/>
        </p:spPr>
        <p:txBody>
          <a:bodyPr wrap="square" lIns="0" tIns="0" rIns="0" bIns="0" rtlCol="0" anchor="ctr"/>
          <a:lstStyle/>
          <a:p>
            <a:pPr indent="0" marL="0">
              <a:buNone/>
            </a:pPr>
            <a:r>
              <a:rPr lang="en-US" sz="900" dirty="0">
                <a:solidFill>
                  <a:srgbClr val="8899AA"/>
                </a:solidFill>
                <a:latin typeface="Calibri" pitchFamily="34" charset="0"/>
                <a:ea typeface="Calibri" pitchFamily="34" charset="-122"/>
                <a:cs typeface="Calibri" pitchFamily="34" charset="-120"/>
              </a:rPr>
              <a:t>Lab 039 — Helm Chart Won't Install</a:t>
            </a:r>
            <a:endParaRPr lang="en-US" sz="900" dirty="0"/>
          </a:p>
        </p:txBody>
      </p:sp>
      <p:sp>
        <p:nvSpPr>
          <p:cNvPr id="7" name="Shape 5"/>
          <p:cNvSpPr/>
          <p:nvPr/>
        </p:nvSpPr>
        <p:spPr>
          <a:xfrm>
            <a:off x="274320" y="804672"/>
            <a:ext cx="4023360" cy="1417320"/>
          </a:xfrm>
          <a:prstGeom prst="rect">
            <a:avLst/>
          </a:prstGeom>
          <a:solidFill>
            <a:srgbClr val="2D0A0A"/>
          </a:solidFill>
          <a:ln w="12700">
            <a:solidFill>
              <a:srgbClr val="E63946"/>
            </a:solidFill>
            <a:prstDash val="solid"/>
          </a:ln>
        </p:spPr>
      </p:sp>
      <p:sp>
        <p:nvSpPr>
          <p:cNvPr id="8" name="Text 6"/>
          <p:cNvSpPr/>
          <p:nvPr/>
        </p:nvSpPr>
        <p:spPr>
          <a:xfrm>
            <a:off x="365760" y="841248"/>
            <a:ext cx="3749040" cy="274320"/>
          </a:xfrm>
          <a:prstGeom prst="rect">
            <a:avLst/>
          </a:prstGeom>
          <a:noFill/>
          <a:ln/>
        </p:spPr>
        <p:txBody>
          <a:bodyPr wrap="square" rtlCol="0" anchor="ctr"/>
          <a:lstStyle/>
          <a:p>
            <a:pPr indent="0" marL="0">
              <a:buNone/>
            </a:pPr>
            <a:r>
              <a:rPr lang="en-US" sz="1000" b="1" dirty="0">
                <a:solidFill>
                  <a:srgbClr val="E63946"/>
                </a:solidFill>
                <a:latin typeface="Calibri" pitchFamily="34" charset="0"/>
                <a:ea typeface="Calibri" pitchFamily="34" charset="-122"/>
                <a:cs typeface="Calibri" pitchFamily="34" charset="-120"/>
              </a:rPr>
              <a:t>❌  BROKEN — selector uses Release.Name</a:t>
            </a:r>
            <a:endParaRPr lang="en-US" sz="1000" dirty="0"/>
          </a:p>
        </p:txBody>
      </p:sp>
      <p:sp>
        <p:nvSpPr>
          <p:cNvPr id="9" name="Text 7"/>
          <p:cNvSpPr/>
          <p:nvPr/>
        </p:nvSpPr>
        <p:spPr>
          <a:xfrm>
            <a:off x="365760" y="1170432"/>
            <a:ext cx="3749040" cy="868680"/>
          </a:xfrm>
          <a:prstGeom prst="rect">
            <a:avLst/>
          </a:prstGeom>
          <a:noFill/>
          <a:ln/>
        </p:spPr>
        <p:txBody>
          <a:bodyPr wrap="square" rtlCol="0" anchor="ctr"/>
          <a:lstStyle/>
          <a:p>
            <a:pPr indent="0" marL="0">
              <a:buNone/>
            </a:pPr>
            <a:r>
              <a:rPr lang="en-US" sz="1100" dirty="0">
                <a:solidFill>
                  <a:srgbClr val="FFAAAA"/>
                </a:solidFill>
                <a:latin typeface="Consolas" pitchFamily="34" charset="0"/>
                <a:ea typeface="Consolas" pitchFamily="34" charset="-122"/>
                <a:cs typeface="Consolas" pitchFamily="34" charset="-120"/>
              </a:rPr>
              <a:t>selector:</a:t>
            </a:r>
            <a:endParaRPr lang="en-US" sz="1100" dirty="0"/>
          </a:p>
          <a:p>
            <a:pPr indent="0" marL="0">
              <a:buNone/>
            </a:pPr>
            <a:r>
              <a:rPr lang="en-US" sz="1100" dirty="0">
                <a:solidFill>
                  <a:srgbClr val="FFAAAA"/>
                </a:solidFill>
                <a:latin typeface="Consolas" pitchFamily="34" charset="0"/>
                <a:ea typeface="Consolas" pitchFamily="34" charset="-122"/>
                <a:cs typeface="Consolas" pitchFamily="34" charset="-120"/>
              </a:rPr>
              <a:t>  app: {{ .Release.Name }}</a:t>
            </a:r>
            <a:endParaRPr lang="en-US" sz="1100" dirty="0"/>
          </a:p>
        </p:txBody>
      </p:sp>
      <p:sp>
        <p:nvSpPr>
          <p:cNvPr id="10" name="Shape 8"/>
          <p:cNvSpPr/>
          <p:nvPr/>
        </p:nvSpPr>
        <p:spPr>
          <a:xfrm>
            <a:off x="4846320" y="804672"/>
            <a:ext cx="4023360" cy="1417320"/>
          </a:xfrm>
          <a:prstGeom prst="rect">
            <a:avLst/>
          </a:prstGeom>
          <a:solidFill>
            <a:srgbClr val="0A2D0A"/>
          </a:solidFill>
          <a:ln w="12700">
            <a:solidFill>
              <a:srgbClr val="2DC653"/>
            </a:solidFill>
            <a:prstDash val="solid"/>
          </a:ln>
        </p:spPr>
      </p:sp>
      <p:sp>
        <p:nvSpPr>
          <p:cNvPr id="11" name="Text 9"/>
          <p:cNvSpPr/>
          <p:nvPr/>
        </p:nvSpPr>
        <p:spPr>
          <a:xfrm>
            <a:off x="4937760" y="841248"/>
            <a:ext cx="3749040" cy="274320"/>
          </a:xfrm>
          <a:prstGeom prst="rect">
            <a:avLst/>
          </a:prstGeom>
          <a:noFill/>
          <a:ln/>
        </p:spPr>
        <p:txBody>
          <a:bodyPr wrap="square" rtlCol="0" anchor="ctr"/>
          <a:lstStyle/>
          <a:p>
            <a:pPr indent="0" marL="0">
              <a:buNone/>
            </a:pPr>
            <a:r>
              <a:rPr lang="en-US" sz="1000" b="1" dirty="0">
                <a:solidFill>
                  <a:srgbClr val="2DC653"/>
                </a:solidFill>
                <a:latin typeface="Calibri" pitchFamily="34" charset="0"/>
                <a:ea typeface="Calibri" pitchFamily="34" charset="-122"/>
                <a:cs typeface="Calibri" pitchFamily="34" charset="-120"/>
              </a:rPr>
              <a:t>✅  FIXED — selector uses appLabel</a:t>
            </a:r>
            <a:endParaRPr lang="en-US" sz="1000" dirty="0"/>
          </a:p>
        </p:txBody>
      </p:sp>
      <p:sp>
        <p:nvSpPr>
          <p:cNvPr id="12" name="Text 10"/>
          <p:cNvSpPr/>
          <p:nvPr/>
        </p:nvSpPr>
        <p:spPr>
          <a:xfrm>
            <a:off x="4937760" y="1170432"/>
            <a:ext cx="3749040" cy="868680"/>
          </a:xfrm>
          <a:prstGeom prst="rect">
            <a:avLst/>
          </a:prstGeom>
          <a:noFill/>
          <a:ln/>
        </p:spPr>
        <p:txBody>
          <a:bodyPr wrap="square" rtlCol="0" anchor="ctr"/>
          <a:lstStyle/>
          <a:p>
            <a:pPr indent="0" marL="0">
              <a:buNone/>
            </a:pPr>
            <a:r>
              <a:rPr lang="en-US" sz="1100" dirty="0">
                <a:solidFill>
                  <a:srgbClr val="AAFFAA"/>
                </a:solidFill>
                <a:latin typeface="Consolas" pitchFamily="34" charset="0"/>
                <a:ea typeface="Consolas" pitchFamily="34" charset="-122"/>
                <a:cs typeface="Consolas" pitchFamily="34" charset="-120"/>
              </a:rPr>
              <a:t>selector:</a:t>
            </a:r>
            <a:endParaRPr lang="en-US" sz="1100" dirty="0"/>
          </a:p>
          <a:p>
            <a:pPr indent="0" marL="0">
              <a:buNone/>
            </a:pPr>
            <a:r>
              <a:rPr lang="en-US" sz="1100" dirty="0">
                <a:solidFill>
                  <a:srgbClr val="AAFFAA"/>
                </a:solidFill>
                <a:latin typeface="Consolas" pitchFamily="34" charset="0"/>
                <a:ea typeface="Consolas" pitchFamily="34" charset="-122"/>
                <a:cs typeface="Consolas" pitchFamily="34" charset="-120"/>
              </a:rPr>
              <a:t>  app: {{ .Values.appLabel }}</a:t>
            </a:r>
            <a:endParaRPr lang="en-US" sz="1100" dirty="0"/>
          </a:p>
        </p:txBody>
      </p:sp>
      <p:sp>
        <p:nvSpPr>
          <p:cNvPr id="13" name="Shape 11"/>
          <p:cNvSpPr/>
          <p:nvPr/>
        </p:nvSpPr>
        <p:spPr>
          <a:xfrm>
            <a:off x="274320" y="2377440"/>
            <a:ext cx="8595360" cy="566928"/>
          </a:xfrm>
          <a:prstGeom prst="rect">
            <a:avLst/>
          </a:prstGeom>
          <a:solidFill>
            <a:srgbClr val="1A0A2A"/>
          </a:solidFill>
          <a:ln w="12700">
            <a:solidFill>
              <a:srgbClr val="7C3AED"/>
            </a:solidFill>
            <a:prstDash val="solid"/>
          </a:ln>
        </p:spPr>
      </p:sp>
      <p:sp>
        <p:nvSpPr>
          <p:cNvPr id="14" name="Text 12"/>
          <p:cNvSpPr/>
          <p:nvPr/>
        </p:nvSpPr>
        <p:spPr>
          <a:xfrm>
            <a:off x="457200" y="2423160"/>
            <a:ext cx="8229600" cy="475488"/>
          </a:xfrm>
          <a:prstGeom prst="rect">
            <a:avLst/>
          </a:prstGeom>
          <a:noFill/>
          <a:ln/>
        </p:spPr>
        <p:txBody>
          <a:bodyPr wrap="square" rtlCol="0" anchor="ctr"/>
          <a:lstStyle/>
          <a:p>
            <a:pPr indent="0" marL="0">
              <a:buNone/>
            </a:pPr>
            <a:r>
              <a:rPr lang="en-US" sz="1100" dirty="0">
                <a:solidFill>
                  <a:srgbClr val="CCAAFF"/>
                </a:solidFill>
                <a:latin typeface="Calibri" pitchFamily="34" charset="0"/>
                <a:ea typeface="Calibri" pitchFamily="34" charset="-122"/>
                <a:cs typeface="Calibri" pitchFamily="34" charset="-120"/>
              </a:rPr>
              <a:t>⚠️  Why this is the most dangerous bug: helm install succeeds. No errors. Pods come up. But the Service has zero endpoints — traffic goes nowhere. You only discover it when your app doesn't respond.</a:t>
            </a:r>
            <a:endParaRPr lang="en-US" sz="1100" dirty="0"/>
          </a:p>
        </p:txBody>
      </p:sp>
      <p:sp>
        <p:nvSpPr>
          <p:cNvPr id="15" name="Text 13"/>
          <p:cNvSpPr/>
          <p:nvPr/>
        </p:nvSpPr>
        <p:spPr>
          <a:xfrm>
            <a:off x="274320" y="3090672"/>
            <a:ext cx="8595360" cy="320040"/>
          </a:xfrm>
          <a:prstGeom prst="rect">
            <a:avLst/>
          </a:prstGeom>
          <a:noFill/>
          <a:ln/>
        </p:spPr>
        <p:txBody>
          <a:bodyPr wrap="square"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How to Diagnose a Selector Mismatch in Real Life</a:t>
            </a:r>
            <a:endParaRPr lang="en-US" sz="1300" dirty="0"/>
          </a:p>
        </p:txBody>
      </p:sp>
      <p:sp>
        <p:nvSpPr>
          <p:cNvPr id="16" name="Shape 14"/>
          <p:cNvSpPr/>
          <p:nvPr/>
        </p:nvSpPr>
        <p:spPr>
          <a:xfrm>
            <a:off x="274320" y="3493008"/>
            <a:ext cx="2011680" cy="1097280"/>
          </a:xfrm>
          <a:prstGeom prst="rect">
            <a:avLst/>
          </a:prstGeom>
          <a:solidFill>
            <a:srgbClr val="1A2E42"/>
          </a:solidFill>
          <a:ln w="12700">
            <a:solidFill>
              <a:srgbClr val="2A4A62"/>
            </a:solidFill>
            <a:prstDash val="solid"/>
          </a:ln>
          <a:effectLst>
            <a:outerShdw sx="100000" sy="100000" kx="0" ky="0" algn="bl" rotWithShape="0" blurRad="50800" dist="25400" dir="8100000">
              <a:srgbClr val="000000">
                <a:alpha val="15000"/>
              </a:srgbClr>
            </a:outerShdw>
          </a:effectLst>
        </p:spPr>
      </p:sp>
      <p:sp>
        <p:nvSpPr>
          <p:cNvPr id="17" name="Shape 15"/>
          <p:cNvSpPr/>
          <p:nvPr/>
        </p:nvSpPr>
        <p:spPr>
          <a:xfrm>
            <a:off x="274320" y="3493008"/>
            <a:ext cx="347472" cy="1097280"/>
          </a:xfrm>
          <a:prstGeom prst="rect">
            <a:avLst/>
          </a:prstGeom>
          <a:solidFill>
            <a:srgbClr val="0E7C7B"/>
          </a:solidFill>
          <a:ln w="12700">
            <a:solidFill>
              <a:srgbClr val="0E7C7B"/>
            </a:solidFill>
            <a:prstDash val="solid"/>
          </a:ln>
        </p:spPr>
      </p:sp>
      <p:sp>
        <p:nvSpPr>
          <p:cNvPr id="18" name="Text 16"/>
          <p:cNvSpPr/>
          <p:nvPr/>
        </p:nvSpPr>
        <p:spPr>
          <a:xfrm>
            <a:off x="320040" y="3547872"/>
            <a:ext cx="256032" cy="36576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9" name="Text 17"/>
          <p:cNvSpPr/>
          <p:nvPr/>
        </p:nvSpPr>
        <p:spPr>
          <a:xfrm>
            <a:off x="685800" y="3529584"/>
            <a:ext cx="1536192" cy="1005840"/>
          </a:xfrm>
          <a:prstGeom prst="rect">
            <a:avLst/>
          </a:prstGeom>
          <a:noFill/>
          <a:ln/>
        </p:spPr>
        <p:txBody>
          <a:bodyPr wrap="square" rtlCol="0" anchor="ctr"/>
          <a:lstStyle/>
          <a:p>
            <a:pPr indent="0" marL="0">
              <a:buNone/>
            </a:pPr>
            <a:r>
              <a:rPr lang="en-US" sz="950" dirty="0">
                <a:solidFill>
                  <a:srgbClr val="AABBCC"/>
                </a:solidFill>
                <a:latin typeface="Calibri" pitchFamily="34" charset="0"/>
                <a:ea typeface="Calibri" pitchFamily="34" charset="-122"/>
                <a:cs typeface="Calibri" pitchFamily="34" charset="-120"/>
              </a:rPr>
              <a:t>App not responding → kubectl get endpoints</a:t>
            </a:r>
            <a:endParaRPr lang="en-US" sz="950" dirty="0"/>
          </a:p>
          <a:p>
            <a:pPr indent="0" marL="0">
              <a:buNone/>
            </a:pPr>
            <a:r>
              <a:rPr lang="en-US" sz="950" dirty="0">
                <a:solidFill>
                  <a:srgbClr val="AABBCC"/>
                </a:solidFill>
                <a:latin typeface="Calibri" pitchFamily="34" charset="0"/>
                <a:ea typeface="Calibri" pitchFamily="34" charset="-122"/>
                <a:cs typeface="Calibri" pitchFamily="34" charset="-120"/>
              </a:rPr>
              <a:t>If it shows &lt;none&gt;, Service has no backends</a:t>
            </a:r>
            <a:endParaRPr lang="en-US" sz="950" dirty="0"/>
          </a:p>
        </p:txBody>
      </p:sp>
      <p:sp>
        <p:nvSpPr>
          <p:cNvPr id="20" name="Shape 18"/>
          <p:cNvSpPr/>
          <p:nvPr/>
        </p:nvSpPr>
        <p:spPr>
          <a:xfrm>
            <a:off x="2450592" y="3493008"/>
            <a:ext cx="2011680" cy="1097280"/>
          </a:xfrm>
          <a:prstGeom prst="rect">
            <a:avLst/>
          </a:prstGeom>
          <a:solidFill>
            <a:srgbClr val="1A2E42"/>
          </a:solidFill>
          <a:ln w="12700">
            <a:solidFill>
              <a:srgbClr val="2A4A62"/>
            </a:solidFill>
            <a:prstDash val="solid"/>
          </a:ln>
          <a:effectLst>
            <a:outerShdw sx="100000" sy="100000" kx="0" ky="0" algn="bl" rotWithShape="0" blurRad="50800" dist="25400" dir="8100000">
              <a:srgbClr val="000000">
                <a:alpha val="15000"/>
              </a:srgbClr>
            </a:outerShdw>
          </a:effectLst>
        </p:spPr>
      </p:sp>
      <p:sp>
        <p:nvSpPr>
          <p:cNvPr id="21" name="Shape 19"/>
          <p:cNvSpPr/>
          <p:nvPr/>
        </p:nvSpPr>
        <p:spPr>
          <a:xfrm>
            <a:off x="2450592" y="3493008"/>
            <a:ext cx="347472" cy="1097280"/>
          </a:xfrm>
          <a:prstGeom prst="rect">
            <a:avLst/>
          </a:prstGeom>
          <a:solidFill>
            <a:srgbClr val="0E7C7B"/>
          </a:solidFill>
          <a:ln w="12700">
            <a:solidFill>
              <a:srgbClr val="0E7C7B"/>
            </a:solidFill>
            <a:prstDash val="solid"/>
          </a:ln>
        </p:spPr>
      </p:sp>
      <p:sp>
        <p:nvSpPr>
          <p:cNvPr id="22" name="Text 20"/>
          <p:cNvSpPr/>
          <p:nvPr/>
        </p:nvSpPr>
        <p:spPr>
          <a:xfrm>
            <a:off x="2496312" y="3547872"/>
            <a:ext cx="256032" cy="36576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23" name="Text 21"/>
          <p:cNvSpPr/>
          <p:nvPr/>
        </p:nvSpPr>
        <p:spPr>
          <a:xfrm>
            <a:off x="2862072" y="3529584"/>
            <a:ext cx="1536192" cy="1005840"/>
          </a:xfrm>
          <a:prstGeom prst="rect">
            <a:avLst/>
          </a:prstGeom>
          <a:noFill/>
          <a:ln/>
        </p:spPr>
        <p:txBody>
          <a:bodyPr wrap="square" rtlCol="0" anchor="ctr"/>
          <a:lstStyle/>
          <a:p>
            <a:pPr indent="0" marL="0">
              <a:buNone/>
            </a:pPr>
            <a:r>
              <a:rPr lang="en-US" sz="950" dirty="0">
                <a:solidFill>
                  <a:srgbClr val="AABBCC"/>
                </a:solidFill>
                <a:latin typeface="Calibri" pitchFamily="34" charset="0"/>
                <a:ea typeface="Calibri" pitchFamily="34" charset="-122"/>
                <a:cs typeface="Calibri" pitchFamily="34" charset="-120"/>
              </a:rPr>
              <a:t>kubectl describe svc &lt;name&gt;</a:t>
            </a:r>
            <a:endParaRPr lang="en-US" sz="950" dirty="0"/>
          </a:p>
          <a:p>
            <a:pPr indent="0" marL="0">
              <a:buNone/>
            </a:pPr>
            <a:r>
              <a:rPr lang="en-US" sz="950" dirty="0">
                <a:solidFill>
                  <a:srgbClr val="AABBCC"/>
                </a:solidFill>
                <a:latin typeface="Calibri" pitchFamily="34" charset="0"/>
                <a:ea typeface="Calibri" pitchFamily="34" charset="-122"/>
                <a:cs typeface="Calibri" pitchFamily="34" charset="-120"/>
              </a:rPr>
              <a:t>Look at the Selector field — what label is it looking for?</a:t>
            </a:r>
            <a:endParaRPr lang="en-US" sz="950" dirty="0"/>
          </a:p>
        </p:txBody>
      </p:sp>
      <p:sp>
        <p:nvSpPr>
          <p:cNvPr id="24" name="Shape 22"/>
          <p:cNvSpPr/>
          <p:nvPr/>
        </p:nvSpPr>
        <p:spPr>
          <a:xfrm>
            <a:off x="4626864" y="3493008"/>
            <a:ext cx="2011680" cy="1097280"/>
          </a:xfrm>
          <a:prstGeom prst="rect">
            <a:avLst/>
          </a:prstGeom>
          <a:solidFill>
            <a:srgbClr val="1A2E42"/>
          </a:solidFill>
          <a:ln w="12700">
            <a:solidFill>
              <a:srgbClr val="2A4A62"/>
            </a:solidFill>
            <a:prstDash val="solid"/>
          </a:ln>
          <a:effectLst>
            <a:outerShdw sx="100000" sy="100000" kx="0" ky="0" algn="bl" rotWithShape="0" blurRad="50800" dist="25400" dir="8100000">
              <a:srgbClr val="000000">
                <a:alpha val="15000"/>
              </a:srgbClr>
            </a:outerShdw>
          </a:effectLst>
        </p:spPr>
      </p:sp>
      <p:sp>
        <p:nvSpPr>
          <p:cNvPr id="25" name="Shape 23"/>
          <p:cNvSpPr/>
          <p:nvPr/>
        </p:nvSpPr>
        <p:spPr>
          <a:xfrm>
            <a:off x="4626864" y="3493008"/>
            <a:ext cx="347472" cy="1097280"/>
          </a:xfrm>
          <a:prstGeom prst="rect">
            <a:avLst/>
          </a:prstGeom>
          <a:solidFill>
            <a:srgbClr val="0E7C7B"/>
          </a:solidFill>
          <a:ln w="12700">
            <a:solidFill>
              <a:srgbClr val="0E7C7B"/>
            </a:solidFill>
            <a:prstDash val="solid"/>
          </a:ln>
        </p:spPr>
      </p:sp>
      <p:sp>
        <p:nvSpPr>
          <p:cNvPr id="26" name="Text 24"/>
          <p:cNvSpPr/>
          <p:nvPr/>
        </p:nvSpPr>
        <p:spPr>
          <a:xfrm>
            <a:off x="4672584" y="3547872"/>
            <a:ext cx="256032" cy="36576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7" name="Text 25"/>
          <p:cNvSpPr/>
          <p:nvPr/>
        </p:nvSpPr>
        <p:spPr>
          <a:xfrm>
            <a:off x="5038344" y="3529584"/>
            <a:ext cx="1536192" cy="1005840"/>
          </a:xfrm>
          <a:prstGeom prst="rect">
            <a:avLst/>
          </a:prstGeom>
          <a:noFill/>
          <a:ln/>
        </p:spPr>
        <p:txBody>
          <a:bodyPr wrap="square" rtlCol="0" anchor="ctr"/>
          <a:lstStyle/>
          <a:p>
            <a:pPr indent="0" marL="0">
              <a:buNone/>
            </a:pPr>
            <a:r>
              <a:rPr lang="en-US" sz="950" dirty="0">
                <a:solidFill>
                  <a:srgbClr val="AABBCC"/>
                </a:solidFill>
                <a:latin typeface="Calibri" pitchFamily="34" charset="0"/>
                <a:ea typeface="Calibri" pitchFamily="34" charset="-122"/>
                <a:cs typeface="Calibri" pitchFamily="34" charset="-120"/>
              </a:rPr>
              <a:t>kubectl describe pod &lt;name&gt;</a:t>
            </a:r>
            <a:endParaRPr lang="en-US" sz="950" dirty="0"/>
          </a:p>
          <a:p>
            <a:pPr indent="0" marL="0">
              <a:buNone/>
            </a:pPr>
            <a:r>
              <a:rPr lang="en-US" sz="950" dirty="0">
                <a:solidFill>
                  <a:srgbClr val="AABBCC"/>
                </a:solidFill>
                <a:latin typeface="Calibri" pitchFamily="34" charset="0"/>
                <a:ea typeface="Calibri" pitchFamily="34" charset="-122"/>
                <a:cs typeface="Calibri" pitchFamily="34" charset="-120"/>
              </a:rPr>
              <a:t>Look at Labels — what label does the pod actually have?</a:t>
            </a:r>
            <a:endParaRPr lang="en-US" sz="950" dirty="0"/>
          </a:p>
        </p:txBody>
      </p:sp>
      <p:sp>
        <p:nvSpPr>
          <p:cNvPr id="28" name="Shape 26"/>
          <p:cNvSpPr/>
          <p:nvPr/>
        </p:nvSpPr>
        <p:spPr>
          <a:xfrm>
            <a:off x="6803136" y="3493008"/>
            <a:ext cx="2011680" cy="1097280"/>
          </a:xfrm>
          <a:prstGeom prst="rect">
            <a:avLst/>
          </a:prstGeom>
          <a:solidFill>
            <a:srgbClr val="1A2E42"/>
          </a:solidFill>
          <a:ln w="12700">
            <a:solidFill>
              <a:srgbClr val="2A4A62"/>
            </a:solidFill>
            <a:prstDash val="solid"/>
          </a:ln>
          <a:effectLst>
            <a:outerShdw sx="100000" sy="100000" kx="0" ky="0" algn="bl" rotWithShape="0" blurRad="50800" dist="25400" dir="8100000">
              <a:srgbClr val="000000">
                <a:alpha val="15000"/>
              </a:srgbClr>
            </a:outerShdw>
          </a:effectLst>
        </p:spPr>
      </p:sp>
      <p:sp>
        <p:nvSpPr>
          <p:cNvPr id="29" name="Shape 27"/>
          <p:cNvSpPr/>
          <p:nvPr/>
        </p:nvSpPr>
        <p:spPr>
          <a:xfrm>
            <a:off x="6803136" y="3493008"/>
            <a:ext cx="347472" cy="1097280"/>
          </a:xfrm>
          <a:prstGeom prst="rect">
            <a:avLst/>
          </a:prstGeom>
          <a:solidFill>
            <a:srgbClr val="0E7C7B"/>
          </a:solidFill>
          <a:ln w="12700">
            <a:solidFill>
              <a:srgbClr val="0E7C7B"/>
            </a:solidFill>
            <a:prstDash val="solid"/>
          </a:ln>
        </p:spPr>
      </p:sp>
      <p:sp>
        <p:nvSpPr>
          <p:cNvPr id="30" name="Text 28"/>
          <p:cNvSpPr/>
          <p:nvPr/>
        </p:nvSpPr>
        <p:spPr>
          <a:xfrm>
            <a:off x="6848856" y="3547872"/>
            <a:ext cx="256032" cy="36576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31" name="Text 29"/>
          <p:cNvSpPr/>
          <p:nvPr/>
        </p:nvSpPr>
        <p:spPr>
          <a:xfrm>
            <a:off x="7214616" y="3529584"/>
            <a:ext cx="1536192" cy="1005840"/>
          </a:xfrm>
          <a:prstGeom prst="rect">
            <a:avLst/>
          </a:prstGeom>
          <a:noFill/>
          <a:ln/>
        </p:spPr>
        <p:txBody>
          <a:bodyPr wrap="square" rtlCol="0" anchor="ctr"/>
          <a:lstStyle/>
          <a:p>
            <a:pPr indent="0" marL="0">
              <a:buNone/>
            </a:pPr>
            <a:r>
              <a:rPr lang="en-US" sz="950" dirty="0">
                <a:solidFill>
                  <a:srgbClr val="AABBCC"/>
                </a:solidFill>
                <a:latin typeface="Calibri" pitchFamily="34" charset="0"/>
                <a:ea typeface="Calibri" pitchFamily="34" charset="-122"/>
                <a:cs typeface="Calibri" pitchFamily="34" charset="-120"/>
              </a:rPr>
              <a:t>Compare them. If they don't match, fix the Service selector (or the Deployment labels) to align.</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B2A"/>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0D1B2A"/>
          </a:solidFill>
          <a:ln w="12700">
            <a:solidFill>
              <a:srgbClr val="0D1B2A"/>
            </a:solidFill>
            <a:prstDash val="solid"/>
          </a:ln>
        </p:spPr>
      </p:sp>
      <p:sp>
        <p:nvSpPr>
          <p:cNvPr id="3" name="Shape 1"/>
          <p:cNvSpPr/>
          <p:nvPr/>
        </p:nvSpPr>
        <p:spPr>
          <a:xfrm>
            <a:off x="0" y="0"/>
            <a:ext cx="73152" cy="685800"/>
          </a:xfrm>
          <a:prstGeom prst="rect">
            <a:avLst/>
          </a:prstGeom>
          <a:solidFill>
            <a:srgbClr val="0E7C7B"/>
          </a:solidFill>
          <a:ln w="12700">
            <a:solidFill>
              <a:srgbClr val="0E7C7B"/>
            </a:solidFill>
            <a:prstDash val="solid"/>
          </a:ln>
        </p:spPr>
      </p:sp>
      <p:sp>
        <p:nvSpPr>
          <p:cNvPr id="4" name="Text 2"/>
          <p:cNvSpPr/>
          <p:nvPr/>
        </p:nvSpPr>
        <p:spPr>
          <a:xfrm>
            <a:off x="182880" y="0"/>
            <a:ext cx="8778240" cy="68580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Key Takeaways</a:t>
            </a:r>
            <a:endParaRPr lang="en-US" sz="2200" dirty="0"/>
          </a:p>
        </p:txBody>
      </p:sp>
      <p:sp>
        <p:nvSpPr>
          <p:cNvPr id="5" name="Shape 3"/>
          <p:cNvSpPr/>
          <p:nvPr/>
        </p:nvSpPr>
        <p:spPr>
          <a:xfrm>
            <a:off x="0" y="4800600"/>
            <a:ext cx="9144000" cy="342900"/>
          </a:xfrm>
          <a:prstGeom prst="rect">
            <a:avLst/>
          </a:prstGeom>
          <a:solidFill>
            <a:srgbClr val="0D1B2A"/>
          </a:solidFill>
          <a:ln w="12700">
            <a:solidFill>
              <a:srgbClr val="0D1B2A"/>
            </a:solidFill>
            <a:prstDash val="solid"/>
          </a:ln>
        </p:spPr>
      </p:sp>
      <p:sp>
        <p:nvSpPr>
          <p:cNvPr id="6" name="Text 4"/>
          <p:cNvSpPr/>
          <p:nvPr/>
        </p:nvSpPr>
        <p:spPr>
          <a:xfrm>
            <a:off x="182880" y="4800600"/>
            <a:ext cx="8778240" cy="342900"/>
          </a:xfrm>
          <a:prstGeom prst="rect">
            <a:avLst/>
          </a:prstGeom>
          <a:noFill/>
          <a:ln/>
        </p:spPr>
        <p:txBody>
          <a:bodyPr wrap="square" lIns="0" tIns="0" rIns="0" bIns="0" rtlCol="0" anchor="ctr"/>
          <a:lstStyle/>
          <a:p>
            <a:pPr indent="0" marL="0">
              <a:buNone/>
            </a:pPr>
            <a:r>
              <a:rPr lang="en-US" sz="900" dirty="0">
                <a:solidFill>
                  <a:srgbClr val="8899AA"/>
                </a:solidFill>
                <a:latin typeface="Calibri" pitchFamily="34" charset="0"/>
                <a:ea typeface="Calibri" pitchFamily="34" charset="-122"/>
                <a:cs typeface="Calibri" pitchFamily="34" charset="-120"/>
              </a:rPr>
              <a:t>Lab 039 — Helm Chart Won't Install</a:t>
            </a:r>
            <a:endParaRPr lang="en-US" sz="900" dirty="0"/>
          </a:p>
        </p:txBody>
      </p:sp>
      <p:sp>
        <p:nvSpPr>
          <p:cNvPr id="7" name="Shape 5"/>
          <p:cNvSpPr/>
          <p:nvPr/>
        </p:nvSpPr>
        <p:spPr>
          <a:xfrm>
            <a:off x="274320" y="822960"/>
            <a:ext cx="4206240" cy="1234440"/>
          </a:xfrm>
          <a:prstGeom prst="rect">
            <a:avLst/>
          </a:prstGeom>
          <a:solidFill>
            <a:srgbClr val="0D1F30"/>
          </a:solidFill>
          <a:ln w="12700">
            <a:solidFill>
              <a:srgbClr val="1E3A50"/>
            </a:solidFill>
            <a:prstDash val="solid"/>
          </a:ln>
          <a:effectLst>
            <a:outerShdw sx="100000" sy="100000" kx="0" ky="0" algn="bl" rotWithShape="0" blurRad="50800" dist="25400" dir="8100000">
              <a:srgbClr val="000000">
                <a:alpha val="20000"/>
              </a:srgbClr>
            </a:outerShdw>
          </a:effectLst>
        </p:spPr>
      </p:sp>
      <p:pic>
        <p:nvPicPr>
          <p:cNvPr id="8" name="Image 0" descr="preencoded.png">    </p:cNvPr>
          <p:cNvPicPr>
            <a:picLocks noChangeAspect="1"/>
          </p:cNvPicPr>
          <p:nvPr/>
        </p:nvPicPr>
        <p:blipFill>
          <a:blip r:embed="rId1"/>
          <a:stretch>
            <a:fillRect/>
          </a:stretch>
        </p:blipFill>
        <p:spPr>
          <a:xfrm>
            <a:off x="384048" y="932688"/>
            <a:ext cx="384048" cy="384048"/>
          </a:xfrm>
          <a:prstGeom prst="rect">
            <a:avLst/>
          </a:prstGeom>
        </p:spPr>
      </p:pic>
      <p:sp>
        <p:nvSpPr>
          <p:cNvPr id="9" name="Text 6"/>
          <p:cNvSpPr/>
          <p:nvPr/>
        </p:nvSpPr>
        <p:spPr>
          <a:xfrm>
            <a:off x="868680" y="914400"/>
            <a:ext cx="3520440" cy="320040"/>
          </a:xfrm>
          <a:prstGeom prst="rect">
            <a:avLst/>
          </a:prstGeom>
          <a:noFill/>
          <a:ln/>
        </p:spPr>
        <p:txBody>
          <a:bodyPr wrap="square" rtlCol="0" anchor="ctr"/>
          <a:lstStyle/>
          <a:p>
            <a:pPr indent="0" marL="0">
              <a:buNone/>
            </a:pPr>
            <a:r>
              <a:rPr lang="en-US" sz="1200" b="1" dirty="0">
                <a:solidFill>
                  <a:srgbClr val="14A5A3"/>
                </a:solidFill>
                <a:latin typeface="Calibri" pitchFamily="34" charset="0"/>
                <a:ea typeface="Calibri" pitchFamily="34" charset="-122"/>
                <a:cs typeface="Calibri" pitchFamily="34" charset="-120"/>
              </a:rPr>
              <a:t>helm template first, always</a:t>
            </a:r>
            <a:endParaRPr lang="en-US" sz="1200" dirty="0"/>
          </a:p>
        </p:txBody>
      </p:sp>
      <p:sp>
        <p:nvSpPr>
          <p:cNvPr id="10" name="Text 7"/>
          <p:cNvSpPr/>
          <p:nvPr/>
        </p:nvSpPr>
        <p:spPr>
          <a:xfrm>
            <a:off x="868680" y="1243584"/>
            <a:ext cx="3520440" cy="749808"/>
          </a:xfrm>
          <a:prstGeom prst="rect">
            <a:avLst/>
          </a:prstGeom>
          <a:noFill/>
          <a:ln/>
        </p:spPr>
        <p:txBody>
          <a:bodyPr wrap="square" rtlCol="0" anchor="ctr"/>
          <a:lstStyle/>
          <a:p>
            <a:pPr indent="0" marL="0">
              <a:buNone/>
            </a:pPr>
            <a:r>
              <a:rPr lang="en-US" sz="1000" dirty="0">
                <a:solidFill>
                  <a:srgbClr val="AABBCC"/>
                </a:solidFill>
                <a:latin typeface="Calibri" pitchFamily="34" charset="0"/>
                <a:ea typeface="Calibri" pitchFamily="34" charset="-122"/>
                <a:cs typeface="Calibri" pitchFamily="34" charset="-120"/>
              </a:rPr>
              <a:t>Renders without touching the cluster. Shows every template error. Make this muscle memory — it's the Helm equivalent of terraform plan.</a:t>
            </a:r>
            <a:endParaRPr lang="en-US" sz="1000" dirty="0"/>
          </a:p>
        </p:txBody>
      </p:sp>
      <p:sp>
        <p:nvSpPr>
          <p:cNvPr id="11" name="Shape 8"/>
          <p:cNvSpPr/>
          <p:nvPr/>
        </p:nvSpPr>
        <p:spPr>
          <a:xfrm>
            <a:off x="4709160" y="822960"/>
            <a:ext cx="4206240" cy="1234440"/>
          </a:xfrm>
          <a:prstGeom prst="rect">
            <a:avLst/>
          </a:prstGeom>
          <a:solidFill>
            <a:srgbClr val="0D1F30"/>
          </a:solidFill>
          <a:ln w="12700">
            <a:solidFill>
              <a:srgbClr val="1E3A50"/>
            </a:solidFill>
            <a:prstDash val="solid"/>
          </a:ln>
          <a:effectLst>
            <a:outerShdw sx="100000" sy="100000" kx="0" ky="0" algn="bl" rotWithShape="0" blurRad="50800" dist="25400" dir="8100000">
              <a:srgbClr val="000000">
                <a:alpha val="20000"/>
              </a:srgbClr>
            </a:outerShdw>
          </a:effectLst>
        </p:spPr>
      </p:sp>
      <p:pic>
        <p:nvPicPr>
          <p:cNvPr id="12" name="Image 1" descr="preencoded.png">    </p:cNvPr>
          <p:cNvPicPr>
            <a:picLocks noChangeAspect="1"/>
          </p:cNvPicPr>
          <p:nvPr/>
        </p:nvPicPr>
        <p:blipFill>
          <a:blip r:embed="rId2"/>
          <a:stretch>
            <a:fillRect/>
          </a:stretch>
        </p:blipFill>
        <p:spPr>
          <a:xfrm>
            <a:off x="4818888" y="932688"/>
            <a:ext cx="384048" cy="384048"/>
          </a:xfrm>
          <a:prstGeom prst="rect">
            <a:avLst/>
          </a:prstGeom>
        </p:spPr>
      </p:pic>
      <p:sp>
        <p:nvSpPr>
          <p:cNvPr id="13" name="Text 9"/>
          <p:cNvSpPr/>
          <p:nvPr/>
        </p:nvSpPr>
        <p:spPr>
          <a:xfrm>
            <a:off x="5303520" y="914400"/>
            <a:ext cx="3520440" cy="320040"/>
          </a:xfrm>
          <a:prstGeom prst="rect">
            <a:avLst/>
          </a:prstGeom>
          <a:noFill/>
          <a:ln/>
        </p:spPr>
        <p:txBody>
          <a:bodyPr wrap="square" rtlCol="0" anchor="ctr"/>
          <a:lstStyle/>
          <a:p>
            <a:pPr indent="0" marL="0">
              <a:buNone/>
            </a:pPr>
            <a:r>
              <a:rPr lang="en-US" sz="1200" b="1" dirty="0">
                <a:solidFill>
                  <a:srgbClr val="14A5A3"/>
                </a:solidFill>
                <a:latin typeface="Calibri" pitchFamily="34" charset="0"/>
                <a:ea typeface="Calibri" pitchFamily="34" charset="-122"/>
                <a:cs typeface="Calibri" pitchFamily="34" charset="-120"/>
              </a:rPr>
              <a:t>Chart.yaml is the entry point</a:t>
            </a:r>
            <a:endParaRPr lang="en-US" sz="1200" dirty="0"/>
          </a:p>
        </p:txBody>
      </p:sp>
      <p:sp>
        <p:nvSpPr>
          <p:cNvPr id="14" name="Text 10"/>
          <p:cNvSpPr/>
          <p:nvPr/>
        </p:nvSpPr>
        <p:spPr>
          <a:xfrm>
            <a:off x="5303520" y="1243584"/>
            <a:ext cx="3520440" cy="749808"/>
          </a:xfrm>
          <a:prstGeom prst="rect">
            <a:avLst/>
          </a:prstGeom>
          <a:noFill/>
          <a:ln/>
        </p:spPr>
        <p:txBody>
          <a:bodyPr wrap="square" rtlCol="0" anchor="ctr"/>
          <a:lstStyle/>
          <a:p>
            <a:pPr indent="0" marL="0">
              <a:buNone/>
            </a:pPr>
            <a:r>
              <a:rPr lang="en-US" sz="1000" dirty="0">
                <a:solidFill>
                  <a:srgbClr val="AABBCC"/>
                </a:solidFill>
                <a:latin typeface="Calibri" pitchFamily="34" charset="0"/>
                <a:ea typeface="Calibri" pitchFamily="34" charset="-122"/>
                <a:cs typeface="Calibri" pitchFamily="34" charset="-120"/>
              </a:rPr>
              <a:t>Helm reads it before anything else. apiVersion: v2 and name are mandatory. If either is wrong or missing, nothing runs.</a:t>
            </a:r>
            <a:endParaRPr lang="en-US" sz="1000" dirty="0"/>
          </a:p>
        </p:txBody>
      </p:sp>
      <p:sp>
        <p:nvSpPr>
          <p:cNvPr id="15" name="Shape 11"/>
          <p:cNvSpPr/>
          <p:nvPr/>
        </p:nvSpPr>
        <p:spPr>
          <a:xfrm>
            <a:off x="274320" y="2176272"/>
            <a:ext cx="4206240" cy="1234440"/>
          </a:xfrm>
          <a:prstGeom prst="rect">
            <a:avLst/>
          </a:prstGeom>
          <a:solidFill>
            <a:srgbClr val="0D1F30"/>
          </a:solidFill>
          <a:ln w="12700">
            <a:solidFill>
              <a:srgbClr val="1E3A50"/>
            </a:solidFill>
            <a:prstDash val="solid"/>
          </a:ln>
          <a:effectLst>
            <a:outerShdw sx="100000" sy="100000" kx="0" ky="0" algn="bl" rotWithShape="0" blurRad="50800" dist="25400" dir="8100000">
              <a:srgbClr val="000000">
                <a:alpha val="20000"/>
              </a:srgbClr>
            </a:outerShdw>
          </a:effectLst>
        </p:spPr>
      </p:sp>
      <p:pic>
        <p:nvPicPr>
          <p:cNvPr id="16" name="Image 2" descr="preencoded.png">    </p:cNvPr>
          <p:cNvPicPr>
            <a:picLocks noChangeAspect="1"/>
          </p:cNvPicPr>
          <p:nvPr/>
        </p:nvPicPr>
        <p:blipFill>
          <a:blip r:embed="rId3"/>
          <a:stretch>
            <a:fillRect/>
          </a:stretch>
        </p:blipFill>
        <p:spPr>
          <a:xfrm>
            <a:off x="384048" y="2286000"/>
            <a:ext cx="384048" cy="384048"/>
          </a:xfrm>
          <a:prstGeom prst="rect">
            <a:avLst/>
          </a:prstGeom>
        </p:spPr>
      </p:pic>
      <p:sp>
        <p:nvSpPr>
          <p:cNvPr id="17" name="Text 12"/>
          <p:cNvSpPr/>
          <p:nvPr/>
        </p:nvSpPr>
        <p:spPr>
          <a:xfrm>
            <a:off x="868680" y="2267712"/>
            <a:ext cx="3520440" cy="320040"/>
          </a:xfrm>
          <a:prstGeom prst="rect">
            <a:avLst/>
          </a:prstGeom>
          <a:noFill/>
          <a:ln/>
        </p:spPr>
        <p:txBody>
          <a:bodyPr wrap="square" rtlCol="0" anchor="ctr"/>
          <a:lstStyle/>
          <a:p>
            <a:pPr indent="0" marL="0">
              <a:buNone/>
            </a:pPr>
            <a:r>
              <a:rPr lang="en-US" sz="1200" b="1" dirty="0">
                <a:solidFill>
                  <a:srgbClr val="14A5A3"/>
                </a:solidFill>
                <a:latin typeface="Calibri" pitchFamily="34" charset="0"/>
                <a:ea typeface="Calibri" pitchFamily="34" charset="-122"/>
                <a:cs typeface="Calibri" pitchFamily="34" charset="-120"/>
              </a:rPr>
              <a:t>Template references are exact paths</a:t>
            </a:r>
            <a:endParaRPr lang="en-US" sz="1200" dirty="0"/>
          </a:p>
        </p:txBody>
      </p:sp>
      <p:sp>
        <p:nvSpPr>
          <p:cNvPr id="18" name="Text 13"/>
          <p:cNvSpPr/>
          <p:nvPr/>
        </p:nvSpPr>
        <p:spPr>
          <a:xfrm>
            <a:off x="868680" y="2596896"/>
            <a:ext cx="3520440" cy="749808"/>
          </a:xfrm>
          <a:prstGeom prst="rect">
            <a:avLst/>
          </a:prstGeom>
          <a:noFill/>
          <a:ln/>
        </p:spPr>
        <p:txBody>
          <a:bodyPr wrap="square" rtlCol="0" anchor="ctr"/>
          <a:lstStyle/>
          <a:p>
            <a:pPr indent="0" marL="0">
              <a:buNone/>
            </a:pPr>
            <a:r>
              <a:rPr lang="en-US" sz="1000" dirty="0">
                <a:solidFill>
                  <a:srgbClr val="AABBCC"/>
                </a:solidFill>
                <a:latin typeface="Calibri" pitchFamily="34" charset="0"/>
                <a:ea typeface="Calibri" pitchFamily="34" charset="-122"/>
                <a:cs typeface="Calibri" pitchFamily="34" charset="-120"/>
              </a:rPr>
              <a:t>.Values.image.pullPolicy and .Values.image.imagePullPolicy are completely different. No fuzzy matching, no helpful error — just an empty value.</a:t>
            </a:r>
            <a:endParaRPr lang="en-US" sz="1000" dirty="0"/>
          </a:p>
        </p:txBody>
      </p:sp>
      <p:sp>
        <p:nvSpPr>
          <p:cNvPr id="19" name="Shape 14"/>
          <p:cNvSpPr/>
          <p:nvPr/>
        </p:nvSpPr>
        <p:spPr>
          <a:xfrm>
            <a:off x="4709160" y="2176272"/>
            <a:ext cx="4206240" cy="1234440"/>
          </a:xfrm>
          <a:prstGeom prst="rect">
            <a:avLst/>
          </a:prstGeom>
          <a:solidFill>
            <a:srgbClr val="0D1F30"/>
          </a:solidFill>
          <a:ln w="12700">
            <a:solidFill>
              <a:srgbClr val="1E3A50"/>
            </a:solidFill>
            <a:prstDash val="solid"/>
          </a:ln>
          <a:effectLst>
            <a:outerShdw sx="100000" sy="100000" kx="0" ky="0" algn="bl" rotWithShape="0" blurRad="50800" dist="25400" dir="8100000">
              <a:srgbClr val="000000">
                <a:alpha val="20000"/>
              </a:srgbClr>
            </a:outerShdw>
          </a:effectLst>
        </p:spPr>
      </p:sp>
      <p:pic>
        <p:nvPicPr>
          <p:cNvPr id="20" name="Image 3" descr="preencoded.png">    </p:cNvPr>
          <p:cNvPicPr>
            <a:picLocks noChangeAspect="1"/>
          </p:cNvPicPr>
          <p:nvPr/>
        </p:nvPicPr>
        <p:blipFill>
          <a:blip r:embed="rId4"/>
          <a:stretch>
            <a:fillRect/>
          </a:stretch>
        </p:blipFill>
        <p:spPr>
          <a:xfrm>
            <a:off x="4818888" y="2286000"/>
            <a:ext cx="384048" cy="384048"/>
          </a:xfrm>
          <a:prstGeom prst="rect">
            <a:avLst/>
          </a:prstGeom>
        </p:spPr>
      </p:pic>
      <p:sp>
        <p:nvSpPr>
          <p:cNvPr id="21" name="Text 15"/>
          <p:cNvSpPr/>
          <p:nvPr/>
        </p:nvSpPr>
        <p:spPr>
          <a:xfrm>
            <a:off x="5303520" y="2267712"/>
            <a:ext cx="3520440" cy="320040"/>
          </a:xfrm>
          <a:prstGeom prst="rect">
            <a:avLst/>
          </a:prstGeom>
          <a:noFill/>
          <a:ln/>
        </p:spPr>
        <p:txBody>
          <a:bodyPr wrap="square" rtlCol="0" anchor="ctr"/>
          <a:lstStyle/>
          <a:p>
            <a:pPr indent="0" marL="0">
              <a:buNone/>
            </a:pPr>
            <a:r>
              <a:rPr lang="en-US" sz="1200" b="1" dirty="0">
                <a:solidFill>
                  <a:srgbClr val="14A5A3"/>
                </a:solidFill>
                <a:latin typeface="Calibri" pitchFamily="34" charset="0"/>
                <a:ea typeface="Calibri" pitchFamily="34" charset="-122"/>
                <a:cs typeface="Calibri" pitchFamily="34" charset="-120"/>
              </a:rPr>
              <a:t>Kubernetes has strict type rules</a:t>
            </a:r>
            <a:endParaRPr lang="en-US" sz="1200" dirty="0"/>
          </a:p>
        </p:txBody>
      </p:sp>
      <p:sp>
        <p:nvSpPr>
          <p:cNvPr id="22" name="Text 16"/>
          <p:cNvSpPr/>
          <p:nvPr/>
        </p:nvSpPr>
        <p:spPr>
          <a:xfrm>
            <a:off x="5303520" y="2596896"/>
            <a:ext cx="3520440" cy="749808"/>
          </a:xfrm>
          <a:prstGeom prst="rect">
            <a:avLst/>
          </a:prstGeom>
          <a:noFill/>
          <a:ln/>
        </p:spPr>
        <p:txBody>
          <a:bodyPr wrap="square" rtlCol="0" anchor="ctr"/>
          <a:lstStyle/>
          <a:p>
            <a:pPr indent="0" marL="0">
              <a:buNone/>
            </a:pPr>
            <a:r>
              <a:rPr lang="en-US" sz="1000" dirty="0">
                <a:solidFill>
                  <a:srgbClr val="AABBCC"/>
                </a:solidFill>
                <a:latin typeface="Calibri" pitchFamily="34" charset="0"/>
                <a:ea typeface="Calibri" pitchFamily="34" charset="-122"/>
                <a:cs typeface="Calibri" pitchFamily="34" charset="-120"/>
              </a:rPr>
              <a:t>Label values can't contain spaces. Port numbers must be integers. These aren't Helm errors — they're Kubernetes API rejections. helm template passes but the cluster refuses.</a:t>
            </a:r>
            <a:endParaRPr lang="en-US" sz="1000" dirty="0"/>
          </a:p>
        </p:txBody>
      </p:sp>
      <p:sp>
        <p:nvSpPr>
          <p:cNvPr id="23" name="Shape 17"/>
          <p:cNvSpPr/>
          <p:nvPr/>
        </p:nvSpPr>
        <p:spPr>
          <a:xfrm>
            <a:off x="274320" y="3529584"/>
            <a:ext cx="4206240" cy="1234440"/>
          </a:xfrm>
          <a:prstGeom prst="rect">
            <a:avLst/>
          </a:prstGeom>
          <a:solidFill>
            <a:srgbClr val="0D1F30"/>
          </a:solidFill>
          <a:ln w="12700">
            <a:solidFill>
              <a:srgbClr val="1E3A50"/>
            </a:solidFill>
            <a:prstDash val="solid"/>
          </a:ln>
          <a:effectLst>
            <a:outerShdw sx="100000" sy="100000" kx="0" ky="0" algn="bl" rotWithShape="0" blurRad="50800" dist="25400" dir="8100000">
              <a:srgbClr val="000000">
                <a:alpha val="20000"/>
              </a:srgbClr>
            </a:outerShdw>
          </a:effectLst>
        </p:spPr>
      </p:sp>
      <p:pic>
        <p:nvPicPr>
          <p:cNvPr id="24" name="Image 4" descr="preencoded.png">    </p:cNvPr>
          <p:cNvPicPr>
            <a:picLocks noChangeAspect="1"/>
          </p:cNvPicPr>
          <p:nvPr/>
        </p:nvPicPr>
        <p:blipFill>
          <a:blip r:embed="rId5"/>
          <a:stretch>
            <a:fillRect/>
          </a:stretch>
        </p:blipFill>
        <p:spPr>
          <a:xfrm>
            <a:off x="384048" y="3639312"/>
            <a:ext cx="384048" cy="384048"/>
          </a:xfrm>
          <a:prstGeom prst="rect">
            <a:avLst/>
          </a:prstGeom>
        </p:spPr>
      </p:pic>
      <p:sp>
        <p:nvSpPr>
          <p:cNvPr id="25" name="Text 18"/>
          <p:cNvSpPr/>
          <p:nvPr/>
        </p:nvSpPr>
        <p:spPr>
          <a:xfrm>
            <a:off x="868680" y="3621024"/>
            <a:ext cx="3520440" cy="320040"/>
          </a:xfrm>
          <a:prstGeom prst="rect">
            <a:avLst/>
          </a:prstGeom>
          <a:noFill/>
          <a:ln/>
        </p:spPr>
        <p:txBody>
          <a:bodyPr wrap="square" rtlCol="0" anchor="ctr"/>
          <a:lstStyle/>
          <a:p>
            <a:pPr indent="0" marL="0">
              <a:buNone/>
            </a:pPr>
            <a:r>
              <a:rPr lang="en-US" sz="1200" b="1" dirty="0">
                <a:solidFill>
                  <a:srgbClr val="14A5A3"/>
                </a:solidFill>
                <a:latin typeface="Calibri" pitchFamily="34" charset="0"/>
                <a:ea typeface="Calibri" pitchFamily="34" charset="-122"/>
                <a:cs typeface="Calibri" pitchFamily="34" charset="-120"/>
              </a:rPr>
              <a:t>Selector mismatches are silent failures</a:t>
            </a:r>
            <a:endParaRPr lang="en-US" sz="1200" dirty="0"/>
          </a:p>
        </p:txBody>
      </p:sp>
      <p:sp>
        <p:nvSpPr>
          <p:cNvPr id="26" name="Text 19"/>
          <p:cNvSpPr/>
          <p:nvPr/>
        </p:nvSpPr>
        <p:spPr>
          <a:xfrm>
            <a:off x="868680" y="3950208"/>
            <a:ext cx="3520440" cy="749808"/>
          </a:xfrm>
          <a:prstGeom prst="rect">
            <a:avLst/>
          </a:prstGeom>
          <a:noFill/>
          <a:ln/>
        </p:spPr>
        <p:txBody>
          <a:bodyPr wrap="square" rtlCol="0" anchor="ctr"/>
          <a:lstStyle/>
          <a:p>
            <a:pPr indent="0" marL="0">
              <a:buNone/>
            </a:pPr>
            <a:r>
              <a:rPr lang="en-US" sz="1000" dirty="0">
                <a:solidFill>
                  <a:srgbClr val="AABBCC"/>
                </a:solidFill>
                <a:latin typeface="Calibri" pitchFamily="34" charset="0"/>
                <a:ea typeface="Calibri" pitchFamily="34" charset="-122"/>
                <a:cs typeface="Calibri" pitchFamily="34" charset="-120"/>
              </a:rPr>
              <a:t>Everything installs. No errors. But the Service routes to nothing. Always check kubectl get endpoints after any label change.</a:t>
            </a:r>
            <a:endParaRPr lang="en-US" sz="1000" dirty="0"/>
          </a:p>
        </p:txBody>
      </p:sp>
      <p:sp>
        <p:nvSpPr>
          <p:cNvPr id="27" name="Shape 20"/>
          <p:cNvSpPr/>
          <p:nvPr/>
        </p:nvSpPr>
        <p:spPr>
          <a:xfrm>
            <a:off x="4709160" y="3529584"/>
            <a:ext cx="4206240" cy="1234440"/>
          </a:xfrm>
          <a:prstGeom prst="rect">
            <a:avLst/>
          </a:prstGeom>
          <a:solidFill>
            <a:srgbClr val="0D1F30"/>
          </a:solidFill>
          <a:ln w="12700">
            <a:solidFill>
              <a:srgbClr val="1E3A50"/>
            </a:solidFill>
            <a:prstDash val="solid"/>
          </a:ln>
          <a:effectLst>
            <a:outerShdw sx="100000" sy="100000" kx="0" ky="0" algn="bl" rotWithShape="0" blurRad="50800" dist="25400" dir="8100000">
              <a:srgbClr val="000000">
                <a:alpha val="20000"/>
              </a:srgbClr>
            </a:outerShdw>
          </a:effectLst>
        </p:spPr>
      </p:sp>
      <p:pic>
        <p:nvPicPr>
          <p:cNvPr id="28" name="Image 5" descr="preencoded.png">    </p:cNvPr>
          <p:cNvPicPr>
            <a:picLocks noChangeAspect="1"/>
          </p:cNvPicPr>
          <p:nvPr/>
        </p:nvPicPr>
        <p:blipFill>
          <a:blip r:embed="rId6"/>
          <a:stretch>
            <a:fillRect/>
          </a:stretch>
        </p:blipFill>
        <p:spPr>
          <a:xfrm>
            <a:off x="4818888" y="3639312"/>
            <a:ext cx="384048" cy="384048"/>
          </a:xfrm>
          <a:prstGeom prst="rect">
            <a:avLst/>
          </a:prstGeom>
        </p:spPr>
      </p:pic>
      <p:sp>
        <p:nvSpPr>
          <p:cNvPr id="29" name="Text 21"/>
          <p:cNvSpPr/>
          <p:nvPr/>
        </p:nvSpPr>
        <p:spPr>
          <a:xfrm>
            <a:off x="5303520" y="3621024"/>
            <a:ext cx="3520440" cy="320040"/>
          </a:xfrm>
          <a:prstGeom prst="rect">
            <a:avLst/>
          </a:prstGeom>
          <a:noFill/>
          <a:ln/>
        </p:spPr>
        <p:txBody>
          <a:bodyPr wrap="square" rtlCol="0" anchor="ctr"/>
          <a:lstStyle/>
          <a:p>
            <a:pPr indent="0" marL="0">
              <a:buNone/>
            </a:pPr>
            <a:r>
              <a:rPr lang="en-US" sz="1200" b="1" dirty="0">
                <a:solidFill>
                  <a:srgbClr val="14A5A3"/>
                </a:solidFill>
                <a:latin typeface="Calibri" pitchFamily="34" charset="0"/>
                <a:ea typeface="Calibri" pitchFamily="34" charset="-122"/>
                <a:cs typeface="Calibri" pitchFamily="34" charset="-120"/>
              </a:rPr>
              <a:t>helm create gives you the baseline</a:t>
            </a:r>
            <a:endParaRPr lang="en-US" sz="1200" dirty="0"/>
          </a:p>
        </p:txBody>
      </p:sp>
      <p:sp>
        <p:nvSpPr>
          <p:cNvPr id="30" name="Text 22"/>
          <p:cNvSpPr/>
          <p:nvPr/>
        </p:nvSpPr>
        <p:spPr>
          <a:xfrm>
            <a:off x="5303520" y="3950208"/>
            <a:ext cx="3520440" cy="749808"/>
          </a:xfrm>
          <a:prstGeom prst="rect">
            <a:avLst/>
          </a:prstGeom>
          <a:noFill/>
          <a:ln/>
        </p:spPr>
        <p:txBody>
          <a:bodyPr wrap="square" rtlCol="0" anchor="ctr"/>
          <a:lstStyle/>
          <a:p>
            <a:pPr indent="0" marL="0">
              <a:buNone/>
            </a:pPr>
            <a:r>
              <a:rPr lang="en-US" sz="1000" dirty="0">
                <a:solidFill>
                  <a:srgbClr val="AABBCC"/>
                </a:solidFill>
                <a:latin typeface="Calibri" pitchFamily="34" charset="0"/>
                <a:ea typeface="Calibri" pitchFamily="34" charset="-122"/>
                <a:cs typeface="Calibri" pitchFamily="34" charset="-120"/>
              </a:rPr>
              <a:t>When unsure what valid looks like, scaffold a fresh chart and read the output. It's always correct, always up to date.</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 039 — Helm Chart Won't Install</dc:title>
  <dc:subject>PptxGenJS Presentation</dc:subject>
  <dc:creator>PptxGenJS</dc:creator>
  <cp:lastModifiedBy>PptxGenJS</cp:lastModifiedBy>
  <cp:revision>1</cp:revision>
  <dcterms:created xsi:type="dcterms:W3CDTF">2026-04-07T07:07:13Z</dcterms:created>
  <dcterms:modified xsi:type="dcterms:W3CDTF">2026-04-07T07:07:13Z</dcterms:modified>
</cp:coreProperties>
</file>
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1.xml"/><Relationship Id="rId8"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1B8A8F"/>
          </a:solidFill>
          <a:ln w="12700">
            <a:solidFill>
              <a:srgbClr val="1B8A8F"/>
            </a:solidFill>
            <a:prstDash val="solid"/>
          </a:ln>
        </p:spPr>
      </p:sp>
      <p:sp>
        <p:nvSpPr>
          <p:cNvPr id="3" name="Shape 1"/>
          <p:cNvSpPr/>
          <p:nvPr/>
        </p:nvSpPr>
        <p:spPr>
          <a:xfrm>
            <a:off x="0" y="5029200"/>
            <a:ext cx="9144000" cy="109728"/>
          </a:xfrm>
          <a:prstGeom prst="rect">
            <a:avLst/>
          </a:prstGeom>
          <a:solidFill>
            <a:srgbClr val="1B8A8F"/>
          </a:solidFill>
          <a:ln w="12700">
            <a:solidFill>
              <a:srgbClr val="1B8A8F"/>
            </a:solidFill>
            <a:prstDash val="solid"/>
          </a:ln>
        </p:spPr>
      </p:sp>
      <p:pic>
        <p:nvPicPr>
          <p:cNvPr id="4" name="Image 0" descr="preencoded.png">    </p:cNvPr>
          <p:cNvPicPr>
            <a:picLocks noChangeAspect="1"/>
          </p:cNvPicPr>
          <p:nvPr/>
        </p:nvPicPr>
        <p:blipFill>
          <a:blip r:embed="rId1"/>
          <a:stretch>
            <a:fillRect/>
          </a:stretch>
        </p:blipFill>
        <p:spPr>
          <a:xfrm>
            <a:off x="7132320" y="822960"/>
            <a:ext cx="1645920" cy="1645920"/>
          </a:xfrm>
          <a:prstGeom prst="rect">
            <a:avLst/>
          </a:prstGeom>
        </p:spPr>
      </p:pic>
      <p:sp>
        <p:nvSpPr>
          <p:cNvPr id="5" name="Text 2"/>
          <p:cNvSpPr/>
          <p:nvPr/>
        </p:nvSpPr>
        <p:spPr>
          <a:xfrm>
            <a:off x="457200" y="1005840"/>
            <a:ext cx="6400800" cy="457200"/>
          </a:xfrm>
          <a:prstGeom prst="rect">
            <a:avLst/>
          </a:prstGeom>
          <a:noFill/>
          <a:ln/>
        </p:spPr>
        <p:txBody>
          <a:bodyPr wrap="square" lIns="0" tIns="0" rIns="0" bIns="0" rtlCol="0" anchor="ctr"/>
          <a:lstStyle/>
          <a:p>
            <a:pPr indent="0" marL="0">
              <a:buNone/>
            </a:pPr>
            <a:r>
              <a:rPr lang="en-US" sz="1600" b="1" dirty="0">
                <a:solidFill>
                  <a:srgbClr val="1B8A8F"/>
                </a:solidFill>
                <a:latin typeface="Calibri" pitchFamily="34" charset="0"/>
                <a:ea typeface="Calibri" pitchFamily="34" charset="-122"/>
                <a:cs typeface="Calibri" pitchFamily="34" charset="-120"/>
              </a:rPr>
              <a:t>Lab 033</a:t>
            </a:r>
            <a:endParaRPr lang="en-US" sz="1600" dirty="0"/>
          </a:p>
        </p:txBody>
      </p:sp>
      <p:sp>
        <p:nvSpPr>
          <p:cNvPr id="6" name="Text 3"/>
          <p:cNvSpPr/>
          <p:nvPr/>
        </p:nvSpPr>
        <p:spPr>
          <a:xfrm>
            <a:off x="457200" y="1463040"/>
            <a:ext cx="6400800" cy="73152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Kubernetes RBAC</a:t>
            </a:r>
            <a:endParaRPr lang="en-US" sz="4000" dirty="0"/>
          </a:p>
        </p:txBody>
      </p:sp>
      <p:sp>
        <p:nvSpPr>
          <p:cNvPr id="7" name="Text 4"/>
          <p:cNvSpPr/>
          <p:nvPr/>
        </p:nvSpPr>
        <p:spPr>
          <a:xfrm>
            <a:off x="457200" y="2240280"/>
            <a:ext cx="6858000" cy="457200"/>
          </a:xfrm>
          <a:prstGeom prst="rect">
            <a:avLst/>
          </a:prstGeom>
          <a:noFill/>
          <a:ln/>
        </p:spPr>
        <p:txBody>
          <a:bodyPr wrap="square" lIns="0" tIns="0" rIns="0" bIns="0" rtlCol="0" anchor="ctr"/>
          <a:lstStyle/>
          <a:p>
            <a:pPr indent="0" marL="0">
              <a:buNone/>
            </a:pPr>
            <a:r>
              <a:rPr lang="en-US" sz="2000" dirty="0">
                <a:solidFill>
                  <a:srgbClr val="C9D6D8"/>
                </a:solidFill>
                <a:latin typeface="Calibri" pitchFamily="34" charset="0"/>
                <a:ea typeface="Calibri" pitchFamily="34" charset="-122"/>
                <a:cs typeface="Calibri" pitchFamily="34" charset="-120"/>
              </a:rPr>
              <a:t>Permission Denied — Diagnosed &amp; Fixed</a:t>
            </a:r>
            <a:endParaRPr lang="en-US" sz="2000" dirty="0"/>
          </a:p>
        </p:txBody>
      </p:sp>
      <p:sp>
        <p:nvSpPr>
          <p:cNvPr id="8" name="Text 5"/>
          <p:cNvSpPr/>
          <p:nvPr/>
        </p:nvSpPr>
        <p:spPr>
          <a:xfrm>
            <a:off x="457200" y="2926080"/>
            <a:ext cx="8229600" cy="365760"/>
          </a:xfrm>
          <a:prstGeom prst="rect">
            <a:avLst/>
          </a:prstGeom>
          <a:noFill/>
          <a:ln/>
        </p:spPr>
        <p:txBody>
          <a:bodyPr wrap="square" lIns="0" tIns="0" rIns="0" bIns="0" rtlCol="0" anchor="ctr"/>
          <a:lstStyle/>
          <a:p>
            <a:pPr indent="0" marL="0">
              <a:buNone/>
            </a:pPr>
            <a:r>
              <a:rPr lang="en-US" sz="1300" dirty="0">
                <a:solidFill>
                  <a:srgbClr val="6B8A90"/>
                </a:solidFill>
                <a:latin typeface="Calibri" pitchFamily="34" charset="0"/>
                <a:ea typeface="Calibri" pitchFamily="34" charset="-122"/>
                <a:cs typeface="Calibri" pitchFamily="34" charset="-120"/>
              </a:rPr>
              <a:t>Role-Based Access Control  ·  ServiceAccounts  ·  Namespaces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4F5"/>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1B8A8F"/>
          </a:solidFill>
          <a:ln w="12700">
            <a:solidFill>
              <a:srgbClr val="1B8A8F"/>
            </a:solidFill>
            <a:prstDash val="solid"/>
          </a:ln>
        </p:spPr>
      </p:sp>
      <p:sp>
        <p:nvSpPr>
          <p:cNvPr id="3" name="Text 1"/>
          <p:cNvSpPr/>
          <p:nvPr/>
        </p:nvSpPr>
        <p:spPr>
          <a:xfrm>
            <a:off x="457200" y="292608"/>
            <a:ext cx="8229600" cy="502920"/>
          </a:xfrm>
          <a:prstGeom prst="rect">
            <a:avLst/>
          </a:prstGeom>
          <a:noFill/>
          <a:ln/>
        </p:spPr>
        <p:txBody>
          <a:bodyPr wrap="square" lIns="0" tIns="0" rIns="0" bIns="0" rtlCol="0" anchor="ctr"/>
          <a:lstStyle/>
          <a:p>
            <a:pPr algn="l" indent="0" marL="0">
              <a:buNone/>
            </a:pPr>
            <a:r>
              <a:rPr lang="en-US" sz="2800" b="1" dirty="0">
                <a:solidFill>
                  <a:srgbClr val="0D1B2A"/>
                </a:solidFill>
                <a:latin typeface="Calibri" pitchFamily="34" charset="0"/>
                <a:ea typeface="Calibri" pitchFamily="34" charset="-122"/>
                <a:cs typeface="Calibri" pitchFamily="34" charset="-120"/>
              </a:rPr>
              <a:t>What is a Namespace?</a:t>
            </a:r>
            <a:endParaRPr lang="en-US" sz="2800" dirty="0"/>
          </a:p>
        </p:txBody>
      </p:sp>
      <p:sp>
        <p:nvSpPr>
          <p:cNvPr id="4" name="Text 2"/>
          <p:cNvSpPr/>
          <p:nvPr/>
        </p:nvSpPr>
        <p:spPr>
          <a:xfrm>
            <a:off x="457200" y="960120"/>
            <a:ext cx="5029200" cy="548640"/>
          </a:xfrm>
          <a:prstGeom prst="rect">
            <a:avLst/>
          </a:prstGeom>
          <a:noFill/>
          <a:ln/>
        </p:spPr>
        <p:txBody>
          <a:bodyPr wrap="square" rtlCol="0" anchor="ctr"/>
          <a:lstStyle/>
          <a:p>
            <a:pPr indent="0" marL="0">
              <a:buNone/>
            </a:pPr>
            <a:r>
              <a:rPr lang="en-US" sz="1500" dirty="0">
                <a:solidFill>
                  <a:srgbClr val="1A2E35"/>
                </a:solidFill>
                <a:latin typeface="Calibri" pitchFamily="34" charset="0"/>
                <a:ea typeface="Calibri" pitchFamily="34" charset="-122"/>
                <a:cs typeface="Calibri" pitchFamily="34" charset="-120"/>
              </a:rPr>
              <a:t>A namespace divides one Kubernetes cluster into separate, isolated sections.</a:t>
            </a:r>
            <a:endParaRPr lang="en-US" sz="1500" dirty="0"/>
          </a:p>
        </p:txBody>
      </p:sp>
      <p:sp>
        <p:nvSpPr>
          <p:cNvPr id="5" name="Text 3"/>
          <p:cNvSpPr/>
          <p:nvPr/>
        </p:nvSpPr>
        <p:spPr>
          <a:xfrm>
            <a:off x="457200" y="1508760"/>
            <a:ext cx="5029200" cy="731520"/>
          </a:xfrm>
          <a:prstGeom prst="rect">
            <a:avLst/>
          </a:prstGeom>
          <a:noFill/>
          <a:ln/>
        </p:spPr>
        <p:txBody>
          <a:bodyPr wrap="square" rtlCol="0" anchor="ctr"/>
          <a:lstStyle/>
          <a:p>
            <a:pPr indent="0" marL="0">
              <a:buNone/>
            </a:pPr>
            <a:r>
              <a:rPr lang="en-US" sz="1400" dirty="0">
                <a:solidFill>
                  <a:srgbClr val="1A2E35"/>
                </a:solidFill>
                <a:latin typeface="Calibri" pitchFamily="34" charset="0"/>
                <a:ea typeface="Calibri" pitchFamily="34" charset="-122"/>
                <a:cs typeface="Calibri" pitchFamily="34" charset="-120"/>
              </a:rPr>
              <a:t>Think of it like folders on a computer. Files in one folder don't interfere with files in another — even if they share the same name.</a:t>
            </a:r>
            <a:endParaRPr lang="en-US" sz="1400" dirty="0"/>
          </a:p>
        </p:txBody>
      </p:sp>
      <p:sp>
        <p:nvSpPr>
          <p:cNvPr id="6" name="Text 4"/>
          <p:cNvSpPr/>
          <p:nvPr/>
        </p:nvSpPr>
        <p:spPr>
          <a:xfrm>
            <a:off x="457200" y="2331720"/>
            <a:ext cx="5029200" cy="347472"/>
          </a:xfrm>
          <a:prstGeom prst="rect">
            <a:avLst/>
          </a:prstGeom>
          <a:noFill/>
          <a:ln/>
        </p:spPr>
        <p:txBody>
          <a:bodyPr wrap="square" rtlCol="0" anchor="ctr"/>
          <a:lstStyle/>
          <a:p>
            <a:pPr indent="0" marL="0">
              <a:buNone/>
            </a:pPr>
            <a:r>
              <a:rPr lang="en-US" sz="1400" b="1" dirty="0">
                <a:solidFill>
                  <a:srgbClr val="0D1B2A"/>
                </a:solidFill>
                <a:latin typeface="Calibri" pitchFamily="34" charset="0"/>
                <a:ea typeface="Calibri" pitchFamily="34" charset="-122"/>
                <a:cs typeface="Calibri" pitchFamily="34" charset="-120"/>
              </a:rPr>
              <a:t>Why it matters for RBAC:</a:t>
            </a:r>
            <a:endParaRPr lang="en-US" sz="1400" dirty="0"/>
          </a:p>
        </p:txBody>
      </p:sp>
      <p:sp>
        <p:nvSpPr>
          <p:cNvPr id="7" name="Text 5"/>
          <p:cNvSpPr/>
          <p:nvPr/>
        </p:nvSpPr>
        <p:spPr>
          <a:xfrm>
            <a:off x="457200" y="2697480"/>
            <a:ext cx="5029200" cy="1188720"/>
          </a:xfrm>
          <a:prstGeom prst="rect">
            <a:avLst/>
          </a:prstGeom>
          <a:noFill/>
          <a:ln/>
        </p:spPr>
        <p:txBody>
          <a:bodyPr wrap="square" rtlCol="0" anchor="ctr"/>
          <a:lstStyle/>
          <a:p>
            <a:pPr marL="342900" indent="-342900">
              <a:buSzPct val="100000"/>
              <a:buChar char="•"/>
            </a:pPr>
            <a:r>
              <a:rPr lang="en-US" sz="1300" dirty="0">
                <a:solidFill>
                  <a:srgbClr val="1A2E35"/>
                </a:solidFill>
                <a:latin typeface="Calibri" pitchFamily="34" charset="0"/>
                <a:ea typeface="Calibri" pitchFamily="34" charset="-122"/>
                <a:cs typeface="Calibri" pitchFamily="34" charset="-120"/>
              </a:rPr>
              <a:t>A Role only exists in the namespace it was created in.</a:t>
            </a:r>
            <a:endParaRPr lang="en-US" sz="1300" dirty="0"/>
          </a:p>
          <a:p>
            <a:pPr marL="342900" indent="-342900">
              <a:buSzPct val="100000"/>
              <a:buChar char="•"/>
            </a:pPr>
            <a:r>
              <a:rPr lang="en-US" sz="1300" dirty="0">
                <a:solidFill>
                  <a:srgbClr val="1A2E35"/>
                </a:solidFill>
                <a:latin typeface="Calibri" pitchFamily="34" charset="0"/>
                <a:ea typeface="Calibri" pitchFamily="34" charset="-122"/>
                <a:cs typeface="Calibri" pitchFamily="34" charset="-120"/>
              </a:rPr>
              <a:t>It cannot be seen or used from any other namespace.</a:t>
            </a:r>
            <a:endParaRPr lang="en-US" sz="1300" dirty="0"/>
          </a:p>
          <a:p>
            <a:pPr marL="342900" indent="-342900">
              <a:buSzPct val="100000"/>
              <a:buChar char="•"/>
            </a:pPr>
            <a:r>
              <a:rPr lang="en-US" sz="1300" dirty="0">
                <a:solidFill>
                  <a:srgbClr val="1A2E35"/>
                </a:solidFill>
                <a:latin typeface="Calibri" pitchFamily="34" charset="0"/>
                <a:ea typeface="Calibri" pitchFamily="34" charset="-122"/>
                <a:cs typeface="Calibri" pitchFamily="34" charset="-120"/>
              </a:rPr>
              <a:t>This is exactly why Lab 033 breaks — the Role is in the wrong namespace.</a:t>
            </a:r>
            <a:endParaRPr lang="en-US" sz="1300" dirty="0"/>
          </a:p>
        </p:txBody>
      </p:sp>
      <p:sp>
        <p:nvSpPr>
          <p:cNvPr id="8" name="Shape 6"/>
          <p:cNvSpPr/>
          <p:nvPr/>
        </p:nvSpPr>
        <p:spPr>
          <a:xfrm>
            <a:off x="5852160" y="960120"/>
            <a:ext cx="2834640" cy="1005840"/>
          </a:xfrm>
          <a:prstGeom prst="rect">
            <a:avLst/>
          </a:prstGeom>
          <a:solidFill>
            <a:srgbClr val="1B8A8F"/>
          </a:solidFill>
          <a:ln w="12700">
            <a:solidFill>
              <a:srgbClr val="1B8A8F"/>
            </a:solidFill>
            <a:prstDash val="solid"/>
          </a:ln>
          <a:effectLst>
            <a:outerShdw sx="100000" sy="100000" kx="0" ky="0" algn="bl" rotWithShape="0" blurRad="76200" dist="38100" dir="8100000">
              <a:srgbClr val="000000">
                <a:alpha val="18000"/>
              </a:srgbClr>
            </a:outerShdw>
          </a:effectLst>
        </p:spPr>
      </p:sp>
      <p:sp>
        <p:nvSpPr>
          <p:cNvPr id="9" name="Text 7"/>
          <p:cNvSpPr/>
          <p:nvPr/>
        </p:nvSpPr>
        <p:spPr>
          <a:xfrm>
            <a:off x="5961888" y="1033272"/>
            <a:ext cx="2651760" cy="320040"/>
          </a:xfrm>
          <a:prstGeom prst="rect">
            <a:avLst/>
          </a:prstGeom>
          <a:noFill/>
          <a:ln/>
        </p:spPr>
        <p:txBody>
          <a:bodyPr wrap="square" lIns="0" tIns="0" rIns="0" bIns="0" rtlCol="0" anchor="ctr"/>
          <a:lstStyle/>
          <a:p>
            <a:pPr indent="0" marL="0">
              <a:buNone/>
            </a:pPr>
            <a:r>
              <a:rPr lang="en-US" sz="1000" dirty="0">
                <a:solidFill>
                  <a:srgbClr val="C9D6D8"/>
                </a:solidFill>
                <a:latin typeface="Consolas" pitchFamily="34" charset="0"/>
                <a:ea typeface="Consolas" pitchFamily="34" charset="-122"/>
                <a:cs typeface="Consolas" pitchFamily="34" charset="-120"/>
              </a:rPr>
              <a:t>namespace: default</a:t>
            </a:r>
            <a:endParaRPr lang="en-US" sz="1000" dirty="0"/>
          </a:p>
        </p:txBody>
      </p:sp>
      <p:sp>
        <p:nvSpPr>
          <p:cNvPr id="10" name="Text 8"/>
          <p:cNvSpPr/>
          <p:nvPr/>
        </p:nvSpPr>
        <p:spPr>
          <a:xfrm>
            <a:off x="5989320" y="1371600"/>
            <a:ext cx="2560320" cy="32004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pod-reader Role</a:t>
            </a:r>
            <a:endParaRPr lang="en-US" sz="1200" dirty="0"/>
          </a:p>
        </p:txBody>
      </p:sp>
      <p:sp>
        <p:nvSpPr>
          <p:cNvPr id="11" name="Text 9"/>
          <p:cNvSpPr/>
          <p:nvPr/>
        </p:nvSpPr>
        <p:spPr>
          <a:xfrm>
            <a:off x="5989320" y="1618488"/>
            <a:ext cx="2560320" cy="256032"/>
          </a:xfrm>
          <a:prstGeom prst="rect">
            <a:avLst/>
          </a:prstGeom>
          <a:noFill/>
          <a:ln/>
        </p:spPr>
        <p:txBody>
          <a:bodyPr wrap="square" lIns="0" tIns="0" rIns="0" bIns="0" rtlCol="0" anchor="ctr"/>
          <a:lstStyle/>
          <a:p>
            <a:pPr indent="0" marL="0">
              <a:buNone/>
            </a:pPr>
            <a:r>
              <a:rPr lang="en-US" sz="1000" i="1" dirty="0">
                <a:solidFill>
                  <a:srgbClr val="C9D6D8"/>
                </a:solidFill>
                <a:latin typeface="Calibri" pitchFamily="34" charset="0"/>
                <a:ea typeface="Calibri" pitchFamily="34" charset="-122"/>
                <a:cs typeface="Calibri" pitchFamily="34" charset="-120"/>
              </a:rPr>
              <a:t>lives here only</a:t>
            </a:r>
            <a:endParaRPr lang="en-US" sz="1000" dirty="0"/>
          </a:p>
        </p:txBody>
      </p:sp>
      <p:sp>
        <p:nvSpPr>
          <p:cNvPr id="12" name="Shape 10"/>
          <p:cNvSpPr/>
          <p:nvPr/>
        </p:nvSpPr>
        <p:spPr>
          <a:xfrm>
            <a:off x="5852160" y="2194560"/>
            <a:ext cx="2834640" cy="1005840"/>
          </a:xfrm>
          <a:prstGeom prst="rect">
            <a:avLst/>
          </a:prstGeom>
          <a:solidFill>
            <a:srgbClr val="0F5F63"/>
          </a:solidFill>
          <a:ln w="12700">
            <a:solidFill>
              <a:srgbClr val="0F5F63"/>
            </a:solidFill>
            <a:prstDash val="solid"/>
          </a:ln>
          <a:effectLst>
            <a:outerShdw sx="100000" sy="100000" kx="0" ky="0" algn="bl" rotWithShape="0" blurRad="76200" dist="38100" dir="8100000">
              <a:srgbClr val="000000">
                <a:alpha val="18000"/>
              </a:srgbClr>
            </a:outerShdw>
          </a:effectLst>
        </p:spPr>
      </p:sp>
      <p:sp>
        <p:nvSpPr>
          <p:cNvPr id="13" name="Text 11"/>
          <p:cNvSpPr/>
          <p:nvPr/>
        </p:nvSpPr>
        <p:spPr>
          <a:xfrm>
            <a:off x="5961888" y="2267712"/>
            <a:ext cx="2651760" cy="320040"/>
          </a:xfrm>
          <a:prstGeom prst="rect">
            <a:avLst/>
          </a:prstGeom>
          <a:noFill/>
          <a:ln/>
        </p:spPr>
        <p:txBody>
          <a:bodyPr wrap="square" lIns="0" tIns="0" rIns="0" bIns="0" rtlCol="0" anchor="ctr"/>
          <a:lstStyle/>
          <a:p>
            <a:pPr indent="0" marL="0">
              <a:buNone/>
            </a:pPr>
            <a:r>
              <a:rPr lang="en-US" sz="1000" dirty="0">
                <a:solidFill>
                  <a:srgbClr val="C9D6D8"/>
                </a:solidFill>
                <a:latin typeface="Consolas" pitchFamily="34" charset="0"/>
                <a:ea typeface="Consolas" pitchFamily="34" charset="-122"/>
                <a:cs typeface="Consolas" pitchFamily="34" charset="-120"/>
              </a:rPr>
              <a:t>namespace: monitoring</a:t>
            </a:r>
            <a:endParaRPr lang="en-US" sz="1000" dirty="0"/>
          </a:p>
        </p:txBody>
      </p:sp>
      <p:sp>
        <p:nvSpPr>
          <p:cNvPr id="14" name="Text 12"/>
          <p:cNvSpPr/>
          <p:nvPr/>
        </p:nvSpPr>
        <p:spPr>
          <a:xfrm>
            <a:off x="5989320" y="2606040"/>
            <a:ext cx="2560320" cy="32004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pod-reader Role</a:t>
            </a:r>
            <a:endParaRPr lang="en-US" sz="1200" dirty="0"/>
          </a:p>
        </p:txBody>
      </p:sp>
      <p:sp>
        <p:nvSpPr>
          <p:cNvPr id="15" name="Text 13"/>
          <p:cNvSpPr/>
          <p:nvPr/>
        </p:nvSpPr>
        <p:spPr>
          <a:xfrm>
            <a:off x="5989320" y="2852928"/>
            <a:ext cx="2560320" cy="256032"/>
          </a:xfrm>
          <a:prstGeom prst="rect">
            <a:avLst/>
          </a:prstGeom>
          <a:noFill/>
          <a:ln/>
        </p:spPr>
        <p:txBody>
          <a:bodyPr wrap="square" lIns="0" tIns="0" rIns="0" bIns="0" rtlCol="0" anchor="ctr"/>
          <a:lstStyle/>
          <a:p>
            <a:pPr indent="0" marL="0">
              <a:buNone/>
            </a:pPr>
            <a:r>
              <a:rPr lang="en-US" sz="1000" i="1" dirty="0">
                <a:solidFill>
                  <a:srgbClr val="C9D6D8"/>
                </a:solidFill>
                <a:latin typeface="Calibri" pitchFamily="34" charset="0"/>
                <a:ea typeface="Calibri" pitchFamily="34" charset="-122"/>
                <a:cs typeface="Calibri" pitchFamily="34" charset="-120"/>
              </a:rPr>
              <a:t>lives here only</a:t>
            </a:r>
            <a:endParaRPr lang="en-US" sz="1000" dirty="0"/>
          </a:p>
        </p:txBody>
      </p:sp>
      <p:sp>
        <p:nvSpPr>
          <p:cNvPr id="16" name="Shape 14"/>
          <p:cNvSpPr/>
          <p:nvPr/>
        </p:nvSpPr>
        <p:spPr>
          <a:xfrm>
            <a:off x="5852160" y="3429000"/>
            <a:ext cx="2834640" cy="1005840"/>
          </a:xfrm>
          <a:prstGeom prst="rect">
            <a:avLst/>
          </a:prstGeom>
          <a:solidFill>
            <a:srgbClr val="0D1B2A"/>
          </a:solidFill>
          <a:ln w="12700">
            <a:solidFill>
              <a:srgbClr val="0D1B2A"/>
            </a:solidFill>
            <a:prstDash val="solid"/>
          </a:ln>
          <a:effectLst>
            <a:outerShdw sx="100000" sy="100000" kx="0" ky="0" algn="bl" rotWithShape="0" blurRad="76200" dist="38100" dir="8100000">
              <a:srgbClr val="000000">
                <a:alpha val="18000"/>
              </a:srgbClr>
            </a:outerShdw>
          </a:effectLst>
        </p:spPr>
      </p:sp>
      <p:sp>
        <p:nvSpPr>
          <p:cNvPr id="17" name="Text 15"/>
          <p:cNvSpPr/>
          <p:nvPr/>
        </p:nvSpPr>
        <p:spPr>
          <a:xfrm>
            <a:off x="5961888" y="3502152"/>
            <a:ext cx="2651760" cy="320040"/>
          </a:xfrm>
          <a:prstGeom prst="rect">
            <a:avLst/>
          </a:prstGeom>
          <a:noFill/>
          <a:ln/>
        </p:spPr>
        <p:txBody>
          <a:bodyPr wrap="square" lIns="0" tIns="0" rIns="0" bIns="0" rtlCol="0" anchor="ctr"/>
          <a:lstStyle/>
          <a:p>
            <a:pPr indent="0" marL="0">
              <a:buNone/>
            </a:pPr>
            <a:r>
              <a:rPr lang="en-US" sz="1000" dirty="0">
                <a:solidFill>
                  <a:srgbClr val="C9D6D8"/>
                </a:solidFill>
                <a:latin typeface="Consolas" pitchFamily="34" charset="0"/>
                <a:ea typeface="Consolas" pitchFamily="34" charset="-122"/>
                <a:cs typeface="Consolas" pitchFamily="34" charset="-120"/>
              </a:rPr>
              <a:t>namespace: production</a:t>
            </a:r>
            <a:endParaRPr lang="en-US" sz="1000" dirty="0"/>
          </a:p>
        </p:txBody>
      </p:sp>
      <p:sp>
        <p:nvSpPr>
          <p:cNvPr id="18" name="Text 16"/>
          <p:cNvSpPr/>
          <p:nvPr/>
        </p:nvSpPr>
        <p:spPr>
          <a:xfrm>
            <a:off x="5989320" y="3840480"/>
            <a:ext cx="2560320" cy="32004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pod-reader Role</a:t>
            </a:r>
            <a:endParaRPr lang="en-US" sz="1200" dirty="0"/>
          </a:p>
        </p:txBody>
      </p:sp>
      <p:sp>
        <p:nvSpPr>
          <p:cNvPr id="19" name="Text 17"/>
          <p:cNvSpPr/>
          <p:nvPr/>
        </p:nvSpPr>
        <p:spPr>
          <a:xfrm>
            <a:off x="5989320" y="4087368"/>
            <a:ext cx="2560320" cy="256032"/>
          </a:xfrm>
          <a:prstGeom prst="rect">
            <a:avLst/>
          </a:prstGeom>
          <a:noFill/>
          <a:ln/>
        </p:spPr>
        <p:txBody>
          <a:bodyPr wrap="square" lIns="0" tIns="0" rIns="0" bIns="0" rtlCol="0" anchor="ctr"/>
          <a:lstStyle/>
          <a:p>
            <a:pPr indent="0" marL="0">
              <a:buNone/>
            </a:pPr>
            <a:r>
              <a:rPr lang="en-US" sz="1000" i="1" dirty="0">
                <a:solidFill>
                  <a:srgbClr val="C9D6D8"/>
                </a:solidFill>
                <a:latin typeface="Calibri" pitchFamily="34" charset="0"/>
                <a:ea typeface="Calibri" pitchFamily="34" charset="-122"/>
                <a:cs typeface="Calibri" pitchFamily="34" charset="-120"/>
              </a:rPr>
              <a:t>lives here only</a:t>
            </a:r>
            <a:endParaRPr lang="en-US" sz="1000" dirty="0"/>
          </a:p>
        </p:txBody>
      </p:sp>
      <p:sp>
        <p:nvSpPr>
          <p:cNvPr id="20" name="Shape 18"/>
          <p:cNvSpPr/>
          <p:nvPr/>
        </p:nvSpPr>
        <p:spPr>
          <a:xfrm>
            <a:off x="0" y="5029200"/>
            <a:ext cx="9144000" cy="109728"/>
          </a:xfrm>
          <a:prstGeom prst="rect">
            <a:avLst/>
          </a:prstGeom>
          <a:solidFill>
            <a:srgbClr val="1B8A8F"/>
          </a:solidFill>
          <a:ln w="12700">
            <a:solidFill>
              <a:srgbClr val="1B8A8F"/>
            </a:solidFill>
            <a:prstDash val="solid"/>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1B8A8F"/>
          </a:solidFill>
          <a:ln w="12700">
            <a:solidFill>
              <a:srgbClr val="1B8A8F"/>
            </a:solidFill>
            <a:prstDash val="solid"/>
          </a:ln>
        </p:spPr>
      </p:sp>
      <p:sp>
        <p:nvSpPr>
          <p:cNvPr id="3" name="Text 1"/>
          <p:cNvSpPr/>
          <p:nvPr/>
        </p:nvSpPr>
        <p:spPr>
          <a:xfrm>
            <a:off x="457200" y="292608"/>
            <a:ext cx="8229600" cy="502920"/>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The Three RBAC Building Blocks</a:t>
            </a:r>
            <a:endParaRPr lang="en-US" sz="2800" dirty="0"/>
          </a:p>
        </p:txBody>
      </p:sp>
      <p:sp>
        <p:nvSpPr>
          <p:cNvPr id="4" name="Shape 2"/>
          <p:cNvSpPr/>
          <p:nvPr/>
        </p:nvSpPr>
        <p:spPr>
          <a:xfrm>
            <a:off x="256032" y="896112"/>
            <a:ext cx="2743200" cy="3977640"/>
          </a:xfrm>
          <a:prstGeom prst="rect">
            <a:avLst/>
          </a:prstGeom>
          <a:solidFill>
            <a:srgbClr val="162534"/>
          </a:solidFill>
          <a:ln w="12700">
            <a:solidFill>
              <a:srgbClr val="1B8A8F"/>
            </a:solidFill>
            <a:prstDash val="solid"/>
          </a:ln>
          <a:effectLst>
            <a:outerShdw sx="100000" sy="100000" kx="0" ky="0" algn="bl" rotWithShape="0" blurRad="101600" dist="38100" dir="8100000">
              <a:srgbClr val="000000">
                <a:alpha val="25000"/>
              </a:srgbClr>
            </a:outerShdw>
          </a:effectLst>
        </p:spPr>
      </p:sp>
      <p:sp>
        <p:nvSpPr>
          <p:cNvPr id="5" name="Shape 3"/>
          <p:cNvSpPr/>
          <p:nvPr/>
        </p:nvSpPr>
        <p:spPr>
          <a:xfrm>
            <a:off x="256032" y="896112"/>
            <a:ext cx="2743200" cy="73152"/>
          </a:xfrm>
          <a:prstGeom prst="rect">
            <a:avLst/>
          </a:prstGeom>
          <a:solidFill>
            <a:srgbClr val="1B8A8F"/>
          </a:solidFill>
          <a:ln w="12700">
            <a:solidFill>
              <a:srgbClr val="1B8A8F"/>
            </a:solidFill>
            <a:prstDash val="solid"/>
          </a:ln>
        </p:spPr>
      </p:sp>
      <p:pic>
        <p:nvPicPr>
          <p:cNvPr id="6" name="Image 0" descr="preencoded.png">    </p:cNvPr>
          <p:cNvPicPr>
            <a:picLocks noChangeAspect="1"/>
          </p:cNvPicPr>
          <p:nvPr/>
        </p:nvPicPr>
        <p:blipFill>
          <a:blip r:embed="rId1"/>
          <a:stretch>
            <a:fillRect/>
          </a:stretch>
        </p:blipFill>
        <p:spPr>
          <a:xfrm>
            <a:off x="1307592" y="1115568"/>
            <a:ext cx="640080" cy="640080"/>
          </a:xfrm>
          <a:prstGeom prst="rect">
            <a:avLst/>
          </a:prstGeom>
        </p:spPr>
      </p:pic>
      <p:sp>
        <p:nvSpPr>
          <p:cNvPr id="7" name="Text 4"/>
          <p:cNvSpPr/>
          <p:nvPr/>
        </p:nvSpPr>
        <p:spPr>
          <a:xfrm>
            <a:off x="365760" y="1847088"/>
            <a:ext cx="2523744"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ServiceAccount</a:t>
            </a:r>
            <a:endParaRPr lang="en-US" sz="1600" dirty="0"/>
          </a:p>
        </p:txBody>
      </p:sp>
      <p:sp>
        <p:nvSpPr>
          <p:cNvPr id="8" name="Text 5"/>
          <p:cNvSpPr/>
          <p:nvPr/>
        </p:nvSpPr>
        <p:spPr>
          <a:xfrm>
            <a:off x="365760" y="2231136"/>
            <a:ext cx="2523744" cy="274320"/>
          </a:xfrm>
          <a:prstGeom prst="rect">
            <a:avLst/>
          </a:prstGeom>
          <a:noFill/>
          <a:ln/>
        </p:spPr>
        <p:txBody>
          <a:bodyPr wrap="square" lIns="0" tIns="0" rIns="0" bIns="0" rtlCol="0" anchor="ctr"/>
          <a:lstStyle/>
          <a:p>
            <a:pPr algn="ctr" indent="0" marL="0">
              <a:buNone/>
            </a:pPr>
            <a:r>
              <a:rPr lang="en-US" sz="1100" dirty="0">
                <a:solidFill>
                  <a:srgbClr val="1B8A8F"/>
                </a:solidFill>
                <a:latin typeface="Consolas" pitchFamily="34" charset="0"/>
                <a:ea typeface="Consolas" pitchFamily="34" charset="-122"/>
                <a:cs typeface="Consolas" pitchFamily="34" charset="-120"/>
              </a:rPr>
              <a:t>monitoring-sa</a:t>
            </a:r>
            <a:endParaRPr lang="en-US" sz="1100" dirty="0"/>
          </a:p>
        </p:txBody>
      </p:sp>
      <p:sp>
        <p:nvSpPr>
          <p:cNvPr id="9" name="Text 6"/>
          <p:cNvSpPr/>
          <p:nvPr/>
        </p:nvSpPr>
        <p:spPr>
          <a:xfrm>
            <a:off x="393192" y="2578608"/>
            <a:ext cx="2468880" cy="1024128"/>
          </a:xfrm>
          <a:prstGeom prst="rect">
            <a:avLst/>
          </a:prstGeom>
          <a:noFill/>
          <a:ln/>
        </p:spPr>
        <p:txBody>
          <a:bodyPr wrap="square" lIns="0" tIns="0" rIns="0" bIns="0" rtlCol="0" anchor="ctr"/>
          <a:lstStyle/>
          <a:p>
            <a:pPr indent="0" marL="0">
              <a:buNone/>
            </a:pPr>
            <a:r>
              <a:rPr lang="en-US" sz="1200" dirty="0">
                <a:solidFill>
                  <a:srgbClr val="C9D6D8"/>
                </a:solidFill>
                <a:latin typeface="Calibri" pitchFamily="34" charset="0"/>
                <a:ea typeface="Calibri" pitchFamily="34" charset="-122"/>
                <a:cs typeface="Calibri" pitchFamily="34" charset="-120"/>
              </a:rPr>
              <a:t>An identity for an in-cluster workload. Like a user account, but for an application — not a person.</a:t>
            </a:r>
            <a:endParaRPr lang="en-US" sz="1200" dirty="0"/>
          </a:p>
        </p:txBody>
      </p:sp>
      <p:sp>
        <p:nvSpPr>
          <p:cNvPr id="10" name="Shape 7"/>
          <p:cNvSpPr/>
          <p:nvPr/>
        </p:nvSpPr>
        <p:spPr>
          <a:xfrm>
            <a:off x="393192" y="3703320"/>
            <a:ext cx="2468880" cy="502920"/>
          </a:xfrm>
          <a:prstGeom prst="rect">
            <a:avLst/>
          </a:prstGeom>
          <a:solidFill>
            <a:srgbClr val="0F5F63"/>
          </a:solidFill>
          <a:ln w="12700">
            <a:solidFill>
              <a:srgbClr val="0F5F63"/>
            </a:solidFill>
            <a:prstDash val="solid"/>
          </a:ln>
        </p:spPr>
      </p:sp>
      <p:sp>
        <p:nvSpPr>
          <p:cNvPr id="11" name="Text 8"/>
          <p:cNvSpPr/>
          <p:nvPr/>
        </p:nvSpPr>
        <p:spPr>
          <a:xfrm>
            <a:off x="393192" y="3703320"/>
            <a:ext cx="246888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WHO is making the request</a:t>
            </a:r>
            <a:endParaRPr lang="en-US" sz="1100" dirty="0"/>
          </a:p>
        </p:txBody>
      </p:sp>
      <p:sp>
        <p:nvSpPr>
          <p:cNvPr id="12" name="Shape 9"/>
          <p:cNvSpPr/>
          <p:nvPr/>
        </p:nvSpPr>
        <p:spPr>
          <a:xfrm>
            <a:off x="3227832" y="896112"/>
            <a:ext cx="2743200" cy="3977640"/>
          </a:xfrm>
          <a:prstGeom prst="rect">
            <a:avLst/>
          </a:prstGeom>
          <a:solidFill>
            <a:srgbClr val="162534"/>
          </a:solidFill>
          <a:ln w="12700">
            <a:solidFill>
              <a:srgbClr val="1B8A8F"/>
            </a:solidFill>
            <a:prstDash val="solid"/>
          </a:ln>
          <a:effectLst>
            <a:outerShdw sx="100000" sy="100000" kx="0" ky="0" algn="bl" rotWithShape="0" blurRad="101600" dist="38100" dir="8100000">
              <a:srgbClr val="000000">
                <a:alpha val="25000"/>
              </a:srgbClr>
            </a:outerShdw>
          </a:effectLst>
        </p:spPr>
      </p:sp>
      <p:sp>
        <p:nvSpPr>
          <p:cNvPr id="13" name="Shape 10"/>
          <p:cNvSpPr/>
          <p:nvPr/>
        </p:nvSpPr>
        <p:spPr>
          <a:xfrm>
            <a:off x="3227832" y="896112"/>
            <a:ext cx="2743200" cy="73152"/>
          </a:xfrm>
          <a:prstGeom prst="rect">
            <a:avLst/>
          </a:prstGeom>
          <a:solidFill>
            <a:srgbClr val="1B8A8F"/>
          </a:solidFill>
          <a:ln w="12700">
            <a:solidFill>
              <a:srgbClr val="1B8A8F"/>
            </a:solidFill>
            <a:prstDash val="solid"/>
          </a:ln>
        </p:spPr>
      </p:sp>
      <p:pic>
        <p:nvPicPr>
          <p:cNvPr id="14" name="Image 1" descr="preencoded.png">    </p:cNvPr>
          <p:cNvPicPr>
            <a:picLocks noChangeAspect="1"/>
          </p:cNvPicPr>
          <p:nvPr/>
        </p:nvPicPr>
        <p:blipFill>
          <a:blip r:embed="rId2"/>
          <a:stretch>
            <a:fillRect/>
          </a:stretch>
        </p:blipFill>
        <p:spPr>
          <a:xfrm>
            <a:off x="4279392" y="1115568"/>
            <a:ext cx="640080" cy="640080"/>
          </a:xfrm>
          <a:prstGeom prst="rect">
            <a:avLst/>
          </a:prstGeom>
        </p:spPr>
      </p:pic>
      <p:sp>
        <p:nvSpPr>
          <p:cNvPr id="15" name="Text 11"/>
          <p:cNvSpPr/>
          <p:nvPr/>
        </p:nvSpPr>
        <p:spPr>
          <a:xfrm>
            <a:off x="3337560" y="1847088"/>
            <a:ext cx="2523744"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Role</a:t>
            </a:r>
            <a:endParaRPr lang="en-US" sz="1600" dirty="0"/>
          </a:p>
        </p:txBody>
      </p:sp>
      <p:sp>
        <p:nvSpPr>
          <p:cNvPr id="16" name="Text 12"/>
          <p:cNvSpPr/>
          <p:nvPr/>
        </p:nvSpPr>
        <p:spPr>
          <a:xfrm>
            <a:off x="3337560" y="2231136"/>
            <a:ext cx="2523744" cy="274320"/>
          </a:xfrm>
          <a:prstGeom prst="rect">
            <a:avLst/>
          </a:prstGeom>
          <a:noFill/>
          <a:ln/>
        </p:spPr>
        <p:txBody>
          <a:bodyPr wrap="square" lIns="0" tIns="0" rIns="0" bIns="0" rtlCol="0" anchor="ctr"/>
          <a:lstStyle/>
          <a:p>
            <a:pPr algn="ctr" indent="0" marL="0">
              <a:buNone/>
            </a:pPr>
            <a:r>
              <a:rPr lang="en-US" sz="1100" dirty="0">
                <a:solidFill>
                  <a:srgbClr val="1B8A8F"/>
                </a:solidFill>
                <a:latin typeface="Consolas" pitchFamily="34" charset="0"/>
                <a:ea typeface="Consolas" pitchFamily="34" charset="-122"/>
                <a:cs typeface="Consolas" pitchFamily="34" charset="-120"/>
              </a:rPr>
              <a:t>pod-reader</a:t>
            </a:r>
            <a:endParaRPr lang="en-US" sz="1100" dirty="0"/>
          </a:p>
        </p:txBody>
      </p:sp>
      <p:sp>
        <p:nvSpPr>
          <p:cNvPr id="17" name="Text 13"/>
          <p:cNvSpPr/>
          <p:nvPr/>
        </p:nvSpPr>
        <p:spPr>
          <a:xfrm>
            <a:off x="3364992" y="2578608"/>
            <a:ext cx="2468880" cy="1024128"/>
          </a:xfrm>
          <a:prstGeom prst="rect">
            <a:avLst/>
          </a:prstGeom>
          <a:noFill/>
          <a:ln/>
        </p:spPr>
        <p:txBody>
          <a:bodyPr wrap="square" lIns="0" tIns="0" rIns="0" bIns="0" rtlCol="0" anchor="ctr"/>
          <a:lstStyle/>
          <a:p>
            <a:pPr indent="0" marL="0">
              <a:buNone/>
            </a:pPr>
            <a:r>
              <a:rPr lang="en-US" sz="1200" dirty="0">
                <a:solidFill>
                  <a:srgbClr val="C9D6D8"/>
                </a:solidFill>
                <a:latin typeface="Calibri" pitchFamily="34" charset="0"/>
                <a:ea typeface="Calibri" pitchFamily="34" charset="-122"/>
                <a:cs typeface="Calibri" pitchFamily="34" charset="-120"/>
              </a:rPr>
              <a:t>Defines what actions are allowed on what resources. On its own, grants nothing — it's just a definition.</a:t>
            </a:r>
            <a:endParaRPr lang="en-US" sz="1200" dirty="0"/>
          </a:p>
        </p:txBody>
      </p:sp>
      <p:sp>
        <p:nvSpPr>
          <p:cNvPr id="18" name="Shape 14"/>
          <p:cNvSpPr/>
          <p:nvPr/>
        </p:nvSpPr>
        <p:spPr>
          <a:xfrm>
            <a:off x="3364992" y="3703320"/>
            <a:ext cx="2468880" cy="502920"/>
          </a:xfrm>
          <a:prstGeom prst="rect">
            <a:avLst/>
          </a:prstGeom>
          <a:solidFill>
            <a:srgbClr val="0F5F63"/>
          </a:solidFill>
          <a:ln w="12700">
            <a:solidFill>
              <a:srgbClr val="0F5F63"/>
            </a:solidFill>
            <a:prstDash val="solid"/>
          </a:ln>
        </p:spPr>
      </p:sp>
      <p:sp>
        <p:nvSpPr>
          <p:cNvPr id="19" name="Text 15"/>
          <p:cNvSpPr/>
          <p:nvPr/>
        </p:nvSpPr>
        <p:spPr>
          <a:xfrm>
            <a:off x="3364992" y="3703320"/>
            <a:ext cx="246888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WHAT is allowed</a:t>
            </a:r>
            <a:endParaRPr lang="en-US" sz="1100" dirty="0"/>
          </a:p>
        </p:txBody>
      </p:sp>
      <p:sp>
        <p:nvSpPr>
          <p:cNvPr id="20" name="Shape 16"/>
          <p:cNvSpPr/>
          <p:nvPr/>
        </p:nvSpPr>
        <p:spPr>
          <a:xfrm>
            <a:off x="6199632" y="896112"/>
            <a:ext cx="2743200" cy="3977640"/>
          </a:xfrm>
          <a:prstGeom prst="rect">
            <a:avLst/>
          </a:prstGeom>
          <a:solidFill>
            <a:srgbClr val="162534"/>
          </a:solidFill>
          <a:ln w="12700">
            <a:solidFill>
              <a:srgbClr val="1B8A8F"/>
            </a:solidFill>
            <a:prstDash val="solid"/>
          </a:ln>
          <a:effectLst>
            <a:outerShdw sx="100000" sy="100000" kx="0" ky="0" algn="bl" rotWithShape="0" blurRad="101600" dist="38100" dir="8100000">
              <a:srgbClr val="000000">
                <a:alpha val="25000"/>
              </a:srgbClr>
            </a:outerShdw>
          </a:effectLst>
        </p:spPr>
      </p:sp>
      <p:sp>
        <p:nvSpPr>
          <p:cNvPr id="21" name="Shape 17"/>
          <p:cNvSpPr/>
          <p:nvPr/>
        </p:nvSpPr>
        <p:spPr>
          <a:xfrm>
            <a:off x="6199632" y="896112"/>
            <a:ext cx="2743200" cy="73152"/>
          </a:xfrm>
          <a:prstGeom prst="rect">
            <a:avLst/>
          </a:prstGeom>
          <a:solidFill>
            <a:srgbClr val="1B8A8F"/>
          </a:solidFill>
          <a:ln w="12700">
            <a:solidFill>
              <a:srgbClr val="1B8A8F"/>
            </a:solidFill>
            <a:prstDash val="solid"/>
          </a:ln>
        </p:spPr>
      </p:sp>
      <p:pic>
        <p:nvPicPr>
          <p:cNvPr id="22" name="Image 2" descr="preencoded.png">    </p:cNvPr>
          <p:cNvPicPr>
            <a:picLocks noChangeAspect="1"/>
          </p:cNvPicPr>
          <p:nvPr/>
        </p:nvPicPr>
        <p:blipFill>
          <a:blip r:embed="rId3"/>
          <a:stretch>
            <a:fillRect/>
          </a:stretch>
        </p:blipFill>
        <p:spPr>
          <a:xfrm>
            <a:off x="7251192" y="1115568"/>
            <a:ext cx="640080" cy="640080"/>
          </a:xfrm>
          <a:prstGeom prst="rect">
            <a:avLst/>
          </a:prstGeom>
        </p:spPr>
      </p:pic>
      <p:sp>
        <p:nvSpPr>
          <p:cNvPr id="23" name="Text 18"/>
          <p:cNvSpPr/>
          <p:nvPr/>
        </p:nvSpPr>
        <p:spPr>
          <a:xfrm>
            <a:off x="6309360" y="1847088"/>
            <a:ext cx="2523744"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RoleBinding</a:t>
            </a:r>
            <a:endParaRPr lang="en-US" sz="1600" dirty="0"/>
          </a:p>
        </p:txBody>
      </p:sp>
      <p:sp>
        <p:nvSpPr>
          <p:cNvPr id="24" name="Text 19"/>
          <p:cNvSpPr/>
          <p:nvPr/>
        </p:nvSpPr>
        <p:spPr>
          <a:xfrm>
            <a:off x="6309360" y="2231136"/>
            <a:ext cx="2523744" cy="274320"/>
          </a:xfrm>
          <a:prstGeom prst="rect">
            <a:avLst/>
          </a:prstGeom>
          <a:noFill/>
          <a:ln/>
        </p:spPr>
        <p:txBody>
          <a:bodyPr wrap="square" lIns="0" tIns="0" rIns="0" bIns="0" rtlCol="0" anchor="ctr"/>
          <a:lstStyle/>
          <a:p>
            <a:pPr algn="ctr" indent="0" marL="0">
              <a:buNone/>
            </a:pPr>
            <a:r>
              <a:rPr lang="en-US" sz="1100" dirty="0">
                <a:solidFill>
                  <a:srgbClr val="1B8A8F"/>
                </a:solidFill>
                <a:latin typeface="Consolas" pitchFamily="34" charset="0"/>
                <a:ea typeface="Consolas" pitchFamily="34" charset="-122"/>
                <a:cs typeface="Consolas" pitchFamily="34" charset="-120"/>
              </a:rPr>
              <a:t>monitoring-pod-reader</a:t>
            </a:r>
            <a:endParaRPr lang="en-US" sz="1100" dirty="0"/>
          </a:p>
        </p:txBody>
      </p:sp>
      <p:sp>
        <p:nvSpPr>
          <p:cNvPr id="25" name="Text 20"/>
          <p:cNvSpPr/>
          <p:nvPr/>
        </p:nvSpPr>
        <p:spPr>
          <a:xfrm>
            <a:off x="6336792" y="2578608"/>
            <a:ext cx="2468880" cy="1024128"/>
          </a:xfrm>
          <a:prstGeom prst="rect">
            <a:avLst/>
          </a:prstGeom>
          <a:noFill/>
          <a:ln/>
        </p:spPr>
        <p:txBody>
          <a:bodyPr wrap="square" lIns="0" tIns="0" rIns="0" bIns="0" rtlCol="0" anchor="ctr"/>
          <a:lstStyle/>
          <a:p>
            <a:pPr indent="0" marL="0">
              <a:buNone/>
            </a:pPr>
            <a:r>
              <a:rPr lang="en-US" sz="1200" dirty="0">
                <a:solidFill>
                  <a:srgbClr val="C9D6D8"/>
                </a:solidFill>
                <a:latin typeface="Calibri" pitchFamily="34" charset="0"/>
                <a:ea typeface="Calibri" pitchFamily="34" charset="-122"/>
                <a:cs typeface="Calibri" pitchFamily="34" charset="-120"/>
              </a:rPr>
              <a:t>Connects a Role to a ServiceAccount. This is where Lab 033's first bug lives — it points at a Role in the wrong namespace.</a:t>
            </a:r>
            <a:endParaRPr lang="en-US" sz="1200" dirty="0"/>
          </a:p>
        </p:txBody>
      </p:sp>
      <p:sp>
        <p:nvSpPr>
          <p:cNvPr id="26" name="Shape 21"/>
          <p:cNvSpPr/>
          <p:nvPr/>
        </p:nvSpPr>
        <p:spPr>
          <a:xfrm>
            <a:off x="6336792" y="3703320"/>
            <a:ext cx="2468880" cy="502920"/>
          </a:xfrm>
          <a:prstGeom prst="rect">
            <a:avLst/>
          </a:prstGeom>
          <a:solidFill>
            <a:srgbClr val="0F5F63"/>
          </a:solidFill>
          <a:ln w="12700">
            <a:solidFill>
              <a:srgbClr val="0F5F63"/>
            </a:solidFill>
            <a:prstDash val="solid"/>
          </a:ln>
        </p:spPr>
      </p:sp>
      <p:sp>
        <p:nvSpPr>
          <p:cNvPr id="27" name="Text 22"/>
          <p:cNvSpPr/>
          <p:nvPr/>
        </p:nvSpPr>
        <p:spPr>
          <a:xfrm>
            <a:off x="6336792" y="3703320"/>
            <a:ext cx="246888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LINKS the who to the what</a:t>
            </a:r>
            <a:endParaRPr lang="en-US" sz="1100" dirty="0"/>
          </a:p>
        </p:txBody>
      </p:sp>
      <p:sp>
        <p:nvSpPr>
          <p:cNvPr id="28" name="Shape 23"/>
          <p:cNvSpPr/>
          <p:nvPr/>
        </p:nvSpPr>
        <p:spPr>
          <a:xfrm>
            <a:off x="0" y="5029200"/>
            <a:ext cx="9144000" cy="109728"/>
          </a:xfrm>
          <a:prstGeom prst="rect">
            <a:avLst/>
          </a:prstGeom>
          <a:solidFill>
            <a:srgbClr val="1B8A8F"/>
          </a:solidFill>
          <a:ln w="12700">
            <a:solidFill>
              <a:srgbClr val="1B8A8F"/>
            </a:solidFill>
            <a:prstDash val="solid"/>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4F5"/>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1B8A8F"/>
          </a:solidFill>
          <a:ln w="12700">
            <a:solidFill>
              <a:srgbClr val="1B8A8F"/>
            </a:solidFill>
            <a:prstDash val="solid"/>
          </a:ln>
        </p:spPr>
      </p:sp>
      <p:sp>
        <p:nvSpPr>
          <p:cNvPr id="3" name="Text 1"/>
          <p:cNvSpPr/>
          <p:nvPr/>
        </p:nvSpPr>
        <p:spPr>
          <a:xfrm>
            <a:off x="457200" y="292608"/>
            <a:ext cx="8229600" cy="502920"/>
          </a:xfrm>
          <a:prstGeom prst="rect">
            <a:avLst/>
          </a:prstGeom>
          <a:noFill/>
          <a:ln/>
        </p:spPr>
        <p:txBody>
          <a:bodyPr wrap="square" lIns="0" tIns="0" rIns="0" bIns="0" rtlCol="0" anchor="ctr"/>
          <a:lstStyle/>
          <a:p>
            <a:pPr algn="l" indent="0" marL="0">
              <a:buNone/>
            </a:pPr>
            <a:r>
              <a:rPr lang="en-US" sz="2800" b="1" dirty="0">
                <a:solidFill>
                  <a:srgbClr val="0D1B2A"/>
                </a:solidFill>
                <a:latin typeface="Calibri" pitchFamily="34" charset="0"/>
                <a:ea typeface="Calibri" pitchFamily="34" charset="-122"/>
                <a:cs typeface="Calibri" pitchFamily="34" charset="-120"/>
              </a:rPr>
              <a:t>Two Bugs — One Broken Setup</a:t>
            </a:r>
            <a:endParaRPr lang="en-US" sz="2800" dirty="0"/>
          </a:p>
        </p:txBody>
      </p:sp>
      <p:sp>
        <p:nvSpPr>
          <p:cNvPr id="4" name="Shape 2"/>
          <p:cNvSpPr/>
          <p:nvPr/>
        </p:nvSpPr>
        <p:spPr>
          <a:xfrm>
            <a:off x="365760" y="960120"/>
            <a:ext cx="8412480" cy="1737360"/>
          </a:xfrm>
          <a:prstGeom prst="rect">
            <a:avLst/>
          </a:prstGeom>
          <a:solidFill>
            <a:srgbClr val="FFFFFF"/>
          </a:solidFill>
          <a:ln w="12700">
            <a:solidFill>
              <a:srgbClr val="1B8A8F"/>
            </a:solidFill>
            <a:prstDash val="solid"/>
          </a:ln>
          <a:effectLst>
            <a:outerShdw sx="100000" sy="100000" kx="0" ky="0" algn="bl" rotWithShape="0" blurRad="63500" dist="25400" dir="8100000">
              <a:srgbClr val="000000">
                <a:alpha val="12000"/>
              </a:srgbClr>
            </a:outerShdw>
          </a:effectLst>
        </p:spPr>
      </p:sp>
      <p:sp>
        <p:nvSpPr>
          <p:cNvPr id="5" name="Shape 3"/>
          <p:cNvSpPr/>
          <p:nvPr/>
        </p:nvSpPr>
        <p:spPr>
          <a:xfrm>
            <a:off x="365760" y="960120"/>
            <a:ext cx="91440" cy="1737360"/>
          </a:xfrm>
          <a:prstGeom prst="rect">
            <a:avLst/>
          </a:prstGeom>
          <a:solidFill>
            <a:srgbClr val="C0392B"/>
          </a:solidFill>
          <a:ln w="12700">
            <a:solidFill>
              <a:srgbClr val="C0392B"/>
            </a:solidFill>
            <a:prstDash val="solid"/>
          </a:ln>
        </p:spPr>
      </p:sp>
      <p:pic>
        <p:nvPicPr>
          <p:cNvPr id="6" name="Image 0" descr="preencoded.png">    </p:cNvPr>
          <p:cNvPicPr>
            <a:picLocks noChangeAspect="1"/>
          </p:cNvPicPr>
          <p:nvPr/>
        </p:nvPicPr>
        <p:blipFill>
          <a:blip r:embed="rId1"/>
          <a:stretch>
            <a:fillRect/>
          </a:stretch>
        </p:blipFill>
        <p:spPr>
          <a:xfrm>
            <a:off x="594360" y="1554480"/>
            <a:ext cx="502920" cy="502920"/>
          </a:xfrm>
          <a:prstGeom prst="rect">
            <a:avLst/>
          </a:prstGeom>
        </p:spPr>
      </p:pic>
      <p:sp>
        <p:nvSpPr>
          <p:cNvPr id="7" name="Text 4"/>
          <p:cNvSpPr/>
          <p:nvPr/>
        </p:nvSpPr>
        <p:spPr>
          <a:xfrm>
            <a:off x="1234440" y="1097280"/>
            <a:ext cx="1097280" cy="292608"/>
          </a:xfrm>
          <a:prstGeom prst="rect">
            <a:avLst/>
          </a:prstGeom>
          <a:noFill/>
          <a:ln/>
        </p:spPr>
        <p:txBody>
          <a:bodyPr wrap="square" lIns="0" tIns="0" rIns="0" bIns="0" rtlCol="0" anchor="ctr"/>
          <a:lstStyle/>
          <a:p>
            <a:pPr indent="0" marL="0">
              <a:buNone/>
            </a:pPr>
            <a:r>
              <a:rPr lang="en-US" sz="1100" b="1" dirty="0">
                <a:solidFill>
                  <a:srgbClr val="C0392B"/>
                </a:solidFill>
                <a:latin typeface="Calibri" pitchFamily="34" charset="0"/>
                <a:ea typeface="Calibri" pitchFamily="34" charset="-122"/>
                <a:cs typeface="Calibri" pitchFamily="34" charset="-120"/>
              </a:rPr>
              <a:t>Bug 1</a:t>
            </a:r>
            <a:endParaRPr lang="en-US" sz="1100" dirty="0"/>
          </a:p>
        </p:txBody>
      </p:sp>
      <p:sp>
        <p:nvSpPr>
          <p:cNvPr id="8" name="Text 5"/>
          <p:cNvSpPr/>
          <p:nvPr/>
        </p:nvSpPr>
        <p:spPr>
          <a:xfrm>
            <a:off x="1234440" y="1371600"/>
            <a:ext cx="7223760" cy="347472"/>
          </a:xfrm>
          <a:prstGeom prst="rect">
            <a:avLst/>
          </a:prstGeom>
          <a:noFill/>
          <a:ln/>
        </p:spPr>
        <p:txBody>
          <a:bodyPr wrap="square" lIns="0" tIns="0" rIns="0" bIns="0" rtlCol="0" anchor="ctr"/>
          <a:lstStyle/>
          <a:p>
            <a:pPr indent="0" marL="0">
              <a:buNone/>
            </a:pPr>
            <a:r>
              <a:rPr lang="en-US" sz="1600" b="1" dirty="0">
                <a:solidFill>
                  <a:srgbClr val="0D1B2A"/>
                </a:solidFill>
                <a:latin typeface="Calibri" pitchFamily="34" charset="0"/>
                <a:ea typeface="Calibri" pitchFamily="34" charset="-122"/>
                <a:cs typeface="Calibri" pitchFamily="34" charset="-120"/>
              </a:rPr>
              <a:t>Role in the wrong namespace</a:t>
            </a:r>
            <a:endParaRPr lang="en-US" sz="1600" dirty="0"/>
          </a:p>
        </p:txBody>
      </p:sp>
      <p:sp>
        <p:nvSpPr>
          <p:cNvPr id="9" name="Text 6"/>
          <p:cNvSpPr/>
          <p:nvPr/>
        </p:nvSpPr>
        <p:spPr>
          <a:xfrm>
            <a:off x="1234440" y="1737360"/>
            <a:ext cx="7223760" cy="804672"/>
          </a:xfrm>
          <a:prstGeom prst="rect">
            <a:avLst/>
          </a:prstGeom>
          <a:noFill/>
          <a:ln/>
        </p:spPr>
        <p:txBody>
          <a:bodyPr wrap="square" lIns="0" tIns="0" rIns="0" bIns="0" rtlCol="0" anchor="ctr"/>
          <a:lstStyle/>
          <a:p>
            <a:pPr indent="0" marL="0">
              <a:buNone/>
            </a:pPr>
            <a:r>
              <a:rPr lang="en-US" sz="1300" dirty="0">
                <a:solidFill>
                  <a:srgbClr val="1A2E35"/>
                </a:solidFill>
                <a:latin typeface="Calibri" pitchFamily="34" charset="0"/>
                <a:ea typeface="Calibri" pitchFamily="34" charset="-122"/>
                <a:cs typeface="Calibri" pitchFamily="34" charset="-120"/>
              </a:rPr>
              <a:t>The pod-reader Role was created in the default namespace. The RoleBinding is in monitoring. A RoleBinding can only reference a Role in the same namespace — so the binding points at nothing, and the ServiceAccount gets zero permissions.</a:t>
            </a:r>
            <a:endParaRPr lang="en-US" sz="1300" dirty="0"/>
          </a:p>
        </p:txBody>
      </p:sp>
      <p:sp>
        <p:nvSpPr>
          <p:cNvPr id="10" name="Shape 7"/>
          <p:cNvSpPr/>
          <p:nvPr/>
        </p:nvSpPr>
        <p:spPr>
          <a:xfrm>
            <a:off x="365760" y="2926080"/>
            <a:ext cx="8412480" cy="1737360"/>
          </a:xfrm>
          <a:prstGeom prst="rect">
            <a:avLst/>
          </a:prstGeom>
          <a:solidFill>
            <a:srgbClr val="FFFFFF"/>
          </a:solidFill>
          <a:ln w="12700">
            <a:solidFill>
              <a:srgbClr val="1B8A8F"/>
            </a:solidFill>
            <a:prstDash val="solid"/>
          </a:ln>
          <a:effectLst>
            <a:outerShdw sx="100000" sy="100000" kx="0" ky="0" algn="bl" rotWithShape="0" blurRad="63500" dist="25400" dir="8100000">
              <a:srgbClr val="000000">
                <a:alpha val="12000"/>
              </a:srgbClr>
            </a:outerShdw>
          </a:effectLst>
        </p:spPr>
      </p:sp>
      <p:sp>
        <p:nvSpPr>
          <p:cNvPr id="11" name="Shape 8"/>
          <p:cNvSpPr/>
          <p:nvPr/>
        </p:nvSpPr>
        <p:spPr>
          <a:xfrm>
            <a:off x="365760" y="2926080"/>
            <a:ext cx="91440" cy="1737360"/>
          </a:xfrm>
          <a:prstGeom prst="rect">
            <a:avLst/>
          </a:prstGeom>
          <a:solidFill>
            <a:srgbClr val="C0392B"/>
          </a:solidFill>
          <a:ln w="12700">
            <a:solidFill>
              <a:srgbClr val="C0392B"/>
            </a:solidFill>
            <a:prstDash val="solid"/>
          </a:ln>
        </p:spPr>
      </p:sp>
      <p:pic>
        <p:nvPicPr>
          <p:cNvPr id="12" name="Image 1" descr="preencoded.png">    </p:cNvPr>
          <p:cNvPicPr>
            <a:picLocks noChangeAspect="1"/>
          </p:cNvPicPr>
          <p:nvPr/>
        </p:nvPicPr>
        <p:blipFill>
          <a:blip r:embed="rId2"/>
          <a:stretch>
            <a:fillRect/>
          </a:stretch>
        </p:blipFill>
        <p:spPr>
          <a:xfrm>
            <a:off x="594360" y="3520440"/>
            <a:ext cx="502920" cy="502920"/>
          </a:xfrm>
          <a:prstGeom prst="rect">
            <a:avLst/>
          </a:prstGeom>
        </p:spPr>
      </p:pic>
      <p:sp>
        <p:nvSpPr>
          <p:cNvPr id="13" name="Text 9"/>
          <p:cNvSpPr/>
          <p:nvPr/>
        </p:nvSpPr>
        <p:spPr>
          <a:xfrm>
            <a:off x="1234440" y="3063240"/>
            <a:ext cx="1097280" cy="292608"/>
          </a:xfrm>
          <a:prstGeom prst="rect">
            <a:avLst/>
          </a:prstGeom>
          <a:noFill/>
          <a:ln/>
        </p:spPr>
        <p:txBody>
          <a:bodyPr wrap="square" lIns="0" tIns="0" rIns="0" bIns="0" rtlCol="0" anchor="ctr"/>
          <a:lstStyle/>
          <a:p>
            <a:pPr indent="0" marL="0">
              <a:buNone/>
            </a:pPr>
            <a:r>
              <a:rPr lang="en-US" sz="1100" b="1" dirty="0">
                <a:solidFill>
                  <a:srgbClr val="C0392B"/>
                </a:solidFill>
                <a:latin typeface="Calibri" pitchFamily="34" charset="0"/>
                <a:ea typeface="Calibri" pitchFamily="34" charset="-122"/>
                <a:cs typeface="Calibri" pitchFamily="34" charset="-120"/>
              </a:rPr>
              <a:t>Bug 2</a:t>
            </a:r>
            <a:endParaRPr lang="en-US" sz="1100" dirty="0"/>
          </a:p>
        </p:txBody>
      </p:sp>
      <p:sp>
        <p:nvSpPr>
          <p:cNvPr id="14" name="Text 10"/>
          <p:cNvSpPr/>
          <p:nvPr/>
        </p:nvSpPr>
        <p:spPr>
          <a:xfrm>
            <a:off x="1234440" y="3337560"/>
            <a:ext cx="7223760" cy="347472"/>
          </a:xfrm>
          <a:prstGeom prst="rect">
            <a:avLst/>
          </a:prstGeom>
          <a:noFill/>
          <a:ln/>
        </p:spPr>
        <p:txBody>
          <a:bodyPr wrap="square" lIns="0" tIns="0" rIns="0" bIns="0" rtlCol="0" anchor="ctr"/>
          <a:lstStyle/>
          <a:p>
            <a:pPr indent="0" marL="0">
              <a:buNone/>
            </a:pPr>
            <a:r>
              <a:rPr lang="en-US" sz="1600" b="1" dirty="0">
                <a:solidFill>
                  <a:srgbClr val="0D1B2A"/>
                </a:solidFill>
                <a:latin typeface="Calibri" pitchFamily="34" charset="0"/>
                <a:ea typeface="Calibri" pitchFamily="34" charset="-122"/>
                <a:cs typeface="Calibri" pitchFamily="34" charset="-120"/>
              </a:rPr>
              <a:t>Missing list verb</a:t>
            </a:r>
            <a:endParaRPr lang="en-US" sz="1600" dirty="0"/>
          </a:p>
        </p:txBody>
      </p:sp>
      <p:sp>
        <p:nvSpPr>
          <p:cNvPr id="15" name="Text 11"/>
          <p:cNvSpPr/>
          <p:nvPr/>
        </p:nvSpPr>
        <p:spPr>
          <a:xfrm>
            <a:off x="1234440" y="3703320"/>
            <a:ext cx="7223760" cy="804672"/>
          </a:xfrm>
          <a:prstGeom prst="rect">
            <a:avLst/>
          </a:prstGeom>
          <a:noFill/>
          <a:ln/>
        </p:spPr>
        <p:txBody>
          <a:bodyPr wrap="square" lIns="0" tIns="0" rIns="0" bIns="0" rtlCol="0" anchor="ctr"/>
          <a:lstStyle/>
          <a:p>
            <a:pPr indent="0" marL="0">
              <a:buNone/>
            </a:pPr>
            <a:r>
              <a:rPr lang="en-US" sz="1300" dirty="0">
                <a:solidFill>
                  <a:srgbClr val="1A2E35"/>
                </a:solidFill>
                <a:latin typeface="Calibri" pitchFamily="34" charset="0"/>
                <a:ea typeface="Calibri" pitchFamily="34" charset="-122"/>
                <a:cs typeface="Calibri" pitchFamily="34" charset="-120"/>
              </a:rPr>
              <a:t>Even if the Role were in the right namespace, it only grants get and watch. The monitoring system also needs list to enumerate all pods in the namespace. Without it, it cannot query for a full pod list.</a:t>
            </a:r>
            <a:endParaRPr lang="en-US" sz="1300" dirty="0"/>
          </a:p>
        </p:txBody>
      </p:sp>
      <p:sp>
        <p:nvSpPr>
          <p:cNvPr id="16" name="Shape 12"/>
          <p:cNvSpPr/>
          <p:nvPr/>
        </p:nvSpPr>
        <p:spPr>
          <a:xfrm>
            <a:off x="0" y="5029200"/>
            <a:ext cx="9144000" cy="109728"/>
          </a:xfrm>
          <a:prstGeom prst="rect">
            <a:avLst/>
          </a:prstGeom>
          <a:solidFill>
            <a:srgbClr val="1B8A8F"/>
          </a:solidFill>
          <a:ln w="12700">
            <a:solidFill>
              <a:srgbClr val="1B8A8F"/>
            </a:solidFill>
            <a:prstDash val="solid"/>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1B8A8F"/>
          </a:solidFill>
          <a:ln w="12700">
            <a:solidFill>
              <a:srgbClr val="1B8A8F"/>
            </a:solidFill>
            <a:prstDash val="solid"/>
          </a:ln>
        </p:spPr>
      </p:sp>
      <p:sp>
        <p:nvSpPr>
          <p:cNvPr id="3" name="Text 1"/>
          <p:cNvSpPr/>
          <p:nvPr/>
        </p:nvSpPr>
        <p:spPr>
          <a:xfrm>
            <a:off x="457200" y="292608"/>
            <a:ext cx="8229600" cy="502920"/>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Diagnosing with kubectl auth can-i</a:t>
            </a:r>
            <a:endParaRPr lang="en-US" sz="2800" dirty="0"/>
          </a:p>
        </p:txBody>
      </p:sp>
      <p:sp>
        <p:nvSpPr>
          <p:cNvPr id="4" name="Text 2"/>
          <p:cNvSpPr/>
          <p:nvPr/>
        </p:nvSpPr>
        <p:spPr>
          <a:xfrm>
            <a:off x="457200" y="896112"/>
            <a:ext cx="8229600" cy="365760"/>
          </a:xfrm>
          <a:prstGeom prst="rect">
            <a:avLst/>
          </a:prstGeom>
          <a:noFill/>
          <a:ln/>
        </p:spPr>
        <p:txBody>
          <a:bodyPr wrap="square" lIns="0" tIns="0" rIns="0" bIns="0" rtlCol="0" anchor="ctr"/>
          <a:lstStyle/>
          <a:p>
            <a:pPr indent="0" marL="0">
              <a:buNone/>
            </a:pPr>
            <a:r>
              <a:rPr lang="en-US" sz="1400" dirty="0">
                <a:solidFill>
                  <a:srgbClr val="C9D6D8"/>
                </a:solidFill>
                <a:latin typeface="Calibri" pitchFamily="34" charset="0"/>
                <a:ea typeface="Calibri" pitchFamily="34" charset="-122"/>
                <a:cs typeface="Calibri" pitchFamily="34" charset="-120"/>
              </a:rPr>
              <a:t>Before touching any yaml, confirm it's actually an RBAC problem:</a:t>
            </a:r>
            <a:endParaRPr lang="en-US" sz="1400" dirty="0"/>
          </a:p>
        </p:txBody>
      </p:sp>
      <p:sp>
        <p:nvSpPr>
          <p:cNvPr id="5" name="Shape 3"/>
          <p:cNvSpPr/>
          <p:nvPr/>
        </p:nvSpPr>
        <p:spPr>
          <a:xfrm>
            <a:off x="365760" y="1325880"/>
            <a:ext cx="8412480" cy="960120"/>
          </a:xfrm>
          <a:prstGeom prst="rect">
            <a:avLst/>
          </a:prstGeom>
          <a:solidFill>
            <a:srgbClr val="0A1520"/>
          </a:solidFill>
          <a:ln w="12700">
            <a:solidFill>
              <a:srgbClr val="1B8A8F"/>
            </a:solidFill>
            <a:prstDash val="solid"/>
          </a:ln>
        </p:spPr>
      </p:sp>
      <p:sp>
        <p:nvSpPr>
          <p:cNvPr id="6" name="Text 4"/>
          <p:cNvSpPr/>
          <p:nvPr/>
        </p:nvSpPr>
        <p:spPr>
          <a:xfrm>
            <a:off x="502920" y="1389888"/>
            <a:ext cx="8138160" cy="822960"/>
          </a:xfrm>
          <a:prstGeom prst="rect">
            <a:avLst/>
          </a:prstGeom>
          <a:noFill/>
          <a:ln/>
        </p:spPr>
        <p:txBody>
          <a:bodyPr wrap="square" lIns="0" tIns="0" rIns="0" bIns="0" rtlCol="0" anchor="ctr"/>
          <a:lstStyle/>
          <a:p>
            <a:pPr indent="0" marL="0">
              <a:buNone/>
            </a:pPr>
            <a:r>
              <a:rPr lang="en-US" sz="1100" dirty="0">
                <a:solidFill>
                  <a:srgbClr val="4EC9B0"/>
                </a:solidFill>
                <a:latin typeface="Consolas" pitchFamily="34" charset="0"/>
                <a:ea typeface="Consolas" pitchFamily="34" charset="-122"/>
                <a:cs typeface="Consolas" pitchFamily="34" charset="-120"/>
              </a:rPr>
              <a:t>kubectl auth can-i list pods -n monitoring --as system:serviceaccount:monitoring:monitoring-sa</a:t>
            </a:r>
            <a:endParaRPr lang="en-US" sz="1100" dirty="0"/>
          </a:p>
        </p:txBody>
      </p:sp>
      <p:sp>
        <p:nvSpPr>
          <p:cNvPr id="7" name="Shape 5"/>
          <p:cNvSpPr/>
          <p:nvPr/>
        </p:nvSpPr>
        <p:spPr>
          <a:xfrm>
            <a:off x="365760" y="2395728"/>
            <a:ext cx="2560320" cy="530352"/>
          </a:xfrm>
          <a:prstGeom prst="rect">
            <a:avLst/>
          </a:prstGeom>
          <a:solidFill>
            <a:srgbClr val="162534"/>
          </a:solidFill>
          <a:ln w="12700">
            <a:solidFill>
              <a:srgbClr val="1B8A8F"/>
            </a:solidFill>
            <a:prstDash val="solid"/>
          </a:ln>
        </p:spPr>
      </p:sp>
      <p:sp>
        <p:nvSpPr>
          <p:cNvPr id="8" name="Shape 6"/>
          <p:cNvSpPr/>
          <p:nvPr/>
        </p:nvSpPr>
        <p:spPr>
          <a:xfrm>
            <a:off x="2944368" y="2395728"/>
            <a:ext cx="5833872" cy="530352"/>
          </a:xfrm>
          <a:prstGeom prst="rect">
            <a:avLst/>
          </a:prstGeom>
          <a:solidFill>
            <a:srgbClr val="111E2B"/>
          </a:solidFill>
          <a:ln w="12700">
            <a:solidFill>
              <a:srgbClr val="1A3040"/>
            </a:solidFill>
            <a:prstDash val="solid"/>
          </a:ln>
        </p:spPr>
      </p:sp>
      <p:sp>
        <p:nvSpPr>
          <p:cNvPr id="9" name="Text 7"/>
          <p:cNvSpPr/>
          <p:nvPr/>
        </p:nvSpPr>
        <p:spPr>
          <a:xfrm>
            <a:off x="438912" y="2432304"/>
            <a:ext cx="2423160" cy="457200"/>
          </a:xfrm>
          <a:prstGeom prst="rect">
            <a:avLst/>
          </a:prstGeom>
          <a:noFill/>
          <a:ln/>
        </p:spPr>
        <p:txBody>
          <a:bodyPr wrap="square" lIns="0" tIns="0" rIns="0" bIns="0" rtlCol="0" anchor="ctr"/>
          <a:lstStyle/>
          <a:p>
            <a:pPr indent="0" marL="0">
              <a:buNone/>
            </a:pPr>
            <a:r>
              <a:rPr lang="en-US" sz="1000" dirty="0">
                <a:solidFill>
                  <a:srgbClr val="4EC9B0"/>
                </a:solidFill>
                <a:latin typeface="Consolas" pitchFamily="34" charset="0"/>
                <a:ea typeface="Consolas" pitchFamily="34" charset="-122"/>
                <a:cs typeface="Consolas" pitchFamily="34" charset="-120"/>
              </a:rPr>
              <a:t>kubectl auth can-i</a:t>
            </a:r>
            <a:endParaRPr lang="en-US" sz="1000" dirty="0"/>
          </a:p>
        </p:txBody>
      </p:sp>
      <p:sp>
        <p:nvSpPr>
          <p:cNvPr id="10" name="Text 8"/>
          <p:cNvSpPr/>
          <p:nvPr/>
        </p:nvSpPr>
        <p:spPr>
          <a:xfrm>
            <a:off x="3035808" y="2468880"/>
            <a:ext cx="5577840" cy="402336"/>
          </a:xfrm>
          <a:prstGeom prst="rect">
            <a:avLst/>
          </a:prstGeom>
          <a:noFill/>
          <a:ln/>
        </p:spPr>
        <p:txBody>
          <a:bodyPr wrap="square" lIns="0" tIns="0" rIns="0" bIns="0" rtlCol="0" anchor="ctr"/>
          <a:lstStyle/>
          <a:p>
            <a:pPr indent="0" marL="0">
              <a:buNone/>
            </a:pPr>
            <a:r>
              <a:rPr lang="en-US" sz="1200" dirty="0">
                <a:solidFill>
                  <a:srgbClr val="C9D6D8"/>
                </a:solidFill>
                <a:latin typeface="Calibri" pitchFamily="34" charset="0"/>
                <a:ea typeface="Calibri" pitchFamily="34" charset="-122"/>
                <a:cs typeface="Calibri" pitchFamily="34" charset="-120"/>
              </a:rPr>
              <a:t>Asks the cluster: is this action allowed? Returns yes or no</a:t>
            </a:r>
            <a:endParaRPr lang="en-US" sz="1200" dirty="0"/>
          </a:p>
        </p:txBody>
      </p:sp>
      <p:sp>
        <p:nvSpPr>
          <p:cNvPr id="11" name="Shape 9"/>
          <p:cNvSpPr/>
          <p:nvPr/>
        </p:nvSpPr>
        <p:spPr>
          <a:xfrm>
            <a:off x="365760" y="2990088"/>
            <a:ext cx="2560320" cy="530352"/>
          </a:xfrm>
          <a:prstGeom prst="rect">
            <a:avLst/>
          </a:prstGeom>
          <a:solidFill>
            <a:srgbClr val="162534"/>
          </a:solidFill>
          <a:ln w="12700">
            <a:solidFill>
              <a:srgbClr val="1B8A8F"/>
            </a:solidFill>
            <a:prstDash val="solid"/>
          </a:ln>
        </p:spPr>
      </p:sp>
      <p:sp>
        <p:nvSpPr>
          <p:cNvPr id="12" name="Shape 10"/>
          <p:cNvSpPr/>
          <p:nvPr/>
        </p:nvSpPr>
        <p:spPr>
          <a:xfrm>
            <a:off x="2944368" y="2990088"/>
            <a:ext cx="5833872" cy="530352"/>
          </a:xfrm>
          <a:prstGeom prst="rect">
            <a:avLst/>
          </a:prstGeom>
          <a:solidFill>
            <a:srgbClr val="111E2B"/>
          </a:solidFill>
          <a:ln w="12700">
            <a:solidFill>
              <a:srgbClr val="1A3040"/>
            </a:solidFill>
            <a:prstDash val="solid"/>
          </a:ln>
        </p:spPr>
      </p:sp>
      <p:sp>
        <p:nvSpPr>
          <p:cNvPr id="13" name="Text 11"/>
          <p:cNvSpPr/>
          <p:nvPr/>
        </p:nvSpPr>
        <p:spPr>
          <a:xfrm>
            <a:off x="438912" y="3026664"/>
            <a:ext cx="2423160" cy="457200"/>
          </a:xfrm>
          <a:prstGeom prst="rect">
            <a:avLst/>
          </a:prstGeom>
          <a:noFill/>
          <a:ln/>
        </p:spPr>
        <p:txBody>
          <a:bodyPr wrap="square" lIns="0" tIns="0" rIns="0" bIns="0" rtlCol="0" anchor="ctr"/>
          <a:lstStyle/>
          <a:p>
            <a:pPr indent="0" marL="0">
              <a:buNone/>
            </a:pPr>
            <a:r>
              <a:rPr lang="en-US" sz="1000" dirty="0">
                <a:solidFill>
                  <a:srgbClr val="4EC9B0"/>
                </a:solidFill>
                <a:latin typeface="Consolas" pitchFamily="34" charset="0"/>
                <a:ea typeface="Consolas" pitchFamily="34" charset="-122"/>
                <a:cs typeface="Consolas" pitchFamily="34" charset="-120"/>
              </a:rPr>
              <a:t>list pods</a:t>
            </a:r>
            <a:endParaRPr lang="en-US" sz="1000" dirty="0"/>
          </a:p>
        </p:txBody>
      </p:sp>
      <p:sp>
        <p:nvSpPr>
          <p:cNvPr id="14" name="Text 12"/>
          <p:cNvSpPr/>
          <p:nvPr/>
        </p:nvSpPr>
        <p:spPr>
          <a:xfrm>
            <a:off x="3035808" y="3063240"/>
            <a:ext cx="5577840" cy="402336"/>
          </a:xfrm>
          <a:prstGeom prst="rect">
            <a:avLst/>
          </a:prstGeom>
          <a:noFill/>
          <a:ln/>
        </p:spPr>
        <p:txBody>
          <a:bodyPr wrap="square" lIns="0" tIns="0" rIns="0" bIns="0" rtlCol="0" anchor="ctr"/>
          <a:lstStyle/>
          <a:p>
            <a:pPr indent="0" marL="0">
              <a:buNone/>
            </a:pPr>
            <a:r>
              <a:rPr lang="en-US" sz="1200" dirty="0">
                <a:solidFill>
                  <a:srgbClr val="C9D6D8"/>
                </a:solidFill>
                <a:latin typeface="Calibri" pitchFamily="34" charset="0"/>
                <a:ea typeface="Calibri" pitchFamily="34" charset="-122"/>
                <a:cs typeface="Calibri" pitchFamily="34" charset="-120"/>
              </a:rPr>
              <a:t>The action being tested — verb (list) plus resource (pods)</a:t>
            </a:r>
            <a:endParaRPr lang="en-US" sz="1200" dirty="0"/>
          </a:p>
        </p:txBody>
      </p:sp>
      <p:sp>
        <p:nvSpPr>
          <p:cNvPr id="15" name="Shape 13"/>
          <p:cNvSpPr/>
          <p:nvPr/>
        </p:nvSpPr>
        <p:spPr>
          <a:xfrm>
            <a:off x="365760" y="3584448"/>
            <a:ext cx="2560320" cy="530352"/>
          </a:xfrm>
          <a:prstGeom prst="rect">
            <a:avLst/>
          </a:prstGeom>
          <a:solidFill>
            <a:srgbClr val="162534"/>
          </a:solidFill>
          <a:ln w="12700">
            <a:solidFill>
              <a:srgbClr val="1B8A8F"/>
            </a:solidFill>
            <a:prstDash val="solid"/>
          </a:ln>
        </p:spPr>
      </p:sp>
      <p:sp>
        <p:nvSpPr>
          <p:cNvPr id="16" name="Shape 14"/>
          <p:cNvSpPr/>
          <p:nvPr/>
        </p:nvSpPr>
        <p:spPr>
          <a:xfrm>
            <a:off x="2944368" y="3584448"/>
            <a:ext cx="5833872" cy="530352"/>
          </a:xfrm>
          <a:prstGeom prst="rect">
            <a:avLst/>
          </a:prstGeom>
          <a:solidFill>
            <a:srgbClr val="111E2B"/>
          </a:solidFill>
          <a:ln w="12700">
            <a:solidFill>
              <a:srgbClr val="1A3040"/>
            </a:solidFill>
            <a:prstDash val="solid"/>
          </a:ln>
        </p:spPr>
      </p:sp>
      <p:sp>
        <p:nvSpPr>
          <p:cNvPr id="17" name="Text 15"/>
          <p:cNvSpPr/>
          <p:nvPr/>
        </p:nvSpPr>
        <p:spPr>
          <a:xfrm>
            <a:off x="438912" y="3621024"/>
            <a:ext cx="2423160" cy="457200"/>
          </a:xfrm>
          <a:prstGeom prst="rect">
            <a:avLst/>
          </a:prstGeom>
          <a:noFill/>
          <a:ln/>
        </p:spPr>
        <p:txBody>
          <a:bodyPr wrap="square" lIns="0" tIns="0" rIns="0" bIns="0" rtlCol="0" anchor="ctr"/>
          <a:lstStyle/>
          <a:p>
            <a:pPr indent="0" marL="0">
              <a:buNone/>
            </a:pPr>
            <a:r>
              <a:rPr lang="en-US" sz="1000" dirty="0">
                <a:solidFill>
                  <a:srgbClr val="4EC9B0"/>
                </a:solidFill>
                <a:latin typeface="Consolas" pitchFamily="34" charset="0"/>
                <a:ea typeface="Consolas" pitchFamily="34" charset="-122"/>
                <a:cs typeface="Consolas" pitchFamily="34" charset="-120"/>
              </a:rPr>
              <a:t>-n monitoring</a:t>
            </a:r>
            <a:endParaRPr lang="en-US" sz="1000" dirty="0"/>
          </a:p>
        </p:txBody>
      </p:sp>
      <p:sp>
        <p:nvSpPr>
          <p:cNvPr id="18" name="Text 16"/>
          <p:cNvSpPr/>
          <p:nvPr/>
        </p:nvSpPr>
        <p:spPr>
          <a:xfrm>
            <a:off x="3035808" y="3657600"/>
            <a:ext cx="5577840" cy="402336"/>
          </a:xfrm>
          <a:prstGeom prst="rect">
            <a:avLst/>
          </a:prstGeom>
          <a:noFill/>
          <a:ln/>
        </p:spPr>
        <p:txBody>
          <a:bodyPr wrap="square" lIns="0" tIns="0" rIns="0" bIns="0" rtlCol="0" anchor="ctr"/>
          <a:lstStyle/>
          <a:p>
            <a:pPr indent="0" marL="0">
              <a:buNone/>
            </a:pPr>
            <a:r>
              <a:rPr lang="en-US" sz="1200" dirty="0">
                <a:solidFill>
                  <a:srgbClr val="C9D6D8"/>
                </a:solidFill>
                <a:latin typeface="Calibri" pitchFamily="34" charset="0"/>
                <a:ea typeface="Calibri" pitchFamily="34" charset="-122"/>
                <a:cs typeface="Calibri" pitchFamily="34" charset="-120"/>
              </a:rPr>
              <a:t>Check this permission in the monitoring namespace</a:t>
            </a:r>
            <a:endParaRPr lang="en-US" sz="1200" dirty="0"/>
          </a:p>
        </p:txBody>
      </p:sp>
      <p:sp>
        <p:nvSpPr>
          <p:cNvPr id="19" name="Shape 17"/>
          <p:cNvSpPr/>
          <p:nvPr/>
        </p:nvSpPr>
        <p:spPr>
          <a:xfrm>
            <a:off x="365760" y="4178808"/>
            <a:ext cx="2560320" cy="530352"/>
          </a:xfrm>
          <a:prstGeom prst="rect">
            <a:avLst/>
          </a:prstGeom>
          <a:solidFill>
            <a:srgbClr val="162534"/>
          </a:solidFill>
          <a:ln w="12700">
            <a:solidFill>
              <a:srgbClr val="1B8A8F"/>
            </a:solidFill>
            <a:prstDash val="solid"/>
          </a:ln>
        </p:spPr>
      </p:sp>
      <p:sp>
        <p:nvSpPr>
          <p:cNvPr id="20" name="Shape 18"/>
          <p:cNvSpPr/>
          <p:nvPr/>
        </p:nvSpPr>
        <p:spPr>
          <a:xfrm>
            <a:off x="2944368" y="4178808"/>
            <a:ext cx="5833872" cy="530352"/>
          </a:xfrm>
          <a:prstGeom prst="rect">
            <a:avLst/>
          </a:prstGeom>
          <a:solidFill>
            <a:srgbClr val="111E2B"/>
          </a:solidFill>
          <a:ln w="12700">
            <a:solidFill>
              <a:srgbClr val="1A3040"/>
            </a:solidFill>
            <a:prstDash val="solid"/>
          </a:ln>
        </p:spPr>
      </p:sp>
      <p:sp>
        <p:nvSpPr>
          <p:cNvPr id="21" name="Text 19"/>
          <p:cNvSpPr/>
          <p:nvPr/>
        </p:nvSpPr>
        <p:spPr>
          <a:xfrm>
            <a:off x="438912" y="4215384"/>
            <a:ext cx="2423160" cy="457200"/>
          </a:xfrm>
          <a:prstGeom prst="rect">
            <a:avLst/>
          </a:prstGeom>
          <a:noFill/>
          <a:ln/>
        </p:spPr>
        <p:txBody>
          <a:bodyPr wrap="square" lIns="0" tIns="0" rIns="0" bIns="0" rtlCol="0" anchor="ctr"/>
          <a:lstStyle/>
          <a:p>
            <a:pPr indent="0" marL="0">
              <a:buNone/>
            </a:pPr>
            <a:r>
              <a:rPr lang="en-US" sz="1000" dirty="0">
                <a:solidFill>
                  <a:srgbClr val="4EC9B0"/>
                </a:solidFill>
                <a:latin typeface="Consolas" pitchFamily="34" charset="0"/>
                <a:ea typeface="Consolas" pitchFamily="34" charset="-122"/>
                <a:cs typeface="Consolas" pitchFamily="34" charset="-120"/>
              </a:rPr>
              <a:t>--as system:serviceaccount:</a:t>
            </a:r>
            <a:endParaRPr lang="en-US" sz="1000" dirty="0"/>
          </a:p>
          <a:p>
            <a:pPr indent="0" marL="0">
              <a:buNone/>
            </a:pPr>
            <a:r>
              <a:rPr lang="en-US" sz="1000" dirty="0">
                <a:solidFill>
                  <a:srgbClr val="4EC9B0"/>
                </a:solidFill>
                <a:latin typeface="Consolas" pitchFamily="34" charset="0"/>
                <a:ea typeface="Consolas" pitchFamily="34" charset="-122"/>
                <a:cs typeface="Consolas" pitchFamily="34" charset="-120"/>
              </a:rPr>
              <a:t>monitoring:monitoring-sa</a:t>
            </a:r>
            <a:endParaRPr lang="en-US" sz="1000" dirty="0"/>
          </a:p>
        </p:txBody>
      </p:sp>
      <p:sp>
        <p:nvSpPr>
          <p:cNvPr id="22" name="Text 20"/>
          <p:cNvSpPr/>
          <p:nvPr/>
        </p:nvSpPr>
        <p:spPr>
          <a:xfrm>
            <a:off x="3035808" y="4251960"/>
            <a:ext cx="5577840" cy="402336"/>
          </a:xfrm>
          <a:prstGeom prst="rect">
            <a:avLst/>
          </a:prstGeom>
          <a:noFill/>
          <a:ln/>
        </p:spPr>
        <p:txBody>
          <a:bodyPr wrap="square" lIns="0" tIns="0" rIns="0" bIns="0" rtlCol="0" anchor="ctr"/>
          <a:lstStyle/>
          <a:p>
            <a:pPr indent="0" marL="0">
              <a:buNone/>
            </a:pPr>
            <a:r>
              <a:rPr lang="en-US" sz="1200" dirty="0">
                <a:solidFill>
                  <a:srgbClr val="C9D6D8"/>
                </a:solidFill>
                <a:latin typeface="Calibri" pitchFamily="34" charset="0"/>
                <a:ea typeface="Calibri" pitchFamily="34" charset="-122"/>
                <a:cs typeface="Calibri" pitchFamily="34" charset="-120"/>
              </a:rPr>
              <a:t>Impersonate the ServiceAccount — test from its perspective</a:t>
            </a:r>
            <a:endParaRPr lang="en-US" sz="1200" dirty="0"/>
          </a:p>
        </p:txBody>
      </p:sp>
      <p:sp>
        <p:nvSpPr>
          <p:cNvPr id="23" name="Shape 21"/>
          <p:cNvSpPr/>
          <p:nvPr/>
        </p:nvSpPr>
        <p:spPr>
          <a:xfrm>
            <a:off x="0" y="5029200"/>
            <a:ext cx="9144000" cy="109728"/>
          </a:xfrm>
          <a:prstGeom prst="rect">
            <a:avLst/>
          </a:prstGeom>
          <a:solidFill>
            <a:srgbClr val="1B8A8F"/>
          </a:solidFill>
          <a:ln w="12700">
            <a:solidFill>
              <a:srgbClr val="1B8A8F"/>
            </a:solidFill>
            <a:prstDash val="solid"/>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4F5"/>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1B8A8F"/>
          </a:solidFill>
          <a:ln w="12700">
            <a:solidFill>
              <a:srgbClr val="1B8A8F"/>
            </a:solidFill>
            <a:prstDash val="solid"/>
          </a:ln>
        </p:spPr>
      </p:sp>
      <p:sp>
        <p:nvSpPr>
          <p:cNvPr id="3" name="Text 1"/>
          <p:cNvSpPr/>
          <p:nvPr/>
        </p:nvSpPr>
        <p:spPr>
          <a:xfrm>
            <a:off x="457200" y="292608"/>
            <a:ext cx="8229600" cy="502920"/>
          </a:xfrm>
          <a:prstGeom prst="rect">
            <a:avLst/>
          </a:prstGeom>
          <a:noFill/>
          <a:ln/>
        </p:spPr>
        <p:txBody>
          <a:bodyPr wrap="square" lIns="0" tIns="0" rIns="0" bIns="0" rtlCol="0" anchor="ctr"/>
          <a:lstStyle/>
          <a:p>
            <a:pPr algn="l" indent="0" marL="0">
              <a:buNone/>
            </a:pPr>
            <a:r>
              <a:rPr lang="en-US" sz="2800" b="1" dirty="0">
                <a:solidFill>
                  <a:srgbClr val="0D1B2A"/>
                </a:solidFill>
                <a:latin typeface="Calibri" pitchFamily="34" charset="0"/>
                <a:ea typeface="Calibri" pitchFamily="34" charset="-122"/>
                <a:cs typeface="Calibri" pitchFamily="34" charset="-120"/>
              </a:rPr>
              <a:t>What the Output Tells You</a:t>
            </a:r>
            <a:endParaRPr lang="en-US" sz="2800" dirty="0"/>
          </a:p>
        </p:txBody>
      </p:sp>
      <p:sp>
        <p:nvSpPr>
          <p:cNvPr id="4" name="Shape 2"/>
          <p:cNvSpPr/>
          <p:nvPr/>
        </p:nvSpPr>
        <p:spPr>
          <a:xfrm>
            <a:off x="365760" y="960120"/>
            <a:ext cx="8412480" cy="1051560"/>
          </a:xfrm>
          <a:prstGeom prst="rect">
            <a:avLst/>
          </a:prstGeom>
          <a:solidFill>
            <a:srgbClr val="1A0A0A"/>
          </a:solidFill>
          <a:ln w="12700">
            <a:solidFill>
              <a:srgbClr val="C0392B"/>
            </a:solidFill>
            <a:prstDash val="solid"/>
          </a:ln>
        </p:spPr>
      </p:sp>
      <p:sp>
        <p:nvSpPr>
          <p:cNvPr id="5" name="Text 3"/>
          <p:cNvSpPr/>
          <p:nvPr/>
        </p:nvSpPr>
        <p:spPr>
          <a:xfrm>
            <a:off x="502920" y="987552"/>
            <a:ext cx="2743200" cy="256032"/>
          </a:xfrm>
          <a:prstGeom prst="rect">
            <a:avLst/>
          </a:prstGeom>
          <a:noFill/>
          <a:ln/>
        </p:spPr>
        <p:txBody>
          <a:bodyPr wrap="square" lIns="0" tIns="0" rIns="0" bIns="0" rtlCol="0" anchor="ctr"/>
          <a:lstStyle/>
          <a:p>
            <a:pPr indent="0" marL="0">
              <a:buNone/>
            </a:pPr>
            <a:r>
              <a:rPr lang="en-US" sz="1000" b="1" dirty="0">
                <a:solidFill>
                  <a:srgbClr val="C0392B"/>
                </a:solidFill>
                <a:latin typeface="Calibri" pitchFamily="34" charset="0"/>
                <a:ea typeface="Calibri" pitchFamily="34" charset="-122"/>
                <a:cs typeface="Calibri" pitchFamily="34" charset="-120"/>
              </a:rPr>
              <a:t>BROKEN STATE</a:t>
            </a:r>
            <a:endParaRPr lang="en-US" sz="1000" dirty="0"/>
          </a:p>
        </p:txBody>
      </p:sp>
      <p:sp>
        <p:nvSpPr>
          <p:cNvPr id="6" name="Text 4"/>
          <p:cNvSpPr/>
          <p:nvPr/>
        </p:nvSpPr>
        <p:spPr>
          <a:xfrm>
            <a:off x="502920" y="1234440"/>
            <a:ext cx="8138160" cy="713232"/>
          </a:xfrm>
          <a:prstGeom prst="rect">
            <a:avLst/>
          </a:prstGeom>
          <a:noFill/>
          <a:ln/>
        </p:spPr>
        <p:txBody>
          <a:bodyPr wrap="square" lIns="0" tIns="0" rIns="0" bIns="0" rtlCol="0" anchor="ctr"/>
          <a:lstStyle/>
          <a:p>
            <a:pPr indent="0" marL="0">
              <a:buNone/>
            </a:pPr>
            <a:r>
              <a:rPr lang="en-US" sz="1100" dirty="0">
                <a:solidFill>
                  <a:srgbClr val="FF6B6B"/>
                </a:solidFill>
                <a:latin typeface="Consolas" pitchFamily="34" charset="0"/>
                <a:ea typeface="Consolas" pitchFamily="34" charset="-122"/>
                <a:cs typeface="Consolas" pitchFamily="34" charset="-120"/>
              </a:rPr>
              <a:t>no - RBAC: role.rbac.authorization.k8s.io "pod-reader" not found</a:t>
            </a:r>
            <a:endParaRPr lang="en-US" sz="1100" dirty="0"/>
          </a:p>
          <a:p>
            <a:pPr indent="0" marL="0">
              <a:buNone/>
            </a:pPr>
            <a:r>
              <a:rPr lang="en-US" sz="1100" dirty="0">
                <a:solidFill>
                  <a:srgbClr val="FF6B6B"/>
                </a:solidFill>
                <a:latin typeface="Consolas" pitchFamily="34" charset="0"/>
                <a:ea typeface="Consolas" pitchFamily="34" charset="-122"/>
                <a:cs typeface="Consolas" pitchFamily="34" charset="-120"/>
              </a:rPr>
              <a:t>no - RBAC: role.rbac.authorization.k8s.io "pod-reader" not found</a:t>
            </a:r>
            <a:endParaRPr lang="en-US" sz="1100" dirty="0"/>
          </a:p>
          <a:p>
            <a:pPr indent="0" marL="0">
              <a:buNone/>
            </a:pPr>
            <a:r>
              <a:rPr lang="en-US" sz="1100" dirty="0">
                <a:solidFill>
                  <a:srgbClr val="FF6B6B"/>
                </a:solidFill>
                <a:latin typeface="Consolas" pitchFamily="34" charset="0"/>
                <a:ea typeface="Consolas" pitchFamily="34" charset="-122"/>
                <a:cs typeface="Consolas" pitchFamily="34" charset="-120"/>
              </a:rPr>
              <a:t>no - RBAC: role.rbac.authorization.k8s.io "pod-reader" not found</a:t>
            </a:r>
            <a:endParaRPr lang="en-US" sz="1100" dirty="0"/>
          </a:p>
        </p:txBody>
      </p:sp>
      <p:sp>
        <p:nvSpPr>
          <p:cNvPr id="7" name="Text 5"/>
          <p:cNvSpPr/>
          <p:nvPr/>
        </p:nvSpPr>
        <p:spPr>
          <a:xfrm>
            <a:off x="365760" y="2121408"/>
            <a:ext cx="8412480" cy="548640"/>
          </a:xfrm>
          <a:prstGeom prst="rect">
            <a:avLst/>
          </a:prstGeom>
          <a:noFill/>
          <a:ln/>
        </p:spPr>
        <p:txBody>
          <a:bodyPr wrap="square" rtlCol="0" anchor="ctr"/>
          <a:lstStyle/>
          <a:p>
            <a:pPr indent="0" marL="0">
              <a:buNone/>
            </a:pPr>
            <a:r>
              <a:rPr lang="en-US" sz="1300" i="1" dirty="0">
                <a:solidFill>
                  <a:srgbClr val="1A2E35"/>
                </a:solidFill>
                <a:latin typeface="Calibri" pitchFamily="34" charset="0"/>
                <a:ea typeface="Calibri" pitchFamily="34" charset="-122"/>
                <a:cs typeface="Calibri" pitchFamily="34" charset="-120"/>
              </a:rPr>
              <a:t>Kubernetes isn't just saying no — it's telling you exactly why. The Role can't be found in this namespace. This confirms the diagnosis before you've even opened a yaml file.</a:t>
            </a:r>
            <a:endParaRPr lang="en-US" sz="1300" dirty="0"/>
          </a:p>
        </p:txBody>
      </p:sp>
      <p:sp>
        <p:nvSpPr>
          <p:cNvPr id="8" name="Shape 6"/>
          <p:cNvSpPr/>
          <p:nvPr/>
        </p:nvSpPr>
        <p:spPr>
          <a:xfrm>
            <a:off x="365760" y="2788920"/>
            <a:ext cx="8412480" cy="960120"/>
          </a:xfrm>
          <a:prstGeom prst="rect">
            <a:avLst/>
          </a:prstGeom>
          <a:solidFill>
            <a:srgbClr val="0A1A0E"/>
          </a:solidFill>
          <a:ln w="12700">
            <a:solidFill>
              <a:srgbClr val="1A7A4A"/>
            </a:solidFill>
            <a:prstDash val="solid"/>
          </a:ln>
        </p:spPr>
      </p:sp>
      <p:sp>
        <p:nvSpPr>
          <p:cNvPr id="9" name="Text 7"/>
          <p:cNvSpPr/>
          <p:nvPr/>
        </p:nvSpPr>
        <p:spPr>
          <a:xfrm>
            <a:off x="502920" y="2816352"/>
            <a:ext cx="2743200" cy="256032"/>
          </a:xfrm>
          <a:prstGeom prst="rect">
            <a:avLst/>
          </a:prstGeom>
          <a:noFill/>
          <a:ln/>
        </p:spPr>
        <p:txBody>
          <a:bodyPr wrap="square" lIns="0" tIns="0" rIns="0" bIns="0" rtlCol="0" anchor="ctr"/>
          <a:lstStyle/>
          <a:p>
            <a:pPr indent="0" marL="0">
              <a:buNone/>
            </a:pPr>
            <a:r>
              <a:rPr lang="en-US" sz="1000" b="1" dirty="0">
                <a:solidFill>
                  <a:srgbClr val="1A7A4A"/>
                </a:solidFill>
                <a:latin typeface="Calibri" pitchFamily="34" charset="0"/>
                <a:ea typeface="Calibri" pitchFamily="34" charset="-122"/>
                <a:cs typeface="Calibri" pitchFamily="34" charset="-120"/>
              </a:rPr>
              <a:t>FIXED STATE</a:t>
            </a:r>
            <a:endParaRPr lang="en-US" sz="1000" dirty="0"/>
          </a:p>
        </p:txBody>
      </p:sp>
      <p:sp>
        <p:nvSpPr>
          <p:cNvPr id="10" name="Text 8"/>
          <p:cNvSpPr/>
          <p:nvPr/>
        </p:nvSpPr>
        <p:spPr>
          <a:xfrm>
            <a:off x="502920" y="3063240"/>
            <a:ext cx="8138160" cy="621792"/>
          </a:xfrm>
          <a:prstGeom prst="rect">
            <a:avLst/>
          </a:prstGeom>
          <a:noFill/>
          <a:ln/>
        </p:spPr>
        <p:txBody>
          <a:bodyPr wrap="square" lIns="0" tIns="0" rIns="0" bIns="0" rtlCol="0" anchor="ctr"/>
          <a:lstStyle/>
          <a:p>
            <a:pPr indent="0" marL="0">
              <a:buNone/>
            </a:pPr>
            <a:r>
              <a:rPr lang="en-US" sz="1100" dirty="0">
                <a:solidFill>
                  <a:srgbClr val="6FCF97"/>
                </a:solidFill>
                <a:latin typeface="Consolas" pitchFamily="34" charset="0"/>
                <a:ea typeface="Consolas" pitchFamily="34" charset="-122"/>
                <a:cs typeface="Consolas" pitchFamily="34" charset="-120"/>
              </a:rPr>
              <a:t>yes</a:t>
            </a:r>
            <a:endParaRPr lang="en-US" sz="1100" dirty="0"/>
          </a:p>
          <a:p>
            <a:pPr indent="0" marL="0">
              <a:buNone/>
            </a:pPr>
            <a:r>
              <a:rPr lang="en-US" sz="1100" dirty="0">
                <a:solidFill>
                  <a:srgbClr val="6FCF97"/>
                </a:solidFill>
                <a:latin typeface="Consolas" pitchFamily="34" charset="0"/>
                <a:ea typeface="Consolas" pitchFamily="34" charset="-122"/>
                <a:cs typeface="Consolas" pitchFamily="34" charset="-120"/>
              </a:rPr>
              <a:t>yes</a:t>
            </a:r>
            <a:endParaRPr lang="en-US" sz="1100" dirty="0"/>
          </a:p>
          <a:p>
            <a:pPr indent="0" marL="0">
              <a:buNone/>
            </a:pPr>
            <a:r>
              <a:rPr lang="en-US" sz="1100" dirty="0">
                <a:solidFill>
                  <a:srgbClr val="6FCF97"/>
                </a:solidFill>
                <a:latin typeface="Consolas" pitchFamily="34" charset="0"/>
                <a:ea typeface="Consolas" pitchFamily="34" charset="-122"/>
                <a:cs typeface="Consolas" pitchFamily="34" charset="-120"/>
              </a:rPr>
              <a:t>yes</a:t>
            </a:r>
            <a:endParaRPr lang="en-US" sz="1100" dirty="0"/>
          </a:p>
        </p:txBody>
      </p:sp>
      <p:sp>
        <p:nvSpPr>
          <p:cNvPr id="11" name="Shape 9"/>
          <p:cNvSpPr/>
          <p:nvPr/>
        </p:nvSpPr>
        <p:spPr>
          <a:xfrm>
            <a:off x="0" y="5029200"/>
            <a:ext cx="9144000" cy="109728"/>
          </a:xfrm>
          <a:prstGeom prst="rect">
            <a:avLst/>
          </a:prstGeom>
          <a:solidFill>
            <a:srgbClr val="1B8A8F"/>
          </a:solidFill>
          <a:ln w="12700">
            <a:solidFill>
              <a:srgbClr val="1B8A8F"/>
            </a:solidFill>
            <a:prstDash val="solid"/>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1B8A8F"/>
          </a:solidFill>
          <a:ln w="12700">
            <a:solidFill>
              <a:srgbClr val="1B8A8F"/>
            </a:solidFill>
            <a:prstDash val="solid"/>
          </a:ln>
        </p:spPr>
      </p:sp>
      <p:sp>
        <p:nvSpPr>
          <p:cNvPr id="3" name="Text 1"/>
          <p:cNvSpPr/>
          <p:nvPr/>
        </p:nvSpPr>
        <p:spPr>
          <a:xfrm>
            <a:off x="457200" y="292608"/>
            <a:ext cx="8229600" cy="502920"/>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The Three Read-Only Verbs</a:t>
            </a:r>
            <a:endParaRPr lang="en-US" sz="2800" dirty="0"/>
          </a:p>
        </p:txBody>
      </p:sp>
      <p:sp>
        <p:nvSpPr>
          <p:cNvPr id="4" name="Text 2"/>
          <p:cNvSpPr/>
          <p:nvPr/>
        </p:nvSpPr>
        <p:spPr>
          <a:xfrm>
            <a:off x="457200" y="896112"/>
            <a:ext cx="8229600" cy="347472"/>
          </a:xfrm>
          <a:prstGeom prst="rect">
            <a:avLst/>
          </a:prstGeom>
          <a:noFill/>
          <a:ln/>
        </p:spPr>
        <p:txBody>
          <a:bodyPr wrap="square" lIns="0" tIns="0" rIns="0" bIns="0" rtlCol="0" anchor="ctr"/>
          <a:lstStyle/>
          <a:p>
            <a:pPr indent="0" marL="0">
              <a:buNone/>
            </a:pPr>
            <a:r>
              <a:rPr lang="en-US" sz="1400" dirty="0">
                <a:solidFill>
                  <a:srgbClr val="C9D6D8"/>
                </a:solidFill>
                <a:latin typeface="Calibri" pitchFamily="34" charset="0"/>
                <a:ea typeface="Calibri" pitchFamily="34" charset="-122"/>
                <a:cs typeface="Calibri" pitchFamily="34" charset="-120"/>
              </a:rPr>
              <a:t>For any workload that needs to observe pods, all three verbs are required:</a:t>
            </a:r>
            <a:endParaRPr lang="en-US" sz="1400" dirty="0"/>
          </a:p>
        </p:txBody>
      </p:sp>
      <p:sp>
        <p:nvSpPr>
          <p:cNvPr id="5" name="Shape 3"/>
          <p:cNvSpPr/>
          <p:nvPr/>
        </p:nvSpPr>
        <p:spPr>
          <a:xfrm>
            <a:off x="365760" y="1353312"/>
            <a:ext cx="8412480" cy="1024128"/>
          </a:xfrm>
          <a:prstGeom prst="rect">
            <a:avLst/>
          </a:prstGeom>
          <a:solidFill>
            <a:srgbClr val="162534"/>
          </a:solidFill>
          <a:ln w="12700">
            <a:solidFill>
              <a:srgbClr val="1B8A8F"/>
            </a:solidFill>
            <a:prstDash val="solid"/>
          </a:ln>
        </p:spPr>
      </p:sp>
      <p:sp>
        <p:nvSpPr>
          <p:cNvPr id="6" name="Shape 4"/>
          <p:cNvSpPr/>
          <p:nvPr/>
        </p:nvSpPr>
        <p:spPr>
          <a:xfrm>
            <a:off x="365760" y="1353312"/>
            <a:ext cx="1280160" cy="1024128"/>
          </a:xfrm>
          <a:prstGeom prst="rect">
            <a:avLst/>
          </a:prstGeom>
          <a:solidFill>
            <a:srgbClr val="1B8A8F"/>
          </a:solidFill>
          <a:ln w="12700">
            <a:solidFill>
              <a:srgbClr val="1B8A8F"/>
            </a:solidFill>
            <a:prstDash val="solid"/>
          </a:ln>
        </p:spPr>
      </p:sp>
      <p:sp>
        <p:nvSpPr>
          <p:cNvPr id="7" name="Text 5"/>
          <p:cNvSpPr/>
          <p:nvPr/>
        </p:nvSpPr>
        <p:spPr>
          <a:xfrm>
            <a:off x="365760" y="1645920"/>
            <a:ext cx="1280160" cy="438912"/>
          </a:xfrm>
          <a:prstGeom prst="rect">
            <a:avLst/>
          </a:prstGeom>
          <a:noFill/>
          <a:ln/>
        </p:spPr>
        <p:txBody>
          <a:bodyPr wrap="square" lIns="0" tIns="0" rIns="0" bIns="0" rtlCol="0" anchor="ctr"/>
          <a:lstStyle/>
          <a:p>
            <a:pPr algn="ctr" indent="0" marL="0">
              <a:buNone/>
            </a:pPr>
            <a:r>
              <a:rPr lang="en-US" sz="2200" b="1" dirty="0">
                <a:solidFill>
                  <a:srgbClr val="FFFFFF"/>
                </a:solidFill>
                <a:latin typeface="Consolas" pitchFamily="34" charset="0"/>
                <a:ea typeface="Consolas" pitchFamily="34" charset="-122"/>
                <a:cs typeface="Consolas" pitchFamily="34" charset="-120"/>
              </a:rPr>
              <a:t>get</a:t>
            </a:r>
            <a:endParaRPr lang="en-US" sz="2200" dirty="0"/>
          </a:p>
        </p:txBody>
      </p:sp>
      <p:sp>
        <p:nvSpPr>
          <p:cNvPr id="8" name="Text 6"/>
          <p:cNvSpPr/>
          <p:nvPr/>
        </p:nvSpPr>
        <p:spPr>
          <a:xfrm>
            <a:off x="1463040" y="1463040"/>
            <a:ext cx="502920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Retrieve a single pod by name</a:t>
            </a:r>
            <a:endParaRPr lang="en-US" sz="1500" dirty="0"/>
          </a:p>
        </p:txBody>
      </p:sp>
      <p:sp>
        <p:nvSpPr>
          <p:cNvPr id="9" name="Text 7"/>
          <p:cNvSpPr/>
          <p:nvPr/>
        </p:nvSpPr>
        <p:spPr>
          <a:xfrm>
            <a:off x="1463040" y="1901952"/>
            <a:ext cx="7132320" cy="320040"/>
          </a:xfrm>
          <a:prstGeom prst="rect">
            <a:avLst/>
          </a:prstGeom>
          <a:noFill/>
          <a:ln/>
        </p:spPr>
        <p:txBody>
          <a:bodyPr wrap="square" lIns="0" tIns="0" rIns="0" bIns="0" rtlCol="0" anchor="ctr"/>
          <a:lstStyle/>
          <a:p>
            <a:pPr indent="0" marL="0">
              <a:buNone/>
            </a:pPr>
            <a:r>
              <a:rPr lang="en-US" sz="1200" dirty="0">
                <a:solidFill>
                  <a:srgbClr val="4EC9B0"/>
                </a:solidFill>
                <a:latin typeface="Consolas" pitchFamily="34" charset="0"/>
                <a:ea typeface="Consolas" pitchFamily="34" charset="-122"/>
                <a:cs typeface="Consolas" pitchFamily="34" charset="-120"/>
              </a:rPr>
              <a:t>kubectl get pod my-pod</a:t>
            </a:r>
            <a:endParaRPr lang="en-US" sz="1200" dirty="0"/>
          </a:p>
        </p:txBody>
      </p:sp>
      <p:sp>
        <p:nvSpPr>
          <p:cNvPr id="10" name="Shape 8"/>
          <p:cNvSpPr/>
          <p:nvPr/>
        </p:nvSpPr>
        <p:spPr>
          <a:xfrm>
            <a:off x="365760" y="2542032"/>
            <a:ext cx="8412480" cy="1024128"/>
          </a:xfrm>
          <a:prstGeom prst="rect">
            <a:avLst/>
          </a:prstGeom>
          <a:solidFill>
            <a:srgbClr val="162534"/>
          </a:solidFill>
          <a:ln w="12700">
            <a:solidFill>
              <a:srgbClr val="0F5F63"/>
            </a:solidFill>
            <a:prstDash val="solid"/>
          </a:ln>
        </p:spPr>
      </p:sp>
      <p:sp>
        <p:nvSpPr>
          <p:cNvPr id="11" name="Shape 9"/>
          <p:cNvSpPr/>
          <p:nvPr/>
        </p:nvSpPr>
        <p:spPr>
          <a:xfrm>
            <a:off x="365760" y="2542032"/>
            <a:ext cx="1280160" cy="1024128"/>
          </a:xfrm>
          <a:prstGeom prst="rect">
            <a:avLst/>
          </a:prstGeom>
          <a:solidFill>
            <a:srgbClr val="0F5F63"/>
          </a:solidFill>
          <a:ln w="12700">
            <a:solidFill>
              <a:srgbClr val="0F5F63"/>
            </a:solidFill>
            <a:prstDash val="solid"/>
          </a:ln>
        </p:spPr>
      </p:sp>
      <p:sp>
        <p:nvSpPr>
          <p:cNvPr id="12" name="Text 10"/>
          <p:cNvSpPr/>
          <p:nvPr/>
        </p:nvSpPr>
        <p:spPr>
          <a:xfrm>
            <a:off x="365760" y="2834640"/>
            <a:ext cx="1280160" cy="438912"/>
          </a:xfrm>
          <a:prstGeom prst="rect">
            <a:avLst/>
          </a:prstGeom>
          <a:noFill/>
          <a:ln/>
        </p:spPr>
        <p:txBody>
          <a:bodyPr wrap="square" lIns="0" tIns="0" rIns="0" bIns="0" rtlCol="0" anchor="ctr"/>
          <a:lstStyle/>
          <a:p>
            <a:pPr algn="ctr" indent="0" marL="0">
              <a:buNone/>
            </a:pPr>
            <a:r>
              <a:rPr lang="en-US" sz="2200" b="1" dirty="0">
                <a:solidFill>
                  <a:srgbClr val="FFFFFF"/>
                </a:solidFill>
                <a:latin typeface="Consolas" pitchFamily="34" charset="0"/>
                <a:ea typeface="Consolas" pitchFamily="34" charset="-122"/>
                <a:cs typeface="Consolas" pitchFamily="34" charset="-120"/>
              </a:rPr>
              <a:t>list</a:t>
            </a:r>
            <a:endParaRPr lang="en-US" sz="2200" dirty="0"/>
          </a:p>
        </p:txBody>
      </p:sp>
      <p:sp>
        <p:nvSpPr>
          <p:cNvPr id="13" name="Text 11"/>
          <p:cNvSpPr/>
          <p:nvPr/>
        </p:nvSpPr>
        <p:spPr>
          <a:xfrm>
            <a:off x="1463040" y="2651760"/>
            <a:ext cx="502920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Retrieve all pods in the namespace</a:t>
            </a:r>
            <a:endParaRPr lang="en-US" sz="1500" dirty="0"/>
          </a:p>
        </p:txBody>
      </p:sp>
      <p:sp>
        <p:nvSpPr>
          <p:cNvPr id="14" name="Text 12"/>
          <p:cNvSpPr/>
          <p:nvPr/>
        </p:nvSpPr>
        <p:spPr>
          <a:xfrm>
            <a:off x="1463040" y="3090672"/>
            <a:ext cx="7132320" cy="320040"/>
          </a:xfrm>
          <a:prstGeom prst="rect">
            <a:avLst/>
          </a:prstGeom>
          <a:noFill/>
          <a:ln/>
        </p:spPr>
        <p:txBody>
          <a:bodyPr wrap="square" lIns="0" tIns="0" rIns="0" bIns="0" rtlCol="0" anchor="ctr"/>
          <a:lstStyle/>
          <a:p>
            <a:pPr indent="0" marL="0">
              <a:buNone/>
            </a:pPr>
            <a:r>
              <a:rPr lang="en-US" sz="1200" dirty="0">
                <a:solidFill>
                  <a:srgbClr val="4EC9B0"/>
                </a:solidFill>
                <a:latin typeface="Consolas" pitchFamily="34" charset="0"/>
                <a:ea typeface="Consolas" pitchFamily="34" charset="-122"/>
                <a:cs typeface="Consolas" pitchFamily="34" charset="-120"/>
              </a:rPr>
              <a:t>kubectl get pods</a:t>
            </a:r>
            <a:endParaRPr lang="en-US" sz="1200" dirty="0"/>
          </a:p>
        </p:txBody>
      </p:sp>
      <p:sp>
        <p:nvSpPr>
          <p:cNvPr id="15" name="Shape 13"/>
          <p:cNvSpPr/>
          <p:nvPr/>
        </p:nvSpPr>
        <p:spPr>
          <a:xfrm>
            <a:off x="365760" y="3730752"/>
            <a:ext cx="8412480" cy="1024128"/>
          </a:xfrm>
          <a:prstGeom prst="rect">
            <a:avLst/>
          </a:prstGeom>
          <a:solidFill>
            <a:srgbClr val="162534"/>
          </a:solidFill>
          <a:ln w="12700">
            <a:solidFill>
              <a:srgbClr val="1A5276"/>
            </a:solidFill>
            <a:prstDash val="solid"/>
          </a:ln>
        </p:spPr>
      </p:sp>
      <p:sp>
        <p:nvSpPr>
          <p:cNvPr id="16" name="Shape 14"/>
          <p:cNvSpPr/>
          <p:nvPr/>
        </p:nvSpPr>
        <p:spPr>
          <a:xfrm>
            <a:off x="365760" y="3730752"/>
            <a:ext cx="1280160" cy="1024128"/>
          </a:xfrm>
          <a:prstGeom prst="rect">
            <a:avLst/>
          </a:prstGeom>
          <a:solidFill>
            <a:srgbClr val="1A5276"/>
          </a:solidFill>
          <a:ln w="12700">
            <a:solidFill>
              <a:srgbClr val="1A5276"/>
            </a:solidFill>
            <a:prstDash val="solid"/>
          </a:ln>
        </p:spPr>
      </p:sp>
      <p:sp>
        <p:nvSpPr>
          <p:cNvPr id="17" name="Text 15"/>
          <p:cNvSpPr/>
          <p:nvPr/>
        </p:nvSpPr>
        <p:spPr>
          <a:xfrm>
            <a:off x="365760" y="4023360"/>
            <a:ext cx="1280160" cy="438912"/>
          </a:xfrm>
          <a:prstGeom prst="rect">
            <a:avLst/>
          </a:prstGeom>
          <a:noFill/>
          <a:ln/>
        </p:spPr>
        <p:txBody>
          <a:bodyPr wrap="square" lIns="0" tIns="0" rIns="0" bIns="0" rtlCol="0" anchor="ctr"/>
          <a:lstStyle/>
          <a:p>
            <a:pPr algn="ctr" indent="0" marL="0">
              <a:buNone/>
            </a:pPr>
            <a:r>
              <a:rPr lang="en-US" sz="2200" b="1" dirty="0">
                <a:solidFill>
                  <a:srgbClr val="FFFFFF"/>
                </a:solidFill>
                <a:latin typeface="Consolas" pitchFamily="34" charset="0"/>
                <a:ea typeface="Consolas" pitchFamily="34" charset="-122"/>
                <a:cs typeface="Consolas" pitchFamily="34" charset="-120"/>
              </a:rPr>
              <a:t>watch</a:t>
            </a:r>
            <a:endParaRPr lang="en-US" sz="2200" dirty="0"/>
          </a:p>
        </p:txBody>
      </p:sp>
      <p:sp>
        <p:nvSpPr>
          <p:cNvPr id="18" name="Text 16"/>
          <p:cNvSpPr/>
          <p:nvPr/>
        </p:nvSpPr>
        <p:spPr>
          <a:xfrm>
            <a:off x="1463040" y="3840480"/>
            <a:ext cx="502920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Stream real-time updates as pods change</a:t>
            </a:r>
            <a:endParaRPr lang="en-US" sz="1500" dirty="0"/>
          </a:p>
        </p:txBody>
      </p:sp>
      <p:sp>
        <p:nvSpPr>
          <p:cNvPr id="19" name="Text 17"/>
          <p:cNvSpPr/>
          <p:nvPr/>
        </p:nvSpPr>
        <p:spPr>
          <a:xfrm>
            <a:off x="1463040" y="4279392"/>
            <a:ext cx="7132320" cy="320040"/>
          </a:xfrm>
          <a:prstGeom prst="rect">
            <a:avLst/>
          </a:prstGeom>
          <a:noFill/>
          <a:ln/>
        </p:spPr>
        <p:txBody>
          <a:bodyPr wrap="square" lIns="0" tIns="0" rIns="0" bIns="0" rtlCol="0" anchor="ctr"/>
          <a:lstStyle/>
          <a:p>
            <a:pPr indent="0" marL="0">
              <a:buNone/>
            </a:pPr>
            <a:r>
              <a:rPr lang="en-US" sz="1200" dirty="0">
                <a:solidFill>
                  <a:srgbClr val="4EC9B0"/>
                </a:solidFill>
                <a:latin typeface="Consolas" pitchFamily="34" charset="0"/>
                <a:ea typeface="Consolas" pitchFamily="34" charset="-122"/>
                <a:cs typeface="Consolas" pitchFamily="34" charset="-120"/>
              </a:rPr>
              <a:t>kubectl get pods -w</a:t>
            </a:r>
            <a:endParaRPr lang="en-US" sz="1200" dirty="0"/>
          </a:p>
        </p:txBody>
      </p:sp>
      <p:sp>
        <p:nvSpPr>
          <p:cNvPr id="20" name="Shape 18"/>
          <p:cNvSpPr/>
          <p:nvPr/>
        </p:nvSpPr>
        <p:spPr>
          <a:xfrm>
            <a:off x="0" y="5029200"/>
            <a:ext cx="9144000" cy="109728"/>
          </a:xfrm>
          <a:prstGeom prst="rect">
            <a:avLst/>
          </a:prstGeom>
          <a:solidFill>
            <a:srgbClr val="1B8A8F"/>
          </a:solidFill>
          <a:ln w="12700">
            <a:solidFill>
              <a:srgbClr val="1B8A8F"/>
            </a:solidFill>
            <a:prstDash val="solid"/>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4F5"/>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1B8A8F"/>
          </a:solidFill>
          <a:ln w="12700">
            <a:solidFill>
              <a:srgbClr val="1B8A8F"/>
            </a:solidFill>
            <a:prstDash val="solid"/>
          </a:ln>
        </p:spPr>
      </p:sp>
      <p:sp>
        <p:nvSpPr>
          <p:cNvPr id="3" name="Text 1"/>
          <p:cNvSpPr/>
          <p:nvPr/>
        </p:nvSpPr>
        <p:spPr>
          <a:xfrm>
            <a:off x="457200" y="292608"/>
            <a:ext cx="8229600" cy="502920"/>
          </a:xfrm>
          <a:prstGeom prst="rect">
            <a:avLst/>
          </a:prstGeom>
          <a:noFill/>
          <a:ln/>
        </p:spPr>
        <p:txBody>
          <a:bodyPr wrap="square" lIns="0" tIns="0" rIns="0" bIns="0" rtlCol="0" anchor="ctr"/>
          <a:lstStyle/>
          <a:p>
            <a:pPr algn="l" indent="0" marL="0">
              <a:buNone/>
            </a:pPr>
            <a:r>
              <a:rPr lang="en-US" sz="2800" b="1" dirty="0">
                <a:solidFill>
                  <a:srgbClr val="0D1B2A"/>
                </a:solidFill>
                <a:latin typeface="Calibri" pitchFamily="34" charset="0"/>
                <a:ea typeface="Calibri" pitchFamily="34" charset="-122"/>
                <a:cs typeface="Calibri" pitchFamily="34" charset="-120"/>
              </a:rPr>
              <a:t>The Fix — Two Changes to rbac.yaml</a:t>
            </a:r>
            <a:endParaRPr lang="en-US" sz="2800" dirty="0"/>
          </a:p>
        </p:txBody>
      </p:sp>
      <p:sp>
        <p:nvSpPr>
          <p:cNvPr id="4" name="Shape 2"/>
          <p:cNvSpPr/>
          <p:nvPr/>
        </p:nvSpPr>
        <p:spPr>
          <a:xfrm>
            <a:off x="365760" y="960120"/>
            <a:ext cx="8412480" cy="1783080"/>
          </a:xfrm>
          <a:prstGeom prst="rect">
            <a:avLst/>
          </a:prstGeom>
          <a:solidFill>
            <a:srgbClr val="FFFFFF"/>
          </a:solidFill>
          <a:ln w="12700">
            <a:solidFill>
              <a:srgbClr val="1B8A8F"/>
            </a:solidFill>
            <a:prstDash val="solid"/>
          </a:ln>
          <a:effectLst>
            <a:outerShdw sx="100000" sy="100000" kx="0" ky="0" algn="bl" rotWithShape="0" blurRad="63500" dist="25400" dir="8100000">
              <a:srgbClr val="000000">
                <a:alpha val="10000"/>
              </a:srgbClr>
            </a:outerShdw>
          </a:effectLst>
        </p:spPr>
      </p:sp>
      <p:sp>
        <p:nvSpPr>
          <p:cNvPr id="5" name="Text 3"/>
          <p:cNvSpPr/>
          <p:nvPr/>
        </p:nvSpPr>
        <p:spPr>
          <a:xfrm>
            <a:off x="502920" y="1051560"/>
            <a:ext cx="1097280" cy="256032"/>
          </a:xfrm>
          <a:prstGeom prst="rect">
            <a:avLst/>
          </a:prstGeom>
          <a:noFill/>
          <a:ln/>
        </p:spPr>
        <p:txBody>
          <a:bodyPr wrap="square" lIns="0" tIns="0" rIns="0" bIns="0" rtlCol="0" anchor="ctr"/>
          <a:lstStyle/>
          <a:p>
            <a:pPr indent="0" marL="0">
              <a:buNone/>
            </a:pPr>
            <a:r>
              <a:rPr lang="en-US" sz="1100" b="1" dirty="0">
                <a:solidFill>
                  <a:srgbClr val="1B8A8F"/>
                </a:solidFill>
                <a:latin typeface="Calibri" pitchFamily="34" charset="0"/>
                <a:ea typeface="Calibri" pitchFamily="34" charset="-122"/>
                <a:cs typeface="Calibri" pitchFamily="34" charset="-120"/>
              </a:rPr>
              <a:t>Fix 1</a:t>
            </a:r>
            <a:endParaRPr lang="en-US" sz="1100" dirty="0"/>
          </a:p>
        </p:txBody>
      </p:sp>
      <p:sp>
        <p:nvSpPr>
          <p:cNvPr id="6" name="Text 4"/>
          <p:cNvSpPr/>
          <p:nvPr/>
        </p:nvSpPr>
        <p:spPr>
          <a:xfrm>
            <a:off x="502920" y="1307592"/>
            <a:ext cx="8046720" cy="329184"/>
          </a:xfrm>
          <a:prstGeom prst="rect">
            <a:avLst/>
          </a:prstGeom>
          <a:noFill/>
          <a:ln/>
        </p:spPr>
        <p:txBody>
          <a:bodyPr wrap="square" lIns="0" tIns="0" rIns="0" bIns="0" rtlCol="0" anchor="ctr"/>
          <a:lstStyle/>
          <a:p>
            <a:pPr indent="0" marL="0">
              <a:buNone/>
            </a:pPr>
            <a:r>
              <a:rPr lang="en-US" sz="1500" b="1" dirty="0">
                <a:solidFill>
                  <a:srgbClr val="0D1B2A"/>
                </a:solidFill>
                <a:latin typeface="Calibri" pitchFamily="34" charset="0"/>
                <a:ea typeface="Calibri" pitchFamily="34" charset="-122"/>
                <a:cs typeface="Calibri" pitchFamily="34" charset="-120"/>
              </a:rPr>
              <a:t>Move the Role to the correct namespace</a:t>
            </a:r>
            <a:endParaRPr lang="en-US" sz="1500" dirty="0"/>
          </a:p>
        </p:txBody>
      </p:sp>
      <p:sp>
        <p:nvSpPr>
          <p:cNvPr id="7" name="Shape 5"/>
          <p:cNvSpPr/>
          <p:nvPr/>
        </p:nvSpPr>
        <p:spPr>
          <a:xfrm>
            <a:off x="502920" y="1709928"/>
            <a:ext cx="3657600" cy="365760"/>
          </a:xfrm>
          <a:prstGeom prst="rect">
            <a:avLst/>
          </a:prstGeom>
          <a:solidFill>
            <a:srgbClr val="FAE5E5"/>
          </a:solidFill>
          <a:ln w="12700">
            <a:solidFill>
              <a:srgbClr val="C0392B"/>
            </a:solidFill>
            <a:prstDash val="solid"/>
          </a:ln>
        </p:spPr>
      </p:sp>
      <p:sp>
        <p:nvSpPr>
          <p:cNvPr id="8" name="Text 6"/>
          <p:cNvSpPr/>
          <p:nvPr/>
        </p:nvSpPr>
        <p:spPr>
          <a:xfrm>
            <a:off x="594360" y="1728216"/>
            <a:ext cx="3474720" cy="329184"/>
          </a:xfrm>
          <a:prstGeom prst="rect">
            <a:avLst/>
          </a:prstGeom>
          <a:noFill/>
          <a:ln/>
        </p:spPr>
        <p:txBody>
          <a:bodyPr wrap="square" lIns="0" tIns="0" rIns="0" bIns="0" rtlCol="0" anchor="ctr"/>
          <a:lstStyle/>
          <a:p>
            <a:pPr indent="0" marL="0">
              <a:buNone/>
            </a:pPr>
            <a:r>
              <a:rPr lang="en-US" sz="1100" dirty="0">
                <a:solidFill>
                  <a:srgbClr val="C0392B"/>
                </a:solidFill>
                <a:latin typeface="Consolas" pitchFamily="34" charset="0"/>
                <a:ea typeface="Consolas" pitchFamily="34" charset="-122"/>
                <a:cs typeface="Consolas" pitchFamily="34" charset="-120"/>
              </a:rPr>
              <a:t>BEFORE: namespace: default</a:t>
            </a:r>
            <a:endParaRPr lang="en-US" sz="1100" dirty="0"/>
          </a:p>
        </p:txBody>
      </p:sp>
      <p:sp>
        <p:nvSpPr>
          <p:cNvPr id="9" name="Shape 7"/>
          <p:cNvSpPr/>
          <p:nvPr/>
        </p:nvSpPr>
        <p:spPr>
          <a:xfrm>
            <a:off x="4315968" y="1709928"/>
            <a:ext cx="4315968" cy="365760"/>
          </a:xfrm>
          <a:prstGeom prst="rect">
            <a:avLst/>
          </a:prstGeom>
          <a:solidFill>
            <a:srgbClr val="E5FAF0"/>
          </a:solidFill>
          <a:ln w="12700">
            <a:solidFill>
              <a:srgbClr val="1A7A4A"/>
            </a:solidFill>
            <a:prstDash val="solid"/>
          </a:ln>
        </p:spPr>
      </p:sp>
      <p:sp>
        <p:nvSpPr>
          <p:cNvPr id="10" name="Text 8"/>
          <p:cNvSpPr/>
          <p:nvPr/>
        </p:nvSpPr>
        <p:spPr>
          <a:xfrm>
            <a:off x="4407408" y="1728216"/>
            <a:ext cx="4114800" cy="329184"/>
          </a:xfrm>
          <a:prstGeom prst="rect">
            <a:avLst/>
          </a:prstGeom>
          <a:noFill/>
          <a:ln/>
        </p:spPr>
        <p:txBody>
          <a:bodyPr wrap="square" lIns="0" tIns="0" rIns="0" bIns="0" rtlCol="0" anchor="ctr"/>
          <a:lstStyle/>
          <a:p>
            <a:pPr indent="0" marL="0">
              <a:buNone/>
            </a:pPr>
            <a:r>
              <a:rPr lang="en-US" sz="1100" dirty="0">
                <a:solidFill>
                  <a:srgbClr val="1A7A4A"/>
                </a:solidFill>
                <a:latin typeface="Consolas" pitchFamily="34" charset="0"/>
                <a:ea typeface="Consolas" pitchFamily="34" charset="-122"/>
                <a:cs typeface="Consolas" pitchFamily="34" charset="-120"/>
              </a:rPr>
              <a:t>AFTER:  namespace: monitoring</a:t>
            </a:r>
            <a:endParaRPr lang="en-US" sz="1100" dirty="0"/>
          </a:p>
        </p:txBody>
      </p:sp>
      <p:sp>
        <p:nvSpPr>
          <p:cNvPr id="11" name="Text 9"/>
          <p:cNvSpPr/>
          <p:nvPr/>
        </p:nvSpPr>
        <p:spPr>
          <a:xfrm>
            <a:off x="502920" y="2148840"/>
            <a:ext cx="8046720" cy="475488"/>
          </a:xfrm>
          <a:prstGeom prst="rect">
            <a:avLst/>
          </a:prstGeom>
          <a:noFill/>
          <a:ln/>
        </p:spPr>
        <p:txBody>
          <a:bodyPr wrap="square" lIns="0" tIns="0" rIns="0" bIns="0" rtlCol="0" anchor="ctr"/>
          <a:lstStyle/>
          <a:p>
            <a:pPr indent="0" marL="0">
              <a:buNone/>
            </a:pPr>
            <a:r>
              <a:rPr lang="en-US" sz="1200" i="1" dirty="0">
                <a:solidFill>
                  <a:srgbClr val="1A2E35"/>
                </a:solidFill>
                <a:latin typeface="Calibri" pitchFamily="34" charset="0"/>
                <a:ea typeface="Calibri" pitchFamily="34" charset="-122"/>
                <a:cs typeface="Calibri" pitchFamily="34" charset="-120"/>
              </a:rPr>
              <a:t>Role and RoleBinding must be in the same namespace. The binding was looking for pod-reader in monitoring — moving the Role there makes the binding work.</a:t>
            </a:r>
            <a:endParaRPr lang="en-US" sz="1200" dirty="0"/>
          </a:p>
        </p:txBody>
      </p:sp>
      <p:sp>
        <p:nvSpPr>
          <p:cNvPr id="12" name="Shape 10"/>
          <p:cNvSpPr/>
          <p:nvPr/>
        </p:nvSpPr>
        <p:spPr>
          <a:xfrm>
            <a:off x="365760" y="2953512"/>
            <a:ext cx="8412480" cy="1783080"/>
          </a:xfrm>
          <a:prstGeom prst="rect">
            <a:avLst/>
          </a:prstGeom>
          <a:solidFill>
            <a:srgbClr val="FFFFFF"/>
          </a:solidFill>
          <a:ln w="12700">
            <a:solidFill>
              <a:srgbClr val="1B8A8F"/>
            </a:solidFill>
            <a:prstDash val="solid"/>
          </a:ln>
          <a:effectLst>
            <a:outerShdw sx="100000" sy="100000" kx="0" ky="0" algn="bl" rotWithShape="0" blurRad="63500" dist="25400" dir="8100000">
              <a:srgbClr val="000000">
                <a:alpha val="10000"/>
              </a:srgbClr>
            </a:outerShdw>
          </a:effectLst>
        </p:spPr>
      </p:sp>
      <p:sp>
        <p:nvSpPr>
          <p:cNvPr id="13" name="Text 11"/>
          <p:cNvSpPr/>
          <p:nvPr/>
        </p:nvSpPr>
        <p:spPr>
          <a:xfrm>
            <a:off x="502920" y="3044952"/>
            <a:ext cx="1097280" cy="256032"/>
          </a:xfrm>
          <a:prstGeom prst="rect">
            <a:avLst/>
          </a:prstGeom>
          <a:noFill/>
          <a:ln/>
        </p:spPr>
        <p:txBody>
          <a:bodyPr wrap="square" lIns="0" tIns="0" rIns="0" bIns="0" rtlCol="0" anchor="ctr"/>
          <a:lstStyle/>
          <a:p>
            <a:pPr indent="0" marL="0">
              <a:buNone/>
            </a:pPr>
            <a:r>
              <a:rPr lang="en-US" sz="1100" b="1" dirty="0">
                <a:solidFill>
                  <a:srgbClr val="1B8A8F"/>
                </a:solidFill>
                <a:latin typeface="Calibri" pitchFamily="34" charset="0"/>
                <a:ea typeface="Calibri" pitchFamily="34" charset="-122"/>
                <a:cs typeface="Calibri" pitchFamily="34" charset="-120"/>
              </a:rPr>
              <a:t>Fix 2</a:t>
            </a:r>
            <a:endParaRPr lang="en-US" sz="1100" dirty="0"/>
          </a:p>
        </p:txBody>
      </p:sp>
      <p:sp>
        <p:nvSpPr>
          <p:cNvPr id="14" name="Text 12"/>
          <p:cNvSpPr/>
          <p:nvPr/>
        </p:nvSpPr>
        <p:spPr>
          <a:xfrm>
            <a:off x="502920" y="3300984"/>
            <a:ext cx="8046720" cy="329184"/>
          </a:xfrm>
          <a:prstGeom prst="rect">
            <a:avLst/>
          </a:prstGeom>
          <a:noFill/>
          <a:ln/>
        </p:spPr>
        <p:txBody>
          <a:bodyPr wrap="square" lIns="0" tIns="0" rIns="0" bIns="0" rtlCol="0" anchor="ctr"/>
          <a:lstStyle/>
          <a:p>
            <a:pPr indent="0" marL="0">
              <a:buNone/>
            </a:pPr>
            <a:r>
              <a:rPr lang="en-US" sz="1500" b="1" dirty="0">
                <a:solidFill>
                  <a:srgbClr val="0D1B2A"/>
                </a:solidFill>
                <a:latin typeface="Calibri" pitchFamily="34" charset="0"/>
                <a:ea typeface="Calibri" pitchFamily="34" charset="-122"/>
                <a:cs typeface="Calibri" pitchFamily="34" charset="-120"/>
              </a:rPr>
              <a:t>Add the missing list verb</a:t>
            </a:r>
            <a:endParaRPr lang="en-US" sz="1500" dirty="0"/>
          </a:p>
        </p:txBody>
      </p:sp>
      <p:sp>
        <p:nvSpPr>
          <p:cNvPr id="15" name="Shape 13"/>
          <p:cNvSpPr/>
          <p:nvPr/>
        </p:nvSpPr>
        <p:spPr>
          <a:xfrm>
            <a:off x="502920" y="3703320"/>
            <a:ext cx="3657600" cy="365760"/>
          </a:xfrm>
          <a:prstGeom prst="rect">
            <a:avLst/>
          </a:prstGeom>
          <a:solidFill>
            <a:srgbClr val="FAE5E5"/>
          </a:solidFill>
          <a:ln w="12700">
            <a:solidFill>
              <a:srgbClr val="C0392B"/>
            </a:solidFill>
            <a:prstDash val="solid"/>
          </a:ln>
        </p:spPr>
      </p:sp>
      <p:sp>
        <p:nvSpPr>
          <p:cNvPr id="16" name="Text 14"/>
          <p:cNvSpPr/>
          <p:nvPr/>
        </p:nvSpPr>
        <p:spPr>
          <a:xfrm>
            <a:off x="594360" y="3721608"/>
            <a:ext cx="3474720" cy="329184"/>
          </a:xfrm>
          <a:prstGeom prst="rect">
            <a:avLst/>
          </a:prstGeom>
          <a:noFill/>
          <a:ln/>
        </p:spPr>
        <p:txBody>
          <a:bodyPr wrap="square" lIns="0" tIns="0" rIns="0" bIns="0" rtlCol="0" anchor="ctr"/>
          <a:lstStyle/>
          <a:p>
            <a:pPr indent="0" marL="0">
              <a:buNone/>
            </a:pPr>
            <a:r>
              <a:rPr lang="en-US" sz="1100" dirty="0">
                <a:solidFill>
                  <a:srgbClr val="C0392B"/>
                </a:solidFill>
                <a:latin typeface="Consolas" pitchFamily="34" charset="0"/>
                <a:ea typeface="Consolas" pitchFamily="34" charset="-122"/>
                <a:cs typeface="Consolas" pitchFamily="34" charset="-120"/>
              </a:rPr>
              <a:t>BEFORE: verbs: ["get", "watch"]</a:t>
            </a:r>
            <a:endParaRPr lang="en-US" sz="1100" dirty="0"/>
          </a:p>
        </p:txBody>
      </p:sp>
      <p:sp>
        <p:nvSpPr>
          <p:cNvPr id="17" name="Shape 15"/>
          <p:cNvSpPr/>
          <p:nvPr/>
        </p:nvSpPr>
        <p:spPr>
          <a:xfrm>
            <a:off x="4315968" y="3703320"/>
            <a:ext cx="4315968" cy="365760"/>
          </a:xfrm>
          <a:prstGeom prst="rect">
            <a:avLst/>
          </a:prstGeom>
          <a:solidFill>
            <a:srgbClr val="E5FAF0"/>
          </a:solidFill>
          <a:ln w="12700">
            <a:solidFill>
              <a:srgbClr val="1A7A4A"/>
            </a:solidFill>
            <a:prstDash val="solid"/>
          </a:ln>
        </p:spPr>
      </p:sp>
      <p:sp>
        <p:nvSpPr>
          <p:cNvPr id="18" name="Text 16"/>
          <p:cNvSpPr/>
          <p:nvPr/>
        </p:nvSpPr>
        <p:spPr>
          <a:xfrm>
            <a:off x="4407408" y="3721608"/>
            <a:ext cx="4114800" cy="329184"/>
          </a:xfrm>
          <a:prstGeom prst="rect">
            <a:avLst/>
          </a:prstGeom>
          <a:noFill/>
          <a:ln/>
        </p:spPr>
        <p:txBody>
          <a:bodyPr wrap="square" lIns="0" tIns="0" rIns="0" bIns="0" rtlCol="0" anchor="ctr"/>
          <a:lstStyle/>
          <a:p>
            <a:pPr indent="0" marL="0">
              <a:buNone/>
            </a:pPr>
            <a:r>
              <a:rPr lang="en-US" sz="1100" dirty="0">
                <a:solidFill>
                  <a:srgbClr val="1A7A4A"/>
                </a:solidFill>
                <a:latin typeface="Consolas" pitchFamily="34" charset="0"/>
                <a:ea typeface="Consolas" pitchFamily="34" charset="-122"/>
                <a:cs typeface="Consolas" pitchFamily="34" charset="-120"/>
              </a:rPr>
              <a:t>AFTER:  verbs: ["get", "list", "watch"]</a:t>
            </a:r>
            <a:endParaRPr lang="en-US" sz="1100" dirty="0"/>
          </a:p>
        </p:txBody>
      </p:sp>
      <p:sp>
        <p:nvSpPr>
          <p:cNvPr id="19" name="Text 17"/>
          <p:cNvSpPr/>
          <p:nvPr/>
        </p:nvSpPr>
        <p:spPr>
          <a:xfrm>
            <a:off x="502920" y="4142232"/>
            <a:ext cx="8046720" cy="475488"/>
          </a:xfrm>
          <a:prstGeom prst="rect">
            <a:avLst/>
          </a:prstGeom>
          <a:noFill/>
          <a:ln/>
        </p:spPr>
        <p:txBody>
          <a:bodyPr wrap="square" lIns="0" tIns="0" rIns="0" bIns="0" rtlCol="0" anchor="ctr"/>
          <a:lstStyle/>
          <a:p>
            <a:pPr indent="0" marL="0">
              <a:buNone/>
            </a:pPr>
            <a:r>
              <a:rPr lang="en-US" sz="1200" i="1" dirty="0">
                <a:solidFill>
                  <a:srgbClr val="1A2E35"/>
                </a:solidFill>
                <a:latin typeface="Calibri" pitchFamily="34" charset="0"/>
                <a:ea typeface="Calibri" pitchFamily="34" charset="-122"/>
                <a:cs typeface="Calibri" pitchFamily="34" charset="-120"/>
              </a:rPr>
              <a:t>get and list are different permissions. get retrieves one pod by name. list retrieves all pods. The monitoring system needs both.</a:t>
            </a:r>
            <a:endParaRPr lang="en-US" sz="1200" dirty="0"/>
          </a:p>
        </p:txBody>
      </p:sp>
      <p:sp>
        <p:nvSpPr>
          <p:cNvPr id="20" name="Shape 18"/>
          <p:cNvSpPr/>
          <p:nvPr/>
        </p:nvSpPr>
        <p:spPr>
          <a:xfrm>
            <a:off x="0" y="5029200"/>
            <a:ext cx="9144000" cy="109728"/>
          </a:xfrm>
          <a:prstGeom prst="rect">
            <a:avLst/>
          </a:prstGeom>
          <a:solidFill>
            <a:srgbClr val="1B8A8F"/>
          </a:solidFill>
          <a:ln w="12700">
            <a:solidFill>
              <a:srgbClr val="1B8A8F"/>
            </a:solidFill>
            <a:prstDash val="solid"/>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1B8A8F"/>
          </a:solidFill>
          <a:ln w="12700">
            <a:solidFill>
              <a:srgbClr val="1B8A8F"/>
            </a:solidFill>
            <a:prstDash val="solid"/>
          </a:ln>
        </p:spPr>
      </p:sp>
      <p:sp>
        <p:nvSpPr>
          <p:cNvPr id="3" name="Text 1"/>
          <p:cNvSpPr/>
          <p:nvPr/>
        </p:nvSpPr>
        <p:spPr>
          <a:xfrm>
            <a:off x="457200" y="292608"/>
            <a:ext cx="8229600" cy="502920"/>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Real-World Relevance</a:t>
            </a:r>
            <a:endParaRPr lang="en-US" sz="2800" dirty="0"/>
          </a:p>
        </p:txBody>
      </p:sp>
      <p:sp>
        <p:nvSpPr>
          <p:cNvPr id="4" name="Shape 2"/>
          <p:cNvSpPr/>
          <p:nvPr/>
        </p:nvSpPr>
        <p:spPr>
          <a:xfrm>
            <a:off x="365760" y="960120"/>
            <a:ext cx="4206240" cy="1719072"/>
          </a:xfrm>
          <a:prstGeom prst="rect">
            <a:avLst/>
          </a:prstGeom>
          <a:solidFill>
            <a:srgbClr val="162534"/>
          </a:solidFill>
          <a:ln w="12700">
            <a:solidFill>
              <a:srgbClr val="1B8A8F"/>
            </a:solidFill>
            <a:prstDash val="solid"/>
          </a:ln>
          <a:effectLst>
            <a:outerShdw sx="100000" sy="100000" kx="0" ky="0" algn="bl" rotWithShape="0" blurRad="76200" dist="38100" dir="8100000">
              <a:srgbClr val="000000">
                <a:alpha val="20000"/>
              </a:srgbClr>
            </a:outerShdw>
          </a:effectLst>
        </p:spPr>
      </p:sp>
      <p:sp>
        <p:nvSpPr>
          <p:cNvPr id="5" name="Shape 3"/>
          <p:cNvSpPr/>
          <p:nvPr/>
        </p:nvSpPr>
        <p:spPr>
          <a:xfrm>
            <a:off x="365760" y="960120"/>
            <a:ext cx="4206240" cy="73152"/>
          </a:xfrm>
          <a:prstGeom prst="rect">
            <a:avLst/>
          </a:prstGeom>
          <a:solidFill>
            <a:srgbClr val="1B8A8F"/>
          </a:solidFill>
          <a:ln w="12700">
            <a:solidFill>
              <a:srgbClr val="1B8A8F"/>
            </a:solidFill>
            <a:prstDash val="solid"/>
          </a:ln>
        </p:spPr>
      </p:sp>
      <p:sp>
        <p:nvSpPr>
          <p:cNvPr id="6" name="Text 4"/>
          <p:cNvSpPr/>
          <p:nvPr/>
        </p:nvSpPr>
        <p:spPr>
          <a:xfrm>
            <a:off x="530352" y="1106424"/>
            <a:ext cx="3886200"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rbac.yaml ships with the workload</a:t>
            </a:r>
            <a:endParaRPr lang="en-US" sz="1400" dirty="0"/>
          </a:p>
        </p:txBody>
      </p:sp>
      <p:sp>
        <p:nvSpPr>
          <p:cNvPr id="7" name="Text 5"/>
          <p:cNvSpPr/>
          <p:nvPr/>
        </p:nvSpPr>
        <p:spPr>
          <a:xfrm>
            <a:off x="530352" y="1527048"/>
            <a:ext cx="3886200" cy="1005840"/>
          </a:xfrm>
          <a:prstGeom prst="rect">
            <a:avLst/>
          </a:prstGeom>
          <a:noFill/>
          <a:ln/>
        </p:spPr>
        <p:txBody>
          <a:bodyPr wrap="square" lIns="0" tIns="0" rIns="0" bIns="0" rtlCol="0" anchor="ctr"/>
          <a:lstStyle/>
          <a:p>
            <a:pPr indent="0" marL="0">
              <a:buNone/>
            </a:pPr>
            <a:r>
              <a:rPr lang="en-US" sz="1200" dirty="0">
                <a:solidFill>
                  <a:srgbClr val="C9D6D8"/>
                </a:solidFill>
                <a:latin typeface="Calibri" pitchFamily="34" charset="0"/>
                <a:ea typeface="Calibri" pitchFamily="34" charset="-122"/>
                <a:cs typeface="Calibri" pitchFamily="34" charset="-120"/>
              </a:rPr>
              <a:t>In production, the ServiceAccount, Role, and RoleBinding are bundled alongside the Deployment. Applied together — so permissions are set at creation time.</a:t>
            </a:r>
            <a:endParaRPr lang="en-US" sz="1200" dirty="0"/>
          </a:p>
        </p:txBody>
      </p:sp>
      <p:sp>
        <p:nvSpPr>
          <p:cNvPr id="8" name="Shape 6"/>
          <p:cNvSpPr/>
          <p:nvPr/>
        </p:nvSpPr>
        <p:spPr>
          <a:xfrm>
            <a:off x="4754880" y="960120"/>
            <a:ext cx="4206240" cy="1719072"/>
          </a:xfrm>
          <a:prstGeom prst="rect">
            <a:avLst/>
          </a:prstGeom>
          <a:solidFill>
            <a:srgbClr val="162534"/>
          </a:solidFill>
          <a:ln w="12700">
            <a:solidFill>
              <a:srgbClr val="1B8A8F"/>
            </a:solidFill>
            <a:prstDash val="solid"/>
          </a:ln>
          <a:effectLst>
            <a:outerShdw sx="100000" sy="100000" kx="0" ky="0" algn="bl" rotWithShape="0" blurRad="76200" dist="38100" dir="8100000">
              <a:srgbClr val="000000">
                <a:alpha val="20000"/>
              </a:srgbClr>
            </a:outerShdw>
          </a:effectLst>
        </p:spPr>
      </p:sp>
      <p:sp>
        <p:nvSpPr>
          <p:cNvPr id="9" name="Shape 7"/>
          <p:cNvSpPr/>
          <p:nvPr/>
        </p:nvSpPr>
        <p:spPr>
          <a:xfrm>
            <a:off x="4754880" y="960120"/>
            <a:ext cx="4206240" cy="73152"/>
          </a:xfrm>
          <a:prstGeom prst="rect">
            <a:avLst/>
          </a:prstGeom>
          <a:solidFill>
            <a:srgbClr val="1B8A8F"/>
          </a:solidFill>
          <a:ln w="12700">
            <a:solidFill>
              <a:srgbClr val="1B8A8F"/>
            </a:solidFill>
            <a:prstDash val="solid"/>
          </a:ln>
        </p:spPr>
      </p:sp>
      <p:sp>
        <p:nvSpPr>
          <p:cNvPr id="10" name="Text 8"/>
          <p:cNvSpPr/>
          <p:nvPr/>
        </p:nvSpPr>
        <p:spPr>
          <a:xfrm>
            <a:off x="4919472" y="1106424"/>
            <a:ext cx="3886200"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rbac.yaml is your first stop</a:t>
            </a:r>
            <a:endParaRPr lang="en-US" sz="1400" dirty="0"/>
          </a:p>
        </p:txBody>
      </p:sp>
      <p:sp>
        <p:nvSpPr>
          <p:cNvPr id="11" name="Text 9"/>
          <p:cNvSpPr/>
          <p:nvPr/>
        </p:nvSpPr>
        <p:spPr>
          <a:xfrm>
            <a:off x="4919472" y="1527048"/>
            <a:ext cx="3886200" cy="1005840"/>
          </a:xfrm>
          <a:prstGeom prst="rect">
            <a:avLst/>
          </a:prstGeom>
          <a:noFill/>
          <a:ln/>
        </p:spPr>
        <p:txBody>
          <a:bodyPr wrap="square" lIns="0" tIns="0" rIns="0" bIns="0" rtlCol="0" anchor="ctr"/>
          <a:lstStyle/>
          <a:p>
            <a:pPr indent="0" marL="0">
              <a:buNone/>
            </a:pPr>
            <a:r>
              <a:rPr lang="en-US" sz="1200" dirty="0">
                <a:solidFill>
                  <a:srgbClr val="C9D6D8"/>
                </a:solidFill>
                <a:latin typeface="Calibri" pitchFamily="34" charset="0"/>
                <a:ea typeface="Calibri" pitchFamily="34" charset="-122"/>
                <a:cs typeface="Calibri" pitchFamily="34" charset="-120"/>
              </a:rPr>
              <a:t>Once kubectl auth can-i confirms an RBAC problem, the rbac.yaml in the app's git repo is where you look. If you don't have the file, pull it live: kubectl get role pod-reader -n monitoring -o yaml</a:t>
            </a:r>
            <a:endParaRPr lang="en-US" sz="1200" dirty="0"/>
          </a:p>
        </p:txBody>
      </p:sp>
      <p:sp>
        <p:nvSpPr>
          <p:cNvPr id="12" name="Shape 10"/>
          <p:cNvSpPr/>
          <p:nvPr/>
        </p:nvSpPr>
        <p:spPr>
          <a:xfrm>
            <a:off x="365760" y="2926080"/>
            <a:ext cx="4206240" cy="1719072"/>
          </a:xfrm>
          <a:prstGeom prst="rect">
            <a:avLst/>
          </a:prstGeom>
          <a:solidFill>
            <a:srgbClr val="162534"/>
          </a:solidFill>
          <a:ln w="12700">
            <a:solidFill>
              <a:srgbClr val="1B8A8F"/>
            </a:solidFill>
            <a:prstDash val="solid"/>
          </a:ln>
          <a:effectLst>
            <a:outerShdw sx="100000" sy="100000" kx="0" ky="0" algn="bl" rotWithShape="0" blurRad="76200" dist="38100" dir="8100000">
              <a:srgbClr val="000000">
                <a:alpha val="20000"/>
              </a:srgbClr>
            </a:outerShdw>
          </a:effectLst>
        </p:spPr>
      </p:sp>
      <p:sp>
        <p:nvSpPr>
          <p:cNvPr id="13" name="Shape 11"/>
          <p:cNvSpPr/>
          <p:nvPr/>
        </p:nvSpPr>
        <p:spPr>
          <a:xfrm>
            <a:off x="365760" y="2926080"/>
            <a:ext cx="4206240" cy="73152"/>
          </a:xfrm>
          <a:prstGeom prst="rect">
            <a:avLst/>
          </a:prstGeom>
          <a:solidFill>
            <a:srgbClr val="1B8A8F"/>
          </a:solidFill>
          <a:ln w="12700">
            <a:solidFill>
              <a:srgbClr val="1B8A8F"/>
            </a:solidFill>
            <a:prstDash val="solid"/>
          </a:ln>
        </p:spPr>
      </p:sp>
      <p:sp>
        <p:nvSpPr>
          <p:cNvPr id="14" name="Text 12"/>
          <p:cNvSpPr/>
          <p:nvPr/>
        </p:nvSpPr>
        <p:spPr>
          <a:xfrm>
            <a:off x="530352" y="3072384"/>
            <a:ext cx="3886200"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RBAC is deny-by-default</a:t>
            </a:r>
            <a:endParaRPr lang="en-US" sz="1400" dirty="0"/>
          </a:p>
        </p:txBody>
      </p:sp>
      <p:sp>
        <p:nvSpPr>
          <p:cNvPr id="15" name="Text 13"/>
          <p:cNvSpPr/>
          <p:nvPr/>
        </p:nvSpPr>
        <p:spPr>
          <a:xfrm>
            <a:off x="530352" y="3493008"/>
            <a:ext cx="3886200" cy="1005840"/>
          </a:xfrm>
          <a:prstGeom prst="rect">
            <a:avLst/>
          </a:prstGeom>
          <a:noFill/>
          <a:ln/>
        </p:spPr>
        <p:txBody>
          <a:bodyPr wrap="square" lIns="0" tIns="0" rIns="0" bIns="0" rtlCol="0" anchor="ctr"/>
          <a:lstStyle/>
          <a:p>
            <a:pPr indent="0" marL="0">
              <a:buNone/>
            </a:pPr>
            <a:r>
              <a:rPr lang="en-US" sz="1200" dirty="0">
                <a:solidFill>
                  <a:srgbClr val="C9D6D8"/>
                </a:solidFill>
                <a:latin typeface="Calibri" pitchFamily="34" charset="0"/>
                <a:ea typeface="Calibri" pitchFamily="34" charset="-122"/>
                <a:cs typeface="Calibri" pitchFamily="34" charset="-120"/>
              </a:rPr>
              <a:t>If no Role explicitly grants a permission, it is denied. You must grant every permission a workload needs — nothing is inherited.</a:t>
            </a:r>
            <a:endParaRPr lang="en-US" sz="1200" dirty="0"/>
          </a:p>
        </p:txBody>
      </p:sp>
      <p:sp>
        <p:nvSpPr>
          <p:cNvPr id="16" name="Shape 14"/>
          <p:cNvSpPr/>
          <p:nvPr/>
        </p:nvSpPr>
        <p:spPr>
          <a:xfrm>
            <a:off x="4754880" y="2926080"/>
            <a:ext cx="4206240" cy="1719072"/>
          </a:xfrm>
          <a:prstGeom prst="rect">
            <a:avLst/>
          </a:prstGeom>
          <a:solidFill>
            <a:srgbClr val="162534"/>
          </a:solidFill>
          <a:ln w="12700">
            <a:solidFill>
              <a:srgbClr val="1B8A8F"/>
            </a:solidFill>
            <a:prstDash val="solid"/>
          </a:ln>
          <a:effectLst>
            <a:outerShdw sx="100000" sy="100000" kx="0" ky="0" algn="bl" rotWithShape="0" blurRad="76200" dist="38100" dir="8100000">
              <a:srgbClr val="000000">
                <a:alpha val="20000"/>
              </a:srgbClr>
            </a:outerShdw>
          </a:effectLst>
        </p:spPr>
      </p:sp>
      <p:sp>
        <p:nvSpPr>
          <p:cNvPr id="17" name="Shape 15"/>
          <p:cNvSpPr/>
          <p:nvPr/>
        </p:nvSpPr>
        <p:spPr>
          <a:xfrm>
            <a:off x="4754880" y="2926080"/>
            <a:ext cx="4206240" cy="73152"/>
          </a:xfrm>
          <a:prstGeom prst="rect">
            <a:avLst/>
          </a:prstGeom>
          <a:solidFill>
            <a:srgbClr val="1B8A8F"/>
          </a:solidFill>
          <a:ln w="12700">
            <a:solidFill>
              <a:srgbClr val="1B8A8F"/>
            </a:solidFill>
            <a:prstDash val="solid"/>
          </a:ln>
        </p:spPr>
      </p:sp>
      <p:sp>
        <p:nvSpPr>
          <p:cNvPr id="18" name="Text 16"/>
          <p:cNvSpPr/>
          <p:nvPr/>
        </p:nvSpPr>
        <p:spPr>
          <a:xfrm>
            <a:off x="4919472" y="3072384"/>
            <a:ext cx="3886200"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Least privilege</a:t>
            </a:r>
            <a:endParaRPr lang="en-US" sz="1400" dirty="0"/>
          </a:p>
        </p:txBody>
      </p:sp>
      <p:sp>
        <p:nvSpPr>
          <p:cNvPr id="19" name="Text 17"/>
          <p:cNvSpPr/>
          <p:nvPr/>
        </p:nvSpPr>
        <p:spPr>
          <a:xfrm>
            <a:off x="4919472" y="3493008"/>
            <a:ext cx="3886200" cy="1005840"/>
          </a:xfrm>
          <a:prstGeom prst="rect">
            <a:avLst/>
          </a:prstGeom>
          <a:noFill/>
          <a:ln/>
        </p:spPr>
        <p:txBody>
          <a:bodyPr wrap="square" lIns="0" tIns="0" rIns="0" bIns="0" rtlCol="0" anchor="ctr"/>
          <a:lstStyle/>
          <a:p>
            <a:pPr indent="0" marL="0">
              <a:buNone/>
            </a:pPr>
            <a:r>
              <a:rPr lang="en-US" sz="1200" dirty="0">
                <a:solidFill>
                  <a:srgbClr val="C9D6D8"/>
                </a:solidFill>
                <a:latin typeface="Calibri" pitchFamily="34" charset="0"/>
                <a:ea typeface="Calibri" pitchFamily="34" charset="-122"/>
                <a:cs typeface="Calibri" pitchFamily="34" charset="-120"/>
              </a:rPr>
              <a:t>Grant only what's needed. For a monitoring tool, get, list, watch on pods is the right level. Nothing more.</a:t>
            </a:r>
            <a:endParaRPr lang="en-US" sz="1200" dirty="0"/>
          </a:p>
        </p:txBody>
      </p:sp>
      <p:sp>
        <p:nvSpPr>
          <p:cNvPr id="20" name="Shape 18"/>
          <p:cNvSpPr/>
          <p:nvPr/>
        </p:nvSpPr>
        <p:spPr>
          <a:xfrm>
            <a:off x="0" y="5029200"/>
            <a:ext cx="9144000" cy="109728"/>
          </a:xfrm>
          <a:prstGeom prst="rect">
            <a:avLst/>
          </a:prstGeom>
          <a:solidFill>
            <a:srgbClr val="1B8A8F"/>
          </a:solidFill>
          <a:ln w="12700">
            <a:solidFill>
              <a:srgbClr val="1B8A8F"/>
            </a:solidFill>
            <a:prstDash val="solid"/>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1B8A8F"/>
          </a:solidFill>
          <a:ln w="12700">
            <a:solidFill>
              <a:srgbClr val="1B8A8F"/>
            </a:solidFill>
            <a:prstDash val="solid"/>
          </a:ln>
        </p:spPr>
      </p:sp>
      <p:sp>
        <p:nvSpPr>
          <p:cNvPr id="3" name="Text 1"/>
          <p:cNvSpPr/>
          <p:nvPr/>
        </p:nvSpPr>
        <p:spPr>
          <a:xfrm>
            <a:off x="457200" y="292608"/>
            <a:ext cx="8229600" cy="502920"/>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Key Takeaways</a:t>
            </a:r>
            <a:endParaRPr lang="en-US" sz="2800" dirty="0"/>
          </a:p>
        </p:txBody>
      </p:sp>
      <p:pic>
        <p:nvPicPr>
          <p:cNvPr id="4" name="Image 0" descr="preencoded.png">    </p:cNvPr>
          <p:cNvPicPr>
            <a:picLocks noChangeAspect="1"/>
          </p:cNvPicPr>
          <p:nvPr/>
        </p:nvPicPr>
        <p:blipFill>
          <a:blip r:embed="rId1"/>
          <a:stretch>
            <a:fillRect/>
          </a:stretch>
        </p:blipFill>
        <p:spPr>
          <a:xfrm>
            <a:off x="365760" y="1060704"/>
            <a:ext cx="347472" cy="347472"/>
          </a:xfrm>
          <a:prstGeom prst="rect">
            <a:avLst/>
          </a:prstGeom>
        </p:spPr>
      </p:pic>
      <p:sp>
        <p:nvSpPr>
          <p:cNvPr id="5" name="Text 2"/>
          <p:cNvSpPr/>
          <p:nvPr/>
        </p:nvSpPr>
        <p:spPr>
          <a:xfrm>
            <a:off x="868680" y="987552"/>
            <a:ext cx="7955280" cy="54864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Namespaces are a hard boundary. A Role in default is invisible to monitoring.</a:t>
            </a:r>
            <a:endParaRPr lang="en-US" sz="1300" dirty="0"/>
          </a:p>
        </p:txBody>
      </p:sp>
      <p:sp>
        <p:nvSpPr>
          <p:cNvPr id="6" name="Shape 3"/>
          <p:cNvSpPr/>
          <p:nvPr/>
        </p:nvSpPr>
        <p:spPr>
          <a:xfrm>
            <a:off x="365760" y="1591056"/>
            <a:ext cx="8412480" cy="0"/>
          </a:xfrm>
          <a:prstGeom prst="line">
            <a:avLst/>
          </a:prstGeom>
          <a:noFill/>
          <a:ln w="12700">
            <a:solidFill>
              <a:srgbClr val="1A3040"/>
            </a:solidFill>
            <a:prstDash val="solid"/>
          </a:ln>
        </p:spPr>
      </p:sp>
      <p:pic>
        <p:nvPicPr>
          <p:cNvPr id="7" name="Image 1" descr="preencoded.png">    </p:cNvPr>
          <p:cNvPicPr>
            <a:picLocks noChangeAspect="1"/>
          </p:cNvPicPr>
          <p:nvPr/>
        </p:nvPicPr>
        <p:blipFill>
          <a:blip r:embed="rId2"/>
          <a:stretch>
            <a:fillRect/>
          </a:stretch>
        </p:blipFill>
        <p:spPr>
          <a:xfrm>
            <a:off x="365760" y="1709928"/>
            <a:ext cx="347472" cy="347472"/>
          </a:xfrm>
          <a:prstGeom prst="rect">
            <a:avLst/>
          </a:prstGeom>
        </p:spPr>
      </p:pic>
      <p:sp>
        <p:nvSpPr>
          <p:cNvPr id="8" name="Text 4"/>
          <p:cNvSpPr/>
          <p:nvPr/>
        </p:nvSpPr>
        <p:spPr>
          <a:xfrm>
            <a:off x="868680" y="1636776"/>
            <a:ext cx="7955280" cy="54864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Role + RoleBinding must be in the same namespace — or use a ClusterRole.</a:t>
            </a:r>
            <a:endParaRPr lang="en-US" sz="1300" dirty="0"/>
          </a:p>
        </p:txBody>
      </p:sp>
      <p:sp>
        <p:nvSpPr>
          <p:cNvPr id="9" name="Shape 5"/>
          <p:cNvSpPr/>
          <p:nvPr/>
        </p:nvSpPr>
        <p:spPr>
          <a:xfrm>
            <a:off x="365760" y="2240280"/>
            <a:ext cx="8412480" cy="0"/>
          </a:xfrm>
          <a:prstGeom prst="line">
            <a:avLst/>
          </a:prstGeom>
          <a:noFill/>
          <a:ln w="12700">
            <a:solidFill>
              <a:srgbClr val="1A3040"/>
            </a:solidFill>
            <a:prstDash val="solid"/>
          </a:ln>
        </p:spPr>
      </p:sp>
      <p:pic>
        <p:nvPicPr>
          <p:cNvPr id="10" name="Image 2" descr="preencoded.png">    </p:cNvPr>
          <p:cNvPicPr>
            <a:picLocks noChangeAspect="1"/>
          </p:cNvPicPr>
          <p:nvPr/>
        </p:nvPicPr>
        <p:blipFill>
          <a:blip r:embed="rId3"/>
          <a:stretch>
            <a:fillRect/>
          </a:stretch>
        </p:blipFill>
        <p:spPr>
          <a:xfrm>
            <a:off x="365760" y="2359152"/>
            <a:ext cx="347472" cy="347472"/>
          </a:xfrm>
          <a:prstGeom prst="rect">
            <a:avLst/>
          </a:prstGeom>
        </p:spPr>
      </p:pic>
      <p:sp>
        <p:nvSpPr>
          <p:cNvPr id="11" name="Text 6"/>
          <p:cNvSpPr/>
          <p:nvPr/>
        </p:nvSpPr>
        <p:spPr>
          <a:xfrm>
            <a:off x="868680" y="2286000"/>
            <a:ext cx="7955280" cy="54864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kubectl auth can-i is your first diagnostic tool. It tells you yes/no and why.</a:t>
            </a:r>
            <a:endParaRPr lang="en-US" sz="1300" dirty="0"/>
          </a:p>
        </p:txBody>
      </p:sp>
      <p:sp>
        <p:nvSpPr>
          <p:cNvPr id="12" name="Shape 7"/>
          <p:cNvSpPr/>
          <p:nvPr/>
        </p:nvSpPr>
        <p:spPr>
          <a:xfrm>
            <a:off x="365760" y="2889504"/>
            <a:ext cx="8412480" cy="0"/>
          </a:xfrm>
          <a:prstGeom prst="line">
            <a:avLst/>
          </a:prstGeom>
          <a:noFill/>
          <a:ln w="12700">
            <a:solidFill>
              <a:srgbClr val="1A3040"/>
            </a:solidFill>
            <a:prstDash val="solid"/>
          </a:ln>
        </p:spPr>
      </p:sp>
      <p:pic>
        <p:nvPicPr>
          <p:cNvPr id="13" name="Image 3" descr="preencoded.png">    </p:cNvPr>
          <p:cNvPicPr>
            <a:picLocks noChangeAspect="1"/>
          </p:cNvPicPr>
          <p:nvPr/>
        </p:nvPicPr>
        <p:blipFill>
          <a:blip r:embed="rId4"/>
          <a:stretch>
            <a:fillRect/>
          </a:stretch>
        </p:blipFill>
        <p:spPr>
          <a:xfrm>
            <a:off x="365760" y="3008376"/>
            <a:ext cx="347472" cy="347472"/>
          </a:xfrm>
          <a:prstGeom prst="rect">
            <a:avLst/>
          </a:prstGeom>
        </p:spPr>
      </p:pic>
      <p:sp>
        <p:nvSpPr>
          <p:cNvPr id="14" name="Text 8"/>
          <p:cNvSpPr/>
          <p:nvPr/>
        </p:nvSpPr>
        <p:spPr>
          <a:xfrm>
            <a:off x="868680" y="2935224"/>
            <a:ext cx="7955280" cy="54864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get, list, and watch are three separate permissions — you need all three for read-only monitoring.</a:t>
            </a:r>
            <a:endParaRPr lang="en-US" sz="1300" dirty="0"/>
          </a:p>
        </p:txBody>
      </p:sp>
      <p:sp>
        <p:nvSpPr>
          <p:cNvPr id="15" name="Shape 9"/>
          <p:cNvSpPr/>
          <p:nvPr/>
        </p:nvSpPr>
        <p:spPr>
          <a:xfrm>
            <a:off x="365760" y="3538728"/>
            <a:ext cx="8412480" cy="0"/>
          </a:xfrm>
          <a:prstGeom prst="line">
            <a:avLst/>
          </a:prstGeom>
          <a:noFill/>
          <a:ln w="12700">
            <a:solidFill>
              <a:srgbClr val="1A3040"/>
            </a:solidFill>
            <a:prstDash val="solid"/>
          </a:ln>
        </p:spPr>
      </p:sp>
      <p:pic>
        <p:nvPicPr>
          <p:cNvPr id="16" name="Image 4" descr="preencoded.png">    </p:cNvPr>
          <p:cNvPicPr>
            <a:picLocks noChangeAspect="1"/>
          </p:cNvPicPr>
          <p:nvPr/>
        </p:nvPicPr>
        <p:blipFill>
          <a:blip r:embed="rId5"/>
          <a:stretch>
            <a:fillRect/>
          </a:stretch>
        </p:blipFill>
        <p:spPr>
          <a:xfrm>
            <a:off x="365760" y="3657600"/>
            <a:ext cx="347472" cy="347472"/>
          </a:xfrm>
          <a:prstGeom prst="rect">
            <a:avLst/>
          </a:prstGeom>
        </p:spPr>
      </p:pic>
      <p:sp>
        <p:nvSpPr>
          <p:cNvPr id="17" name="Text 10"/>
          <p:cNvSpPr/>
          <p:nvPr/>
        </p:nvSpPr>
        <p:spPr>
          <a:xfrm>
            <a:off x="868680" y="3584448"/>
            <a:ext cx="7955280" cy="54864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RBAC is deny-by-default. No explicit grant means no access.</a:t>
            </a:r>
            <a:endParaRPr lang="en-US" sz="1300" dirty="0"/>
          </a:p>
        </p:txBody>
      </p:sp>
      <p:sp>
        <p:nvSpPr>
          <p:cNvPr id="18" name="Shape 11"/>
          <p:cNvSpPr/>
          <p:nvPr/>
        </p:nvSpPr>
        <p:spPr>
          <a:xfrm>
            <a:off x="365760" y="4187952"/>
            <a:ext cx="8412480" cy="0"/>
          </a:xfrm>
          <a:prstGeom prst="line">
            <a:avLst/>
          </a:prstGeom>
          <a:noFill/>
          <a:ln w="12700">
            <a:solidFill>
              <a:srgbClr val="1A3040"/>
            </a:solidFill>
            <a:prstDash val="solid"/>
          </a:ln>
        </p:spPr>
      </p:sp>
      <p:pic>
        <p:nvPicPr>
          <p:cNvPr id="19" name="Image 5" descr="preencoded.png">    </p:cNvPr>
          <p:cNvPicPr>
            <a:picLocks noChangeAspect="1"/>
          </p:cNvPicPr>
          <p:nvPr/>
        </p:nvPicPr>
        <p:blipFill>
          <a:blip r:embed="rId6"/>
          <a:stretch>
            <a:fillRect/>
          </a:stretch>
        </p:blipFill>
        <p:spPr>
          <a:xfrm>
            <a:off x="365760" y="4306824"/>
            <a:ext cx="347472" cy="347472"/>
          </a:xfrm>
          <a:prstGeom prst="rect">
            <a:avLst/>
          </a:prstGeom>
        </p:spPr>
      </p:pic>
      <p:sp>
        <p:nvSpPr>
          <p:cNvPr id="20" name="Text 12"/>
          <p:cNvSpPr/>
          <p:nvPr/>
        </p:nvSpPr>
        <p:spPr>
          <a:xfrm>
            <a:off x="868680" y="4233672"/>
            <a:ext cx="7955280" cy="54864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The system:serviceaccount:&lt;namespace&gt;:&lt;name&gt; format uniquely identifies any ServiceAccount.</a:t>
            </a:r>
            <a:endParaRPr lang="en-US" sz="1300" dirty="0"/>
          </a:p>
        </p:txBody>
      </p:sp>
      <p:sp>
        <p:nvSpPr>
          <p:cNvPr id="21" name="Shape 13"/>
          <p:cNvSpPr/>
          <p:nvPr/>
        </p:nvSpPr>
        <p:spPr>
          <a:xfrm>
            <a:off x="0" y="5029200"/>
            <a:ext cx="9144000" cy="109728"/>
          </a:xfrm>
          <a:prstGeom prst="rect">
            <a:avLst/>
          </a:prstGeom>
          <a:solidFill>
            <a:srgbClr val="1B8A8F"/>
          </a:solidFill>
          <a:ln w="12700">
            <a:solidFill>
              <a:srgbClr val="1B8A8F"/>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Lab 033 — Kubernetes RBAC</dc:title>
  <dc:subject>PptxGenJS Presentation</dc:subject>
  <dc:creator>PptxGenJS</dc:creator>
  <cp:lastModifiedBy>PptxGenJS</cp:lastModifiedBy>
  <cp:revision>1</cp:revision>
  <dcterms:created xsi:type="dcterms:W3CDTF">2026-03-09T07:49:24Z</dcterms:created>
  <dcterms:modified xsi:type="dcterms:W3CDTF">2026-03-09T07:49:24Z</dcterms:modified>
</cp:coreProperties>
</file>
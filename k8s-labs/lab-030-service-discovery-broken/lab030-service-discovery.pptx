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008C94">
              <a:alpha val="20000"/>
            </a:srgbClr>
          </a:solidFill>
          <a:ln w="12700">
            <a:solidFill>
              <a:srgbClr val="00C2CB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-274320"/>
            <a:ext cx="1828800" cy="1828800"/>
          </a:xfrm>
          <a:prstGeom prst="ellipse">
            <a:avLst/>
          </a:prstGeom>
          <a:solidFill>
            <a:srgbClr val="00C2CB">
              <a:alpha val="15000"/>
            </a:srgbClr>
          </a:solidFill>
          <a:ln w="12700">
            <a:solidFill>
              <a:srgbClr val="00C2CB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2971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your pods are running but nothing can reach them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52540"/>
          </a:solidFill>
          <a:ln w="12700">
            <a:solidFill>
              <a:srgbClr val="1525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DevOps Engineer Programme  ·  Kubernetes Series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KUBERNETES SERVICE?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 Door for Your App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840480" cy="3200400"/>
          </a:xfrm>
          <a:prstGeom prst="rect">
            <a:avLst/>
          </a:prstGeom>
          <a:solidFill>
            <a:srgbClr val="152540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54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🏢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office building has a </a:t>
            </a:r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 desk</a:t>
            </a:r>
            <a:pPr algn="l" indent="0" marL="0">
              <a:buNone/>
            </a:pPr>
            <a:r>
              <a:rPr lang="en-US" sz="13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Visitors don't wander the corridors — they go to reception and reception knows which room to send them 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1417320"/>
            <a:ext cx="3840480" cy="3200400"/>
          </a:xfrm>
          <a:prstGeom prst="rect">
            <a:avLst/>
          </a:prstGeom>
          <a:solidFill>
            <a:srgbClr val="152540"/>
          </a:solidFill>
          <a:ln w="19050">
            <a:solidFill>
              <a:srgbClr val="008C9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554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⚙️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937760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26060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pPr algn="l" indent="0" marL="0">
              <a:buNone/>
            </a:pPr>
            <a:r>
              <a:rPr lang="en-US" sz="13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stable address other apps use to reach your pods. Pods come and go — their IPs change — but the Service address stays constant.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52540"/>
          </a:solidFill>
          <a:ln w="12700">
            <a:solidFill>
              <a:srgbClr val="1525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Service, other apps have no stable way to reach your pods — even if the pods are healthy.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MATCHING MECHANISM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&amp; Selectors — Not Names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Services don't find pods by their name. They find them by matching labels — small key/value tags you attach to pods.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2926080" cy="2468880"/>
          </a:xfrm>
          <a:prstGeom prst="rect">
            <a:avLst/>
          </a:prstGeom>
          <a:solidFill>
            <a:srgbClr val="152540"/>
          </a:solidFill>
          <a:ln w="2540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9385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2926080" cy="1828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selector: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2377440" cy="320040"/>
          </a:xfrm>
          <a:prstGeom prst="rect">
            <a:avLst/>
          </a:prstGeom>
          <a:solidFill>
            <a:srgbClr val="1A3A2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app: backend-api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108960"/>
            <a:ext cx="2377440" cy="320040"/>
          </a:xfrm>
          <a:prstGeom prst="rect">
            <a:avLst/>
          </a:prstGeom>
          <a:solidFill>
            <a:srgbClr val="1A3A2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tier: backend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3566160"/>
            <a:ext cx="29260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pods where ALL these labels match"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2834640"/>
            <a:ext cx="82296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2CB"/>
                </a:solidFill>
              </a:rPr>
              <a:t>▶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297680" y="1920240"/>
            <a:ext cx="4389120" cy="2468880"/>
          </a:xfrm>
          <a:prstGeom prst="rect">
            <a:avLst/>
          </a:prstGeom>
          <a:solidFill>
            <a:srgbClr val="152540"/>
          </a:solidFill>
          <a:ln w="25400">
            <a:solidFill>
              <a:srgbClr val="008C9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97680" y="19385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2286000"/>
            <a:ext cx="4389120" cy="18288"/>
          </a:xfrm>
          <a:prstGeom prst="rect">
            <a:avLst/>
          </a:prstGeom>
          <a:solidFill>
            <a:srgbClr val="008C94"/>
          </a:solidFill>
          <a:ln w="12700">
            <a:solidFill>
              <a:srgbClr val="008C9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metadata.labels: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2697480"/>
            <a:ext cx="2194560" cy="320040"/>
          </a:xfrm>
          <a:prstGeom prst="rect">
            <a:avLst/>
          </a:prstGeom>
          <a:solidFill>
            <a:srgbClr val="1A3A2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app: backend-api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3108960"/>
            <a:ext cx="2194560" cy="320040"/>
          </a:xfrm>
          <a:prstGeom prst="rect">
            <a:avLst/>
          </a:prstGeom>
          <a:solidFill>
            <a:srgbClr val="1A3A2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tier: backend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0" y="3520440"/>
            <a:ext cx="2011680" cy="320040"/>
          </a:xfrm>
          <a:prstGeom prst="rect">
            <a:avLst/>
          </a:prstGeom>
          <a:solidFill>
            <a:srgbClr val="1A2A3A"/>
          </a:solidFill>
          <a:ln w="12700">
            <a:solidFill>
              <a:srgbClr val="7FA8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3520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env: prod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52540"/>
          </a:solidFill>
          <a:ln w="12700">
            <a:solidFill>
              <a:srgbClr val="1525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label in the selector must be present on the pod. Extra labels on the pod are fine — but missing ones mean no match.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Book Kubernetes Builds for You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Service's selector matches pods, Kubernetes automatically builds an Endpoints list — the real IP addresses of each matching pod. Traffic is forwarded to these IPs.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194560" cy="731520"/>
          </a:xfrm>
          <a:prstGeom prst="rect">
            <a:avLst/>
          </a:prstGeom>
          <a:solidFill>
            <a:srgbClr val="152540"/>
          </a:solidFill>
          <a:ln w="2540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backend-api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2350008"/>
            <a:ext cx="64008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216712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2CB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1828800"/>
            <a:ext cx="2560320" cy="1097280"/>
          </a:xfrm>
          <a:prstGeom prst="rect">
            <a:avLst/>
          </a:prstGeom>
          <a:solidFill>
            <a:srgbClr val="152540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8470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2167128"/>
            <a:ext cx="2560320" cy="182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2128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10.0.0.4:80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10.0.0.7:80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2350008"/>
            <a:ext cx="4572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16712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2CB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92240" y="1920240"/>
            <a:ext cx="2194560" cy="502920"/>
          </a:xfrm>
          <a:prstGeom prst="rect">
            <a:avLst/>
          </a:prstGeom>
          <a:solidFill>
            <a:srgbClr val="152540"/>
          </a:solidFill>
          <a:ln w="19050">
            <a:solidFill>
              <a:srgbClr val="008C9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1920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  ·  10.0.0.4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2514600"/>
            <a:ext cx="2194560" cy="502920"/>
          </a:xfrm>
          <a:prstGeom prst="rect">
            <a:avLst/>
          </a:prstGeom>
          <a:solidFill>
            <a:srgbClr val="152540"/>
          </a:solidFill>
          <a:ln w="19050">
            <a:solidFill>
              <a:srgbClr val="008C9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2514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  ·  10.0.0.7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8412480" cy="1325880"/>
          </a:xfrm>
          <a:prstGeom prst="rect">
            <a:avLst/>
          </a:prstGeom>
          <a:solidFill>
            <a:srgbClr val="0A1F14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" y="3246120"/>
            <a:ext cx="402336" cy="40233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3296412"/>
            <a:ext cx="301752" cy="30175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88720" y="32735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Diagnostic Command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40080" y="36393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endpoints backend-api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0080" y="40050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result shows  &lt;none&gt;  →  your selector matches zero pods. That's the first thing to check, every time.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52540"/>
          </a:solidFill>
          <a:ln w="12700">
            <a:solidFill>
              <a:srgbClr val="15254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are auto-managed — Kubernetes updates them whenever pods start, stop or are replaced.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BROKEN IN THIS LAB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Problems, One Broken Service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023360" cy="3246120"/>
          </a:xfrm>
          <a:prstGeom prst="rect">
            <a:avLst/>
          </a:prstGeom>
          <a:solidFill>
            <a:srgbClr val="152540"/>
          </a:solidFill>
          <a:ln w="254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4023360" cy="4114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 — Wrong Labels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selector says: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3474720" cy="320040"/>
          </a:xfrm>
          <a:prstGeom prst="rect">
            <a:avLst/>
          </a:prstGeom>
          <a:solidFill>
            <a:srgbClr val="2A151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app: backend  ✗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606040"/>
            <a:ext cx="3474720" cy="320040"/>
          </a:xfrm>
          <a:prstGeom prst="rect">
            <a:avLst/>
          </a:prstGeom>
          <a:solidFill>
            <a:srgbClr val="2A151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tier: api  ✗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actually have: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383280"/>
            <a:ext cx="3474720" cy="320040"/>
          </a:xfrm>
          <a:prstGeom prst="rect">
            <a:avLst/>
          </a:prstGeom>
          <a:solidFill>
            <a:srgbClr val="1A3A2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app: backend-api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794760"/>
            <a:ext cx="3474720" cy="320040"/>
          </a:xfrm>
          <a:prstGeom prst="rect">
            <a:avLst/>
          </a:prstGeom>
          <a:solidFill>
            <a:srgbClr val="1A3A2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94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tier: backend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371600"/>
            <a:ext cx="4023360" cy="3246120"/>
          </a:xfrm>
          <a:prstGeom prst="rect">
            <a:avLst/>
          </a:prstGeom>
          <a:solidFill>
            <a:srgbClr val="152540"/>
          </a:solidFill>
          <a:ln w="254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371600"/>
            <a:ext cx="4023360" cy="4114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371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 — Wrong Port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targetPort says: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83480" y="2194560"/>
            <a:ext cx="3474720" cy="411480"/>
          </a:xfrm>
          <a:prstGeom prst="rect">
            <a:avLst/>
          </a:prstGeom>
          <a:solidFill>
            <a:srgbClr val="2A151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194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targetPort: 8080  ✗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2788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Nginx inside the container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listens on: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83480" y="3383280"/>
            <a:ext cx="3474720" cy="411480"/>
          </a:xfrm>
          <a:prstGeom prst="rect">
            <a:avLst/>
          </a:prstGeom>
          <a:solidFill>
            <a:srgbClr val="1A3A2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383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containerPort: 80  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39136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sent to 8080 hits nothing — connection refused.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52540"/>
          </a:solidFill>
          <a:ln w="12700">
            <a:solidFill>
              <a:srgbClr val="1525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bugs must be fixed — a correct selector with a wrong port still means 'connection refused'.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vs TARGETPORT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Ports, Two Different Jobs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1828800" cy="822960"/>
          </a:xfrm>
          <a:prstGeom prst="rect">
            <a:avLst/>
          </a:prstGeom>
          <a:solidFill>
            <a:srgbClr val="152540"/>
          </a:solidFill>
          <a:ln w="19050">
            <a:solidFill>
              <a:srgbClr val="7FA8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554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Pod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(client)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938528"/>
            <a:ext cx="1188720" cy="54864"/>
          </a:xfrm>
          <a:prstGeom prst="rect">
            <a:avLst/>
          </a:prstGeom>
          <a:solidFill>
            <a:srgbClr val="7FA8BC"/>
          </a:solidFill>
          <a:ln w="12700">
            <a:solidFill>
              <a:srgbClr val="7FA8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7556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A8BC"/>
                </a:solidFill>
              </a:rPr>
              <a:t>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1508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80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20440" y="1371600"/>
            <a:ext cx="2286000" cy="1188720"/>
          </a:xfrm>
          <a:prstGeom prst="rect">
            <a:avLst/>
          </a:prstGeom>
          <a:solidFill>
            <a:srgbClr val="152540"/>
          </a:solidFill>
          <a:ln w="2540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20440" y="1709928"/>
            <a:ext cx="2286000" cy="1828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7647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 80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targetPort: 80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1938528"/>
            <a:ext cx="118872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7556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2CB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52160" y="1508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targetPort: 80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78040" y="1371600"/>
            <a:ext cx="1691640" cy="1188720"/>
          </a:xfrm>
          <a:prstGeom prst="rect">
            <a:avLst/>
          </a:prstGeom>
          <a:solidFill>
            <a:srgbClr val="152540"/>
          </a:solidFill>
          <a:ln w="19050">
            <a:solidFill>
              <a:srgbClr val="008C9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78040" y="13716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:80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4023360" cy="1737360"/>
          </a:xfrm>
          <a:prstGeom prst="rect">
            <a:avLst/>
          </a:prstGeom>
          <a:solidFill>
            <a:srgbClr val="152540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29077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32918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clients connect to — the Service's own port. Think of it as the phone number you dial to reach the office.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2834640"/>
            <a:ext cx="4023360" cy="1737360"/>
          </a:xfrm>
          <a:prstGeom prst="rect">
            <a:avLst/>
          </a:prstGeom>
          <a:solidFill>
            <a:srgbClr val="152540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83480" y="29077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targetPort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83480" y="32918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 the Service forwards to on each pod. Must match what your application inside the container actually listens 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52540"/>
          </a:solidFill>
          <a:ln w="12700">
            <a:solidFill>
              <a:srgbClr val="1525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be different numbers — but targetPort must always match containerPort in your pod spec.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DEBUG A BROKEN SERVICE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Troubleshooting Instinct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75488" cy="47548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417320"/>
            <a:ext cx="7863840" cy="749808"/>
          </a:xfrm>
          <a:prstGeom prst="rect">
            <a:avLst/>
          </a:prstGeom>
          <a:solidFill>
            <a:srgbClr val="152540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145389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endpoints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70992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endpoints &lt;service-name&gt;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191109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= selector matches nothing. Start here, always.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267712"/>
            <a:ext cx="475488" cy="47548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67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2267712"/>
            <a:ext cx="7863840" cy="749808"/>
          </a:xfrm>
          <a:prstGeom prst="rect">
            <a:avLst/>
          </a:prstGeom>
          <a:solidFill>
            <a:srgbClr val="152540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51560" y="23042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selectors to labels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56032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svc &lt;name&gt; -o jsonpath='{.spec.selector}'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" y="276148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compare against: kubectl get pods --show-labels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118104"/>
            <a:ext cx="475488" cy="47548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118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3118104"/>
            <a:ext cx="7863840" cy="749808"/>
          </a:xfrm>
          <a:prstGeom prst="rect">
            <a:avLst/>
          </a:prstGeom>
          <a:solidFill>
            <a:srgbClr val="152540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51560" y="31546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port mapping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41071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svc + kubectl get pods -o jsonpath ...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" y="361188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targetPort must equal containerPort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968496"/>
            <a:ext cx="475488" cy="47548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968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4400" y="3968496"/>
            <a:ext cx="7863840" cy="749808"/>
          </a:xfrm>
          <a:prstGeom prst="rect">
            <a:avLst/>
          </a:prstGeom>
          <a:solidFill>
            <a:srgbClr val="152540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51560" y="40050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from inside the cluster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426110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run curl-test --image=curlimages/curl --rm -i ...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" y="446227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 services aren't reachable from outside the cluster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52540"/>
          </a:solidFill>
          <a:ln w="12700">
            <a:solidFill>
              <a:srgbClr val="1525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works for almost any Service issue you'll encounter — in labs and in production.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0C2CB">
              <a:alpha val="10000"/>
            </a:srgbClr>
          </a:solidFill>
          <a:ln w="12700">
            <a:solidFill>
              <a:srgbClr val="00C2CB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Lab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700784"/>
            <a:ext cx="7772400" cy="512064"/>
          </a:xfrm>
          <a:prstGeom prst="rect">
            <a:avLst/>
          </a:prstGeom>
          <a:solidFill>
            <a:srgbClr val="152540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55648"/>
            <a:ext cx="402336" cy="40233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" y="1805940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755648"/>
            <a:ext cx="6903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Labels, not names</a:t>
            </a:r>
            <a:pPr indent="0" marL="0">
              <a:buNone/>
            </a:pPr>
            <a:r>
              <a:rPr lang="en-US" sz="12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Services find pods by matching key/value labels exactly. Spelling matters.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" y="2286000"/>
            <a:ext cx="7772400" cy="512064"/>
          </a:xfrm>
          <a:prstGeom prst="rect">
            <a:avLst/>
          </a:prstGeom>
          <a:solidFill>
            <a:srgbClr val="152540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340864"/>
            <a:ext cx="402336" cy="40233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" y="2391156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340864"/>
            <a:ext cx="6903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endpoints</a:t>
            </a:r>
            <a:pPr indent="0" marL="0">
              <a:buNone/>
            </a:pPr>
            <a:r>
              <a:rPr lang="en-US" sz="12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empty result means no matching pods. Your first diagnostic move, always.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20040" y="2871216"/>
            <a:ext cx="7772400" cy="512064"/>
          </a:xfrm>
          <a:prstGeom prst="rect">
            <a:avLst/>
          </a:prstGeom>
          <a:solidFill>
            <a:srgbClr val="152540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926080"/>
            <a:ext cx="402336" cy="40233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" y="2976372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2926080"/>
            <a:ext cx="6903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targetPort must equal containerPort</a:t>
            </a:r>
            <a:pPr indent="0" marL="0">
              <a:buNone/>
            </a:pPr>
            <a:r>
              <a:rPr lang="en-US" sz="12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wrong port = connection refused even with perfect labels.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20040" y="3456432"/>
            <a:ext cx="7772400" cy="512064"/>
          </a:xfrm>
          <a:prstGeom prst="rect">
            <a:avLst/>
          </a:prstGeom>
          <a:solidFill>
            <a:srgbClr val="152540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57200" y="3511296"/>
            <a:ext cx="402336" cy="40233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" y="3561588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5840" y="3511296"/>
            <a:ext cx="6903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 is internal only</a:t>
            </a:r>
            <a:pPr indent="0" marL="0">
              <a:buNone/>
            </a:pPr>
            <a:r>
              <a:rPr lang="en-US" sz="12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test from inside the cluster using a temporary curl pod.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20040" y="4041648"/>
            <a:ext cx="7772400" cy="512064"/>
          </a:xfrm>
          <a:prstGeom prst="rect">
            <a:avLst/>
          </a:prstGeom>
          <a:solidFill>
            <a:srgbClr val="152540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57200" y="4096512"/>
            <a:ext cx="402336" cy="40233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" y="4146804"/>
            <a:ext cx="301752" cy="30175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05840" y="4096512"/>
            <a:ext cx="6903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both bugs</a:t>
            </a:r>
            <a:pPr indent="0" marL="0">
              <a:buNone/>
            </a:pPr>
            <a:r>
              <a:rPr lang="en-US" sz="12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label mismatch AND wrong port. Fixing one still leaves the Service broken.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52540"/>
          </a:solidFill>
          <a:ln w="12700">
            <a:solidFill>
              <a:srgbClr val="152540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36576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030  ·  Service Discovery  ·  Cloud &amp; DevOps Engineer Programme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030 – Service Discovery in Kubernetes</dc:title>
  <dc:subject>PptxGenJS Presentation</dc:subject>
  <dc:creator>PptxGenJS</dc:creator>
  <cp:lastModifiedBy>PptxGenJS</cp:lastModifiedBy>
  <cp:revision>1</cp:revision>
  <dcterms:created xsi:type="dcterms:W3CDTF">2026-03-04T07:32:56Z</dcterms:created>
  <dcterms:modified xsi:type="dcterms:W3CDTF">2026-03-04T07:32:56Z</dcterms:modified>
</cp:coreProperties>
</file>
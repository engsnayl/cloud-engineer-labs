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023360"/>
            <a:ext cx="9144000" cy="1120140"/>
          </a:xfrm>
          <a:prstGeom prst="rect">
            <a:avLst/>
          </a:prstGeom>
          <a:solidFill>
            <a:srgbClr val="0D9488"/>
          </a:solidFill>
          <a:ln/>
        </p:spPr>
      </p:sp>
      <p:sp>
        <p:nvSpPr>
          <p:cNvPr id="3" name="Text 1"/>
          <p:cNvSpPr/>
          <p:nvPr/>
        </p:nvSpPr>
        <p:spPr>
          <a:xfrm>
            <a:off x="731520" y="1097280"/>
            <a:ext cx="7680960" cy="109728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Multi-Node K3s Cluster</a:t>
            </a:r>
            <a:endParaRPr lang="en-US" sz="3800" dirty="0"/>
          </a:p>
        </p:txBody>
      </p:sp>
      <p:sp>
        <p:nvSpPr>
          <p:cNvPr id="4" name="Text 2"/>
          <p:cNvSpPr/>
          <p:nvPr/>
        </p:nvSpPr>
        <p:spPr>
          <a:xfrm>
            <a:off x="731520" y="2194560"/>
            <a:ext cx="7680960" cy="54864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Adding a Worker Node &amp; Understanding Self-Healing</a:t>
            </a:r>
            <a:endParaRPr lang="en-US" sz="1800" dirty="0"/>
          </a:p>
        </p:txBody>
      </p:sp>
      <p:sp>
        <p:nvSpPr>
          <p:cNvPr id="5" name="Text 3"/>
          <p:cNvSpPr/>
          <p:nvPr/>
        </p:nvSpPr>
        <p:spPr>
          <a:xfrm>
            <a:off x="731520" y="4251960"/>
            <a:ext cx="768096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Stephen Naylor  |  Cloud Engineer Labs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Does Kubernetes Need Multiple Nodes?</a:t>
            </a:r>
            <a:endParaRPr lang="en-US" sz="2800" dirty="0"/>
          </a:p>
        </p:txBody>
      </p:sp>
      <p:sp>
        <p:nvSpPr>
          <p:cNvPr id="3" name="Text 1"/>
          <p:cNvSpPr/>
          <p:nvPr/>
        </p:nvSpPr>
        <p:spPr>
          <a:xfrm>
            <a:off x="731520" y="1188720"/>
            <a:ext cx="7680960" cy="8229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Kubernetes was built to manage containers across multiple machines. With one node, the scheduler has no choices — everything lands in the same place. That's like having a librarian with only one shelf.</a:t>
            </a:r>
            <a:endParaRPr lang="en-US" sz="1300" dirty="0"/>
          </a:p>
        </p:txBody>
      </p:sp>
      <p:sp>
        <p:nvSpPr>
          <p:cNvPr id="4" name="Shape 2"/>
          <p:cNvSpPr/>
          <p:nvPr/>
        </p:nvSpPr>
        <p:spPr>
          <a:xfrm>
            <a:off x="731520" y="2286000"/>
            <a:ext cx="2468880" cy="24688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5" name="Shape 3"/>
          <p:cNvSpPr/>
          <p:nvPr/>
        </p:nvSpPr>
        <p:spPr>
          <a:xfrm>
            <a:off x="1691640" y="2514600"/>
            <a:ext cx="502920" cy="502920"/>
          </a:xfrm>
          <a:prstGeom prst="ellipse">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1802282" y="2625242"/>
            <a:ext cx="281635" cy="281635"/>
          </a:xfrm>
          <a:prstGeom prst="rect">
            <a:avLst/>
          </a:prstGeom>
        </p:spPr>
      </p:pic>
      <p:sp>
        <p:nvSpPr>
          <p:cNvPr id="7" name="Text 4"/>
          <p:cNvSpPr/>
          <p:nvPr/>
        </p:nvSpPr>
        <p:spPr>
          <a:xfrm>
            <a:off x="914400" y="3200400"/>
            <a:ext cx="210312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High Availability</a:t>
            </a:r>
            <a:endParaRPr lang="en-US" sz="1400" dirty="0"/>
          </a:p>
        </p:txBody>
      </p:sp>
      <p:sp>
        <p:nvSpPr>
          <p:cNvPr id="8" name="Text 5"/>
          <p:cNvSpPr/>
          <p:nvPr/>
        </p:nvSpPr>
        <p:spPr>
          <a:xfrm>
            <a:off x="914400" y="3611880"/>
            <a:ext cx="2103120" cy="9601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If a node dies, pods get rescheduled to surviving nodes automatically. No pager. No manual fix.</a:t>
            </a:r>
            <a:endParaRPr lang="en-US" sz="1100" dirty="0"/>
          </a:p>
        </p:txBody>
      </p:sp>
      <p:sp>
        <p:nvSpPr>
          <p:cNvPr id="9" name="Shape 6"/>
          <p:cNvSpPr/>
          <p:nvPr/>
        </p:nvSpPr>
        <p:spPr>
          <a:xfrm>
            <a:off x="3429000" y="2286000"/>
            <a:ext cx="2468880" cy="24688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0" name="Shape 7"/>
          <p:cNvSpPr/>
          <p:nvPr/>
        </p:nvSpPr>
        <p:spPr>
          <a:xfrm>
            <a:off x="4389120" y="2514600"/>
            <a:ext cx="502920" cy="502920"/>
          </a:xfrm>
          <a:prstGeom prst="ellipse">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499762" y="2625242"/>
            <a:ext cx="281635" cy="281635"/>
          </a:xfrm>
          <a:prstGeom prst="rect">
            <a:avLst/>
          </a:prstGeom>
        </p:spPr>
      </p:pic>
      <p:sp>
        <p:nvSpPr>
          <p:cNvPr id="12" name="Text 8"/>
          <p:cNvSpPr/>
          <p:nvPr/>
        </p:nvSpPr>
        <p:spPr>
          <a:xfrm>
            <a:off x="3611880" y="3200400"/>
            <a:ext cx="210312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Resource Distribution</a:t>
            </a:r>
            <a:endParaRPr lang="en-US" sz="1400" dirty="0"/>
          </a:p>
        </p:txBody>
      </p:sp>
      <p:sp>
        <p:nvSpPr>
          <p:cNvPr id="13" name="Text 9"/>
          <p:cNvSpPr/>
          <p:nvPr/>
        </p:nvSpPr>
        <p:spPr>
          <a:xfrm>
            <a:off x="3611880" y="3611880"/>
            <a:ext cx="2103120" cy="9601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Place databases on nodes with fast disks, web servers on nodes with more memory. Node selectors and affinities control placement.</a:t>
            </a:r>
            <a:endParaRPr lang="en-US" sz="1100" dirty="0"/>
          </a:p>
        </p:txBody>
      </p:sp>
      <p:sp>
        <p:nvSpPr>
          <p:cNvPr id="14" name="Shape 10"/>
          <p:cNvSpPr/>
          <p:nvPr/>
        </p:nvSpPr>
        <p:spPr>
          <a:xfrm>
            <a:off x="6126480" y="2286000"/>
            <a:ext cx="2468880" cy="24688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5" name="Shape 11"/>
          <p:cNvSpPr/>
          <p:nvPr/>
        </p:nvSpPr>
        <p:spPr>
          <a:xfrm>
            <a:off x="7086600" y="2514600"/>
            <a:ext cx="502920" cy="502920"/>
          </a:xfrm>
          <a:prstGeom prst="ellipse">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7197242" y="2625242"/>
            <a:ext cx="281635" cy="281635"/>
          </a:xfrm>
          <a:prstGeom prst="rect">
            <a:avLst/>
          </a:prstGeom>
        </p:spPr>
      </p:pic>
      <p:sp>
        <p:nvSpPr>
          <p:cNvPr id="17" name="Text 12"/>
          <p:cNvSpPr/>
          <p:nvPr/>
        </p:nvSpPr>
        <p:spPr>
          <a:xfrm>
            <a:off x="6309360" y="3200400"/>
            <a:ext cx="210312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Workload Isolation</a:t>
            </a:r>
            <a:endParaRPr lang="en-US" sz="1400" dirty="0"/>
          </a:p>
        </p:txBody>
      </p:sp>
      <p:sp>
        <p:nvSpPr>
          <p:cNvPr id="18" name="Text 13"/>
          <p:cNvSpPr/>
          <p:nvPr/>
        </p:nvSpPr>
        <p:spPr>
          <a:xfrm>
            <a:off x="6309360" y="3611880"/>
            <a:ext cx="2103120" cy="9601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Dedicate nodes to production vs dev. Taints prevent the wrong workloads from landing on the wrong nodes.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Control Plane vs Worker Node</a:t>
            </a:r>
            <a:endParaRPr lang="en-US" sz="2800" dirty="0"/>
          </a:p>
        </p:txBody>
      </p:sp>
      <p:sp>
        <p:nvSpPr>
          <p:cNvPr id="3" name="Shape 1"/>
          <p:cNvSpPr/>
          <p:nvPr/>
        </p:nvSpPr>
        <p:spPr>
          <a:xfrm>
            <a:off x="731520" y="1280160"/>
            <a:ext cx="3749040" cy="32918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4" name="Shape 2"/>
          <p:cNvSpPr/>
          <p:nvPr/>
        </p:nvSpPr>
        <p:spPr>
          <a:xfrm>
            <a:off x="1005840" y="1508760"/>
            <a:ext cx="502920" cy="50292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1116482" y="1619402"/>
            <a:ext cx="281635" cy="281635"/>
          </a:xfrm>
          <a:prstGeom prst="rect">
            <a:avLst/>
          </a:prstGeom>
        </p:spPr>
      </p:pic>
      <p:sp>
        <p:nvSpPr>
          <p:cNvPr id="6" name="Text 3"/>
          <p:cNvSpPr/>
          <p:nvPr/>
        </p:nvSpPr>
        <p:spPr>
          <a:xfrm>
            <a:off x="1645920" y="1554480"/>
            <a:ext cx="2560320" cy="41148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Control Plane (Pi)</a:t>
            </a:r>
            <a:endParaRPr lang="en-US" sz="1600" dirty="0"/>
          </a:p>
        </p:txBody>
      </p:sp>
      <p:sp>
        <p:nvSpPr>
          <p:cNvPr id="7" name="Text 4"/>
          <p:cNvSpPr/>
          <p:nvPr/>
        </p:nvSpPr>
        <p:spPr>
          <a:xfrm>
            <a:off x="1005840" y="214884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kube-apiserver</a:t>
            </a:r>
            <a:endParaRPr lang="en-US" sz="1200" dirty="0"/>
          </a:p>
        </p:txBody>
      </p:sp>
      <p:sp>
        <p:nvSpPr>
          <p:cNvPr id="8" name="Text 5"/>
          <p:cNvSpPr/>
          <p:nvPr/>
        </p:nvSpPr>
        <p:spPr>
          <a:xfrm>
            <a:off x="1005840" y="237744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Front door. All kubectl commands go here (port 6443)</a:t>
            </a:r>
            <a:endParaRPr lang="en-US" sz="1000" dirty="0"/>
          </a:p>
        </p:txBody>
      </p:sp>
      <p:sp>
        <p:nvSpPr>
          <p:cNvPr id="9" name="Text 6"/>
          <p:cNvSpPr/>
          <p:nvPr/>
        </p:nvSpPr>
        <p:spPr>
          <a:xfrm>
            <a:off x="1005840" y="269748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etcd</a:t>
            </a:r>
            <a:endParaRPr lang="en-US" sz="1200" dirty="0"/>
          </a:p>
        </p:txBody>
      </p:sp>
      <p:sp>
        <p:nvSpPr>
          <p:cNvPr id="10" name="Text 7"/>
          <p:cNvSpPr/>
          <p:nvPr/>
        </p:nvSpPr>
        <p:spPr>
          <a:xfrm>
            <a:off x="1005840" y="292608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Database. Stores all cluster state</a:t>
            </a:r>
            <a:endParaRPr lang="en-US" sz="1000" dirty="0"/>
          </a:p>
        </p:txBody>
      </p:sp>
      <p:sp>
        <p:nvSpPr>
          <p:cNvPr id="11" name="Text 8"/>
          <p:cNvSpPr/>
          <p:nvPr/>
        </p:nvSpPr>
        <p:spPr>
          <a:xfrm>
            <a:off x="1005840" y="324612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kube-scheduler</a:t>
            </a:r>
            <a:endParaRPr lang="en-US" sz="1200" dirty="0"/>
          </a:p>
        </p:txBody>
      </p:sp>
      <p:sp>
        <p:nvSpPr>
          <p:cNvPr id="12" name="Text 9"/>
          <p:cNvSpPr/>
          <p:nvPr/>
        </p:nvSpPr>
        <p:spPr>
          <a:xfrm>
            <a:off x="1005840" y="347472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Picks which node each pod runs on</a:t>
            </a:r>
            <a:endParaRPr lang="en-US" sz="1000" dirty="0"/>
          </a:p>
        </p:txBody>
      </p:sp>
      <p:sp>
        <p:nvSpPr>
          <p:cNvPr id="13" name="Text 10"/>
          <p:cNvSpPr/>
          <p:nvPr/>
        </p:nvSpPr>
        <p:spPr>
          <a:xfrm>
            <a:off x="1005840" y="379476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controller-manager</a:t>
            </a:r>
            <a:endParaRPr lang="en-US" sz="1200" dirty="0"/>
          </a:p>
        </p:txBody>
      </p:sp>
      <p:sp>
        <p:nvSpPr>
          <p:cNvPr id="14" name="Text 11"/>
          <p:cNvSpPr/>
          <p:nvPr/>
        </p:nvSpPr>
        <p:spPr>
          <a:xfrm>
            <a:off x="1005840" y="402336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Watches reality vs desired state, takes corrective action</a:t>
            </a:r>
            <a:endParaRPr lang="en-US" sz="1000" dirty="0"/>
          </a:p>
        </p:txBody>
      </p:sp>
      <p:sp>
        <p:nvSpPr>
          <p:cNvPr id="15" name="Shape 12"/>
          <p:cNvSpPr/>
          <p:nvPr/>
        </p:nvSpPr>
        <p:spPr>
          <a:xfrm>
            <a:off x="4663440" y="1280160"/>
            <a:ext cx="3749040" cy="32918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6" name="Shape 13"/>
          <p:cNvSpPr/>
          <p:nvPr/>
        </p:nvSpPr>
        <p:spPr>
          <a:xfrm>
            <a:off x="4937760" y="1508760"/>
            <a:ext cx="502920" cy="502920"/>
          </a:xfrm>
          <a:prstGeom prst="ellipse">
            <a:avLst/>
          </a:prstGeom>
          <a:solidFill>
            <a:srgbClr val="0D9488"/>
          </a:solidFill>
          <a:ln/>
        </p:spPr>
      </p:sp>
      <p:pic>
        <p:nvPicPr>
          <p:cNvPr id="17" name="Image 1" descr="preencoded.png">    </p:cNvPr>
          <p:cNvPicPr>
            <a:picLocks noChangeAspect="1"/>
          </p:cNvPicPr>
          <p:nvPr/>
        </p:nvPicPr>
        <p:blipFill>
          <a:blip r:embed="rId2"/>
          <a:stretch>
            <a:fillRect/>
          </a:stretch>
        </p:blipFill>
        <p:spPr>
          <a:xfrm>
            <a:off x="5048402" y="1619402"/>
            <a:ext cx="281635" cy="281635"/>
          </a:xfrm>
          <a:prstGeom prst="rect">
            <a:avLst/>
          </a:prstGeom>
        </p:spPr>
      </p:pic>
      <p:sp>
        <p:nvSpPr>
          <p:cNvPr id="18" name="Text 14"/>
          <p:cNvSpPr/>
          <p:nvPr/>
        </p:nvSpPr>
        <p:spPr>
          <a:xfrm>
            <a:off x="5577840" y="1554480"/>
            <a:ext cx="2560320" cy="41148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Worker Node (Laptop)</a:t>
            </a:r>
            <a:endParaRPr lang="en-US" sz="1600" dirty="0"/>
          </a:p>
        </p:txBody>
      </p:sp>
      <p:sp>
        <p:nvSpPr>
          <p:cNvPr id="19" name="Text 15"/>
          <p:cNvSpPr/>
          <p:nvPr/>
        </p:nvSpPr>
        <p:spPr>
          <a:xfrm>
            <a:off x="4937760" y="214884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kubelet</a:t>
            </a:r>
            <a:endParaRPr lang="en-US" sz="1200" dirty="0"/>
          </a:p>
        </p:txBody>
      </p:sp>
      <p:sp>
        <p:nvSpPr>
          <p:cNvPr id="20" name="Text 16"/>
          <p:cNvSpPr/>
          <p:nvPr/>
        </p:nvSpPr>
        <p:spPr>
          <a:xfrm>
            <a:off x="4937760" y="237744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Agent that receives instructions from the control plane</a:t>
            </a:r>
            <a:endParaRPr lang="en-US" sz="1000" dirty="0"/>
          </a:p>
        </p:txBody>
      </p:sp>
      <p:sp>
        <p:nvSpPr>
          <p:cNvPr id="21" name="Text 17"/>
          <p:cNvSpPr/>
          <p:nvPr/>
        </p:nvSpPr>
        <p:spPr>
          <a:xfrm>
            <a:off x="4937760" y="269748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Container runtime</a:t>
            </a:r>
            <a:endParaRPr lang="en-US" sz="1200" dirty="0"/>
          </a:p>
        </p:txBody>
      </p:sp>
      <p:sp>
        <p:nvSpPr>
          <p:cNvPr id="22" name="Text 18"/>
          <p:cNvSpPr/>
          <p:nvPr/>
        </p:nvSpPr>
        <p:spPr>
          <a:xfrm>
            <a:off x="4937760" y="292608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Actually runs containers (containerd in K3s)</a:t>
            </a:r>
            <a:endParaRPr lang="en-US" sz="1000" dirty="0"/>
          </a:p>
        </p:txBody>
      </p:sp>
      <p:sp>
        <p:nvSpPr>
          <p:cNvPr id="23" name="Text 19"/>
          <p:cNvSpPr/>
          <p:nvPr/>
        </p:nvSpPr>
        <p:spPr>
          <a:xfrm>
            <a:off x="4937760" y="324612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Your workloads</a:t>
            </a:r>
            <a:endParaRPr lang="en-US" sz="1200" dirty="0"/>
          </a:p>
        </p:txBody>
      </p:sp>
      <p:sp>
        <p:nvSpPr>
          <p:cNvPr id="24" name="Text 20"/>
          <p:cNvSpPr/>
          <p:nvPr/>
        </p:nvSpPr>
        <p:spPr>
          <a:xfrm>
            <a:off x="4937760" y="3474720"/>
            <a:ext cx="32004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pods with your applications live here</a:t>
            </a:r>
            <a:endParaRPr lang="en-US" sz="1000" dirty="0"/>
          </a:p>
        </p:txBody>
      </p:sp>
      <p:sp>
        <p:nvSpPr>
          <p:cNvPr id="25" name="Text 21"/>
          <p:cNvSpPr/>
          <p:nvPr/>
        </p:nvSpPr>
        <p:spPr>
          <a:xfrm>
            <a:off x="731520" y="4663440"/>
            <a:ext cx="768096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kubectl talks to the API server on the control plane. The worker just executes. Like a restaurant: front-of-house takes orders, kitchen cooks.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Our Two-Node Mixed-Architecture Cluster</a:t>
            </a:r>
            <a:endParaRPr lang="en-US" sz="2800" dirty="0"/>
          </a:p>
        </p:txBody>
      </p:sp>
      <p:sp>
        <p:nvSpPr>
          <p:cNvPr id="3" name="Shape 1"/>
          <p:cNvSpPr/>
          <p:nvPr/>
        </p:nvSpPr>
        <p:spPr>
          <a:xfrm>
            <a:off x="731520" y="1371600"/>
            <a:ext cx="3749040" cy="256032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4" name="Shape 2"/>
          <p:cNvSpPr/>
          <p:nvPr/>
        </p:nvSpPr>
        <p:spPr>
          <a:xfrm>
            <a:off x="1005840" y="1554480"/>
            <a:ext cx="502920" cy="50292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1116482" y="1665122"/>
            <a:ext cx="281635" cy="281635"/>
          </a:xfrm>
          <a:prstGeom prst="rect">
            <a:avLst/>
          </a:prstGeom>
        </p:spPr>
      </p:pic>
      <p:sp>
        <p:nvSpPr>
          <p:cNvPr id="6" name="Text 3"/>
          <p:cNvSpPr/>
          <p:nvPr/>
        </p:nvSpPr>
        <p:spPr>
          <a:xfrm>
            <a:off x="1645920" y="1600200"/>
            <a:ext cx="2560320" cy="36576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Raspberry Pi 4</a:t>
            </a:r>
            <a:endParaRPr lang="en-US" sz="1600" dirty="0"/>
          </a:p>
        </p:txBody>
      </p:sp>
      <p:sp>
        <p:nvSpPr>
          <p:cNvPr id="7" name="Text 4"/>
          <p:cNvSpPr/>
          <p:nvPr/>
        </p:nvSpPr>
        <p:spPr>
          <a:xfrm>
            <a:off x="1005840" y="2194560"/>
            <a:ext cx="3200400" cy="1554480"/>
          </a:xfrm>
          <a:prstGeom prst="rect">
            <a:avLst/>
          </a:prstGeom>
          <a:noFill/>
          <a:ln/>
        </p:spPr>
        <p:txBody>
          <a:bodyPr wrap="square" lIns="0" tIns="0" rIns="0" bIns="0" rtlCol="0" anchor="ctr"/>
          <a:lstStyle/>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Role: Control Plane</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Architecture: ARM64 (aarch64)</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K3s Version: v1.34.4+k3s1</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IP: 192.168.0.101</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Running for: 50 days</a:t>
            </a:r>
            <a:endParaRPr lang="en-US" sz="1200" dirty="0"/>
          </a:p>
        </p:txBody>
      </p:sp>
      <p:sp>
        <p:nvSpPr>
          <p:cNvPr id="8" name="Shape 5"/>
          <p:cNvSpPr/>
          <p:nvPr/>
        </p:nvSpPr>
        <p:spPr>
          <a:xfrm>
            <a:off x="4663440" y="1371600"/>
            <a:ext cx="3749040" cy="256032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9" name="Shape 6"/>
          <p:cNvSpPr/>
          <p:nvPr/>
        </p:nvSpPr>
        <p:spPr>
          <a:xfrm>
            <a:off x="4937760" y="1554480"/>
            <a:ext cx="502920" cy="50292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5048402" y="1665122"/>
            <a:ext cx="281635" cy="281635"/>
          </a:xfrm>
          <a:prstGeom prst="rect">
            <a:avLst/>
          </a:prstGeom>
        </p:spPr>
      </p:pic>
      <p:sp>
        <p:nvSpPr>
          <p:cNvPr id="11" name="Text 7"/>
          <p:cNvSpPr/>
          <p:nvPr/>
        </p:nvSpPr>
        <p:spPr>
          <a:xfrm>
            <a:off x="5577840" y="1600200"/>
            <a:ext cx="2560320" cy="36576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HP Pavilion 15</a:t>
            </a:r>
            <a:endParaRPr lang="en-US" sz="1600" dirty="0"/>
          </a:p>
        </p:txBody>
      </p:sp>
      <p:sp>
        <p:nvSpPr>
          <p:cNvPr id="12" name="Text 8"/>
          <p:cNvSpPr/>
          <p:nvPr/>
        </p:nvSpPr>
        <p:spPr>
          <a:xfrm>
            <a:off x="4937760" y="2194560"/>
            <a:ext cx="3200400" cy="1554480"/>
          </a:xfrm>
          <a:prstGeom prst="rect">
            <a:avLst/>
          </a:prstGeom>
          <a:noFill/>
          <a:ln/>
        </p:spPr>
        <p:txBody>
          <a:bodyPr wrap="square" lIns="0" tIns="0" rIns="0" bIns="0" rtlCol="0" anchor="ctr"/>
          <a:lstStyle/>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Role: Worker Node</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Architecture: x86_64</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K3s Version: v1.34.6+k3s1</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OS: Linux Mint</a:t>
            </a:r>
            <a:endParaRPr lang="en-US" sz="1200" dirty="0"/>
          </a:p>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Joined via: K3s agent install script</a:t>
            </a:r>
            <a:endParaRPr lang="en-US" sz="1200" dirty="0"/>
          </a:p>
        </p:txBody>
      </p:sp>
      <p:sp>
        <p:nvSpPr>
          <p:cNvPr id="13" name="Shape 9"/>
          <p:cNvSpPr/>
          <p:nvPr/>
        </p:nvSpPr>
        <p:spPr>
          <a:xfrm>
            <a:off x="731520" y="4206240"/>
            <a:ext cx="7680960" cy="6400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4" name="Shape 10"/>
          <p:cNvSpPr/>
          <p:nvPr/>
        </p:nvSpPr>
        <p:spPr>
          <a:xfrm>
            <a:off x="914400" y="4270248"/>
            <a:ext cx="457200" cy="457200"/>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1014984" y="4370832"/>
            <a:ext cx="256032" cy="256032"/>
          </a:xfrm>
          <a:prstGeom prst="rect">
            <a:avLst/>
          </a:prstGeom>
        </p:spPr>
      </p:pic>
      <p:sp>
        <p:nvSpPr>
          <p:cNvPr id="16" name="Text 11"/>
          <p:cNvSpPr/>
          <p:nvPr/>
        </p:nvSpPr>
        <p:spPr>
          <a:xfrm>
            <a:off x="1508760" y="4251960"/>
            <a:ext cx="672084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Mixed architecture means container images must support both ARM64 and x86_64. Most common images (nginx, redis, postgres) are multi-arch and work automatically.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How a Worker Node Joins the Cluster</a:t>
            </a:r>
            <a:endParaRPr lang="en-US" sz="2800" dirty="0"/>
          </a:p>
        </p:txBody>
      </p:sp>
      <p:sp>
        <p:nvSpPr>
          <p:cNvPr id="3" name="Shape 1"/>
          <p:cNvSpPr/>
          <p:nvPr/>
        </p:nvSpPr>
        <p:spPr>
          <a:xfrm>
            <a:off x="731520" y="1188720"/>
            <a:ext cx="7680960" cy="7772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4" name="Shape 2"/>
          <p:cNvSpPr/>
          <p:nvPr/>
        </p:nvSpPr>
        <p:spPr>
          <a:xfrm>
            <a:off x="914400" y="1325880"/>
            <a:ext cx="457200" cy="4572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1014984" y="1426464"/>
            <a:ext cx="256032" cy="256032"/>
          </a:xfrm>
          <a:prstGeom prst="rect">
            <a:avLst/>
          </a:prstGeom>
        </p:spPr>
      </p:pic>
      <p:sp>
        <p:nvSpPr>
          <p:cNvPr id="6" name="Text 3"/>
          <p:cNvSpPr/>
          <p:nvPr/>
        </p:nvSpPr>
        <p:spPr>
          <a:xfrm>
            <a:off x="1554480" y="1234440"/>
            <a:ext cx="22860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1. Get the token</a:t>
            </a:r>
            <a:endParaRPr lang="en-US" sz="1300" dirty="0"/>
          </a:p>
        </p:txBody>
      </p:sp>
      <p:sp>
        <p:nvSpPr>
          <p:cNvPr id="7" name="Text 4"/>
          <p:cNvSpPr/>
          <p:nvPr/>
        </p:nvSpPr>
        <p:spPr>
          <a:xfrm>
            <a:off x="1554480" y="1508760"/>
            <a:ext cx="65836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sudo cat /var/lib/rancher/k3s/server/node-token</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The control plane generates a token that proves the worker is authorised to join.</a:t>
            </a:r>
            <a:endParaRPr lang="en-US" sz="1000" dirty="0"/>
          </a:p>
        </p:txBody>
      </p:sp>
      <p:sp>
        <p:nvSpPr>
          <p:cNvPr id="8" name="Shape 5"/>
          <p:cNvSpPr/>
          <p:nvPr/>
        </p:nvSpPr>
        <p:spPr>
          <a:xfrm>
            <a:off x="731520" y="2103120"/>
            <a:ext cx="7680960" cy="7772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9" name="Shape 6"/>
          <p:cNvSpPr/>
          <p:nvPr/>
        </p:nvSpPr>
        <p:spPr>
          <a:xfrm>
            <a:off x="914400" y="2240280"/>
            <a:ext cx="457200" cy="45720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1014984" y="2340864"/>
            <a:ext cx="256032" cy="256032"/>
          </a:xfrm>
          <a:prstGeom prst="rect">
            <a:avLst/>
          </a:prstGeom>
        </p:spPr>
      </p:pic>
      <p:sp>
        <p:nvSpPr>
          <p:cNvPr id="11" name="Text 7"/>
          <p:cNvSpPr/>
          <p:nvPr/>
        </p:nvSpPr>
        <p:spPr>
          <a:xfrm>
            <a:off x="1554480" y="2148840"/>
            <a:ext cx="22860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2. Get the control plane IP</a:t>
            </a:r>
            <a:endParaRPr lang="en-US" sz="1300" dirty="0"/>
          </a:p>
        </p:txBody>
      </p:sp>
      <p:sp>
        <p:nvSpPr>
          <p:cNvPr id="12" name="Text 8"/>
          <p:cNvSpPr/>
          <p:nvPr/>
        </p:nvSpPr>
        <p:spPr>
          <a:xfrm>
            <a:off x="1554480" y="2423160"/>
            <a:ext cx="65836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hostname -I  →  192.168.0.101</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The worker needs to know where the API server lives (port 6443).</a:t>
            </a:r>
            <a:endParaRPr lang="en-US" sz="1000" dirty="0"/>
          </a:p>
        </p:txBody>
      </p:sp>
      <p:sp>
        <p:nvSpPr>
          <p:cNvPr id="13" name="Shape 9"/>
          <p:cNvSpPr/>
          <p:nvPr/>
        </p:nvSpPr>
        <p:spPr>
          <a:xfrm>
            <a:off x="731520" y="3017520"/>
            <a:ext cx="7680960" cy="7772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4" name="Shape 10"/>
          <p:cNvSpPr/>
          <p:nvPr/>
        </p:nvSpPr>
        <p:spPr>
          <a:xfrm>
            <a:off x="914400" y="3154680"/>
            <a:ext cx="457200" cy="457200"/>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1014984" y="3255264"/>
            <a:ext cx="256032" cy="256032"/>
          </a:xfrm>
          <a:prstGeom prst="rect">
            <a:avLst/>
          </a:prstGeom>
        </p:spPr>
      </p:pic>
      <p:sp>
        <p:nvSpPr>
          <p:cNvPr id="16" name="Text 11"/>
          <p:cNvSpPr/>
          <p:nvPr/>
        </p:nvSpPr>
        <p:spPr>
          <a:xfrm>
            <a:off x="1554480" y="3063240"/>
            <a:ext cx="22860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3. Run the agent install</a:t>
            </a:r>
            <a:endParaRPr lang="en-US" sz="1300" dirty="0"/>
          </a:p>
        </p:txBody>
      </p:sp>
      <p:sp>
        <p:nvSpPr>
          <p:cNvPr id="17" name="Text 12"/>
          <p:cNvSpPr/>
          <p:nvPr/>
        </p:nvSpPr>
        <p:spPr>
          <a:xfrm>
            <a:off x="1554480" y="3337560"/>
            <a:ext cx="65836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curl -sfL https://get.k3s.io | K3S_URL=... K3S_TOKEN=... sh -</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Setting K3S_URL tells the installer: this is a worker, not a server.</a:t>
            </a:r>
            <a:endParaRPr lang="en-US" sz="1000" dirty="0"/>
          </a:p>
        </p:txBody>
      </p:sp>
      <p:sp>
        <p:nvSpPr>
          <p:cNvPr id="18" name="Shape 13"/>
          <p:cNvSpPr/>
          <p:nvPr/>
        </p:nvSpPr>
        <p:spPr>
          <a:xfrm>
            <a:off x="731520" y="3931920"/>
            <a:ext cx="7680960" cy="7772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9" name="Shape 14"/>
          <p:cNvSpPr/>
          <p:nvPr/>
        </p:nvSpPr>
        <p:spPr>
          <a:xfrm>
            <a:off x="914400" y="4069080"/>
            <a:ext cx="457200" cy="457200"/>
          </a:xfrm>
          <a:prstGeom prst="ellipse">
            <a:avLst/>
          </a:prstGeom>
          <a:solidFill>
            <a:srgbClr val="0D9488"/>
          </a:solidFill>
          <a:ln/>
        </p:spPr>
      </p:sp>
      <p:pic>
        <p:nvPicPr>
          <p:cNvPr id="20" name="Image 3" descr="preencoded.png">    </p:cNvPr>
          <p:cNvPicPr>
            <a:picLocks noChangeAspect="1"/>
          </p:cNvPicPr>
          <p:nvPr/>
        </p:nvPicPr>
        <p:blipFill>
          <a:blip r:embed="rId4"/>
          <a:stretch>
            <a:fillRect/>
          </a:stretch>
        </p:blipFill>
        <p:spPr>
          <a:xfrm>
            <a:off x="1014984" y="4169664"/>
            <a:ext cx="256032" cy="256032"/>
          </a:xfrm>
          <a:prstGeom prst="rect">
            <a:avLst/>
          </a:prstGeom>
        </p:spPr>
      </p:pic>
      <p:sp>
        <p:nvSpPr>
          <p:cNvPr id="21" name="Text 15"/>
          <p:cNvSpPr/>
          <p:nvPr/>
        </p:nvSpPr>
        <p:spPr>
          <a:xfrm>
            <a:off x="1554480" y="3977640"/>
            <a:ext cx="22860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4. Verify from control plane</a:t>
            </a:r>
            <a:endParaRPr lang="en-US" sz="1300" dirty="0"/>
          </a:p>
        </p:txBody>
      </p:sp>
      <p:sp>
        <p:nvSpPr>
          <p:cNvPr id="22" name="Text 16"/>
          <p:cNvSpPr/>
          <p:nvPr/>
        </p:nvSpPr>
        <p:spPr>
          <a:xfrm>
            <a:off x="1554480" y="4251960"/>
            <a:ext cx="65836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sudo k3s kubectl get nodes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Both nodes show Ready. The worker appears with &lt;none&gt; for roles.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Scheduling: Kubernetes Decides Where Pods Run</a:t>
            </a:r>
            <a:endParaRPr lang="en-US" sz="2800" dirty="0"/>
          </a:p>
        </p:txBody>
      </p:sp>
      <p:sp>
        <p:nvSpPr>
          <p:cNvPr id="3" name="Text 1"/>
          <p:cNvSpPr/>
          <p:nvPr/>
        </p:nvSpPr>
        <p:spPr>
          <a:xfrm>
            <a:off x="731520" y="1097280"/>
            <a:ext cx="768096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We deployed nginx with 2 replicas. We didn't specify where they should go.</a:t>
            </a:r>
            <a:endParaRPr lang="en-US" sz="1300" dirty="0"/>
          </a:p>
        </p:txBody>
      </p:sp>
      <p:sp>
        <p:nvSpPr>
          <p:cNvPr id="4" name="Shape 2"/>
          <p:cNvSpPr/>
          <p:nvPr/>
        </p:nvSpPr>
        <p:spPr>
          <a:xfrm>
            <a:off x="731520" y="1645920"/>
            <a:ext cx="7680960" cy="457200"/>
          </a:xfrm>
          <a:prstGeom prst="rect">
            <a:avLst/>
          </a:prstGeom>
          <a:solidFill>
            <a:srgbClr val="0A1220"/>
          </a:solidFill>
          <a:ln/>
        </p:spPr>
      </p:sp>
      <p:sp>
        <p:nvSpPr>
          <p:cNvPr id="5" name="Text 3"/>
          <p:cNvSpPr/>
          <p:nvPr/>
        </p:nvSpPr>
        <p:spPr>
          <a:xfrm>
            <a:off x="914400" y="1664208"/>
            <a:ext cx="7315200" cy="411480"/>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kubectl create deployment nginx-test --image=nginx --replicas=2</a:t>
            </a:r>
            <a:endParaRPr lang="en-US" sz="1200" dirty="0"/>
          </a:p>
        </p:txBody>
      </p:sp>
      <p:sp>
        <p:nvSpPr>
          <p:cNvPr id="6" name="Shape 4"/>
          <p:cNvSpPr/>
          <p:nvPr/>
        </p:nvSpPr>
        <p:spPr>
          <a:xfrm>
            <a:off x="731520" y="2377440"/>
            <a:ext cx="3749040" cy="128016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7" name="Shape 5"/>
          <p:cNvSpPr/>
          <p:nvPr/>
        </p:nvSpPr>
        <p:spPr>
          <a:xfrm>
            <a:off x="914400" y="2514600"/>
            <a:ext cx="411480" cy="41148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1004926" y="2605126"/>
            <a:ext cx="230429" cy="230429"/>
          </a:xfrm>
          <a:prstGeom prst="rect">
            <a:avLst/>
          </a:prstGeom>
        </p:spPr>
      </p:pic>
      <p:sp>
        <p:nvSpPr>
          <p:cNvPr id="9" name="Text 6"/>
          <p:cNvSpPr/>
          <p:nvPr/>
        </p:nvSpPr>
        <p:spPr>
          <a:xfrm>
            <a:off x="1463040" y="2514600"/>
            <a:ext cx="2286000" cy="32004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Pi (ARM64)</a:t>
            </a:r>
            <a:endParaRPr lang="en-US" sz="1300" dirty="0"/>
          </a:p>
        </p:txBody>
      </p:sp>
      <p:sp>
        <p:nvSpPr>
          <p:cNvPr id="10" name="Text 7"/>
          <p:cNvSpPr/>
          <p:nvPr/>
        </p:nvSpPr>
        <p:spPr>
          <a:xfrm>
            <a:off x="1005840" y="3017520"/>
            <a:ext cx="3200400" cy="27432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nginx-test-...-cv5cd    Running</a:t>
            </a:r>
            <a:endParaRPr lang="en-US" sz="1100" dirty="0"/>
          </a:p>
        </p:txBody>
      </p:sp>
      <p:sp>
        <p:nvSpPr>
          <p:cNvPr id="11" name="Shape 8"/>
          <p:cNvSpPr/>
          <p:nvPr/>
        </p:nvSpPr>
        <p:spPr>
          <a:xfrm>
            <a:off x="4663440" y="2377440"/>
            <a:ext cx="3749040" cy="128016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2" name="Shape 9"/>
          <p:cNvSpPr/>
          <p:nvPr/>
        </p:nvSpPr>
        <p:spPr>
          <a:xfrm>
            <a:off x="4846320" y="2514600"/>
            <a:ext cx="411480" cy="41148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4936846" y="2605126"/>
            <a:ext cx="230429" cy="230429"/>
          </a:xfrm>
          <a:prstGeom prst="rect">
            <a:avLst/>
          </a:prstGeom>
        </p:spPr>
      </p:pic>
      <p:sp>
        <p:nvSpPr>
          <p:cNvPr id="14" name="Text 10"/>
          <p:cNvSpPr/>
          <p:nvPr/>
        </p:nvSpPr>
        <p:spPr>
          <a:xfrm>
            <a:off x="5394960" y="2514600"/>
            <a:ext cx="2743200" cy="32004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HP Pavilion (x86_64)</a:t>
            </a:r>
            <a:endParaRPr lang="en-US" sz="1300" dirty="0"/>
          </a:p>
        </p:txBody>
      </p:sp>
      <p:sp>
        <p:nvSpPr>
          <p:cNvPr id="15" name="Text 11"/>
          <p:cNvSpPr/>
          <p:nvPr/>
        </p:nvSpPr>
        <p:spPr>
          <a:xfrm>
            <a:off x="4937760" y="3017520"/>
            <a:ext cx="3200400" cy="27432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nginx-test-...-jrsq4    Running</a:t>
            </a:r>
            <a:endParaRPr lang="en-US" sz="1100" dirty="0"/>
          </a:p>
        </p:txBody>
      </p:sp>
      <p:sp>
        <p:nvSpPr>
          <p:cNvPr id="16" name="Text 12"/>
          <p:cNvSpPr/>
          <p:nvPr/>
        </p:nvSpPr>
        <p:spPr>
          <a:xfrm>
            <a:off x="731520" y="3840480"/>
            <a:ext cx="7680960" cy="32004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What happened behind the scenes:</a:t>
            </a:r>
            <a:endParaRPr lang="en-US" sz="1300" dirty="0"/>
          </a:p>
        </p:txBody>
      </p:sp>
      <p:sp>
        <p:nvSpPr>
          <p:cNvPr id="17" name="Text 13"/>
          <p:cNvSpPr/>
          <p:nvPr/>
        </p:nvSpPr>
        <p:spPr>
          <a:xfrm>
            <a:off x="731520" y="4160520"/>
            <a:ext cx="7680960" cy="91440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Deployment controller created a ReplicaSet, which created 2 pods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kube-scheduler evaluated CPU/memory on both nodes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Scheduler placed one pod on each node for balance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This is declarative management: you said what, Kubernetes decided how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Self-Healing: Simulating a Node Failure</a:t>
            </a:r>
            <a:endParaRPr lang="en-US" sz="2800" dirty="0"/>
          </a:p>
        </p:txBody>
      </p:sp>
      <p:sp>
        <p:nvSpPr>
          <p:cNvPr id="3" name="Shape 1"/>
          <p:cNvSpPr/>
          <p:nvPr/>
        </p:nvSpPr>
        <p:spPr>
          <a:xfrm>
            <a:off x="731520" y="1188720"/>
            <a:ext cx="7680960" cy="457200"/>
          </a:xfrm>
          <a:prstGeom prst="rect">
            <a:avLst/>
          </a:prstGeom>
          <a:solidFill>
            <a:srgbClr val="0A1220"/>
          </a:solidFill>
          <a:ln/>
        </p:spPr>
      </p:sp>
      <p:sp>
        <p:nvSpPr>
          <p:cNvPr id="4" name="Text 2"/>
          <p:cNvSpPr/>
          <p:nvPr/>
        </p:nvSpPr>
        <p:spPr>
          <a:xfrm>
            <a:off x="914400" y="1207008"/>
            <a:ext cx="7315200" cy="411480"/>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laptop$ sudo systemctl stop k3s-agent</a:t>
            </a:r>
            <a:endParaRPr lang="en-US" sz="1200" dirty="0"/>
          </a:p>
        </p:txBody>
      </p:sp>
      <p:sp>
        <p:nvSpPr>
          <p:cNvPr id="5" name="Shape 3"/>
          <p:cNvSpPr/>
          <p:nvPr/>
        </p:nvSpPr>
        <p:spPr>
          <a:xfrm>
            <a:off x="731520" y="192024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6" name="Shape 4"/>
          <p:cNvSpPr/>
          <p:nvPr/>
        </p:nvSpPr>
        <p:spPr>
          <a:xfrm>
            <a:off x="914400" y="2011680"/>
            <a:ext cx="411480" cy="41148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04926" y="2102206"/>
            <a:ext cx="230429" cy="230429"/>
          </a:xfrm>
          <a:prstGeom prst="rect">
            <a:avLst/>
          </a:prstGeom>
        </p:spPr>
      </p:pic>
      <p:sp>
        <p:nvSpPr>
          <p:cNvPr id="8" name="Text 5"/>
          <p:cNvSpPr/>
          <p:nvPr/>
        </p:nvSpPr>
        <p:spPr>
          <a:xfrm>
            <a:off x="1463040" y="1965960"/>
            <a:ext cx="914400" cy="274320"/>
          </a:xfrm>
          <a:prstGeom prst="rect">
            <a:avLst/>
          </a:prstGeom>
          <a:noFill/>
          <a:ln/>
        </p:spPr>
        <p:txBody>
          <a:bodyPr wrap="square" lIns="0" tIns="0" rIns="0" bIns="0" rtlCol="0" anchor="ctr"/>
          <a:lstStyle/>
          <a:p>
            <a:pPr indent="0" marL="0">
              <a:buNone/>
            </a:pPr>
            <a:r>
              <a:rPr lang="en-US" sz="1100" b="1" dirty="0">
                <a:solidFill>
                  <a:srgbClr val="0D9488"/>
                </a:solidFill>
                <a:latin typeface="Consolas" pitchFamily="34" charset="0"/>
                <a:ea typeface="Consolas" pitchFamily="34" charset="-122"/>
                <a:cs typeface="Consolas" pitchFamily="34" charset="-120"/>
              </a:rPr>
              <a:t>0 min</a:t>
            </a:r>
            <a:endParaRPr lang="en-US" sz="1100" dirty="0"/>
          </a:p>
        </p:txBody>
      </p:sp>
      <p:sp>
        <p:nvSpPr>
          <p:cNvPr id="9" name="Text 6"/>
          <p:cNvSpPr/>
          <p:nvPr/>
        </p:nvSpPr>
        <p:spPr>
          <a:xfrm>
            <a:off x="2468880" y="196596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Agent stops</a:t>
            </a:r>
            <a:endParaRPr lang="en-US" sz="1200" dirty="0"/>
          </a:p>
        </p:txBody>
      </p:sp>
      <p:sp>
        <p:nvSpPr>
          <p:cNvPr id="10" name="Text 7"/>
          <p:cNvSpPr/>
          <p:nvPr/>
        </p:nvSpPr>
        <p:spPr>
          <a:xfrm>
            <a:off x="1463040" y="2267712"/>
            <a:ext cx="6675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Kubelet on laptop stops sending heartbeats to the API server.</a:t>
            </a:r>
            <a:endParaRPr lang="en-US" sz="1000" dirty="0"/>
          </a:p>
        </p:txBody>
      </p:sp>
      <p:sp>
        <p:nvSpPr>
          <p:cNvPr id="11" name="Shape 8"/>
          <p:cNvSpPr/>
          <p:nvPr/>
        </p:nvSpPr>
        <p:spPr>
          <a:xfrm>
            <a:off x="731520" y="269748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2" name="Shape 9"/>
          <p:cNvSpPr/>
          <p:nvPr/>
        </p:nvSpPr>
        <p:spPr>
          <a:xfrm>
            <a:off x="914400" y="2788920"/>
            <a:ext cx="411480" cy="41148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1004926" y="2879446"/>
            <a:ext cx="230429" cy="230429"/>
          </a:xfrm>
          <a:prstGeom prst="rect">
            <a:avLst/>
          </a:prstGeom>
        </p:spPr>
      </p:pic>
      <p:sp>
        <p:nvSpPr>
          <p:cNvPr id="14" name="Text 10"/>
          <p:cNvSpPr/>
          <p:nvPr/>
        </p:nvSpPr>
        <p:spPr>
          <a:xfrm>
            <a:off x="1463040" y="2743200"/>
            <a:ext cx="914400" cy="274320"/>
          </a:xfrm>
          <a:prstGeom prst="rect">
            <a:avLst/>
          </a:prstGeom>
          <a:noFill/>
          <a:ln/>
        </p:spPr>
        <p:txBody>
          <a:bodyPr wrap="square" lIns="0" tIns="0" rIns="0" bIns="0" rtlCol="0" anchor="ctr"/>
          <a:lstStyle/>
          <a:p>
            <a:pPr indent="0" marL="0">
              <a:buNone/>
            </a:pPr>
            <a:r>
              <a:rPr lang="en-US" sz="1100" b="1" dirty="0">
                <a:solidFill>
                  <a:srgbClr val="0D9488"/>
                </a:solidFill>
                <a:latin typeface="Consolas" pitchFamily="34" charset="0"/>
                <a:ea typeface="Consolas" pitchFamily="34" charset="-122"/>
                <a:cs typeface="Consolas" pitchFamily="34" charset="-120"/>
              </a:rPr>
              <a:t>~40 sec</a:t>
            </a:r>
            <a:endParaRPr lang="en-US" sz="1100" dirty="0"/>
          </a:p>
        </p:txBody>
      </p:sp>
      <p:sp>
        <p:nvSpPr>
          <p:cNvPr id="15" name="Text 11"/>
          <p:cNvSpPr/>
          <p:nvPr/>
        </p:nvSpPr>
        <p:spPr>
          <a:xfrm>
            <a:off x="2468880" y="274320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Node goes NotReady</a:t>
            </a:r>
            <a:endParaRPr lang="en-US" sz="1200" dirty="0"/>
          </a:p>
        </p:txBody>
      </p:sp>
      <p:sp>
        <p:nvSpPr>
          <p:cNvPr id="16" name="Text 12"/>
          <p:cNvSpPr/>
          <p:nvPr/>
        </p:nvSpPr>
        <p:spPr>
          <a:xfrm>
            <a:off x="1463040" y="3044952"/>
            <a:ext cx="6675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Node controller detects missing heartbeats, marks the node NotReady.</a:t>
            </a:r>
            <a:endParaRPr lang="en-US" sz="1000" dirty="0"/>
          </a:p>
        </p:txBody>
      </p:sp>
      <p:sp>
        <p:nvSpPr>
          <p:cNvPr id="17" name="Shape 13"/>
          <p:cNvSpPr/>
          <p:nvPr/>
        </p:nvSpPr>
        <p:spPr>
          <a:xfrm>
            <a:off x="731520" y="347472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8" name="Shape 14"/>
          <p:cNvSpPr/>
          <p:nvPr/>
        </p:nvSpPr>
        <p:spPr>
          <a:xfrm>
            <a:off x="914400" y="3566160"/>
            <a:ext cx="411480" cy="411480"/>
          </a:xfrm>
          <a:prstGeom prst="ellipse">
            <a:avLst/>
          </a:prstGeom>
          <a:solidFill>
            <a:srgbClr val="0D9488"/>
          </a:solidFill>
          <a:ln/>
        </p:spPr>
      </p:sp>
      <p:pic>
        <p:nvPicPr>
          <p:cNvPr id="19" name="Image 2" descr="preencoded.png">    </p:cNvPr>
          <p:cNvPicPr>
            <a:picLocks noChangeAspect="1"/>
          </p:cNvPicPr>
          <p:nvPr/>
        </p:nvPicPr>
        <p:blipFill>
          <a:blip r:embed="rId3"/>
          <a:stretch>
            <a:fillRect/>
          </a:stretch>
        </p:blipFill>
        <p:spPr>
          <a:xfrm>
            <a:off x="1004926" y="3656686"/>
            <a:ext cx="230429" cy="230429"/>
          </a:xfrm>
          <a:prstGeom prst="rect">
            <a:avLst/>
          </a:prstGeom>
        </p:spPr>
      </p:pic>
      <p:sp>
        <p:nvSpPr>
          <p:cNvPr id="20" name="Text 15"/>
          <p:cNvSpPr/>
          <p:nvPr/>
        </p:nvSpPr>
        <p:spPr>
          <a:xfrm>
            <a:off x="1463040" y="3520440"/>
            <a:ext cx="914400" cy="274320"/>
          </a:xfrm>
          <a:prstGeom prst="rect">
            <a:avLst/>
          </a:prstGeom>
          <a:noFill/>
          <a:ln/>
        </p:spPr>
        <p:txBody>
          <a:bodyPr wrap="square" lIns="0" tIns="0" rIns="0" bIns="0" rtlCol="0" anchor="ctr"/>
          <a:lstStyle/>
          <a:p>
            <a:pPr indent="0" marL="0">
              <a:buNone/>
            </a:pPr>
            <a:r>
              <a:rPr lang="en-US" sz="1100" b="1" dirty="0">
                <a:solidFill>
                  <a:srgbClr val="0D9488"/>
                </a:solidFill>
                <a:latin typeface="Consolas" pitchFamily="34" charset="0"/>
                <a:ea typeface="Consolas" pitchFamily="34" charset="-122"/>
                <a:cs typeface="Consolas" pitchFamily="34" charset="-120"/>
              </a:rPr>
              <a:t>~5 min</a:t>
            </a:r>
            <a:endParaRPr lang="en-US" sz="1100" dirty="0"/>
          </a:p>
        </p:txBody>
      </p:sp>
      <p:sp>
        <p:nvSpPr>
          <p:cNvPr id="21" name="Text 16"/>
          <p:cNvSpPr/>
          <p:nvPr/>
        </p:nvSpPr>
        <p:spPr>
          <a:xfrm>
            <a:off x="2468880" y="352044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Eviction timeout expires</a:t>
            </a:r>
            <a:endParaRPr lang="en-US" sz="1200" dirty="0"/>
          </a:p>
        </p:txBody>
      </p:sp>
      <p:sp>
        <p:nvSpPr>
          <p:cNvPr id="22" name="Text 17"/>
          <p:cNvSpPr/>
          <p:nvPr/>
        </p:nvSpPr>
        <p:spPr>
          <a:xfrm>
            <a:off x="1463040" y="3822192"/>
            <a:ext cx="6675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Controller waits to ensure this isn't a temporary network blip, then evicts pods.</a:t>
            </a:r>
            <a:endParaRPr lang="en-US" sz="1000" dirty="0"/>
          </a:p>
        </p:txBody>
      </p:sp>
      <p:sp>
        <p:nvSpPr>
          <p:cNvPr id="23" name="Shape 18"/>
          <p:cNvSpPr/>
          <p:nvPr/>
        </p:nvSpPr>
        <p:spPr>
          <a:xfrm>
            <a:off x="731520" y="425196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24" name="Shape 19"/>
          <p:cNvSpPr/>
          <p:nvPr/>
        </p:nvSpPr>
        <p:spPr>
          <a:xfrm>
            <a:off x="914400" y="4343400"/>
            <a:ext cx="411480" cy="411480"/>
          </a:xfrm>
          <a:prstGeom prst="ellipse">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1004926" y="4433926"/>
            <a:ext cx="230429" cy="230429"/>
          </a:xfrm>
          <a:prstGeom prst="rect">
            <a:avLst/>
          </a:prstGeom>
        </p:spPr>
      </p:pic>
      <p:sp>
        <p:nvSpPr>
          <p:cNvPr id="26" name="Text 20"/>
          <p:cNvSpPr/>
          <p:nvPr/>
        </p:nvSpPr>
        <p:spPr>
          <a:xfrm>
            <a:off x="1463040" y="4297680"/>
            <a:ext cx="914400" cy="274320"/>
          </a:xfrm>
          <a:prstGeom prst="rect">
            <a:avLst/>
          </a:prstGeom>
          <a:noFill/>
          <a:ln/>
        </p:spPr>
        <p:txBody>
          <a:bodyPr wrap="square" lIns="0" tIns="0" rIns="0" bIns="0" rtlCol="0" anchor="ctr"/>
          <a:lstStyle/>
          <a:p>
            <a:pPr indent="0" marL="0">
              <a:buNone/>
            </a:pPr>
            <a:r>
              <a:rPr lang="en-US" sz="1100" b="1" dirty="0">
                <a:solidFill>
                  <a:srgbClr val="0D9488"/>
                </a:solidFill>
                <a:latin typeface="Consolas" pitchFamily="34" charset="0"/>
                <a:ea typeface="Consolas" pitchFamily="34" charset="-122"/>
                <a:cs typeface="Consolas" pitchFamily="34" charset="-120"/>
              </a:rPr>
              <a:t>~5 min</a:t>
            </a:r>
            <a:endParaRPr lang="en-US" sz="1100" dirty="0"/>
          </a:p>
        </p:txBody>
      </p:sp>
      <p:sp>
        <p:nvSpPr>
          <p:cNvPr id="27" name="Text 21"/>
          <p:cNvSpPr/>
          <p:nvPr/>
        </p:nvSpPr>
        <p:spPr>
          <a:xfrm>
            <a:off x="2468880" y="4297680"/>
            <a:ext cx="228600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New pod scheduled</a:t>
            </a:r>
            <a:endParaRPr lang="en-US" sz="1200" dirty="0"/>
          </a:p>
        </p:txBody>
      </p:sp>
      <p:sp>
        <p:nvSpPr>
          <p:cNvPr id="28" name="Text 22"/>
          <p:cNvSpPr/>
          <p:nvPr/>
        </p:nvSpPr>
        <p:spPr>
          <a:xfrm>
            <a:off x="1463040" y="4599432"/>
            <a:ext cx="6675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ReplicaSet sees only 1/2 replicas running. Creates a replacement on the Pi.</a:t>
            </a:r>
            <a:endParaRPr lang="en-US" sz="1000" dirty="0"/>
          </a:p>
        </p:txBody>
      </p:sp>
      <p:sp>
        <p:nvSpPr>
          <p:cNvPr id="29" name="Text 23"/>
          <p:cNvSpPr/>
          <p:nvPr/>
        </p:nvSpPr>
        <p:spPr>
          <a:xfrm>
            <a:off x="731520" y="4617720"/>
            <a:ext cx="768096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 5-minute tolerance exists because a brief network blip shouldn't trigger unnecessary rescheduling.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Self-Healing: The Result</a:t>
            </a:r>
            <a:endParaRPr lang="en-US" sz="2800" dirty="0"/>
          </a:p>
        </p:txBody>
      </p:sp>
      <p:sp>
        <p:nvSpPr>
          <p:cNvPr id="3" name="Text 1"/>
          <p:cNvSpPr/>
          <p:nvPr/>
        </p:nvSpPr>
        <p:spPr>
          <a:xfrm>
            <a:off x="731520" y="1097280"/>
            <a:ext cx="3749040" cy="32004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BEFORE failure</a:t>
            </a:r>
            <a:endParaRPr lang="en-US" sz="1300" dirty="0"/>
          </a:p>
        </p:txBody>
      </p:sp>
      <p:sp>
        <p:nvSpPr>
          <p:cNvPr id="4" name="Shape 2"/>
          <p:cNvSpPr/>
          <p:nvPr/>
        </p:nvSpPr>
        <p:spPr>
          <a:xfrm>
            <a:off x="731520" y="1463040"/>
            <a:ext cx="3749040" cy="128016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5" name="Text 3"/>
          <p:cNvSpPr/>
          <p:nvPr/>
        </p:nvSpPr>
        <p:spPr>
          <a:xfrm>
            <a:off x="914400" y="1600200"/>
            <a:ext cx="3383280" cy="914400"/>
          </a:xfrm>
          <a:prstGeom prst="rect">
            <a:avLst/>
          </a:prstGeom>
          <a:noFill/>
          <a:ln/>
        </p:spPr>
        <p:txBody>
          <a:bodyPr wrap="square" lIns="0" tIns="0" rIns="0" bIns="0" rtlCol="0" anchor="ctr"/>
          <a:lstStyle/>
          <a:p>
            <a:pPr indent="0" marL="0">
              <a:lnSpc>
                <a:spcPct val="180000"/>
              </a:lnSpc>
              <a:buNone/>
            </a:pPr>
            <a:r>
              <a:rPr lang="en-US" sz="1100" dirty="0">
                <a:solidFill>
                  <a:srgbClr val="94A3B8"/>
                </a:solidFill>
                <a:latin typeface="Consolas" pitchFamily="34" charset="0"/>
                <a:ea typeface="Consolas" pitchFamily="34" charset="-122"/>
                <a:cs typeface="Consolas" pitchFamily="34" charset="-120"/>
              </a:rPr>
              <a:t>Pi:      nginx-test-cv5cd   Running</a:t>
            </a:r>
            <a:endParaRPr lang="en-US" sz="1100" dirty="0"/>
          </a:p>
          <a:p>
            <a:pPr indent="0" marL="0">
              <a:lnSpc>
                <a:spcPct val="180000"/>
              </a:lnSpc>
              <a:buNone/>
            </a:pPr>
            <a:r>
              <a:rPr lang="en-US" sz="1100" dirty="0">
                <a:solidFill>
                  <a:srgbClr val="94A3B8"/>
                </a:solidFill>
                <a:latin typeface="Consolas" pitchFamily="34" charset="0"/>
                <a:ea typeface="Consolas" pitchFamily="34" charset="-122"/>
                <a:cs typeface="Consolas" pitchFamily="34" charset="-120"/>
              </a:rPr>
              <a:t>Laptop:  nginx-test-jrsq4   Running</a:t>
            </a:r>
            <a:endParaRPr lang="en-US" sz="1100" dirty="0"/>
          </a:p>
        </p:txBody>
      </p:sp>
      <p:sp>
        <p:nvSpPr>
          <p:cNvPr id="6" name="Text 4"/>
          <p:cNvSpPr/>
          <p:nvPr/>
        </p:nvSpPr>
        <p:spPr>
          <a:xfrm>
            <a:off x="4663440" y="1097280"/>
            <a:ext cx="3749040" cy="32004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AFTER failure (5 minutes later)</a:t>
            </a:r>
            <a:endParaRPr lang="en-US" sz="1300" dirty="0"/>
          </a:p>
        </p:txBody>
      </p:sp>
      <p:sp>
        <p:nvSpPr>
          <p:cNvPr id="7" name="Shape 5"/>
          <p:cNvSpPr/>
          <p:nvPr/>
        </p:nvSpPr>
        <p:spPr>
          <a:xfrm>
            <a:off x="4663440" y="1463040"/>
            <a:ext cx="3749040" cy="128016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8" name="Text 6"/>
          <p:cNvSpPr/>
          <p:nvPr/>
        </p:nvSpPr>
        <p:spPr>
          <a:xfrm>
            <a:off x="4846320" y="1554480"/>
            <a:ext cx="3383280" cy="1005840"/>
          </a:xfrm>
          <a:prstGeom prst="rect">
            <a:avLst/>
          </a:prstGeom>
          <a:noFill/>
          <a:ln/>
        </p:spPr>
        <p:txBody>
          <a:bodyPr wrap="square" lIns="0" tIns="0" rIns="0" bIns="0" rtlCol="0" anchor="ctr"/>
          <a:lstStyle/>
          <a:p>
            <a:pPr indent="0" marL="0">
              <a:lnSpc>
                <a:spcPct val="160000"/>
              </a:lnSpc>
              <a:buNone/>
            </a:pPr>
            <a:r>
              <a:rPr lang="en-US" sz="1100" dirty="0">
                <a:solidFill>
                  <a:srgbClr val="94A3B8"/>
                </a:solidFill>
                <a:latin typeface="Consolas" pitchFamily="34" charset="0"/>
                <a:ea typeface="Consolas" pitchFamily="34" charset="-122"/>
                <a:cs typeface="Consolas" pitchFamily="34" charset="-120"/>
              </a:rPr>
              <a:t>Pi:      nginx-test-cv5cd   Running</a:t>
            </a:r>
            <a:endParaRPr lang="en-US" sz="1100" dirty="0"/>
          </a:p>
          <a:p>
            <a:pPr indent="0" marL="0">
              <a:lnSpc>
                <a:spcPct val="160000"/>
              </a:lnSpc>
              <a:buNone/>
            </a:pPr>
            <a:r>
              <a:rPr lang="en-US" sz="1100" dirty="0">
                <a:solidFill>
                  <a:srgbClr val="EF4444"/>
                </a:solidFill>
                <a:latin typeface="Consolas" pitchFamily="34" charset="0"/>
                <a:ea typeface="Consolas" pitchFamily="34" charset="-122"/>
                <a:cs typeface="Consolas" pitchFamily="34" charset="-120"/>
              </a:rPr>
              <a:t>Laptop:  nginx-test-jrsq4   Terminating</a:t>
            </a:r>
            <a:endParaRPr lang="en-US" sz="1100" dirty="0"/>
          </a:p>
          <a:p>
            <a:pPr indent="0" marL="0">
              <a:lnSpc>
                <a:spcPct val="160000"/>
              </a:lnSpc>
              <a:buNone/>
            </a:pPr>
            <a:r>
              <a:rPr lang="en-US" sz="1100" dirty="0">
                <a:solidFill>
                  <a:srgbClr val="22C55E"/>
                </a:solidFill>
                <a:latin typeface="Consolas" pitchFamily="34" charset="0"/>
                <a:ea typeface="Consolas" pitchFamily="34" charset="-122"/>
                <a:cs typeface="Consolas" pitchFamily="34" charset="-120"/>
              </a:rPr>
              <a:t>Pi:      nginx-test-nmv5c   Running</a:t>
            </a:r>
            <a:endParaRPr lang="en-US" sz="1100" dirty="0"/>
          </a:p>
        </p:txBody>
      </p:sp>
      <p:sp>
        <p:nvSpPr>
          <p:cNvPr id="9" name="Shape 7"/>
          <p:cNvSpPr/>
          <p:nvPr/>
        </p:nvSpPr>
        <p:spPr>
          <a:xfrm>
            <a:off x="731520" y="3017520"/>
            <a:ext cx="7680960" cy="14630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0" name="Shape 8"/>
          <p:cNvSpPr/>
          <p:nvPr/>
        </p:nvSpPr>
        <p:spPr>
          <a:xfrm>
            <a:off x="1005840" y="3200400"/>
            <a:ext cx="502920" cy="502920"/>
          </a:xfrm>
          <a:prstGeom prst="ellipse">
            <a:avLst/>
          </a:prstGeom>
          <a:solidFill>
            <a:srgbClr val="0D9488"/>
          </a:solidFill>
          <a:ln/>
        </p:spPr>
      </p:sp>
      <p:pic>
        <p:nvPicPr>
          <p:cNvPr id="11" name="Image 0" descr="preencoded.png">    </p:cNvPr>
          <p:cNvPicPr>
            <a:picLocks noChangeAspect="1"/>
          </p:cNvPicPr>
          <p:nvPr/>
        </p:nvPicPr>
        <p:blipFill>
          <a:blip r:embed="rId1"/>
          <a:stretch>
            <a:fillRect/>
          </a:stretch>
        </p:blipFill>
        <p:spPr>
          <a:xfrm>
            <a:off x="1116482" y="3311042"/>
            <a:ext cx="281635" cy="281635"/>
          </a:xfrm>
          <a:prstGeom prst="rect">
            <a:avLst/>
          </a:prstGeom>
        </p:spPr>
      </p:pic>
      <p:sp>
        <p:nvSpPr>
          <p:cNvPr id="12" name="Text 9"/>
          <p:cNvSpPr/>
          <p:nvPr/>
        </p:nvSpPr>
        <p:spPr>
          <a:xfrm>
            <a:off x="1645920" y="3200400"/>
            <a:ext cx="5943600" cy="36576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Desired State Reconciliation</a:t>
            </a:r>
            <a:endParaRPr lang="en-US" sz="1600" dirty="0"/>
          </a:p>
        </p:txBody>
      </p:sp>
      <p:sp>
        <p:nvSpPr>
          <p:cNvPr id="13" name="Text 10"/>
          <p:cNvSpPr/>
          <p:nvPr/>
        </p:nvSpPr>
        <p:spPr>
          <a:xfrm>
            <a:off x="1005840" y="3657600"/>
            <a:ext cx="7132320" cy="6858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You declared: "I want 2 replicas." A node died. Kubernetes detected the drift between desired state (2 running) and actual state (1 running), and took corrective action automatically. No human intervention required. This is the single most important concept in Kubernetes.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Kubernetes Scheduling vs AWS Autoscaling</a:t>
            </a:r>
            <a:endParaRPr lang="en-US" sz="2800" dirty="0"/>
          </a:p>
        </p:txBody>
      </p:sp>
      <p:sp>
        <p:nvSpPr>
          <p:cNvPr id="3" name="Text 1"/>
          <p:cNvSpPr/>
          <p:nvPr/>
        </p:nvSpPr>
        <p:spPr>
          <a:xfrm>
            <a:off x="731520" y="1097280"/>
            <a:ext cx="768096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They're different layers, not alternatives. In production, they work together.</a:t>
            </a:r>
            <a:endParaRPr lang="en-US" sz="1300" dirty="0"/>
          </a:p>
        </p:txBody>
      </p:sp>
      <p:sp>
        <p:nvSpPr>
          <p:cNvPr id="4" name="Shape 2"/>
          <p:cNvSpPr/>
          <p:nvPr/>
        </p:nvSpPr>
        <p:spPr>
          <a:xfrm>
            <a:off x="731520" y="1645920"/>
            <a:ext cx="3749040" cy="20116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5" name="Shape 3"/>
          <p:cNvSpPr/>
          <p:nvPr/>
        </p:nvSpPr>
        <p:spPr>
          <a:xfrm>
            <a:off x="1005840" y="1828800"/>
            <a:ext cx="411480" cy="411480"/>
          </a:xfrm>
          <a:prstGeom prst="ellipse">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1096366" y="1919326"/>
            <a:ext cx="230429" cy="230429"/>
          </a:xfrm>
          <a:prstGeom prst="rect">
            <a:avLst/>
          </a:prstGeom>
        </p:spPr>
      </p:pic>
      <p:sp>
        <p:nvSpPr>
          <p:cNvPr id="7" name="Text 4"/>
          <p:cNvSpPr/>
          <p:nvPr/>
        </p:nvSpPr>
        <p:spPr>
          <a:xfrm>
            <a:off x="1554480" y="1828800"/>
            <a:ext cx="2560320" cy="32004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K8s Scheduling</a:t>
            </a:r>
            <a:endParaRPr lang="en-US" sz="1400" dirty="0"/>
          </a:p>
        </p:txBody>
      </p:sp>
      <p:sp>
        <p:nvSpPr>
          <p:cNvPr id="8" name="Text 5"/>
          <p:cNvSpPr/>
          <p:nvPr/>
        </p:nvSpPr>
        <p:spPr>
          <a:xfrm>
            <a:off x="1005840" y="2331720"/>
            <a:ext cx="3200400"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"Where should this container run?"</a:t>
            </a:r>
            <a:endParaRPr lang="en-US" sz="1100" dirty="0"/>
          </a:p>
          <a:p>
            <a:pPr indent="0" marL="0">
              <a:buNone/>
            </a:pP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Evaluates available nodes, considers resource requests, affinity rules, and taints. Places pods on the best-fit node.</a:t>
            </a:r>
            <a:endParaRPr lang="en-US" sz="1100" dirty="0"/>
          </a:p>
        </p:txBody>
      </p:sp>
      <p:sp>
        <p:nvSpPr>
          <p:cNvPr id="9" name="Shape 6"/>
          <p:cNvSpPr/>
          <p:nvPr/>
        </p:nvSpPr>
        <p:spPr>
          <a:xfrm>
            <a:off x="4663440" y="1645920"/>
            <a:ext cx="3749040" cy="201168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0" name="Shape 7"/>
          <p:cNvSpPr/>
          <p:nvPr/>
        </p:nvSpPr>
        <p:spPr>
          <a:xfrm>
            <a:off x="4937760" y="1828800"/>
            <a:ext cx="411480" cy="411480"/>
          </a:xfrm>
          <a:prstGeom prst="ellipse">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5028286" y="1919326"/>
            <a:ext cx="230429" cy="230429"/>
          </a:xfrm>
          <a:prstGeom prst="rect">
            <a:avLst/>
          </a:prstGeom>
        </p:spPr>
      </p:pic>
      <p:sp>
        <p:nvSpPr>
          <p:cNvPr id="12" name="Text 8"/>
          <p:cNvSpPr/>
          <p:nvPr/>
        </p:nvSpPr>
        <p:spPr>
          <a:xfrm>
            <a:off x="5486400" y="1828800"/>
            <a:ext cx="2560320" cy="320040"/>
          </a:xfrm>
          <a:prstGeom prst="rect">
            <a:avLst/>
          </a:prstGeom>
          <a:noFill/>
          <a:ln/>
        </p:spPr>
        <p:txBody>
          <a:bodyPr wrap="square" lIns="0" tIns="0" rIns="0" bIns="0" rtlCol="0" anchor="ctr"/>
          <a:lstStyle/>
          <a:p>
            <a:pPr indent="0" marL="0">
              <a:buNone/>
            </a:pPr>
            <a:r>
              <a:rPr lang="en-US" sz="1400" b="1" dirty="0">
                <a:solidFill>
                  <a:srgbClr val="0D9488"/>
                </a:solidFill>
                <a:latin typeface="Trebuchet MS" pitchFamily="34" charset="0"/>
                <a:ea typeface="Trebuchet MS" pitchFamily="34" charset="-122"/>
                <a:cs typeface="Trebuchet MS" pitchFamily="34" charset="-120"/>
              </a:rPr>
              <a:t>AWS Autoscaling</a:t>
            </a:r>
            <a:endParaRPr lang="en-US" sz="1400" dirty="0"/>
          </a:p>
        </p:txBody>
      </p:sp>
      <p:sp>
        <p:nvSpPr>
          <p:cNvPr id="13" name="Text 9"/>
          <p:cNvSpPr/>
          <p:nvPr/>
        </p:nvSpPr>
        <p:spPr>
          <a:xfrm>
            <a:off x="4937760" y="2331720"/>
            <a:ext cx="3200400"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"Do I have enough servers?"</a:t>
            </a:r>
            <a:endParaRPr lang="en-US" sz="1100" dirty="0"/>
          </a:p>
          <a:p>
            <a:pPr indent="0" marL="0">
              <a:buNone/>
            </a:pP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Adds or removes EC2 instances based on demand. When K8s can't schedule because all nodes are full, autoscaling adds capacity.</a:t>
            </a:r>
            <a:endParaRPr lang="en-US" sz="1100" dirty="0"/>
          </a:p>
        </p:txBody>
      </p:sp>
      <p:sp>
        <p:nvSpPr>
          <p:cNvPr id="14" name="Shape 10"/>
          <p:cNvSpPr/>
          <p:nvPr/>
        </p:nvSpPr>
        <p:spPr>
          <a:xfrm>
            <a:off x="731520" y="3886200"/>
            <a:ext cx="7680960" cy="100584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5" name="Text 11"/>
          <p:cNvSpPr/>
          <p:nvPr/>
        </p:nvSpPr>
        <p:spPr>
          <a:xfrm>
            <a:off x="914400" y="3931920"/>
            <a:ext cx="7315200" cy="274320"/>
          </a:xfrm>
          <a:prstGeom prst="rect">
            <a:avLst/>
          </a:prstGeom>
          <a:noFill/>
          <a:ln/>
        </p:spPr>
        <p:txBody>
          <a:bodyPr wrap="square" lIns="0" tIns="0" rIns="0" bIns="0" rtlCol="0" anchor="ctr"/>
          <a:lstStyle/>
          <a:p>
            <a:pPr indent="0" marL="0">
              <a:buNone/>
            </a:pPr>
            <a:r>
              <a:rPr lang="en-US" sz="1200" b="1" dirty="0">
                <a:solidFill>
                  <a:srgbClr val="0D9488"/>
                </a:solidFill>
                <a:latin typeface="Trebuchet MS" pitchFamily="34" charset="0"/>
                <a:ea typeface="Trebuchet MS" pitchFamily="34" charset="-122"/>
                <a:cs typeface="Trebuchet MS" pitchFamily="34" charset="-120"/>
              </a:rPr>
              <a:t>In production, the full loop:</a:t>
            </a:r>
            <a:endParaRPr lang="en-US" sz="1200" dirty="0"/>
          </a:p>
        </p:txBody>
      </p:sp>
      <p:sp>
        <p:nvSpPr>
          <p:cNvPr id="16" name="Text 12"/>
          <p:cNvSpPr/>
          <p:nvPr/>
        </p:nvSpPr>
        <p:spPr>
          <a:xfrm>
            <a:off x="914400" y="4251960"/>
            <a:ext cx="731520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K8s tries to schedule pod  →  All nodes full  →  Cluster Autoscaler requests new EC2  →  AWS spins up instance  →  Instance joins cluster  →  K8s schedules pod there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Key Concepts for Interviews</a:t>
            </a:r>
            <a:endParaRPr lang="en-US" sz="2800" dirty="0"/>
          </a:p>
        </p:txBody>
      </p:sp>
      <p:sp>
        <p:nvSpPr>
          <p:cNvPr id="3" name="Shape 1"/>
          <p:cNvSpPr/>
          <p:nvPr/>
        </p:nvSpPr>
        <p:spPr>
          <a:xfrm>
            <a:off x="731520" y="109728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4" name="Text 2"/>
          <p:cNvSpPr/>
          <p:nvPr/>
        </p:nvSpPr>
        <p:spPr>
          <a:xfrm>
            <a:off x="914400" y="1143000"/>
            <a:ext cx="27432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Desired State Reconciliation</a:t>
            </a:r>
            <a:endParaRPr lang="en-US" sz="1300" dirty="0"/>
          </a:p>
        </p:txBody>
      </p:sp>
      <p:sp>
        <p:nvSpPr>
          <p:cNvPr id="5" name="Text 3"/>
          <p:cNvSpPr/>
          <p:nvPr/>
        </p:nvSpPr>
        <p:spPr>
          <a:xfrm>
            <a:off x="914400" y="1417320"/>
            <a:ext cx="72237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 declare what you want. Kubernetes continuously works to make reality match. If it drifts, K8s corrects automatically.</a:t>
            </a:r>
            <a:endParaRPr lang="en-US" sz="1100" dirty="0"/>
          </a:p>
        </p:txBody>
      </p:sp>
      <p:sp>
        <p:nvSpPr>
          <p:cNvPr id="6" name="Shape 4"/>
          <p:cNvSpPr/>
          <p:nvPr/>
        </p:nvSpPr>
        <p:spPr>
          <a:xfrm>
            <a:off x="731520" y="187452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7" name="Text 5"/>
          <p:cNvSpPr/>
          <p:nvPr/>
        </p:nvSpPr>
        <p:spPr>
          <a:xfrm>
            <a:off x="914400" y="1920240"/>
            <a:ext cx="27432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Declarative vs Imperative</a:t>
            </a:r>
            <a:endParaRPr lang="en-US" sz="1300" dirty="0"/>
          </a:p>
        </p:txBody>
      </p:sp>
      <p:sp>
        <p:nvSpPr>
          <p:cNvPr id="8" name="Text 6"/>
          <p:cNvSpPr/>
          <p:nvPr/>
        </p:nvSpPr>
        <p:spPr>
          <a:xfrm>
            <a:off x="914400" y="2194560"/>
            <a:ext cx="72237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 want 2 replicas" (declarative) vs "Start a container on server A" (imperative). Kubernetes is declarative — you describe the end state, not the steps.</a:t>
            </a:r>
            <a:endParaRPr lang="en-US" sz="1100" dirty="0"/>
          </a:p>
        </p:txBody>
      </p:sp>
      <p:sp>
        <p:nvSpPr>
          <p:cNvPr id="9" name="Shape 7"/>
          <p:cNvSpPr/>
          <p:nvPr/>
        </p:nvSpPr>
        <p:spPr>
          <a:xfrm>
            <a:off x="731520" y="265176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0" name="Text 8"/>
          <p:cNvSpPr/>
          <p:nvPr/>
        </p:nvSpPr>
        <p:spPr>
          <a:xfrm>
            <a:off x="914400" y="2697480"/>
            <a:ext cx="27432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Node Failure Recovery</a:t>
            </a:r>
            <a:endParaRPr lang="en-US" sz="1300" dirty="0"/>
          </a:p>
        </p:txBody>
      </p:sp>
      <p:sp>
        <p:nvSpPr>
          <p:cNvPr id="11" name="Text 9"/>
          <p:cNvSpPr/>
          <p:nvPr/>
        </p:nvSpPr>
        <p:spPr>
          <a:xfrm>
            <a:off x="914400" y="2971800"/>
            <a:ext cx="72237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~5 min eviction timeout, then pods rescheduled. K8s does NOT rebalance when the node returns — it only acts when something is wrong.</a:t>
            </a:r>
            <a:endParaRPr lang="en-US" sz="1100" dirty="0"/>
          </a:p>
        </p:txBody>
      </p:sp>
      <p:sp>
        <p:nvSpPr>
          <p:cNvPr id="12" name="Shape 10"/>
          <p:cNvSpPr/>
          <p:nvPr/>
        </p:nvSpPr>
        <p:spPr>
          <a:xfrm>
            <a:off x="731520" y="342900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3" name="Text 11"/>
          <p:cNvSpPr/>
          <p:nvPr/>
        </p:nvSpPr>
        <p:spPr>
          <a:xfrm>
            <a:off x="914400" y="3474720"/>
            <a:ext cx="27432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Scheduling Factors</a:t>
            </a:r>
            <a:endParaRPr lang="en-US" sz="1300" dirty="0"/>
          </a:p>
        </p:txBody>
      </p:sp>
      <p:sp>
        <p:nvSpPr>
          <p:cNvPr id="14" name="Text 12"/>
          <p:cNvSpPr/>
          <p:nvPr/>
        </p:nvSpPr>
        <p:spPr>
          <a:xfrm>
            <a:off x="914400" y="3749040"/>
            <a:ext cx="72237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Available resources, node selectors, affinity/anti-affinity rules, taints and tolerations. With one node, none of these matter.</a:t>
            </a:r>
            <a:endParaRPr lang="en-US" sz="1100" dirty="0"/>
          </a:p>
        </p:txBody>
      </p:sp>
      <p:sp>
        <p:nvSpPr>
          <p:cNvPr id="15" name="Shape 13"/>
          <p:cNvSpPr/>
          <p:nvPr/>
        </p:nvSpPr>
        <p:spPr>
          <a:xfrm>
            <a:off x="731520" y="4206240"/>
            <a:ext cx="7680960" cy="685800"/>
          </a:xfrm>
          <a:prstGeom prst="rect">
            <a:avLst/>
          </a:prstGeom>
          <a:solidFill>
            <a:srgbClr val="1A2744"/>
          </a:solidFill>
          <a:ln/>
          <a:effectLst>
            <a:outerShdw sx="100000" sy="100000" kx="0" ky="0" algn="bl" rotWithShape="0" blurRad="76200" dist="25400" dir="8100000">
              <a:srgbClr val="000000">
                <a:alpha val="20000"/>
              </a:srgbClr>
            </a:outerShdw>
          </a:effectLst>
        </p:spPr>
      </p:sp>
      <p:sp>
        <p:nvSpPr>
          <p:cNvPr id="16" name="Text 14"/>
          <p:cNvSpPr/>
          <p:nvPr/>
        </p:nvSpPr>
        <p:spPr>
          <a:xfrm>
            <a:off x="914400" y="4251960"/>
            <a:ext cx="2743200" cy="274320"/>
          </a:xfrm>
          <a:prstGeom prst="rect">
            <a:avLst/>
          </a:prstGeom>
          <a:noFill/>
          <a:ln/>
        </p:spPr>
        <p:txBody>
          <a:bodyPr wrap="square" lIns="0" tIns="0" rIns="0" bIns="0" rtlCol="0" anchor="ctr"/>
          <a:lstStyle/>
          <a:p>
            <a:pPr indent="0" marL="0">
              <a:buNone/>
            </a:pPr>
            <a:r>
              <a:rPr lang="en-US" sz="1300" b="1" dirty="0">
                <a:solidFill>
                  <a:srgbClr val="0D9488"/>
                </a:solidFill>
                <a:latin typeface="Trebuchet MS" pitchFamily="34" charset="0"/>
                <a:ea typeface="Trebuchet MS" pitchFamily="34" charset="-122"/>
                <a:cs typeface="Trebuchet MS" pitchFamily="34" charset="-120"/>
              </a:rPr>
              <a:t>Mixed Architecture</a:t>
            </a:r>
            <a:endParaRPr lang="en-US" sz="1300" dirty="0"/>
          </a:p>
        </p:txBody>
      </p:sp>
      <p:sp>
        <p:nvSpPr>
          <p:cNvPr id="17" name="Text 15"/>
          <p:cNvSpPr/>
          <p:nvPr/>
        </p:nvSpPr>
        <p:spPr>
          <a:xfrm>
            <a:off x="914400" y="4526280"/>
            <a:ext cx="722376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ARM64 + x86_64 in one cluster. Multi-arch images work automatically. Single-arch images fail with exec format error on the wrong node.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Lab vs Real Life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840480"/>
                <a:gridCol w="3840480"/>
              </a:tblGrid>
              <a:tr h="411480">
                <a:tc>
                  <a:txBody>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In This Lab</a:t>
                      </a:r>
                      <a:endParaRPr lang="en-US" sz="1200" dirty="0">
                        <a:latin typeface="Trebuchet MS" charset="0"/>
                        <a:ea typeface="Trebuchet MS" charset="0"/>
                        <a:cs typeface="Trebuchet MS"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0D9488"/>
                    </a:solidFill>
                  </a:tcPr>
                </a:tc>
                <a:tc>
                  <a:txBody>
                    <a:bodyP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In Production</a:t>
                      </a:r>
                      <a:endParaRPr lang="en-US" sz="1200" dirty="0">
                        <a:latin typeface="Trebuchet MS" charset="0"/>
                        <a:ea typeface="Trebuchet MS" charset="0"/>
                        <a:cs typeface="Trebuchet MS"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0D9488"/>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2 nodes on a home network</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Hundreds of nodes across data centres</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Manual join with a token</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Nodes join via cloud autoscaling groups</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Stopped the agent to simulate failure</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Hardware failures, network partitions, kernel panics</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5-minute eviction timeout</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Often configured 30s–2 min for faster recovery</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Mixed arch is a curiosity</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Mixed arch exists in edge computing</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kubectl from the control plane</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CI/CD pipelines and GitOps (ArgoCD, Flux)</a:t>
                      </a:r>
                      <a:endParaRPr lang="en-US" sz="1100" dirty="0">
                        <a:latin typeface="Calibri" charset="0"/>
                        <a:ea typeface="Calibri" charset="0"/>
                        <a:cs typeface="Calibri" charset="0"/>
                      </a:endParaRPr>
                    </a:p>
                  </a:txBody>
                  <a:tcPr marL="91440" marR="91440" marT="45720" marB="45720">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E305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023360"/>
            <a:ext cx="9144000" cy="1120140"/>
          </a:xfrm>
          <a:prstGeom prst="rect">
            <a:avLst/>
          </a:prstGeom>
          <a:solidFill>
            <a:srgbClr val="0D9488"/>
          </a:solidFill>
          <a:ln/>
        </p:spPr>
      </p:sp>
      <p:sp>
        <p:nvSpPr>
          <p:cNvPr id="3" name="Text 1"/>
          <p:cNvSpPr/>
          <p:nvPr/>
        </p:nvSpPr>
        <p:spPr>
          <a:xfrm>
            <a:off x="731520" y="1097280"/>
            <a:ext cx="7680960" cy="64008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a:t>
            </a:r>
            <a:endParaRPr lang="en-US" sz="3200" dirty="0"/>
          </a:p>
        </p:txBody>
      </p:sp>
      <p:sp>
        <p:nvSpPr>
          <p:cNvPr id="4" name="Text 2"/>
          <p:cNvSpPr/>
          <p:nvPr/>
        </p:nvSpPr>
        <p:spPr>
          <a:xfrm>
            <a:off x="731520" y="2011680"/>
            <a:ext cx="7680960" cy="1097280"/>
          </a:xfrm>
          <a:prstGeom prst="rect">
            <a:avLst/>
          </a:prstGeom>
          <a:noFill/>
          <a:ln/>
        </p:spPr>
        <p:txBody>
          <a:bodyPr wrap="square" lIns="0" tIns="0" rIns="0" bIns="0" rtlCol="0" anchor="ctr"/>
          <a:lstStyle/>
          <a:p>
            <a:pPr indent="0" marL="0">
              <a:lnSpc>
                <a:spcPct val="140000"/>
              </a:lnSpc>
              <a:buNone/>
            </a:pPr>
            <a:r>
              <a:rPr lang="en-US" sz="1600" dirty="0">
                <a:solidFill>
                  <a:srgbClr val="94A3B8"/>
                </a:solidFill>
                <a:latin typeface="Calibri" pitchFamily="34" charset="0"/>
                <a:ea typeface="Calibri" pitchFamily="34" charset="-122"/>
                <a:cs typeface="Calibri" pitchFamily="34" charset="-120"/>
              </a:rPr>
              <a:t>Kubernetes exists to make scheduling decisions across multiple nodes and to self-heal when things go wrong. With a single node, you're learning the API. With multiple nodes, you're learning Kubernetes.</a:t>
            </a:r>
            <a:endParaRPr lang="en-US" sz="1600" dirty="0"/>
          </a:p>
        </p:txBody>
      </p:sp>
      <p:sp>
        <p:nvSpPr>
          <p:cNvPr id="5" name="Text 3"/>
          <p:cNvSpPr/>
          <p:nvPr/>
        </p:nvSpPr>
        <p:spPr>
          <a:xfrm>
            <a:off x="731520" y="4251960"/>
            <a:ext cx="768096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github.com/engsnayl/cloud-engineer-labs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Multi-Node K3s Cluster</dc:title>
  <dc:subject>PptxGenJS Presentation</dc:subject>
  <dc:creator>Stephen Naylor</dc:creator>
  <cp:lastModifiedBy>Stephen Naylor</cp:lastModifiedBy>
  <cp:revision>1</cp:revision>
  <dcterms:created xsi:type="dcterms:W3CDTF">2026-04-22T20:21:19Z</dcterms:created>
  <dcterms:modified xsi:type="dcterms:W3CDTF">2026-04-22T20:21:19Z</dcterms:modified>
</cp:coreProperties>
</file>
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2768"/>
          </a:xfrm>
          <a:prstGeom prst="rect">
            <a:avLst/>
          </a:prstGeom>
          <a:solidFill>
            <a:srgbClr val="08121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workspaces exist — and why they can go badly wrong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Intermediate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Workspaces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terraform.workspace · locals map · state isolation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Ticket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INCIDENT-TF-006 — what you've been handed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2743200"/>
          </a:xfrm>
          <a:prstGeom prst="rect">
            <a:avLst/>
          </a:prstGeom>
          <a:solidFill>
            <a:srgbClr val="081828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8321040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618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INCIDENT-TF-006  |  Priority: High  |  Reported by: Platform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behaving like staging. Instances are undersized and all environment tags in AWS are showing the wrong environment name — including on resources we know are in production. We manage both environments with Terraform.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investigate and fix.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should be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Instance: t3.micro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255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ASG: min 1 / max 2 / desired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Tag: Environment = "staging"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should 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Instance: t3.large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255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ASG: min 2 / max 10 / desired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Tag: Environment = "production"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14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find out why — and fix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Terraform Workspaces?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code. Separate state. Different save slots.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960120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workspaces like named save slots in a video game.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(your .tf code) is the same — but each save slot remembers a completely different state of the world. Creating a 'production' workspace doesn't change your code. It gives production its own state 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59152"/>
            <a:ext cx="2651760" cy="2011680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5059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208" y="29992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" y="3291840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workspaces use the same .tf files. There is only one copy of main.tf.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359152"/>
            <a:ext cx="2651760" cy="2011680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45059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5848" y="29992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State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55848" y="3291840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has its own state file. Resources in staging are tracked separately from production.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2359152"/>
            <a:ext cx="2651760" cy="2011680"/>
          </a:xfrm>
          <a:prstGeom prst="rect">
            <a:avLst/>
          </a:prstGeom>
          <a:solidFill>
            <a:srgbClr val="081828"/>
          </a:solidFill>
          <a:ln w="127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45059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0488" y="29992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90488" y="3291840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does NOT automatically change your settings per workspace. That logic is yours to build.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Selection Habit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first. Confirm. Then 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35024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35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316736"/>
            <a:ext cx="43891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35331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workspace select production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right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1837944"/>
            <a:ext cx="73152" cy="2926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203704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1560" y="2185416"/>
            <a:ext cx="43891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222199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workspace show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221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 are where you think you 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2706624"/>
            <a:ext cx="73152" cy="2926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072384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51560" y="3054096"/>
            <a:ext cx="43891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309067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what will change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3575304"/>
            <a:ext cx="73152" cy="2926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3941064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1560" y="3922776"/>
            <a:ext cx="43891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395935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39593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confidence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2A0A0A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63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There is NO warning if you apply in the wrong workspace. Terraform will deploy without complaint.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main.tf — all hardcoded values that should vary by environment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3520440"/>
          </a:xfrm>
          <a:prstGeom prst="rect">
            <a:avLst/>
          </a:prstGeom>
          <a:solidFill>
            <a:srgbClr val="081828"/>
          </a:solidFill>
          <a:ln w="127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2651760" cy="3657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25272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Instance Type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246888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3113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= "t3.micro"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to t3.micro in every workspace. Production should be t3.large.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51760" cy="3520440"/>
          </a:xfrm>
          <a:prstGeom prst="rect">
            <a:avLst/>
          </a:prstGeom>
          <a:solidFill>
            <a:srgbClr val="081828"/>
          </a:solidFill>
          <a:ln w="127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125272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Environment Tag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37560" y="2176272"/>
            <a:ext cx="246888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23113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= "staging"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9077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tags resources as "staging" — even in production.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1234440"/>
            <a:ext cx="2651760" cy="3520440"/>
          </a:xfrm>
          <a:prstGeom prst="rect">
            <a:avLst/>
          </a:prstGeom>
          <a:solidFill>
            <a:srgbClr val="081828"/>
          </a:solidFill>
          <a:ln w="127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234440"/>
            <a:ext cx="2651760" cy="3657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153912" y="125272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ASG Scaling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2176272"/>
            <a:ext cx="246888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3113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min_size = 1  max_size = 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29077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Staging-level scaling applied everywhere. Production needs min 2, max 10.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for all three is identical: stop hardcoding, start reading from a workspace-aware locals map.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Introducing: The locals Block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values once. Reference them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locals block?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locals block lets you define computed values once and reuse them throughout your config. They are not inputs from outside (those are variables) and not exposed outputs — just internal values you calculate once and reference many times.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26517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from outside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(passed in at apply time)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51760" cy="868680"/>
          </a:xfrm>
          <a:prstGeom prst="rect">
            <a:avLst/>
          </a:prstGeom>
          <a:solidFill>
            <a:srgbClr val="0A1628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3408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computed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(defined and used within the config)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26517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408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exposed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other modules or users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53949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90672"/>
            <a:ext cx="517550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 = </a:t>
            </a:r>
            <a:pPr indent="0" marL="0">
              <a:buNone/>
            </a:pPr>
            <a:r>
              <a:rPr lang="en-US" sz="11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local.config[terraform.workspace]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}
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reference it anywhere: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= </a:t>
            </a:r>
            <a:pPr indent="0" marL="0">
              <a:buNone/>
            </a:pPr>
            <a:r>
              <a:rPr lang="en-US" sz="11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local.env.instance_type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3017520"/>
            <a:ext cx="2788920" cy="1417320"/>
          </a:xfrm>
          <a:prstGeom prst="rect">
            <a:avLst/>
          </a:prstGeom>
          <a:solidFill>
            <a:srgbClr val="081828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53328" y="331012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larger codebases you'll often see locals in their own locals.tf file alongside main.tf, variables.tf, and outputs.tf — one concern per file.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Workspace-Aware locals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lookup table. All three bugs fixed.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2606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07592"/>
            <a:ext cx="810158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= {
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   = { instance_type = </a:t>
            </a:r>
            <a:pPr indent="0" marL="0">
              <a:buNone/>
            </a:pPr>
            <a:r>
              <a:rPr lang="en-US" sz="1150" dirty="0">
                <a:solidFill>
                  <a:srgbClr val="F4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"t3.micro"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min_size = </a:t>
            </a:r>
            <a:pPr indent="0" marL="0">
              <a:buNone/>
            </a:pPr>
            <a:r>
              <a:rPr lang="en-US" sz="1150" dirty="0">
                <a:solidFill>
                  <a:srgbClr val="F4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max_size = </a:t>
            </a:r>
            <a:pPr indent="0" marL="0">
              <a:buNone/>
            </a:pPr>
            <a:r>
              <a:rPr lang="en-US" sz="1150" dirty="0">
                <a:solidFill>
                  <a:srgbClr val="F4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}
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staging    = { instance_type = </a:t>
            </a:r>
            <a:pPr indent="0" marL="0">
              <a:buNone/>
            </a:pPr>
            <a:r>
              <a:rPr lang="en-US" sz="11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"t3.micro"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min_size = </a:t>
            </a:r>
            <a:pPr indent="0" marL="0">
              <a:buNone/>
            </a:pPr>
            <a:r>
              <a:rPr lang="en-US" sz="11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max_size = </a:t>
            </a:r>
            <a:pPr indent="0" marL="0">
              <a:buNone/>
            </a:pPr>
            <a:r>
              <a:rPr lang="en-US" sz="11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}
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production = { instance_type = </a:t>
            </a:r>
            <a:pPr indent="0" marL="0">
              <a:buNone/>
            </a:pPr>
            <a:r>
              <a:rPr lang="en-US" sz="115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"t3.large"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min_size = </a:t>
            </a:r>
            <a:pPr indent="0" marL="0">
              <a:buNone/>
            </a:pPr>
            <a:r>
              <a:rPr lang="en-US" sz="115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max_size = </a:t>
            </a:r>
            <a:pPr indent="0" marL="0">
              <a:buNone/>
            </a:pPr>
            <a:r>
              <a:rPr lang="en-US" sz="115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}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 = </a:t>
            </a:r>
            <a:pPr indent="0" marL="0">
              <a:buNone/>
            </a:pPr>
            <a:r>
              <a:rPr lang="en-US" sz="11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local.config[terraform.workspace]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950208"/>
            <a:ext cx="8321040" cy="2560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968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968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8321040" cy="219456"/>
          </a:xfrm>
          <a:prstGeom prst="rect">
            <a:avLst/>
          </a:prstGeom>
          <a:solidFill>
            <a:srgbClr val="081828"/>
          </a:solidFill>
          <a:ln w="12700">
            <a:solidFill>
              <a:srgbClr val="081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2245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local.config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0" y="4224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lookup table — a map of workspace name → settings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425696"/>
            <a:ext cx="832104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439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terraform.workspace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44439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variable — returns the active workspace name as a string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645152"/>
            <a:ext cx="8321040" cy="219456"/>
          </a:xfrm>
          <a:prstGeom prst="rect">
            <a:avLst/>
          </a:prstGeom>
          <a:solidFill>
            <a:srgbClr val="081828"/>
          </a:solidFill>
          <a:ln w="12700">
            <a:solidFill>
              <a:srgbClr val="08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634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local.config[terraform.workspace]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4663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workspace name as a key to retrieve the matching config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864608"/>
            <a:ext cx="832104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828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local.env.instance_type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0" y="48828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reference any value — dot notation into the resolved map entry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hardcoded value with a locals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29260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Hardcoded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69080" cy="292608"/>
          </a:xfrm>
          <a:prstGeom prst="rect">
            <a:avLst/>
          </a:prstGeom>
          <a:solidFill>
            <a:srgbClr val="3EC97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52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Workspace-Aware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4023360" cy="2487168"/>
          </a:xfrm>
          <a:prstGeom prst="rect">
            <a:avLst/>
          </a:prstGeom>
          <a:solidFill>
            <a:srgbClr val="0A16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54480"/>
            <a:ext cx="4069080" cy="2487168"/>
          </a:xfrm>
          <a:prstGeom prst="rect">
            <a:avLst/>
          </a:prstGeom>
          <a:solidFill>
            <a:srgbClr val="0A1628"/>
          </a:solidFill>
          <a:ln w="12700">
            <a:solidFill>
              <a:srgbClr val="3EC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66420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= "t3.micro"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048256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= "staging"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3230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= "app-server"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81635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min_size      =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3200400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      =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584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desired_capacity 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= local.env.instance_type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20482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= terraform.workspace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2432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= "app-server-${terraform.workspace}"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min_size      = local.env.min_size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200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      = local.env.max_size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desired_capacity = local.env.desired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53128" y="2880360"/>
            <a:ext cx="201168" cy="3657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2743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Plan Output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.tf files — different plans per workspace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2743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workspace select staging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solidFill>
            <a:srgbClr val="3EC97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527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workspace select production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402336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609344"/>
            <a:ext cx="380390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   = "t3.micro"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   = "staging"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= "app-server-staging"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min_size        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         =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desired_capacity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= "app-asg-staging"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406908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609344"/>
            <a:ext cx="384962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   = "t3.large"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   = "production"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= "app-server-production"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min_size         =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         =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desired_capacity =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= "app-asg-production"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77640"/>
            <a:ext cx="8321040" cy="502920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416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Same code. Same files. The locals map + terraform.workspace does all the work.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simplified — and what real teams actually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4069080" cy="1078992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353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AMI IDs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" y="16276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shortcut only. In production use a data source to look up the latest AMI dynamically — so it works across regions and never goes stale.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2450592"/>
            <a:ext cx="4069080" cy="1078992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3272" y="25420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in main.tf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33272" y="28163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small configs. Real teams typically use a dedicated locals.tf file to keep each file focused on one concern.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1480" y="3639312"/>
            <a:ext cx="4069080" cy="1078992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3272" y="3730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apply guardrails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3272" y="40050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teams add CI/CD pipelines that enforce workspace selection, or use separate AWS accounts per environment so credentials enforce the boundary.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1261872"/>
            <a:ext cx="4069080" cy="1078992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544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30952" y="1353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vs directories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330952" y="16276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 prefer separate directories (or repos) per environment. Workspaces share code — separate directories allow different code per environment.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709160" y="2450592"/>
            <a:ext cx="4069080" cy="1078992"/>
          </a:xfrm>
          <a:prstGeom prst="rect">
            <a:avLst/>
          </a:prstGeom>
          <a:solidFill>
            <a:srgbClr val="0818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4320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30952" y="25420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Terragrunt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330952" y="28163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multi-environment setups many teams adopt Terragrunt — a wrapper that manages DRY environment config without workspace maps.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forward from Lab 072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4114800" cy="1097280"/>
          </a:xfrm>
          <a:prstGeom prst="rect">
            <a:avLst/>
          </a:prstGeom>
          <a:solidFill>
            <a:srgbClr val="081828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19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99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isolate state — not configuration. The code is shared. The state is separate.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" y="2496312"/>
            <a:ext cx="4114800" cy="1097280"/>
          </a:xfrm>
          <a:prstGeom prst="rect">
            <a:avLst/>
          </a:prstGeom>
          <a:solidFill>
            <a:srgbClr val="081828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1635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6334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terraform.workspace returns the active workspace name as a string — use it everywhere you need environment-specific behaviour.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1480" y="3730752"/>
            <a:ext cx="4114800" cy="1097280"/>
          </a:xfrm>
          <a:prstGeom prst="rect">
            <a:avLst/>
          </a:prstGeom>
          <a:solidFill>
            <a:srgbClr val="081828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5079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8679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locals map pattern is the standard fix — define a map of workspace → settings, look up local.config[terraform.workspace], reference local.env throughout.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54880" y="1261872"/>
            <a:ext cx="4114800" cy="1097280"/>
          </a:xfrm>
          <a:prstGeom prst="rect">
            <a:avLst/>
          </a:prstGeom>
          <a:solidFill>
            <a:srgbClr val="081828"/>
          </a:solidFill>
          <a:ln w="19050">
            <a:solidFill>
              <a:srgbClr val="3EC97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8191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1399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workspace first. Run terraform workspace show to confirm. Then plan or apply.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754880" y="2496312"/>
            <a:ext cx="4114800" cy="1097280"/>
          </a:xfrm>
          <a:prstGeom prst="rect">
            <a:avLst/>
          </a:prstGeom>
          <a:solidFill>
            <a:srgbClr val="081828"/>
          </a:solidFill>
          <a:ln w="19050">
            <a:solidFill>
              <a:srgbClr val="F4C54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16352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94960" y="26334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everything with terraform.workspace — it's the only way to tell which environment owns a resource in the AWS console.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754880" y="3730752"/>
            <a:ext cx="4114800" cy="1097280"/>
          </a:xfrm>
          <a:prstGeom prst="rect">
            <a:avLst/>
          </a:prstGeom>
          <a:solidFill>
            <a:srgbClr val="081828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05079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94960" y="38679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'default' entry in your workspace map. A missing key causes a runtime error.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98448"/>
          </a:xfrm>
          <a:prstGeom prst="rect">
            <a:avLst/>
          </a:prstGeom>
          <a:solidFill>
            <a:srgbClr val="08121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072 COMPLETE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1051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— Solved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127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code. Workspace-aware config. The right infrastructure in the right environment.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Lab 073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github.com/engsnayl/cloud-engineer-labs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072 — Terraform Workspace Confusion</dc:title>
  <dc:subject>PptxGenJS Presentation</dc:subject>
  <dc:creator>PptxGenJS</dc:creator>
  <cp:lastModifiedBy>PptxGenJS</cp:lastModifiedBy>
  <cp:revision>1</cp:revision>
  <dcterms:created xsi:type="dcterms:W3CDTF">2026-04-09T07:37:22Z</dcterms:created>
  <dcterms:modified xsi:type="dcterms:W3CDTF">2026-04-09T07:37:22Z</dcterms:modified>
</cp:coreProperties>
</file>
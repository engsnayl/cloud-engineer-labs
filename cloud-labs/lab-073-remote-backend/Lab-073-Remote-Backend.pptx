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17A8A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073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Backend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288036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7A8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State — Where It Lives, Who Guards It, and Why It Matters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188720" y="4023360"/>
            <a:ext cx="2194560" cy="566928"/>
          </a:xfrm>
          <a:prstGeom prst="rect">
            <a:avLst/>
          </a:prstGeom>
          <a:solidFill>
            <a:srgbClr val="132232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8448" y="4114800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55648" y="4023360"/>
            <a:ext cx="159105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Remote State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703320" y="4023360"/>
            <a:ext cx="2194560" cy="566928"/>
          </a:xfrm>
          <a:prstGeom prst="rect">
            <a:avLst/>
          </a:prstGeom>
          <a:solidFill>
            <a:srgbClr val="132232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3048" y="4114800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270248" y="4023360"/>
            <a:ext cx="159105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 Locking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217920" y="4023360"/>
            <a:ext cx="2194560" cy="566928"/>
          </a:xfrm>
          <a:prstGeom prst="rect">
            <a:avLst/>
          </a:prstGeom>
          <a:solidFill>
            <a:srgbClr val="132232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4114800"/>
            <a:ext cx="384048" cy="38404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784848" y="4023360"/>
            <a:ext cx="159105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at Rest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0" y="4800600"/>
            <a:ext cx="91440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Engineer Labs  —  Terraform Series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LAB 073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011680" y="0"/>
            <a:ext cx="6766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F4F4"/>
                </a:solidFill>
              </a:rPr>
              <a:t>Remote Backend Configuration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749808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Terraform State?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0040" y="1261872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7A8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memory Terraform uses to track what it manages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600200"/>
            <a:ext cx="4023360" cy="3200400"/>
          </a:xfrm>
          <a:prstGeom prst="rect">
            <a:avLst/>
          </a:prstGeom>
          <a:solidFill>
            <a:srgbClr val="132232"/>
          </a:solidFill>
          <a:ln w="15240">
            <a:solidFill>
              <a:srgbClr val="0E7C7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737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A8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1031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keeps a record of every resource it manages in a </a:t>
            </a:r>
            <a:pPr indent="0" marL="0">
              <a:buNone/>
            </a:pPr>
            <a:r>
              <a:rPr lang="en-US" sz="1100" b="1" dirty="0">
                <a:solidFill>
                  <a:srgbClr val="17A8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file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Without it, Terraform has no idea what already exists in AWS.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788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that file lives on a laptop </a:t>
            </a:r>
            <a:pPr indent="0" marL="0">
              <a:buNone/>
            </a:pPr>
            <a:r>
              <a:rPr lang="en-US" sz="11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laptop dies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320040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loses track of all managed resources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applies try to create duplicate infrastructure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of outage and cost explosion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600200"/>
            <a:ext cx="4160520" cy="3200400"/>
          </a:xfrm>
          <a:prstGeom prst="rect">
            <a:avLst/>
          </a:prstGeom>
          <a:solidFill>
            <a:srgbClr val="132232"/>
          </a:solidFill>
          <a:ln w="15240">
            <a:solidFill>
              <a:srgbClr val="0E7C7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0" y="173736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A8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State  vs  Remote State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46320" y="2148840"/>
            <a:ext cx="1645920" cy="1097280"/>
          </a:xfrm>
          <a:prstGeom prst="rect">
            <a:avLst/>
          </a:prstGeom>
          <a:solidFill>
            <a:srgbClr val="3D0000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214884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terraform.tfstate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537960" y="2560320"/>
            <a:ext cx="411480" cy="274320"/>
          </a:xfrm>
          <a:prstGeom prst="rect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37960" y="256032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LOST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995160" y="2148840"/>
            <a:ext cx="1645920" cy="1097280"/>
          </a:xfrm>
          <a:prstGeom prst="rect">
            <a:avLst/>
          </a:prstGeom>
          <a:solidFill>
            <a:srgbClr val="003D1A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0" y="2240280"/>
            <a:ext cx="457200" cy="36576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6995160" y="2633472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Bucket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State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846320" y="3383280"/>
            <a:ext cx="3794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B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state is durable, versioned, and shared across the whole team.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23" name="Text 20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state file on a single machine is a single point of failure. Remote state is the solution.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LAB 073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011680" y="0"/>
            <a:ext cx="6766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F4F4"/>
                </a:solidFill>
              </a:rPr>
              <a:t>Remote Backend Configuration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749808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Problems — Three Fixes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0040" y="1261872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7A8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starting main.tf is missing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572768"/>
            <a:ext cx="8503920" cy="987552"/>
          </a:xfrm>
          <a:prstGeom prst="rect">
            <a:avLst/>
          </a:prstGeom>
          <a:solidFill>
            <a:srgbClr val="132232"/>
          </a:solidFill>
          <a:ln w="15240">
            <a:solidFill>
              <a:srgbClr val="0E7C7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38912" y="1828800"/>
            <a:ext cx="475488" cy="475488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9" name="Text 7"/>
          <p:cNvSpPr/>
          <p:nvPr/>
        </p:nvSpPr>
        <p:spPr>
          <a:xfrm>
            <a:off x="438912" y="182880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1837944"/>
            <a:ext cx="411480" cy="4114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554480" y="166420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Backend Block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554480" y="202996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pPr indent="0" marL="0">
              <a:buNone/>
            </a:pPr>
            <a:r>
              <a:rPr lang="en-US" sz="100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writes to terraform.tfstate on disk. File is lost, state is lost.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892040" y="1709928"/>
            <a:ext cx="27432" cy="713232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4" name="Text 11"/>
          <p:cNvSpPr/>
          <p:nvPr/>
        </p:nvSpPr>
        <p:spPr>
          <a:xfrm>
            <a:off x="5029200" y="1709928"/>
            <a:ext cx="3611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A8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</a:t>
            </a:r>
            <a:pPr indent="0" marL="0">
              <a:buNone/>
            </a:pPr>
            <a:r>
              <a:rPr lang="en-US" sz="100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terraform { backend "s3" { ... } } block pointing to the S3 bucket.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20040" y="2670048"/>
            <a:ext cx="8503920" cy="987552"/>
          </a:xfrm>
          <a:prstGeom prst="rect">
            <a:avLst/>
          </a:prstGeom>
          <a:solidFill>
            <a:srgbClr val="132232"/>
          </a:solidFill>
          <a:ln w="15240">
            <a:solidFill>
              <a:srgbClr val="0E7C7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38912" y="2926080"/>
            <a:ext cx="475488" cy="475488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7" name="Text 14"/>
          <p:cNvSpPr/>
          <p:nvPr/>
        </p:nvSpPr>
        <p:spPr>
          <a:xfrm>
            <a:off x="438912" y="292608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2935224"/>
            <a:ext cx="411480" cy="41148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554480" y="276148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DynamoDB Table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1554480" y="312724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pPr indent="0" marL="0">
              <a:buNone/>
            </a:pPr>
            <a:r>
              <a:rPr lang="en-US" sz="100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engineers running apply simultaneously can corrupt the state file.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4892040" y="2807208"/>
            <a:ext cx="27432" cy="713232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22" name="Text 18"/>
          <p:cNvSpPr/>
          <p:nvPr/>
        </p:nvSpPr>
        <p:spPr>
          <a:xfrm>
            <a:off x="5029200" y="2807208"/>
            <a:ext cx="3611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A8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</a:t>
            </a:r>
            <a:pPr indent="0" marL="0">
              <a:buNone/>
            </a:pPr>
            <a:r>
              <a:rPr lang="en-US" sz="100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Uncomment aws_dynamodb_table resource. Hash key must be exactly LockID.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320040" y="3767328"/>
            <a:ext cx="8503920" cy="987552"/>
          </a:xfrm>
          <a:prstGeom prst="rect">
            <a:avLst/>
          </a:prstGeom>
          <a:solidFill>
            <a:srgbClr val="132232"/>
          </a:solidFill>
          <a:ln w="15240">
            <a:solidFill>
              <a:srgbClr val="0E7C7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438912" y="4023360"/>
            <a:ext cx="475488" cy="475488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25" name="Text 21"/>
          <p:cNvSpPr/>
          <p:nvPr/>
        </p:nvSpPr>
        <p:spPr>
          <a:xfrm>
            <a:off x="438912" y="402336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4032504"/>
            <a:ext cx="411480" cy="41148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554480" y="385876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Encryption</a:t>
            </a:r>
            <a:endParaRPr lang="en-US" sz="1300" dirty="0"/>
          </a:p>
        </p:txBody>
      </p:sp>
      <p:sp>
        <p:nvSpPr>
          <p:cNvPr id="28" name="Text 23"/>
          <p:cNvSpPr/>
          <p:nvPr/>
        </p:nvSpPr>
        <p:spPr>
          <a:xfrm>
            <a:off x="1554480" y="422452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pPr indent="0" marL="0">
              <a:buNone/>
            </a:pPr>
            <a:r>
              <a:rPr lang="en-US" sz="100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files can contain resource IDs, IPs, and sometimes passwords — in plain text.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4892040" y="3904488"/>
            <a:ext cx="27432" cy="713232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0" name="Text 25"/>
          <p:cNvSpPr/>
          <p:nvPr/>
        </p:nvSpPr>
        <p:spPr>
          <a:xfrm>
            <a:off x="5029200" y="3904488"/>
            <a:ext cx="3611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A8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</a:t>
            </a:r>
            <a:pPr indent="0" marL="0">
              <a:buNone/>
            </a:pPr>
            <a:r>
              <a:rPr lang="en-US" sz="100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aws_s3_bucket_server_side_encryption_configuration with sse_algorithm = aws:kms.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LAB 073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011680" y="0"/>
            <a:ext cx="6766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F4F4"/>
                </a:solidFill>
              </a:rPr>
              <a:t>Remote Backend Configuration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749808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Locking — How It Works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0040" y="1261872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7A8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 as a mutex: automatic, invisible, essential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1572768"/>
            <a:ext cx="2606040" cy="530352"/>
          </a:xfrm>
          <a:prstGeom prst="rect">
            <a:avLst/>
          </a:prstGeom>
          <a:solidFill>
            <a:srgbClr val="0E7C7B"/>
          </a:solidFill>
          <a:ln w="12700">
            <a:solidFill>
              <a:srgbClr val="17A8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0" y="1572768"/>
            <a:ext cx="2606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Locking is 100% automatic — you never touch DynamoDB directly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2212848"/>
            <a:ext cx="1417320" cy="777240"/>
          </a:xfrm>
          <a:prstGeom prst="rect">
            <a:avLst/>
          </a:prstGeom>
          <a:solidFill>
            <a:srgbClr val="003D1A"/>
          </a:solidFill>
          <a:ln w="19050">
            <a:solidFill>
              <a:srgbClr val="0E7C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2212848"/>
            <a:ext cx="1417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apply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773936" y="2532888"/>
            <a:ext cx="201168" cy="137160"/>
          </a:xfrm>
          <a:prstGeom prst="rect">
            <a:avLst/>
          </a:prstGeom>
          <a:solidFill>
            <a:srgbClr val="8BA8B0"/>
          </a:solidFill>
          <a:ln/>
        </p:spPr>
      </p:sp>
      <p:sp>
        <p:nvSpPr>
          <p:cNvPr id="12" name="Shape 10"/>
          <p:cNvSpPr/>
          <p:nvPr/>
        </p:nvSpPr>
        <p:spPr>
          <a:xfrm>
            <a:off x="1993392" y="2212848"/>
            <a:ext cx="1417320" cy="777240"/>
          </a:xfrm>
          <a:prstGeom prst="rect">
            <a:avLst/>
          </a:prstGeom>
          <a:solidFill>
            <a:srgbClr val="132232"/>
          </a:solidFill>
          <a:ln w="19050">
            <a:solidFill>
              <a:srgbClr val="17A8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93392" y="2212848"/>
            <a:ext cx="1417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writes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to DynamoDB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447288" y="2532888"/>
            <a:ext cx="201168" cy="137160"/>
          </a:xfrm>
          <a:prstGeom prst="rect">
            <a:avLst/>
          </a:prstGeom>
          <a:solidFill>
            <a:srgbClr val="8BA8B0"/>
          </a:solidFill>
          <a:ln/>
        </p:spPr>
      </p:sp>
      <p:sp>
        <p:nvSpPr>
          <p:cNvPr id="15" name="Shape 13"/>
          <p:cNvSpPr/>
          <p:nvPr/>
        </p:nvSpPr>
        <p:spPr>
          <a:xfrm>
            <a:off x="3666744" y="2212848"/>
            <a:ext cx="1417320" cy="777240"/>
          </a:xfrm>
          <a:prstGeom prst="rect">
            <a:avLst/>
          </a:prstGeom>
          <a:solidFill>
            <a:srgbClr val="3D0000"/>
          </a:solidFill>
          <a:ln w="19050">
            <a:solidFill>
              <a:srgbClr val="CC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66744" y="2212848"/>
            <a:ext cx="1417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B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apply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120640" y="2532888"/>
            <a:ext cx="201168" cy="137160"/>
          </a:xfrm>
          <a:prstGeom prst="rect">
            <a:avLst/>
          </a:prstGeom>
          <a:solidFill>
            <a:srgbClr val="8BA8B0"/>
          </a:solidFill>
          <a:ln/>
        </p:spPr>
      </p:sp>
      <p:sp>
        <p:nvSpPr>
          <p:cNvPr id="18" name="Shape 16"/>
          <p:cNvSpPr/>
          <p:nvPr/>
        </p:nvSpPr>
        <p:spPr>
          <a:xfrm>
            <a:off x="5340096" y="2212848"/>
            <a:ext cx="1417320" cy="777240"/>
          </a:xfrm>
          <a:prstGeom prst="rect">
            <a:avLst/>
          </a:prstGeom>
          <a:solidFill>
            <a:srgbClr val="132232"/>
          </a:solidFill>
          <a:ln w="19050">
            <a:solidFill>
              <a:srgbClr val="F0C0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40096" y="2212848"/>
            <a:ext cx="1417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sees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lock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793992" y="2532888"/>
            <a:ext cx="201168" cy="137160"/>
          </a:xfrm>
          <a:prstGeom prst="rect">
            <a:avLst/>
          </a:prstGeom>
          <a:solidFill>
            <a:srgbClr val="8BA8B0"/>
          </a:solidFill>
          <a:ln/>
        </p:spPr>
      </p:sp>
      <p:sp>
        <p:nvSpPr>
          <p:cNvPr id="21" name="Shape 19"/>
          <p:cNvSpPr/>
          <p:nvPr/>
        </p:nvSpPr>
        <p:spPr>
          <a:xfrm>
            <a:off x="7013448" y="2212848"/>
            <a:ext cx="1417320" cy="777240"/>
          </a:xfrm>
          <a:prstGeom prst="rect">
            <a:avLst/>
          </a:prstGeom>
          <a:solidFill>
            <a:srgbClr val="3D2200"/>
          </a:solidFill>
          <a:ln w="19050">
            <a:solidFill>
              <a:srgbClr val="F0C04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13448" y="2212848"/>
            <a:ext cx="1417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B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waits / errors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04672" y="3081528"/>
            <a:ext cx="274320" cy="27432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24" name="Text 22"/>
          <p:cNvSpPr/>
          <p:nvPr/>
        </p:nvSpPr>
        <p:spPr>
          <a:xfrm>
            <a:off x="804672" y="30815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478024" y="3081528"/>
            <a:ext cx="274320" cy="27432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26" name="Text 24"/>
          <p:cNvSpPr/>
          <p:nvPr/>
        </p:nvSpPr>
        <p:spPr>
          <a:xfrm>
            <a:off x="2478024" y="30815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151376" y="3081528"/>
            <a:ext cx="274320" cy="27432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28" name="Text 26"/>
          <p:cNvSpPr/>
          <p:nvPr/>
        </p:nvSpPr>
        <p:spPr>
          <a:xfrm>
            <a:off x="4151376" y="30815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824728" y="3081528"/>
            <a:ext cx="274320" cy="27432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30" name="Text 28"/>
          <p:cNvSpPr/>
          <p:nvPr/>
        </p:nvSpPr>
        <p:spPr>
          <a:xfrm>
            <a:off x="5824728" y="30815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498080" y="3081528"/>
            <a:ext cx="274320" cy="27432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32" name="Text 30"/>
          <p:cNvSpPr/>
          <p:nvPr/>
        </p:nvSpPr>
        <p:spPr>
          <a:xfrm>
            <a:off x="7498080" y="30815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0040" y="3337560"/>
            <a:ext cx="8503920" cy="658368"/>
          </a:xfrm>
          <a:prstGeom prst="rect">
            <a:avLst/>
          </a:prstGeom>
          <a:solidFill>
            <a:srgbClr val="132232"/>
          </a:solidFill>
          <a:ln w="15240">
            <a:solidFill>
              <a:srgbClr val="0E7C7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474720"/>
            <a:ext cx="347472" cy="347472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960120" y="3401568"/>
            <a:ext cx="7680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Engineer A's apply finishes, Terraform automatically deletes the lock from DynamoDB. Engineer B can now proceed.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320040" y="4114800"/>
            <a:ext cx="2560320" cy="841248"/>
          </a:xfrm>
          <a:prstGeom prst="rect">
            <a:avLst/>
          </a:prstGeom>
          <a:solidFill>
            <a:srgbClr val="132232"/>
          </a:solidFill>
          <a:ln w="15240">
            <a:solidFill>
              <a:srgbClr val="0E7C7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pic>
        <p:nvPicPr>
          <p:cNvPr id="3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315968"/>
            <a:ext cx="347472" cy="347472"/>
          </a:xfrm>
          <a:prstGeom prst="rect">
            <a:avLst/>
          </a:prstGeom>
        </p:spPr>
      </p:pic>
      <p:sp>
        <p:nvSpPr>
          <p:cNvPr id="38" name="Text 34"/>
          <p:cNvSpPr/>
          <p:nvPr/>
        </p:nvSpPr>
        <p:spPr>
          <a:xfrm>
            <a:off x="886968" y="4169664"/>
            <a:ext cx="1901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key must be exactly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LockID — wrong casing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silently</a:t>
            </a:r>
            <a:endParaRPr lang="en-US" sz="950" dirty="0"/>
          </a:p>
        </p:txBody>
      </p:sp>
      <p:sp>
        <p:nvSpPr>
          <p:cNvPr id="39" name="Shape 35"/>
          <p:cNvSpPr/>
          <p:nvPr/>
        </p:nvSpPr>
        <p:spPr>
          <a:xfrm>
            <a:off x="3108960" y="4114800"/>
            <a:ext cx="2560320" cy="841248"/>
          </a:xfrm>
          <a:prstGeom prst="rect">
            <a:avLst/>
          </a:prstGeom>
          <a:solidFill>
            <a:srgbClr val="132232"/>
          </a:solidFill>
          <a:ln w="15240">
            <a:solidFill>
              <a:srgbClr val="0E7C7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pic>
        <p:nvPicPr>
          <p:cNvPr id="4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120" y="4315968"/>
            <a:ext cx="347472" cy="347472"/>
          </a:xfrm>
          <a:prstGeom prst="rect">
            <a:avLst/>
          </a:prstGeom>
        </p:spPr>
      </p:pic>
      <p:sp>
        <p:nvSpPr>
          <p:cNvPr id="41" name="Text 36"/>
          <p:cNvSpPr/>
          <p:nvPr/>
        </p:nvSpPr>
        <p:spPr>
          <a:xfrm>
            <a:off x="3675888" y="4169664"/>
            <a:ext cx="1901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crash leaves a stale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lock, use: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force-unlock</a:t>
            </a:r>
            <a:endParaRPr lang="en-US" sz="950" dirty="0"/>
          </a:p>
        </p:txBody>
      </p:sp>
      <p:sp>
        <p:nvSpPr>
          <p:cNvPr id="42" name="Shape 37"/>
          <p:cNvSpPr/>
          <p:nvPr/>
        </p:nvSpPr>
        <p:spPr>
          <a:xfrm>
            <a:off x="5897880" y="4114800"/>
            <a:ext cx="2560320" cy="841248"/>
          </a:xfrm>
          <a:prstGeom prst="rect">
            <a:avLst/>
          </a:prstGeom>
          <a:solidFill>
            <a:srgbClr val="132232"/>
          </a:solidFill>
          <a:ln w="15240">
            <a:solidFill>
              <a:srgbClr val="0E7C7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pic>
        <p:nvPicPr>
          <p:cNvPr id="4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4315968"/>
            <a:ext cx="347472" cy="347472"/>
          </a:xfrm>
          <a:prstGeom prst="rect">
            <a:avLst/>
          </a:prstGeom>
        </p:spPr>
      </p:pic>
      <p:sp>
        <p:nvSpPr>
          <p:cNvPr id="44" name="Text 38"/>
          <p:cNvSpPr/>
          <p:nvPr/>
        </p:nvSpPr>
        <p:spPr>
          <a:xfrm>
            <a:off x="6464808" y="4169664"/>
            <a:ext cx="1901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entry stores who holds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and when — visible in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 console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LAB 073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011680" y="0"/>
            <a:ext cx="6766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F4F4"/>
                </a:solidFill>
              </a:rPr>
              <a:t>Remote Backend Configuration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749808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Chicken-and-Egg Problem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0040" y="1261872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7A8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you can't just add the backend block and run init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572768"/>
            <a:ext cx="8503920" cy="822960"/>
          </a:xfrm>
          <a:prstGeom prst="rect">
            <a:avLst/>
          </a:prstGeom>
          <a:solidFill>
            <a:srgbClr val="1A0000"/>
          </a:solidFill>
          <a:ln w="19050">
            <a:solidFill>
              <a:srgbClr val="CC3333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73736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05840" y="1627632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Error: Error acquiring the state lock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ResourceNotFoundException: Requested resource not found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20040" y="2487168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happens when you add the backend block before the DynamoDB table exists in AWS. Terraform tries to acquire a lock the moment init runs — before any resources are created.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20040" y="301752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A8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Two-Stage Fix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20040" y="3401568"/>
            <a:ext cx="4114800" cy="1554480"/>
          </a:xfrm>
          <a:prstGeom prst="rect">
            <a:avLst/>
          </a:prstGeom>
          <a:solidFill>
            <a:srgbClr val="132232"/>
          </a:solidFill>
          <a:ln w="15240">
            <a:solidFill>
              <a:srgbClr val="0E7C7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7200" y="3493008"/>
            <a:ext cx="411480" cy="41148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4" name="Text 11"/>
          <p:cNvSpPr/>
          <p:nvPr/>
        </p:nvSpPr>
        <p:spPr>
          <a:xfrm>
            <a:off x="457200" y="34930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960120" y="349300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Commented Out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48640" y="3950208"/>
            <a:ext cx="3749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all fixes to main.tf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backend block commented out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init  (local state)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apply  (creates DynamoDB table, encryption, etc.)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663440" y="3401568"/>
            <a:ext cx="4114800" cy="1554480"/>
          </a:xfrm>
          <a:prstGeom prst="rect">
            <a:avLst/>
          </a:prstGeom>
          <a:solidFill>
            <a:srgbClr val="132232"/>
          </a:solidFill>
          <a:ln w="15240">
            <a:solidFill>
              <a:srgbClr val="0E7C7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800600" y="3493008"/>
            <a:ext cx="411480" cy="41148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9" name="Text 16"/>
          <p:cNvSpPr/>
          <p:nvPr/>
        </p:nvSpPr>
        <p:spPr>
          <a:xfrm>
            <a:off x="4800600" y="34930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5303520" y="349300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Uncomment Backend + Migrate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892040" y="3950208"/>
            <a:ext cx="3749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Uncomment the backend block in main.tf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init -migrate-state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yes to copy local state to S3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now lives in S3 — locking active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462272" y="4069080"/>
            <a:ext cx="219456" cy="164592"/>
          </a:xfrm>
          <a:prstGeom prst="rect">
            <a:avLst/>
          </a:prstGeom>
          <a:solidFill>
            <a:srgbClr val="17A8A7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LAB 073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011680" y="0"/>
            <a:ext cx="6766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F4F4"/>
                </a:solidFill>
              </a:rPr>
              <a:t>Remote Backend Configuration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749808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init -migrate-state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0040" y="1261872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7A8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command that moves your state from local to S3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572768"/>
            <a:ext cx="8503920" cy="566928"/>
          </a:xfrm>
          <a:prstGeom prst="rect">
            <a:avLst/>
          </a:prstGeom>
          <a:solidFill>
            <a:srgbClr val="0A1520"/>
          </a:solidFill>
          <a:ln w="19050">
            <a:solidFill>
              <a:srgbClr val="0E7C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572768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A8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terraform init -migrate-state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240280"/>
          <a:ext cx="8503920" cy="960120"/>
        </p:xfrm>
        <a:graphic>
          <a:graphicData uri="http://schemas.openxmlformats.org/drawingml/2006/table">
            <a:tbl>
              <a:tblPr/>
              <a:tblGrid>
                <a:gridCol w="2011680"/>
                <a:gridCol w="6492240"/>
              </a:tblGrid>
              <a:tr h="2400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Part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E7C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7C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7C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7C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What It Does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E7C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7C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7C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7C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7B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7A8A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terraform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E7C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7C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7C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7C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Invokes the Terraform CLI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E7C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7C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7C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7C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2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7A8A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init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E7C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7C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7C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7C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Initialises the working directory — downloads providers, configures backend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E7C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7C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7C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7C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2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7A8A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-migrate-state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E7C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7C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7C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7C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Detects the backend has changed from local to S3 and offers to copy existing state across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E7C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7C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7C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7C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2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320040" y="3310128"/>
            <a:ext cx="8503920" cy="987552"/>
          </a:xfrm>
          <a:prstGeom prst="rect">
            <a:avLst/>
          </a:prstGeom>
          <a:solidFill>
            <a:srgbClr val="0A1520"/>
          </a:solidFill>
          <a:ln w="12700">
            <a:solidFill>
              <a:srgbClr val="8BA8B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33558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Terraform says: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02920" y="361188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Pre-existing state was found while migrating the previous "local" backend to the newly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configured "s3" backend. No existing state was found in the newly configured "s3" backend.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you want to copy this state to the new "s3" backend? Enter "yes" to copy.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20040" y="4407408"/>
            <a:ext cx="2651760" cy="658368"/>
          </a:xfrm>
          <a:prstGeom prst="rect">
            <a:avLst/>
          </a:prstGeom>
          <a:solidFill>
            <a:srgbClr val="132232"/>
          </a:solidFill>
          <a:ln w="15240">
            <a:solidFill>
              <a:srgbClr val="0E7C7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" y="4544568"/>
            <a:ext cx="347472" cy="34747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50392" y="4453128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copied to S3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850392" y="4709160"/>
            <a:ext cx="2057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local terraform.tfstate is read and written to s3://bucket/production/terraform.tfstate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3200400" y="4407408"/>
            <a:ext cx="2651760" cy="658368"/>
          </a:xfrm>
          <a:prstGeom prst="rect">
            <a:avLst/>
          </a:prstGeom>
          <a:solidFill>
            <a:srgbClr val="132232"/>
          </a:solidFill>
          <a:ln w="15240">
            <a:solidFill>
              <a:srgbClr val="0E7C7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0128" y="4544568"/>
            <a:ext cx="347472" cy="34747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730752" y="4453128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file retained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3730752" y="4709160"/>
            <a:ext cx="2057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leaves terraform.tfstate on disk as a safety backup — this is intentional, not an error</a:t>
            </a:r>
            <a:endParaRPr lang="en-US" sz="850" dirty="0"/>
          </a:p>
        </p:txBody>
      </p:sp>
      <p:sp>
        <p:nvSpPr>
          <p:cNvPr id="21" name="Shape 16"/>
          <p:cNvSpPr/>
          <p:nvPr/>
        </p:nvSpPr>
        <p:spPr>
          <a:xfrm>
            <a:off x="6080760" y="4407408"/>
            <a:ext cx="2651760" cy="658368"/>
          </a:xfrm>
          <a:prstGeom prst="rect">
            <a:avLst/>
          </a:prstGeom>
          <a:solidFill>
            <a:srgbClr val="132232"/>
          </a:solidFill>
          <a:ln w="15240">
            <a:solidFill>
              <a:srgbClr val="0E7C7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0488" y="4544568"/>
            <a:ext cx="347472" cy="34747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611112" y="4453128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Locking now active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6611112" y="4709160"/>
            <a:ext cx="2057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future terraform commands acquire a lock in DynamoDB before doing any work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LAB 073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011680" y="0"/>
            <a:ext cx="6766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F4F4"/>
                </a:solidFill>
              </a:rPr>
              <a:t>Remote Backend Configuration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749808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Encrypt the State File?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0040" y="1261872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7A8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files contain more than you might expect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572768"/>
            <a:ext cx="4023360" cy="2834640"/>
          </a:xfrm>
          <a:prstGeom prst="rect">
            <a:avLst/>
          </a:prstGeom>
          <a:solidFill>
            <a:srgbClr val="132232"/>
          </a:solidFill>
          <a:ln w="15240">
            <a:solidFill>
              <a:srgbClr val="0E7C7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1691640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169164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state file can contain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02920" y="2121408"/>
            <a:ext cx="36576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IDs and ARNs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addresses and CIDR blocks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connection strings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role ARNs and policy details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key references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keys and secrets (if managed by Terraform)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663440" y="1572768"/>
            <a:ext cx="4160520" cy="2834640"/>
          </a:xfrm>
          <a:prstGeom prst="rect">
            <a:avLst/>
          </a:prstGeom>
          <a:solidFill>
            <a:srgbClr val="132232"/>
          </a:solidFill>
          <a:ln w="15240">
            <a:solidFill>
              <a:srgbClr val="0E7C7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8888" y="1691640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57800" y="169164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A8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layers of protection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800600" y="2121408"/>
            <a:ext cx="3840480" cy="868680"/>
          </a:xfrm>
          <a:prstGeom prst="rect">
            <a:avLst/>
          </a:prstGeom>
          <a:solidFill>
            <a:srgbClr val="003D1A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937760" y="216712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A8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 encryption (aws_s3_bucket_server_side_encryption_configuration)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4937760" y="2450592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Encrypts all objects at rest using AWS KMS. Applied to every file written to the bucket.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4800600" y="3063240"/>
            <a:ext cx="3840480" cy="868680"/>
          </a:xfrm>
          <a:prstGeom prst="rect">
            <a:avLst/>
          </a:prstGeom>
          <a:solidFill>
            <a:srgbClr val="003D1A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937760" y="31089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A8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encrypt flag (encrypt = true)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4937760" y="3392424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Instructs Terraform to encrypt the state file before writing to S3 — belt and braces.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4800600" y="4005072"/>
            <a:ext cx="3840480" cy="256032"/>
          </a:xfrm>
          <a:prstGeom prst="rect">
            <a:avLst/>
          </a:prstGeom>
          <a:solidFill>
            <a:srgbClr val="132232"/>
          </a:solidFill>
          <a:ln w="12700">
            <a:solidFill>
              <a:srgbClr val="8BA8B0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937760" y="400507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Public access block prevents any accidental exposure regardless of bucket policies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320040" y="4480560"/>
            <a:ext cx="8503920" cy="347472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23" name="Text 19"/>
          <p:cNvSpPr/>
          <p:nvPr/>
        </p:nvSpPr>
        <p:spPr>
          <a:xfrm>
            <a:off x="320040" y="448056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production, use a customer-managed KMS key (CMK) for key rotation control and audit trails.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LAB 073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011680" y="0"/>
            <a:ext cx="6766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F4F4"/>
                </a:solidFill>
              </a:rPr>
              <a:t>Remote Backend Configuration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749808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vs Real Life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0040" y="1261872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7A8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lab takes shortcuts and what production looks like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572768"/>
          <a:ext cx="8503920" cy="3337560"/>
        </p:xfrm>
        <a:graphic>
          <a:graphicData uri="http://schemas.openxmlformats.org/drawingml/2006/table">
            <a:tbl>
              <a:tblPr/>
              <a:tblGrid>
                <a:gridCol w="2926080"/>
                <a:gridCol w="5577840"/>
              </a:tblGrid>
              <a:tr h="4767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In This Lab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E7C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7C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7C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7C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In Production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E7C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7C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7C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7C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7B"/>
                    </a:solidFill>
                  </a:tcPr>
                </a:tc>
              </a:tr>
              <a:tr h="4767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7A8A7"/>
                          </a:solidFill>
                        </a:rPr>
                        <a:t>Two-stage apply (local then migrate)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E7C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7C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7C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7C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F4F4"/>
                          </a:solidFill>
                        </a:rPr>
                        <a:t>Separate bootstrap Terraform config creates the backend infrastructure with local state. All other projects reference that pre-existing backend.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E7C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7C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7C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7C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2"/>
                    </a:solidFill>
                  </a:tcPr>
                </a:tc>
              </a:tr>
              <a:tr h="4767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7A8A7"/>
                          </a:solidFill>
                        </a:rPr>
                        <a:t>Single S3 bucket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E7C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7C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7C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7C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F4F4"/>
                          </a:solidFill>
                        </a:rPr>
                        <a:t>One bucket with multiple key paths: dev/terraform.tfstate, staging/terraform.tfstate, production/terraform.tfstate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E7C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7C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7C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7C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2"/>
                    </a:solidFill>
                  </a:tcPr>
                </a:tc>
              </a:tr>
              <a:tr h="4767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7A8A7"/>
                          </a:solidFill>
                        </a:rPr>
                        <a:t>Default AWS-managed KMS key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E7C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7C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7C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7C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F4F4"/>
                          </a:solidFill>
                        </a:rPr>
                        <a:t>Customer-managed KMS key (CMK) for auditability, key rotation, and cross-account access control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E7C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7C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7C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7C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2"/>
                    </a:solidFill>
                  </a:tcPr>
                </a:tc>
              </a:tr>
              <a:tr h="4767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7A8A7"/>
                          </a:solidFill>
                        </a:rPr>
                        <a:t>S3 + DynamoDB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E7C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7C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7C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7C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F4F4"/>
                          </a:solidFill>
                        </a:rPr>
                        <a:t>Many teams use Terraform Cloud or Terraform Enterprise — built-in state, locking, run history, and team UI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E7C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7C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7C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7C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2"/>
                    </a:solidFill>
                  </a:tcPr>
                </a:tc>
              </a:tr>
              <a:tr h="4767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7A8A7"/>
                          </a:solidFill>
                        </a:rPr>
                        <a:t>terraform destroy to clean up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E7C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7C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7C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7C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F4F4"/>
                          </a:solidFill>
                        </a:rPr>
                        <a:t>The state bucket is permanent infrastructure. It is never destroyed — only the resources it tracks are.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E7C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7C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7C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7C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2"/>
                    </a:solidFill>
                  </a:tcPr>
                </a:tc>
              </a:tr>
              <a:tr h="4767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7A8A7"/>
                          </a:solidFill>
                        </a:rPr>
                        <a:t>Local state file retained after migration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E7C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7C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7C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7C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F4F4"/>
                          </a:solidFill>
                        </a:rPr>
                        <a:t>Teams leave the local file as a backup until confident the remote backend is stable across multiple runs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E7C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7C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7C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7C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LAB 073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011680" y="0"/>
            <a:ext cx="6766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F4F4"/>
                </a:solidFill>
              </a:rPr>
              <a:t>Remote Backend Configuration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749808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 &amp; Common Mistakes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0040" y="1261872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7A8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remember — and what interviewers ask about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572768"/>
            <a:ext cx="4023360" cy="3337560"/>
          </a:xfrm>
          <a:prstGeom prst="rect">
            <a:avLst/>
          </a:prstGeom>
          <a:solidFill>
            <a:srgbClr val="132232"/>
          </a:solidFill>
          <a:ln w="15240">
            <a:solidFill>
              <a:srgbClr val="0E7C7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169164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86968" y="16916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A8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75488" y="2084832"/>
            <a:ext cx="3749040" cy="2697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state prevents state loss — S3 is durable, versioned, and team-shared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 locking is automatic — you never interact with it directly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key must be exactly LockID — wrong casing fails silently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infrastructure must exist before the backend block references it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 -migrate-state copies state — without it Terraform starts empty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local state file after migration is a backup — not an error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663440" y="1572768"/>
            <a:ext cx="4160520" cy="3337560"/>
          </a:xfrm>
          <a:prstGeom prst="rect">
            <a:avLst/>
          </a:prstGeom>
          <a:solidFill>
            <a:srgbClr val="132232"/>
          </a:solidFill>
          <a:ln w="15240">
            <a:solidFill>
              <a:srgbClr val="0E7C7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8888" y="169164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30368" y="16916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818888" y="2084832"/>
            <a:ext cx="3840480" cy="2697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the backend block before terraform apply — DynamoDB table doesn't exist yet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-migrate-state — Terraform starts with empty state and duplicates resources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DynamoDB hash key casing — LockID is exact, any deviation fails silently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enabling S3 versioning — one bad overwrite is permanent without it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git pull mid-session — overwrites your main.tf changes back to broken state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Assuming the local state file after migration is a problem — it is intentional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17A8A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073  —  COMPLETE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20700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Built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783080"/>
            <a:ext cx="1554480" cy="1874520"/>
          </a:xfrm>
          <a:prstGeom prst="rect">
            <a:avLst/>
          </a:prstGeom>
          <a:solidFill>
            <a:srgbClr val="132232"/>
          </a:solidFill>
          <a:ln w="15240">
            <a:solidFill>
              <a:srgbClr val="0E7C7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96596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20040" y="2532888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Remote Backend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11480" y="2953512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lives in S3, versioned, durable, team-accessible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1988820" y="1783080"/>
            <a:ext cx="1554480" cy="1874520"/>
          </a:xfrm>
          <a:prstGeom prst="rect">
            <a:avLst/>
          </a:prstGeom>
          <a:solidFill>
            <a:srgbClr val="132232"/>
          </a:solidFill>
          <a:ln w="15240">
            <a:solidFill>
              <a:srgbClr val="0E7C7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7460" y="196596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988820" y="2532888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 Locking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2080260" y="2953512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mutex prevents concurrent state corruption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3657600" y="1783080"/>
            <a:ext cx="1554480" cy="1874520"/>
          </a:xfrm>
          <a:prstGeom prst="rect">
            <a:avLst/>
          </a:prstGeom>
          <a:solidFill>
            <a:srgbClr val="132232"/>
          </a:solidFill>
          <a:ln w="15240">
            <a:solidFill>
              <a:srgbClr val="0E7C7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196596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657600" y="2532888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KMS Encryption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3749040" y="2953512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encrypted at rest — sensitive data protected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5326380" y="1783080"/>
            <a:ext cx="1554480" cy="1874520"/>
          </a:xfrm>
          <a:prstGeom prst="rect">
            <a:avLst/>
          </a:prstGeom>
          <a:solidFill>
            <a:srgbClr val="132232"/>
          </a:solidFill>
          <a:ln w="15240">
            <a:solidFill>
              <a:srgbClr val="0E7C7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5020" y="1965960"/>
            <a:ext cx="457200" cy="4572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326380" y="2532888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Access Block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17820" y="2953512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block prevents any accidental bucket exposure</a:t>
            </a:r>
            <a:endParaRPr lang="en-US" sz="900" dirty="0"/>
          </a:p>
        </p:txBody>
      </p:sp>
      <p:sp>
        <p:nvSpPr>
          <p:cNvPr id="22" name="Shape 16"/>
          <p:cNvSpPr/>
          <p:nvPr/>
        </p:nvSpPr>
        <p:spPr>
          <a:xfrm>
            <a:off x="6995160" y="1783080"/>
            <a:ext cx="1554480" cy="1874520"/>
          </a:xfrm>
          <a:prstGeom prst="rect">
            <a:avLst/>
          </a:prstGeom>
          <a:solidFill>
            <a:srgbClr val="132232"/>
          </a:solidFill>
          <a:ln w="15240">
            <a:solidFill>
              <a:srgbClr val="0E7C7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3800" y="1965960"/>
            <a:ext cx="457200" cy="45720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995160" y="2532888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Migration</a:t>
            </a:r>
            <a:endParaRPr lang="en-US" sz="1000" dirty="0"/>
          </a:p>
        </p:txBody>
      </p:sp>
      <p:sp>
        <p:nvSpPr>
          <p:cNvPr id="25" name="Text 18"/>
          <p:cNvSpPr/>
          <p:nvPr/>
        </p:nvSpPr>
        <p:spPr>
          <a:xfrm>
            <a:off x="7086600" y="2953512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state moved to S3 with init -migrate-state</a:t>
            </a:r>
            <a:endParaRPr lang="en-US" sz="900" dirty="0"/>
          </a:p>
        </p:txBody>
      </p:sp>
      <p:sp>
        <p:nvSpPr>
          <p:cNvPr id="26" name="Shape 19"/>
          <p:cNvSpPr/>
          <p:nvPr/>
        </p:nvSpPr>
        <p:spPr>
          <a:xfrm>
            <a:off x="320040" y="3767328"/>
            <a:ext cx="8503920" cy="594360"/>
          </a:xfrm>
          <a:prstGeom prst="rect">
            <a:avLst/>
          </a:prstGeom>
          <a:solidFill>
            <a:srgbClr val="132232"/>
          </a:solidFill>
          <a:ln w="19050">
            <a:solidFill>
              <a:srgbClr val="F0C040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502920" y="3767328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angle: 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1828800" y="3767328"/>
            <a:ext cx="6812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happens if two engineers run terraform apply at the same time?" — DynamoDB acts as a mutex. Terraform auto-acquires a lock before any operation and releases it on completion. The hash key must be exactly LockID.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0" y="4800600"/>
            <a:ext cx="91440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Engineer Labs  —  Terraform Series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073 — Remote Backend Configuration</dc:title>
  <dc:subject>PptxGenJS Presentation</dc:subject>
  <dc:creator>PptxGenJS</dc:creator>
  <cp:lastModifiedBy>PptxGenJS</cp:lastModifiedBy>
  <cp:revision>1</cp:revision>
  <dcterms:created xsi:type="dcterms:W3CDTF">2026-04-09T15:29:54Z</dcterms:created>
  <dcterms:modified xsi:type="dcterms:W3CDTF">2026-04-09T15:29:54Z</dcterms:modified>
</cp:coreProperties>
</file>
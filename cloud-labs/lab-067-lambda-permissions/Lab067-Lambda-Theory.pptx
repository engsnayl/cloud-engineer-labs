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pic>
        <p:nvPicPr>
          <p:cNvPr id="3" name="Image 0" descr="preencoded.png">    </p:cNvPr>
          <p:cNvPicPr>
            <a:picLocks noChangeAspect="1"/>
          </p:cNvPicPr>
          <p:nvPr/>
        </p:nvPicPr>
        <p:blipFill>
          <a:blip r:embed="rId1">
            <a:alphaModFix amt="80000"/>
          </a:blip>
          <a:stretch>
            <a:fillRect/>
          </a:stretch>
        </p:blipFill>
        <p:spPr>
          <a:xfrm>
            <a:off x="6858000" y="548640"/>
            <a:ext cx="1920240" cy="1920240"/>
          </a:xfrm>
          <a:prstGeom prst="rect">
            <a:avLst/>
          </a:prstGeom>
        </p:spPr>
      </p:pic>
      <p:sp>
        <p:nvSpPr>
          <p:cNvPr id="4" name="Text 1"/>
          <p:cNvSpPr/>
          <p:nvPr/>
        </p:nvSpPr>
        <p:spPr>
          <a:xfrm>
            <a:off x="365760" y="640080"/>
            <a:ext cx="6400800" cy="411480"/>
          </a:xfrm>
          <a:prstGeom prst="rect">
            <a:avLst/>
          </a:prstGeom>
          <a:noFill/>
          <a:ln/>
        </p:spPr>
        <p:txBody>
          <a:bodyPr wrap="square" rtlCol="0" anchor="ctr"/>
          <a:lstStyle/>
          <a:p>
            <a:pPr indent="0" marL="0">
              <a:buNone/>
            </a:pPr>
            <a:r>
              <a:rPr lang="en-US" sz="1200" b="1" spc="400" kern="0" dirty="0">
                <a:solidFill>
                  <a:srgbClr val="00B4D8"/>
                </a:solidFill>
                <a:latin typeface="Calibri" pitchFamily="34" charset="0"/>
                <a:ea typeface="Calibri" pitchFamily="34" charset="-122"/>
                <a:cs typeface="Calibri" pitchFamily="34" charset="-120"/>
              </a:rPr>
              <a:t>LAB 067</a:t>
            </a:r>
            <a:endParaRPr lang="en-US" sz="1200" dirty="0"/>
          </a:p>
        </p:txBody>
      </p:sp>
      <p:sp>
        <p:nvSpPr>
          <p:cNvPr id="5" name="Text 2"/>
          <p:cNvSpPr/>
          <p:nvPr/>
        </p:nvSpPr>
        <p:spPr>
          <a:xfrm>
            <a:off x="365760" y="1097280"/>
            <a:ext cx="6583680" cy="17373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Lambda Theory</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&amp; Missing Permissions</a:t>
            </a:r>
            <a:endParaRPr lang="en-US" sz="4000" dirty="0"/>
          </a:p>
        </p:txBody>
      </p:sp>
      <p:sp>
        <p:nvSpPr>
          <p:cNvPr id="6" name="Shape 3"/>
          <p:cNvSpPr/>
          <p:nvPr/>
        </p:nvSpPr>
        <p:spPr>
          <a:xfrm>
            <a:off x="365760" y="2971800"/>
            <a:ext cx="5029200" cy="36576"/>
          </a:xfrm>
          <a:prstGeom prst="rect">
            <a:avLst/>
          </a:prstGeom>
          <a:solidFill>
            <a:srgbClr val="0096B7"/>
          </a:solidFill>
          <a:ln w="12700">
            <a:solidFill>
              <a:srgbClr val="0096B7"/>
            </a:solidFill>
            <a:prstDash val="solid"/>
          </a:ln>
        </p:spPr>
      </p:sp>
      <p:sp>
        <p:nvSpPr>
          <p:cNvPr id="7" name="Text 4"/>
          <p:cNvSpPr/>
          <p:nvPr/>
        </p:nvSpPr>
        <p:spPr>
          <a:xfrm>
            <a:off x="365760" y="3108960"/>
            <a:ext cx="6858000" cy="822960"/>
          </a:xfrm>
          <a:prstGeom prst="rect">
            <a:avLst/>
          </a:prstGeom>
          <a:noFill/>
          <a:ln/>
        </p:spPr>
        <p:txBody>
          <a:bodyPr wrap="square" rtlCol="0" anchor="ctr"/>
          <a:lstStyle/>
          <a:p>
            <a:pPr indent="0" marL="0">
              <a:buNone/>
            </a:pPr>
            <a:r>
              <a:rPr lang="en-US" sz="1400" dirty="0">
                <a:solidFill>
                  <a:srgbClr val="CBD5E1"/>
                </a:solidFill>
                <a:latin typeface="Calibri" pitchFamily="34" charset="0"/>
                <a:ea typeface="Calibri" pitchFamily="34" charset="-122"/>
                <a:cs typeface="Calibri" pitchFamily="34" charset="-120"/>
              </a:rPr>
              <a:t>Understanding the three pillars every Lambda function needs —</a:t>
            </a:r>
            <a:endParaRPr lang="en-US" sz="1400" dirty="0"/>
          </a:p>
          <a:p>
            <a:pPr indent="0" marL="0">
              <a:buNone/>
            </a:pPr>
            <a:r>
              <a:rPr lang="en-US" sz="1400" dirty="0">
                <a:solidFill>
                  <a:srgbClr val="CBD5E1"/>
                </a:solidFill>
                <a:latin typeface="Calibri" pitchFamily="34" charset="0"/>
                <a:ea typeface="Calibri" pitchFamily="34" charset="-122"/>
                <a:cs typeface="Calibri" pitchFamily="34" charset="-120"/>
              </a:rPr>
              <a:t>identity, permissions, and invocation.</a:t>
            </a:r>
            <a:endParaRPr lang="en-US" sz="1400" dirty="0"/>
          </a:p>
        </p:txBody>
      </p:sp>
      <p:sp>
        <p:nvSpPr>
          <p:cNvPr id="8" name="Shape 5"/>
          <p:cNvSpPr/>
          <p:nvPr/>
        </p:nvSpPr>
        <p:spPr>
          <a:xfrm>
            <a:off x="566928" y="4041648"/>
            <a:ext cx="512064" cy="512064"/>
          </a:xfrm>
          <a:prstGeom prst="ellipse">
            <a:avLst/>
          </a:prstGeom>
          <a:solidFill>
            <a:srgbClr val="00B4D8"/>
          </a:solidFill>
          <a:ln w="12700">
            <a:solidFill>
              <a:srgbClr val="00B4D8"/>
            </a:solidFill>
            <a:prstDash val="solid"/>
          </a:ln>
        </p:spPr>
      </p:sp>
      <p:pic>
        <p:nvPicPr>
          <p:cNvPr id="9" name="Image 1" descr="preencoded.png">    </p:cNvPr>
          <p:cNvPicPr>
            <a:picLocks noChangeAspect="1"/>
          </p:cNvPicPr>
          <p:nvPr/>
        </p:nvPicPr>
        <p:blipFill>
          <a:blip r:embed="rId2"/>
          <a:stretch>
            <a:fillRect/>
          </a:stretch>
        </p:blipFill>
        <p:spPr>
          <a:xfrm>
            <a:off x="669341" y="4144061"/>
            <a:ext cx="307238" cy="307238"/>
          </a:xfrm>
          <a:prstGeom prst="rect">
            <a:avLst/>
          </a:prstGeom>
        </p:spPr>
      </p:pic>
      <p:sp>
        <p:nvSpPr>
          <p:cNvPr id="10" name="Text 6"/>
          <p:cNvSpPr/>
          <p:nvPr/>
        </p:nvSpPr>
        <p:spPr>
          <a:xfrm>
            <a:off x="1170432" y="4160520"/>
            <a:ext cx="2286000" cy="2743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IAM Execution Role</a:t>
            </a:r>
            <a:endParaRPr lang="en-US" sz="1100" dirty="0"/>
          </a:p>
        </p:txBody>
      </p:sp>
      <p:sp>
        <p:nvSpPr>
          <p:cNvPr id="11" name="Shape 7"/>
          <p:cNvSpPr/>
          <p:nvPr/>
        </p:nvSpPr>
        <p:spPr>
          <a:xfrm>
            <a:off x="3218688" y="4041648"/>
            <a:ext cx="512064" cy="512064"/>
          </a:xfrm>
          <a:prstGeom prst="ellipse">
            <a:avLst/>
          </a:prstGeom>
          <a:solidFill>
            <a:srgbClr val="00B4D8"/>
          </a:solidFill>
          <a:ln w="12700">
            <a:solidFill>
              <a:srgbClr val="00B4D8"/>
            </a:solidFill>
            <a:prstDash val="solid"/>
          </a:ln>
        </p:spPr>
      </p:sp>
      <p:pic>
        <p:nvPicPr>
          <p:cNvPr id="12" name="Image 2" descr="preencoded.png">    </p:cNvPr>
          <p:cNvPicPr>
            <a:picLocks noChangeAspect="1"/>
          </p:cNvPicPr>
          <p:nvPr/>
        </p:nvPicPr>
        <p:blipFill>
          <a:blip r:embed="rId3"/>
          <a:stretch>
            <a:fillRect/>
          </a:stretch>
        </p:blipFill>
        <p:spPr>
          <a:xfrm>
            <a:off x="3321101" y="4144061"/>
            <a:ext cx="307238" cy="307238"/>
          </a:xfrm>
          <a:prstGeom prst="rect">
            <a:avLst/>
          </a:prstGeom>
        </p:spPr>
      </p:pic>
      <p:sp>
        <p:nvSpPr>
          <p:cNvPr id="13" name="Text 8"/>
          <p:cNvSpPr/>
          <p:nvPr/>
        </p:nvSpPr>
        <p:spPr>
          <a:xfrm>
            <a:off x="3822192" y="4160520"/>
            <a:ext cx="1828800" cy="2743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Trust Policy</a:t>
            </a:r>
            <a:endParaRPr lang="en-US" sz="1100" dirty="0"/>
          </a:p>
        </p:txBody>
      </p:sp>
      <p:sp>
        <p:nvSpPr>
          <p:cNvPr id="14" name="Shape 9"/>
          <p:cNvSpPr/>
          <p:nvPr/>
        </p:nvSpPr>
        <p:spPr>
          <a:xfrm>
            <a:off x="5687568" y="4041648"/>
            <a:ext cx="512064" cy="512064"/>
          </a:xfrm>
          <a:prstGeom prst="ellipse">
            <a:avLst/>
          </a:prstGeom>
          <a:solidFill>
            <a:srgbClr val="00B4D8"/>
          </a:solidFill>
          <a:ln w="12700">
            <a:solidFill>
              <a:srgbClr val="00B4D8"/>
            </a:solidFill>
            <a:prstDash val="solid"/>
          </a:ln>
        </p:spPr>
      </p:sp>
      <p:pic>
        <p:nvPicPr>
          <p:cNvPr id="15" name="Image 3" descr="preencoded.png">    </p:cNvPr>
          <p:cNvPicPr>
            <a:picLocks noChangeAspect="1"/>
          </p:cNvPicPr>
          <p:nvPr/>
        </p:nvPicPr>
        <p:blipFill>
          <a:blip r:embed="rId4"/>
          <a:stretch>
            <a:fillRect/>
          </a:stretch>
        </p:blipFill>
        <p:spPr>
          <a:xfrm>
            <a:off x="5789981" y="4144061"/>
            <a:ext cx="307238" cy="307238"/>
          </a:xfrm>
          <a:prstGeom prst="rect">
            <a:avLst/>
          </a:prstGeom>
        </p:spPr>
      </p:pic>
      <p:sp>
        <p:nvSpPr>
          <p:cNvPr id="16" name="Text 10"/>
          <p:cNvSpPr/>
          <p:nvPr/>
        </p:nvSpPr>
        <p:spPr>
          <a:xfrm>
            <a:off x="6291072" y="4160520"/>
            <a:ext cx="1828800" cy="2743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Trigger Config</a:t>
            </a:r>
            <a:endParaRPr lang="en-US" sz="1100" dirty="0"/>
          </a:p>
        </p:txBody>
      </p:sp>
      <p:sp>
        <p:nvSpPr>
          <p:cNvPr id="17" name="Shape 11"/>
          <p:cNvSpPr/>
          <p:nvPr/>
        </p:nvSpPr>
        <p:spPr>
          <a:xfrm>
            <a:off x="0" y="4892040"/>
            <a:ext cx="9144000" cy="251460"/>
          </a:xfrm>
          <a:prstGeom prst="rect">
            <a:avLst/>
          </a:prstGeom>
          <a:solidFill>
            <a:srgbClr val="1A2E45"/>
          </a:solidFill>
          <a:ln w="12700">
            <a:solidFill>
              <a:srgbClr val="1A2E45"/>
            </a:solidFill>
            <a:prstDash val="solid"/>
          </a:ln>
        </p:spPr>
      </p:sp>
      <p:sp>
        <p:nvSpPr>
          <p:cNvPr id="18" name="Text 12"/>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19" name="Text 13"/>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Lab 067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LAMBDA THEORY — PART 1</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Is AWS Lambda?</a:t>
            </a:r>
            <a:endParaRPr lang="en-US" sz="2800" dirty="0"/>
          </a:p>
        </p:txBody>
      </p:sp>
      <p:sp>
        <p:nvSpPr>
          <p:cNvPr id="5" name="Shape 3"/>
          <p:cNvSpPr/>
          <p:nvPr/>
        </p:nvSpPr>
        <p:spPr>
          <a:xfrm>
            <a:off x="457200" y="1325880"/>
            <a:ext cx="8229600" cy="1234440"/>
          </a:xfrm>
          <a:prstGeom prst="rect">
            <a:avLst/>
          </a:prstGeom>
          <a:solidFill>
            <a:srgbClr val="1E3A5F"/>
          </a:solidFill>
          <a:ln w="12700">
            <a:solidFill>
              <a:srgbClr val="1E3A5F"/>
            </a:solidFill>
            <a:prstDash val="solid"/>
          </a:ln>
        </p:spPr>
      </p:sp>
      <p:sp>
        <p:nvSpPr>
          <p:cNvPr id="6" name="Text 4"/>
          <p:cNvSpPr/>
          <p:nvPr/>
        </p:nvSpPr>
        <p:spPr>
          <a:xfrm>
            <a:off x="685800" y="1444752"/>
            <a:ext cx="7772400" cy="100584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Lambda is a serverless compute service. You give AWS a piece of code and AWS runs it for you — with no server to manage, no OS to patch, and no infrastructure to provision. You only pay for the time your code is actually running.</a:t>
            </a:r>
            <a:endParaRPr lang="en-US" sz="1350" dirty="0"/>
          </a:p>
        </p:txBody>
      </p:sp>
      <p:sp>
        <p:nvSpPr>
          <p:cNvPr id="7" name="Shape 5"/>
          <p:cNvSpPr/>
          <p:nvPr/>
        </p:nvSpPr>
        <p:spPr>
          <a:xfrm>
            <a:off x="457200" y="2697480"/>
            <a:ext cx="2651760" cy="1920240"/>
          </a:xfrm>
          <a:prstGeom prst="rect">
            <a:avLst/>
          </a:prstGeom>
          <a:solidFill>
            <a:srgbClr val="1A2E45"/>
          </a:solidFill>
          <a:ln w="12700">
            <a:solidFill>
              <a:srgbClr val="1A2E45"/>
            </a:solidFill>
            <a:prstDash val="solid"/>
          </a:ln>
        </p:spPr>
      </p:sp>
      <p:sp>
        <p:nvSpPr>
          <p:cNvPr id="8" name="Shape 6"/>
          <p:cNvSpPr/>
          <p:nvPr/>
        </p:nvSpPr>
        <p:spPr>
          <a:xfrm>
            <a:off x="585216" y="2807208"/>
            <a:ext cx="512064" cy="512064"/>
          </a:xfrm>
          <a:prstGeom prst="ellipse">
            <a:avLst/>
          </a:prstGeom>
          <a:solidFill>
            <a:srgbClr val="00B4D8"/>
          </a:solidFill>
          <a:ln w="12700">
            <a:solidFill>
              <a:srgbClr val="00B4D8"/>
            </a:solidFill>
            <a:prstDash val="solid"/>
          </a:ln>
        </p:spPr>
      </p:sp>
      <p:pic>
        <p:nvPicPr>
          <p:cNvPr id="9" name="Image 0" descr="preencoded.png">    </p:cNvPr>
          <p:cNvPicPr>
            <a:picLocks noChangeAspect="1"/>
          </p:cNvPicPr>
          <p:nvPr/>
        </p:nvPicPr>
        <p:blipFill>
          <a:blip r:embed="rId1"/>
          <a:stretch>
            <a:fillRect/>
          </a:stretch>
        </p:blipFill>
        <p:spPr>
          <a:xfrm>
            <a:off x="687629" y="2909621"/>
            <a:ext cx="307238" cy="307238"/>
          </a:xfrm>
          <a:prstGeom prst="rect">
            <a:avLst/>
          </a:prstGeom>
        </p:spPr>
      </p:pic>
      <p:sp>
        <p:nvSpPr>
          <p:cNvPr id="10" name="Text 7"/>
          <p:cNvSpPr/>
          <p:nvPr/>
        </p:nvSpPr>
        <p:spPr>
          <a:xfrm>
            <a:off x="1234440" y="2907792"/>
            <a:ext cx="1737360" cy="32004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No persistent server</a:t>
            </a:r>
            <a:endParaRPr lang="en-US" sz="1200" dirty="0"/>
          </a:p>
        </p:txBody>
      </p:sp>
      <p:sp>
        <p:nvSpPr>
          <p:cNvPr id="11" name="Text 8"/>
          <p:cNvSpPr/>
          <p:nvPr/>
        </p:nvSpPr>
        <p:spPr>
          <a:xfrm>
            <a:off x="566928" y="3337560"/>
            <a:ext cx="2450592" cy="118872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AWS spins up a fresh execution environment for each invocation and tears it down after. Nothing persists between runs unless you use external storage.</a:t>
            </a:r>
            <a:endParaRPr lang="en-US" sz="1050" dirty="0"/>
          </a:p>
        </p:txBody>
      </p:sp>
      <p:sp>
        <p:nvSpPr>
          <p:cNvPr id="12" name="Shape 9"/>
          <p:cNvSpPr/>
          <p:nvPr/>
        </p:nvSpPr>
        <p:spPr>
          <a:xfrm>
            <a:off x="3291840" y="2697480"/>
            <a:ext cx="2651760" cy="1920240"/>
          </a:xfrm>
          <a:prstGeom prst="rect">
            <a:avLst/>
          </a:prstGeom>
          <a:solidFill>
            <a:srgbClr val="1A2E45"/>
          </a:solidFill>
          <a:ln w="12700">
            <a:solidFill>
              <a:srgbClr val="1A2E45"/>
            </a:solidFill>
            <a:prstDash val="solid"/>
          </a:ln>
        </p:spPr>
      </p:sp>
      <p:sp>
        <p:nvSpPr>
          <p:cNvPr id="13" name="Shape 10"/>
          <p:cNvSpPr/>
          <p:nvPr/>
        </p:nvSpPr>
        <p:spPr>
          <a:xfrm>
            <a:off x="3419856" y="2807208"/>
            <a:ext cx="512064" cy="512064"/>
          </a:xfrm>
          <a:prstGeom prst="ellipse">
            <a:avLst/>
          </a:prstGeom>
          <a:solidFill>
            <a:srgbClr val="00B4D8"/>
          </a:solidFill>
          <a:ln w="12700">
            <a:solidFill>
              <a:srgbClr val="00B4D8"/>
            </a:solidFill>
            <a:prstDash val="solid"/>
          </a:ln>
        </p:spPr>
      </p:sp>
      <p:pic>
        <p:nvPicPr>
          <p:cNvPr id="14" name="Image 1" descr="preencoded.png">    </p:cNvPr>
          <p:cNvPicPr>
            <a:picLocks noChangeAspect="1"/>
          </p:cNvPicPr>
          <p:nvPr/>
        </p:nvPicPr>
        <p:blipFill>
          <a:blip r:embed="rId2"/>
          <a:stretch>
            <a:fillRect/>
          </a:stretch>
        </p:blipFill>
        <p:spPr>
          <a:xfrm>
            <a:off x="3522269" y="2909621"/>
            <a:ext cx="307238" cy="307238"/>
          </a:xfrm>
          <a:prstGeom prst="rect">
            <a:avLst/>
          </a:prstGeom>
        </p:spPr>
      </p:pic>
      <p:sp>
        <p:nvSpPr>
          <p:cNvPr id="15" name="Text 11"/>
          <p:cNvSpPr/>
          <p:nvPr/>
        </p:nvSpPr>
        <p:spPr>
          <a:xfrm>
            <a:off x="4069080" y="2907792"/>
            <a:ext cx="1737360" cy="32004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Event-driven</a:t>
            </a:r>
            <a:endParaRPr lang="en-US" sz="1200" dirty="0"/>
          </a:p>
        </p:txBody>
      </p:sp>
      <p:sp>
        <p:nvSpPr>
          <p:cNvPr id="16" name="Text 12"/>
          <p:cNvSpPr/>
          <p:nvPr/>
        </p:nvSpPr>
        <p:spPr>
          <a:xfrm>
            <a:off x="3401568" y="3337560"/>
            <a:ext cx="2450592" cy="118872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Lambda doesn't run on a schedule by default. Something has to trigger it — an S3 upload, an API call, a queue message, a scheduled event.</a:t>
            </a:r>
            <a:endParaRPr lang="en-US" sz="1050" dirty="0"/>
          </a:p>
        </p:txBody>
      </p:sp>
      <p:sp>
        <p:nvSpPr>
          <p:cNvPr id="17" name="Shape 13"/>
          <p:cNvSpPr/>
          <p:nvPr/>
        </p:nvSpPr>
        <p:spPr>
          <a:xfrm>
            <a:off x="6126480" y="2697480"/>
            <a:ext cx="2651760" cy="1920240"/>
          </a:xfrm>
          <a:prstGeom prst="rect">
            <a:avLst/>
          </a:prstGeom>
          <a:solidFill>
            <a:srgbClr val="1A2E45"/>
          </a:solidFill>
          <a:ln w="12700">
            <a:solidFill>
              <a:srgbClr val="1A2E45"/>
            </a:solidFill>
            <a:prstDash val="solid"/>
          </a:ln>
        </p:spPr>
      </p:sp>
      <p:sp>
        <p:nvSpPr>
          <p:cNvPr id="18" name="Shape 14"/>
          <p:cNvSpPr/>
          <p:nvPr/>
        </p:nvSpPr>
        <p:spPr>
          <a:xfrm>
            <a:off x="6254496" y="2807208"/>
            <a:ext cx="512064" cy="512064"/>
          </a:xfrm>
          <a:prstGeom prst="ellipse">
            <a:avLst/>
          </a:prstGeom>
          <a:solidFill>
            <a:srgbClr val="00B4D8"/>
          </a:solidFill>
          <a:ln w="12700">
            <a:solidFill>
              <a:srgbClr val="00B4D8"/>
            </a:solidFill>
            <a:prstDash val="solid"/>
          </a:ln>
        </p:spPr>
      </p:sp>
      <p:pic>
        <p:nvPicPr>
          <p:cNvPr id="19" name="Image 2" descr="preencoded.png">    </p:cNvPr>
          <p:cNvPicPr>
            <a:picLocks noChangeAspect="1"/>
          </p:cNvPicPr>
          <p:nvPr/>
        </p:nvPicPr>
        <p:blipFill>
          <a:blip r:embed="rId3"/>
          <a:stretch>
            <a:fillRect/>
          </a:stretch>
        </p:blipFill>
        <p:spPr>
          <a:xfrm>
            <a:off x="6356909" y="2909621"/>
            <a:ext cx="307238" cy="307238"/>
          </a:xfrm>
          <a:prstGeom prst="rect">
            <a:avLst/>
          </a:prstGeom>
        </p:spPr>
      </p:pic>
      <p:sp>
        <p:nvSpPr>
          <p:cNvPr id="20" name="Text 15"/>
          <p:cNvSpPr/>
          <p:nvPr/>
        </p:nvSpPr>
        <p:spPr>
          <a:xfrm>
            <a:off x="6903720" y="2907792"/>
            <a:ext cx="1737360" cy="320040"/>
          </a:xfrm>
          <a:prstGeom prst="rect">
            <a:avLst/>
          </a:prstGeom>
          <a:noFill/>
          <a:ln/>
        </p:spPr>
        <p:txBody>
          <a:bodyPr wrap="square" lIns="0" tIns="0" rIns="0" bIns="0"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Needs an identity</a:t>
            </a:r>
            <a:endParaRPr lang="en-US" sz="1200" dirty="0"/>
          </a:p>
        </p:txBody>
      </p:sp>
      <p:sp>
        <p:nvSpPr>
          <p:cNvPr id="21" name="Text 16"/>
          <p:cNvSpPr/>
          <p:nvPr/>
        </p:nvSpPr>
        <p:spPr>
          <a:xfrm>
            <a:off x="6236208" y="3337560"/>
            <a:ext cx="2450592" cy="118872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Every Lambda function must wear an IAM execution role. That role is how AWS knows what the function is allowed to do while it runs.</a:t>
            </a:r>
            <a:endParaRPr lang="en-US" sz="1050" dirty="0"/>
          </a:p>
        </p:txBody>
      </p:sp>
      <p:sp>
        <p:nvSpPr>
          <p:cNvPr id="22" name="Shape 17"/>
          <p:cNvSpPr/>
          <p:nvPr/>
        </p:nvSpPr>
        <p:spPr>
          <a:xfrm>
            <a:off x="0" y="4892040"/>
            <a:ext cx="9144000" cy="251460"/>
          </a:xfrm>
          <a:prstGeom prst="rect">
            <a:avLst/>
          </a:prstGeom>
          <a:solidFill>
            <a:srgbClr val="1A2E45"/>
          </a:solidFill>
          <a:ln w="12700">
            <a:solidFill>
              <a:srgbClr val="1A2E45"/>
            </a:solidFill>
            <a:prstDash val="solid"/>
          </a:ln>
        </p:spPr>
      </p:sp>
      <p:sp>
        <p:nvSpPr>
          <p:cNvPr id="23" name="Text 18"/>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24" name="Text 19"/>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Lambda Theory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LAMBDA THEORY — PART 2</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Three Pillars of Every Lambda Function</a:t>
            </a:r>
            <a:endParaRPr lang="en-US" sz="2600" dirty="0"/>
          </a:p>
        </p:txBody>
      </p:sp>
      <p:sp>
        <p:nvSpPr>
          <p:cNvPr id="5" name="Text 3"/>
          <p:cNvSpPr/>
          <p:nvPr/>
        </p:nvSpPr>
        <p:spPr>
          <a:xfrm>
            <a:off x="457200" y="1234440"/>
            <a:ext cx="8229600" cy="365760"/>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Before a Lambda function can do anything useful, three things must be in place. Miss any one of them and the pipeline breaks.</a:t>
            </a:r>
            <a:endParaRPr lang="en-US" sz="1300" dirty="0"/>
          </a:p>
        </p:txBody>
      </p:sp>
      <p:sp>
        <p:nvSpPr>
          <p:cNvPr id="6" name="Shape 4"/>
          <p:cNvSpPr/>
          <p:nvPr/>
        </p:nvSpPr>
        <p:spPr>
          <a:xfrm>
            <a:off x="457200" y="1792224"/>
            <a:ext cx="502920" cy="502920"/>
          </a:xfrm>
          <a:prstGeom prst="ellipse">
            <a:avLst/>
          </a:prstGeom>
          <a:solidFill>
            <a:srgbClr val="00B4D8"/>
          </a:solidFill>
          <a:ln w="12700">
            <a:solidFill>
              <a:srgbClr val="00B4D8"/>
            </a:solidFill>
            <a:prstDash val="solid"/>
          </a:ln>
        </p:spPr>
      </p:sp>
      <p:sp>
        <p:nvSpPr>
          <p:cNvPr id="7" name="Text 5"/>
          <p:cNvSpPr/>
          <p:nvPr/>
        </p:nvSpPr>
        <p:spPr>
          <a:xfrm>
            <a:off x="457200" y="1792224"/>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1078992" y="1755648"/>
            <a:ext cx="7607808" cy="868680"/>
          </a:xfrm>
          <a:prstGeom prst="rect">
            <a:avLst/>
          </a:prstGeom>
          <a:solidFill>
            <a:srgbClr val="1E3A5F"/>
          </a:solidFill>
          <a:ln w="12700">
            <a:solidFill>
              <a:srgbClr val="1E3A5F"/>
            </a:solidFill>
            <a:prstDash val="solid"/>
          </a:ln>
        </p:spPr>
      </p:sp>
      <p:pic>
        <p:nvPicPr>
          <p:cNvPr id="9" name="Image 0" descr="preencoded.png">    </p:cNvPr>
          <p:cNvPicPr>
            <a:picLocks noChangeAspect="1"/>
          </p:cNvPicPr>
          <p:nvPr/>
        </p:nvPicPr>
        <p:blipFill>
          <a:blip r:embed="rId1"/>
          <a:stretch>
            <a:fillRect/>
          </a:stretch>
        </p:blipFill>
        <p:spPr>
          <a:xfrm>
            <a:off x="1188720" y="1920240"/>
            <a:ext cx="347472" cy="347472"/>
          </a:xfrm>
          <a:prstGeom prst="rect">
            <a:avLst/>
          </a:prstGeom>
        </p:spPr>
      </p:pic>
      <p:sp>
        <p:nvSpPr>
          <p:cNvPr id="10" name="Text 7"/>
          <p:cNvSpPr/>
          <p:nvPr/>
        </p:nvSpPr>
        <p:spPr>
          <a:xfrm>
            <a:off x="1664208" y="1810512"/>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Identity</a:t>
            </a:r>
            <a:endParaRPr lang="en-US" sz="1400" dirty="0"/>
          </a:p>
        </p:txBody>
      </p:sp>
      <p:sp>
        <p:nvSpPr>
          <p:cNvPr id="11" name="Text 8"/>
          <p:cNvSpPr/>
          <p:nvPr/>
        </p:nvSpPr>
        <p:spPr>
          <a:xfrm>
            <a:off x="1664208" y="2139696"/>
            <a:ext cx="2286000" cy="256032"/>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IAM Execution Role</a:t>
            </a:r>
            <a:endParaRPr lang="en-US" sz="1000" dirty="0"/>
          </a:p>
        </p:txBody>
      </p:sp>
      <p:sp>
        <p:nvSpPr>
          <p:cNvPr id="12" name="Shape 9"/>
          <p:cNvSpPr/>
          <p:nvPr/>
        </p:nvSpPr>
        <p:spPr>
          <a:xfrm>
            <a:off x="4069080" y="1865376"/>
            <a:ext cx="36576" cy="640080"/>
          </a:xfrm>
          <a:prstGeom prst="rect">
            <a:avLst/>
          </a:prstGeom>
          <a:solidFill>
            <a:srgbClr val="0096B7"/>
          </a:solidFill>
          <a:ln w="12700">
            <a:solidFill>
              <a:srgbClr val="0096B7"/>
            </a:solidFill>
            <a:prstDash val="solid"/>
          </a:ln>
        </p:spPr>
      </p:sp>
      <p:sp>
        <p:nvSpPr>
          <p:cNvPr id="13" name="Text 10"/>
          <p:cNvSpPr/>
          <p:nvPr/>
        </p:nvSpPr>
        <p:spPr>
          <a:xfrm>
            <a:off x="4224528" y="1828800"/>
            <a:ext cx="4297680" cy="7315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Every Lambda function must be assigned an IAM role. This is the function's identity — the badge it shows to AWS every time it tries to do something. No role = Lambda can't start.</a:t>
            </a:r>
            <a:endParaRPr lang="en-US" sz="1100" dirty="0"/>
          </a:p>
        </p:txBody>
      </p:sp>
      <p:sp>
        <p:nvSpPr>
          <p:cNvPr id="14" name="Shape 11"/>
          <p:cNvSpPr/>
          <p:nvPr/>
        </p:nvSpPr>
        <p:spPr>
          <a:xfrm>
            <a:off x="457200" y="2816352"/>
            <a:ext cx="502920" cy="502920"/>
          </a:xfrm>
          <a:prstGeom prst="ellipse">
            <a:avLst/>
          </a:prstGeom>
          <a:solidFill>
            <a:srgbClr val="00B4D8"/>
          </a:solidFill>
          <a:ln w="12700">
            <a:solidFill>
              <a:srgbClr val="00B4D8"/>
            </a:solidFill>
            <a:prstDash val="solid"/>
          </a:ln>
        </p:spPr>
      </p:sp>
      <p:sp>
        <p:nvSpPr>
          <p:cNvPr id="15" name="Text 12"/>
          <p:cNvSpPr/>
          <p:nvPr/>
        </p:nvSpPr>
        <p:spPr>
          <a:xfrm>
            <a:off x="457200" y="2816352"/>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Shape 13"/>
          <p:cNvSpPr/>
          <p:nvPr/>
        </p:nvSpPr>
        <p:spPr>
          <a:xfrm>
            <a:off x="1078992" y="2779776"/>
            <a:ext cx="7607808" cy="868680"/>
          </a:xfrm>
          <a:prstGeom prst="rect">
            <a:avLst/>
          </a:prstGeom>
          <a:solidFill>
            <a:srgbClr val="1E3A5F"/>
          </a:solidFill>
          <a:ln w="12700">
            <a:solidFill>
              <a:srgbClr val="1E3A5F"/>
            </a:solidFill>
            <a:prstDash val="solid"/>
          </a:ln>
        </p:spPr>
      </p:sp>
      <p:pic>
        <p:nvPicPr>
          <p:cNvPr id="17" name="Image 1" descr="preencoded.png">    </p:cNvPr>
          <p:cNvPicPr>
            <a:picLocks noChangeAspect="1"/>
          </p:cNvPicPr>
          <p:nvPr/>
        </p:nvPicPr>
        <p:blipFill>
          <a:blip r:embed="rId2"/>
          <a:stretch>
            <a:fillRect/>
          </a:stretch>
        </p:blipFill>
        <p:spPr>
          <a:xfrm>
            <a:off x="1188720" y="2944368"/>
            <a:ext cx="347472" cy="347472"/>
          </a:xfrm>
          <a:prstGeom prst="rect">
            <a:avLst/>
          </a:prstGeom>
        </p:spPr>
      </p:pic>
      <p:sp>
        <p:nvSpPr>
          <p:cNvPr id="18" name="Text 14"/>
          <p:cNvSpPr/>
          <p:nvPr/>
        </p:nvSpPr>
        <p:spPr>
          <a:xfrm>
            <a:off x="1664208" y="2834640"/>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Permissions</a:t>
            </a:r>
            <a:endParaRPr lang="en-US" sz="1400" dirty="0"/>
          </a:p>
        </p:txBody>
      </p:sp>
      <p:sp>
        <p:nvSpPr>
          <p:cNvPr id="19" name="Text 15"/>
          <p:cNvSpPr/>
          <p:nvPr/>
        </p:nvSpPr>
        <p:spPr>
          <a:xfrm>
            <a:off x="1664208" y="3163824"/>
            <a:ext cx="2286000" cy="256032"/>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What the role allows</a:t>
            </a:r>
            <a:endParaRPr lang="en-US" sz="1000" dirty="0"/>
          </a:p>
        </p:txBody>
      </p:sp>
      <p:sp>
        <p:nvSpPr>
          <p:cNvPr id="20" name="Shape 16"/>
          <p:cNvSpPr/>
          <p:nvPr/>
        </p:nvSpPr>
        <p:spPr>
          <a:xfrm>
            <a:off x="4069080" y="2889504"/>
            <a:ext cx="36576" cy="640080"/>
          </a:xfrm>
          <a:prstGeom prst="rect">
            <a:avLst/>
          </a:prstGeom>
          <a:solidFill>
            <a:srgbClr val="0096B7"/>
          </a:solidFill>
          <a:ln w="12700">
            <a:solidFill>
              <a:srgbClr val="0096B7"/>
            </a:solidFill>
            <a:prstDash val="solid"/>
          </a:ln>
        </p:spPr>
      </p:sp>
      <p:sp>
        <p:nvSpPr>
          <p:cNvPr id="21" name="Text 17"/>
          <p:cNvSpPr/>
          <p:nvPr/>
        </p:nvSpPr>
        <p:spPr>
          <a:xfrm>
            <a:off x="4224528" y="2852928"/>
            <a:ext cx="4297680" cy="7315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The execution role defines everything Lambda can do while running — read from S3, write to DynamoDB, send to SQS, write logs. No permission = the action fails.</a:t>
            </a:r>
            <a:endParaRPr lang="en-US" sz="1100" dirty="0"/>
          </a:p>
        </p:txBody>
      </p:sp>
      <p:sp>
        <p:nvSpPr>
          <p:cNvPr id="22" name="Shape 18"/>
          <p:cNvSpPr/>
          <p:nvPr/>
        </p:nvSpPr>
        <p:spPr>
          <a:xfrm>
            <a:off x="457200" y="3840480"/>
            <a:ext cx="502920" cy="502920"/>
          </a:xfrm>
          <a:prstGeom prst="ellipse">
            <a:avLst/>
          </a:prstGeom>
          <a:solidFill>
            <a:srgbClr val="00B4D8"/>
          </a:solidFill>
          <a:ln w="12700">
            <a:solidFill>
              <a:srgbClr val="00B4D8"/>
            </a:solidFill>
            <a:prstDash val="solid"/>
          </a:ln>
        </p:spPr>
      </p:sp>
      <p:sp>
        <p:nvSpPr>
          <p:cNvPr id="23" name="Text 19"/>
          <p:cNvSpPr/>
          <p:nvPr/>
        </p:nvSpPr>
        <p:spPr>
          <a:xfrm>
            <a:off x="457200" y="384048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Shape 20"/>
          <p:cNvSpPr/>
          <p:nvPr/>
        </p:nvSpPr>
        <p:spPr>
          <a:xfrm>
            <a:off x="1078992" y="3803904"/>
            <a:ext cx="7607808" cy="868680"/>
          </a:xfrm>
          <a:prstGeom prst="rect">
            <a:avLst/>
          </a:prstGeom>
          <a:solidFill>
            <a:srgbClr val="1E3A5F"/>
          </a:solidFill>
          <a:ln w="12700">
            <a:solidFill>
              <a:srgbClr val="1E3A5F"/>
            </a:solidFill>
            <a:prstDash val="solid"/>
          </a:ln>
        </p:spPr>
      </p:sp>
      <p:pic>
        <p:nvPicPr>
          <p:cNvPr id="25" name="Image 2" descr="preencoded.png">    </p:cNvPr>
          <p:cNvPicPr>
            <a:picLocks noChangeAspect="1"/>
          </p:cNvPicPr>
          <p:nvPr/>
        </p:nvPicPr>
        <p:blipFill>
          <a:blip r:embed="rId3"/>
          <a:stretch>
            <a:fillRect/>
          </a:stretch>
        </p:blipFill>
        <p:spPr>
          <a:xfrm>
            <a:off x="1188720" y="3968496"/>
            <a:ext cx="347472" cy="347472"/>
          </a:xfrm>
          <a:prstGeom prst="rect">
            <a:avLst/>
          </a:prstGeom>
        </p:spPr>
      </p:pic>
      <p:sp>
        <p:nvSpPr>
          <p:cNvPr id="26" name="Text 21"/>
          <p:cNvSpPr/>
          <p:nvPr/>
        </p:nvSpPr>
        <p:spPr>
          <a:xfrm>
            <a:off x="1664208" y="3858768"/>
            <a:ext cx="2286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Invocation</a:t>
            </a:r>
            <a:endParaRPr lang="en-US" sz="1400" dirty="0"/>
          </a:p>
        </p:txBody>
      </p:sp>
      <p:sp>
        <p:nvSpPr>
          <p:cNvPr id="27" name="Text 22"/>
          <p:cNvSpPr/>
          <p:nvPr/>
        </p:nvSpPr>
        <p:spPr>
          <a:xfrm>
            <a:off x="1664208" y="4187952"/>
            <a:ext cx="2286000" cy="256032"/>
          </a:xfrm>
          <a:prstGeom prst="rect">
            <a:avLst/>
          </a:prstGeom>
          <a:noFill/>
          <a:ln/>
        </p:spPr>
        <p:txBody>
          <a:bodyPr wrap="square" lIns="0" tIns="0" rIns="0" bIns="0" rtlCol="0" anchor="ctr"/>
          <a:lstStyle/>
          <a:p>
            <a:pPr indent="0" marL="0">
              <a:buNone/>
            </a:pPr>
            <a:r>
              <a:rPr lang="en-US" sz="1000" b="1" dirty="0">
                <a:solidFill>
                  <a:srgbClr val="00B4D8"/>
                </a:solidFill>
                <a:latin typeface="Calibri" pitchFamily="34" charset="0"/>
                <a:ea typeface="Calibri" pitchFamily="34" charset="-122"/>
                <a:cs typeface="Calibri" pitchFamily="34" charset="-120"/>
              </a:rPr>
              <a:t>How Lambda gets called</a:t>
            </a:r>
            <a:endParaRPr lang="en-US" sz="1000" dirty="0"/>
          </a:p>
        </p:txBody>
      </p:sp>
      <p:sp>
        <p:nvSpPr>
          <p:cNvPr id="28" name="Shape 23"/>
          <p:cNvSpPr/>
          <p:nvPr/>
        </p:nvSpPr>
        <p:spPr>
          <a:xfrm>
            <a:off x="4069080" y="3913632"/>
            <a:ext cx="36576" cy="640080"/>
          </a:xfrm>
          <a:prstGeom prst="rect">
            <a:avLst/>
          </a:prstGeom>
          <a:solidFill>
            <a:srgbClr val="0096B7"/>
          </a:solidFill>
          <a:ln w="12700">
            <a:solidFill>
              <a:srgbClr val="0096B7"/>
            </a:solidFill>
            <a:prstDash val="solid"/>
          </a:ln>
        </p:spPr>
      </p:sp>
      <p:sp>
        <p:nvSpPr>
          <p:cNvPr id="29" name="Text 24"/>
          <p:cNvSpPr/>
          <p:nvPr/>
        </p:nvSpPr>
        <p:spPr>
          <a:xfrm>
            <a:off x="4224528" y="3877056"/>
            <a:ext cx="4297680" cy="73152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Something must trigger Lambda, and Lambda must permit it. Two-part setup: the trigger source must be configured to fire, and Lambda must grant it permission to invoke.</a:t>
            </a:r>
            <a:endParaRPr lang="en-US" sz="1100" dirty="0"/>
          </a:p>
        </p:txBody>
      </p:sp>
      <p:sp>
        <p:nvSpPr>
          <p:cNvPr id="30" name="Shape 25"/>
          <p:cNvSpPr/>
          <p:nvPr/>
        </p:nvSpPr>
        <p:spPr>
          <a:xfrm>
            <a:off x="0" y="4892040"/>
            <a:ext cx="9144000" cy="251460"/>
          </a:xfrm>
          <a:prstGeom prst="rect">
            <a:avLst/>
          </a:prstGeom>
          <a:solidFill>
            <a:srgbClr val="1A2E45"/>
          </a:solidFill>
          <a:ln w="12700">
            <a:solidFill>
              <a:srgbClr val="1A2E45"/>
            </a:solidFill>
            <a:prstDash val="solid"/>
          </a:ln>
        </p:spPr>
      </p:sp>
      <p:sp>
        <p:nvSpPr>
          <p:cNvPr id="31" name="Text 26"/>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32" name="Text 27"/>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Lambda Theory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LAMBDA THEORY — PILLAR 1: IDENTITY</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IAM Execution Role &amp; Trust Policy</a:t>
            </a:r>
            <a:endParaRPr lang="en-US" sz="2600" dirty="0"/>
          </a:p>
        </p:txBody>
      </p:sp>
      <p:sp>
        <p:nvSpPr>
          <p:cNvPr id="5" name="Shape 3"/>
          <p:cNvSpPr/>
          <p:nvPr/>
        </p:nvSpPr>
        <p:spPr>
          <a:xfrm>
            <a:off x="457200" y="1261872"/>
            <a:ext cx="8229600" cy="658368"/>
          </a:xfrm>
          <a:prstGeom prst="rect">
            <a:avLst/>
          </a:prstGeom>
          <a:solidFill>
            <a:srgbClr val="1E3A5F"/>
          </a:solidFill>
          <a:ln w="12700">
            <a:solidFill>
              <a:srgbClr val="1E3A5F"/>
            </a:solidFill>
            <a:prstDash val="solid"/>
          </a:ln>
        </p:spPr>
      </p:sp>
      <p:sp>
        <p:nvSpPr>
          <p:cNvPr id="6" name="Shape 4"/>
          <p:cNvSpPr/>
          <p:nvPr/>
        </p:nvSpPr>
        <p:spPr>
          <a:xfrm>
            <a:off x="603504" y="1353312"/>
            <a:ext cx="475488" cy="475488"/>
          </a:xfrm>
          <a:prstGeom prst="ellipse">
            <a:avLst/>
          </a:prstGeom>
          <a:solidFill>
            <a:srgbClr val="00B4D8"/>
          </a:solidFill>
          <a:ln w="1270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698602" y="1448410"/>
            <a:ext cx="285293" cy="285293"/>
          </a:xfrm>
          <a:prstGeom prst="rect">
            <a:avLst/>
          </a:prstGeom>
        </p:spPr>
      </p:pic>
      <p:sp>
        <p:nvSpPr>
          <p:cNvPr id="8" name="Text 5"/>
          <p:cNvSpPr/>
          <p:nvPr/>
        </p:nvSpPr>
        <p:spPr>
          <a:xfrm>
            <a:off x="1188720" y="1316736"/>
            <a:ext cx="7223760" cy="566928"/>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Think of the execution role as a staff ID badge. The trust policy is the HR rule that says which department is allowed to wear it. If the badge says 'EC2 Department Only' and a Lambda function tries to pick it up — HR turns it away at the door.</a:t>
            </a:r>
            <a:endParaRPr lang="en-US" sz="1200" dirty="0"/>
          </a:p>
        </p:txBody>
      </p:sp>
      <p:sp>
        <p:nvSpPr>
          <p:cNvPr id="9" name="Shape 6"/>
          <p:cNvSpPr/>
          <p:nvPr/>
        </p:nvSpPr>
        <p:spPr>
          <a:xfrm>
            <a:off x="457200" y="2029968"/>
            <a:ext cx="4023360" cy="2651760"/>
          </a:xfrm>
          <a:prstGeom prst="rect">
            <a:avLst/>
          </a:prstGeom>
          <a:solidFill>
            <a:srgbClr val="1A2E45"/>
          </a:solidFill>
          <a:ln w="12700">
            <a:solidFill>
              <a:srgbClr val="1A2E45"/>
            </a:solidFill>
            <a:prstDash val="solid"/>
          </a:ln>
        </p:spPr>
      </p:sp>
      <p:sp>
        <p:nvSpPr>
          <p:cNvPr id="10" name="Text 7"/>
          <p:cNvSpPr/>
          <p:nvPr/>
        </p:nvSpPr>
        <p:spPr>
          <a:xfrm>
            <a:off x="594360" y="2084832"/>
            <a:ext cx="3657600" cy="292608"/>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Trust Policy Anatomy</a:t>
            </a:r>
            <a:endParaRPr lang="en-US" sz="1300" dirty="0"/>
          </a:p>
        </p:txBody>
      </p:sp>
      <p:sp>
        <p:nvSpPr>
          <p:cNvPr id="11" name="Text 8"/>
          <p:cNvSpPr/>
          <p:nvPr/>
        </p:nvSpPr>
        <p:spPr>
          <a:xfrm>
            <a:off x="594360" y="2450592"/>
            <a:ext cx="1920240" cy="274320"/>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Principal</a:t>
            </a:r>
            <a:endParaRPr lang="en-US" sz="1000" dirty="0"/>
          </a:p>
        </p:txBody>
      </p:sp>
      <p:sp>
        <p:nvSpPr>
          <p:cNvPr id="12" name="Text 9"/>
          <p:cNvSpPr/>
          <p:nvPr/>
        </p:nvSpPr>
        <p:spPr>
          <a:xfrm>
            <a:off x="2542032" y="2450592"/>
            <a:ext cx="1737360" cy="34747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Who is allowed to assume this role</a:t>
            </a:r>
            <a:endParaRPr lang="en-US" sz="950" dirty="0"/>
          </a:p>
        </p:txBody>
      </p:sp>
      <p:sp>
        <p:nvSpPr>
          <p:cNvPr id="13" name="Text 10"/>
          <p:cNvSpPr/>
          <p:nvPr/>
        </p:nvSpPr>
        <p:spPr>
          <a:xfrm>
            <a:off x="594360" y="2880360"/>
            <a:ext cx="1920240" cy="274320"/>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Service</a:t>
            </a:r>
            <a:endParaRPr lang="en-US" sz="1000" dirty="0"/>
          </a:p>
        </p:txBody>
      </p:sp>
      <p:sp>
        <p:nvSpPr>
          <p:cNvPr id="14" name="Text 11"/>
          <p:cNvSpPr/>
          <p:nvPr/>
        </p:nvSpPr>
        <p:spPr>
          <a:xfrm>
            <a:off x="2542032" y="2880360"/>
            <a:ext cx="1737360" cy="34747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Narrows Principal to an AWS service</a:t>
            </a:r>
            <a:endParaRPr lang="en-US" sz="950" dirty="0"/>
          </a:p>
        </p:txBody>
      </p:sp>
      <p:sp>
        <p:nvSpPr>
          <p:cNvPr id="15" name="Text 12"/>
          <p:cNvSpPr/>
          <p:nvPr/>
        </p:nvSpPr>
        <p:spPr>
          <a:xfrm>
            <a:off x="594360" y="3310128"/>
            <a:ext cx="1920240" cy="274320"/>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"lambda.amazonaws.com"</a:t>
            </a:r>
            <a:endParaRPr lang="en-US" sz="1000" dirty="0"/>
          </a:p>
        </p:txBody>
      </p:sp>
      <p:sp>
        <p:nvSpPr>
          <p:cNvPr id="16" name="Text 13"/>
          <p:cNvSpPr/>
          <p:nvPr/>
        </p:nvSpPr>
        <p:spPr>
          <a:xfrm>
            <a:off x="2542032" y="3310128"/>
            <a:ext cx="1737360" cy="34747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The Lambda service identity</a:t>
            </a:r>
            <a:endParaRPr lang="en-US" sz="950" dirty="0"/>
          </a:p>
        </p:txBody>
      </p:sp>
      <p:sp>
        <p:nvSpPr>
          <p:cNvPr id="17" name="Text 14"/>
          <p:cNvSpPr/>
          <p:nvPr/>
        </p:nvSpPr>
        <p:spPr>
          <a:xfrm>
            <a:off x="594360" y="3739896"/>
            <a:ext cx="1920240" cy="274320"/>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Action: sts:AssumeRole</a:t>
            </a:r>
            <a:endParaRPr lang="en-US" sz="1000" dirty="0"/>
          </a:p>
        </p:txBody>
      </p:sp>
      <p:sp>
        <p:nvSpPr>
          <p:cNvPr id="18" name="Text 15"/>
          <p:cNvSpPr/>
          <p:nvPr/>
        </p:nvSpPr>
        <p:spPr>
          <a:xfrm>
            <a:off x="2542032" y="3739896"/>
            <a:ext cx="1737360" cy="34747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The act of taking on the role's identity</a:t>
            </a:r>
            <a:endParaRPr lang="en-US" sz="950" dirty="0"/>
          </a:p>
        </p:txBody>
      </p:sp>
      <p:sp>
        <p:nvSpPr>
          <p:cNvPr id="19" name="Text 16"/>
          <p:cNvSpPr/>
          <p:nvPr/>
        </p:nvSpPr>
        <p:spPr>
          <a:xfrm>
            <a:off x="594360" y="4169664"/>
            <a:ext cx="1920240" cy="274320"/>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Effect: Allow</a:t>
            </a:r>
            <a:endParaRPr lang="en-US" sz="1000" dirty="0"/>
          </a:p>
        </p:txBody>
      </p:sp>
      <p:sp>
        <p:nvSpPr>
          <p:cNvPr id="20" name="Text 17"/>
          <p:cNvSpPr/>
          <p:nvPr/>
        </p:nvSpPr>
        <p:spPr>
          <a:xfrm>
            <a:off x="2542032" y="4169664"/>
            <a:ext cx="1737360" cy="34747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Grants the permission (vs Deny)</a:t>
            </a:r>
            <a:endParaRPr lang="en-US" sz="950" dirty="0"/>
          </a:p>
        </p:txBody>
      </p:sp>
      <p:sp>
        <p:nvSpPr>
          <p:cNvPr id="21" name="Shape 18"/>
          <p:cNvSpPr/>
          <p:nvPr/>
        </p:nvSpPr>
        <p:spPr>
          <a:xfrm>
            <a:off x="4663440" y="2029968"/>
            <a:ext cx="4023360" cy="2651760"/>
          </a:xfrm>
          <a:prstGeom prst="rect">
            <a:avLst/>
          </a:prstGeom>
          <a:solidFill>
            <a:srgbClr val="1A2E45"/>
          </a:solidFill>
          <a:ln w="12700">
            <a:solidFill>
              <a:srgbClr val="1A2E45"/>
            </a:solidFill>
            <a:prstDash val="solid"/>
          </a:ln>
        </p:spPr>
      </p:sp>
      <p:sp>
        <p:nvSpPr>
          <p:cNvPr id="22" name="Text 19"/>
          <p:cNvSpPr/>
          <p:nvPr/>
        </p:nvSpPr>
        <p:spPr>
          <a:xfrm>
            <a:off x="4800600" y="2084832"/>
            <a:ext cx="3657600" cy="292608"/>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Service Principals — Who Wears What</a:t>
            </a:r>
            <a:endParaRPr lang="en-US" sz="1300" dirty="0"/>
          </a:p>
        </p:txBody>
      </p:sp>
      <p:sp>
        <p:nvSpPr>
          <p:cNvPr id="23" name="Shape 20"/>
          <p:cNvSpPr/>
          <p:nvPr/>
        </p:nvSpPr>
        <p:spPr>
          <a:xfrm>
            <a:off x="4663440" y="2414016"/>
            <a:ext cx="4023360" cy="384048"/>
          </a:xfrm>
          <a:prstGeom prst="rect">
            <a:avLst/>
          </a:prstGeom>
          <a:solidFill>
            <a:srgbClr val="0096B7">
              <a:alpha val="25000"/>
            </a:srgbClr>
          </a:solidFill>
          <a:ln w="12700">
            <a:solidFill>
              <a:srgbClr val="0096B7">
                <a:alpha val="25000"/>
              </a:srgbClr>
            </a:solidFill>
            <a:prstDash val="solid"/>
          </a:ln>
        </p:spPr>
      </p:sp>
      <p:sp>
        <p:nvSpPr>
          <p:cNvPr id="24" name="Shape 21"/>
          <p:cNvSpPr/>
          <p:nvPr/>
        </p:nvSpPr>
        <p:spPr>
          <a:xfrm>
            <a:off x="4681728" y="2414016"/>
            <a:ext cx="329184" cy="329184"/>
          </a:xfrm>
          <a:prstGeom prst="ellipse">
            <a:avLst/>
          </a:prstGeom>
          <a:solidFill>
            <a:srgbClr val="00B4D8"/>
          </a:solidFill>
          <a:ln w="12700">
            <a:solidFill>
              <a:srgbClr val="00B4D8"/>
            </a:solidFill>
            <a:prstDash val="solid"/>
          </a:ln>
        </p:spPr>
      </p:sp>
      <p:pic>
        <p:nvPicPr>
          <p:cNvPr id="25" name="Image 1" descr="preencoded.png">    </p:cNvPr>
          <p:cNvPicPr>
            <a:picLocks noChangeAspect="1"/>
          </p:cNvPicPr>
          <p:nvPr/>
        </p:nvPicPr>
        <p:blipFill>
          <a:blip r:embed="rId2"/>
          <a:stretch>
            <a:fillRect/>
          </a:stretch>
        </p:blipFill>
        <p:spPr>
          <a:xfrm>
            <a:off x="4747565" y="2479853"/>
            <a:ext cx="197510" cy="197510"/>
          </a:xfrm>
          <a:prstGeom prst="rect">
            <a:avLst/>
          </a:prstGeom>
        </p:spPr>
      </p:pic>
      <p:sp>
        <p:nvSpPr>
          <p:cNvPr id="26" name="Text 22"/>
          <p:cNvSpPr/>
          <p:nvPr/>
        </p:nvSpPr>
        <p:spPr>
          <a:xfrm>
            <a:off x="5120640" y="2450592"/>
            <a:ext cx="2286000" cy="274320"/>
          </a:xfrm>
          <a:prstGeom prst="rect">
            <a:avLst/>
          </a:prstGeom>
          <a:noFill/>
          <a:ln/>
        </p:spPr>
        <p:txBody>
          <a:bodyPr wrap="square" rtlCol="0" anchor="ctr"/>
          <a:lstStyle/>
          <a:p>
            <a:pPr indent="0" marL="0">
              <a:buNone/>
            </a:pPr>
            <a:r>
              <a:rPr lang="en-US" sz="950" b="1" dirty="0">
                <a:solidFill>
                  <a:srgbClr val="FFFFFF"/>
                </a:solidFill>
                <a:latin typeface="Consolas" pitchFamily="34" charset="0"/>
                <a:ea typeface="Consolas" pitchFamily="34" charset="-122"/>
                <a:cs typeface="Consolas" pitchFamily="34" charset="-120"/>
              </a:rPr>
              <a:t>lambda.amazonaws.com</a:t>
            </a:r>
            <a:endParaRPr lang="en-US" sz="950" dirty="0"/>
          </a:p>
        </p:txBody>
      </p:sp>
      <p:sp>
        <p:nvSpPr>
          <p:cNvPr id="27" name="Text 23"/>
          <p:cNvSpPr/>
          <p:nvPr/>
        </p:nvSpPr>
        <p:spPr>
          <a:xfrm>
            <a:off x="7223760" y="2450592"/>
            <a:ext cx="1371600" cy="274320"/>
          </a:xfrm>
          <a:prstGeom prst="rect">
            <a:avLst/>
          </a:prstGeom>
          <a:noFill/>
          <a:ln/>
        </p:spPr>
        <p:txBody>
          <a:bodyPr wrap="square" rtlCol="0" anchor="ctr"/>
          <a:lstStyle/>
          <a:p>
            <a:pPr indent="0" marL="0">
              <a:buNone/>
            </a:pPr>
            <a:r>
              <a:rPr lang="en-US" sz="950" dirty="0">
                <a:solidFill>
                  <a:srgbClr val="00B4D8"/>
                </a:solidFill>
                <a:latin typeface="Calibri" pitchFamily="34" charset="0"/>
                <a:ea typeface="Calibri" pitchFamily="34" charset="-122"/>
                <a:cs typeface="Calibri" pitchFamily="34" charset="-120"/>
              </a:rPr>
              <a:t>Lambda functions</a:t>
            </a:r>
            <a:endParaRPr lang="en-US" sz="950" dirty="0"/>
          </a:p>
        </p:txBody>
      </p:sp>
      <p:sp>
        <p:nvSpPr>
          <p:cNvPr id="28" name="Text 24"/>
          <p:cNvSpPr/>
          <p:nvPr/>
        </p:nvSpPr>
        <p:spPr>
          <a:xfrm>
            <a:off x="4800600" y="2880360"/>
            <a:ext cx="2286000" cy="274320"/>
          </a:xfrm>
          <a:prstGeom prst="rect">
            <a:avLst/>
          </a:prstGeom>
          <a:noFill/>
          <a:ln/>
        </p:spPr>
        <p:txBody>
          <a:bodyPr wrap="square" rtlCol="0" anchor="ctr"/>
          <a:lstStyle/>
          <a:p>
            <a:pPr indent="0" marL="0">
              <a:buNone/>
            </a:pPr>
            <a:r>
              <a:rPr lang="en-US" sz="950" dirty="0">
                <a:solidFill>
                  <a:srgbClr val="CBD5E1"/>
                </a:solidFill>
                <a:latin typeface="Consolas" pitchFamily="34" charset="0"/>
                <a:ea typeface="Consolas" pitchFamily="34" charset="-122"/>
                <a:cs typeface="Consolas" pitchFamily="34" charset="-120"/>
              </a:rPr>
              <a:t>ec2.amazonaws.com</a:t>
            </a:r>
            <a:endParaRPr lang="en-US" sz="950" dirty="0"/>
          </a:p>
        </p:txBody>
      </p:sp>
      <p:sp>
        <p:nvSpPr>
          <p:cNvPr id="29" name="Text 25"/>
          <p:cNvSpPr/>
          <p:nvPr/>
        </p:nvSpPr>
        <p:spPr>
          <a:xfrm>
            <a:off x="7223760" y="2880360"/>
            <a:ext cx="13716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EC2 instances</a:t>
            </a:r>
            <a:endParaRPr lang="en-US" sz="950" dirty="0"/>
          </a:p>
        </p:txBody>
      </p:sp>
      <p:sp>
        <p:nvSpPr>
          <p:cNvPr id="30" name="Text 26"/>
          <p:cNvSpPr/>
          <p:nvPr/>
        </p:nvSpPr>
        <p:spPr>
          <a:xfrm>
            <a:off x="4800600" y="3310128"/>
            <a:ext cx="2286000" cy="274320"/>
          </a:xfrm>
          <a:prstGeom prst="rect">
            <a:avLst/>
          </a:prstGeom>
          <a:noFill/>
          <a:ln/>
        </p:spPr>
        <p:txBody>
          <a:bodyPr wrap="square" rtlCol="0" anchor="ctr"/>
          <a:lstStyle/>
          <a:p>
            <a:pPr indent="0" marL="0">
              <a:buNone/>
            </a:pPr>
            <a:r>
              <a:rPr lang="en-US" sz="950" dirty="0">
                <a:solidFill>
                  <a:srgbClr val="CBD5E1"/>
                </a:solidFill>
                <a:latin typeface="Consolas" pitchFamily="34" charset="0"/>
                <a:ea typeface="Consolas" pitchFamily="34" charset="-122"/>
                <a:cs typeface="Consolas" pitchFamily="34" charset="-120"/>
              </a:rPr>
              <a:t>ecs-tasks.amazonaws.com</a:t>
            </a:r>
            <a:endParaRPr lang="en-US" sz="950" dirty="0"/>
          </a:p>
        </p:txBody>
      </p:sp>
      <p:sp>
        <p:nvSpPr>
          <p:cNvPr id="31" name="Text 27"/>
          <p:cNvSpPr/>
          <p:nvPr/>
        </p:nvSpPr>
        <p:spPr>
          <a:xfrm>
            <a:off x="7223760" y="3310128"/>
            <a:ext cx="13716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ECS containers</a:t>
            </a:r>
            <a:endParaRPr lang="en-US" sz="950" dirty="0"/>
          </a:p>
        </p:txBody>
      </p:sp>
      <p:sp>
        <p:nvSpPr>
          <p:cNvPr id="32" name="Text 28"/>
          <p:cNvSpPr/>
          <p:nvPr/>
        </p:nvSpPr>
        <p:spPr>
          <a:xfrm>
            <a:off x="4800600" y="3739896"/>
            <a:ext cx="2286000" cy="274320"/>
          </a:xfrm>
          <a:prstGeom prst="rect">
            <a:avLst/>
          </a:prstGeom>
          <a:noFill/>
          <a:ln/>
        </p:spPr>
        <p:txBody>
          <a:bodyPr wrap="square" rtlCol="0" anchor="ctr"/>
          <a:lstStyle/>
          <a:p>
            <a:pPr indent="0" marL="0">
              <a:buNone/>
            </a:pPr>
            <a:r>
              <a:rPr lang="en-US" sz="950" dirty="0">
                <a:solidFill>
                  <a:srgbClr val="CBD5E1"/>
                </a:solidFill>
                <a:latin typeface="Consolas" pitchFamily="34" charset="0"/>
                <a:ea typeface="Consolas" pitchFamily="34" charset="-122"/>
                <a:cs typeface="Consolas" pitchFamily="34" charset="-120"/>
              </a:rPr>
              <a:t>apigateway.amazonaws.com</a:t>
            </a:r>
            <a:endParaRPr lang="en-US" sz="950" dirty="0"/>
          </a:p>
        </p:txBody>
      </p:sp>
      <p:sp>
        <p:nvSpPr>
          <p:cNvPr id="33" name="Text 29"/>
          <p:cNvSpPr/>
          <p:nvPr/>
        </p:nvSpPr>
        <p:spPr>
          <a:xfrm>
            <a:off x="7223760" y="3739896"/>
            <a:ext cx="13716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API Gateway</a:t>
            </a:r>
            <a:endParaRPr lang="en-US" sz="950" dirty="0"/>
          </a:p>
        </p:txBody>
      </p:sp>
      <p:sp>
        <p:nvSpPr>
          <p:cNvPr id="34" name="Text 30"/>
          <p:cNvSpPr/>
          <p:nvPr/>
        </p:nvSpPr>
        <p:spPr>
          <a:xfrm>
            <a:off x="4800600" y="4169664"/>
            <a:ext cx="2286000" cy="274320"/>
          </a:xfrm>
          <a:prstGeom prst="rect">
            <a:avLst/>
          </a:prstGeom>
          <a:noFill/>
          <a:ln/>
        </p:spPr>
        <p:txBody>
          <a:bodyPr wrap="square" rtlCol="0" anchor="ctr"/>
          <a:lstStyle/>
          <a:p>
            <a:pPr indent="0" marL="0">
              <a:buNone/>
            </a:pPr>
            <a:r>
              <a:rPr lang="en-US" sz="950" dirty="0">
                <a:solidFill>
                  <a:srgbClr val="CBD5E1"/>
                </a:solidFill>
                <a:latin typeface="Consolas" pitchFamily="34" charset="0"/>
                <a:ea typeface="Consolas" pitchFamily="34" charset="-122"/>
                <a:cs typeface="Consolas" pitchFamily="34" charset="-120"/>
              </a:rPr>
              <a:t>scheduler.amazonaws.com</a:t>
            </a:r>
            <a:endParaRPr lang="en-US" sz="950" dirty="0"/>
          </a:p>
        </p:txBody>
      </p:sp>
      <p:sp>
        <p:nvSpPr>
          <p:cNvPr id="35" name="Text 31"/>
          <p:cNvSpPr/>
          <p:nvPr/>
        </p:nvSpPr>
        <p:spPr>
          <a:xfrm>
            <a:off x="7223760" y="4169664"/>
            <a:ext cx="1371600" cy="27432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EventBridge Scheduler</a:t>
            </a:r>
            <a:endParaRPr lang="en-US" sz="950" dirty="0"/>
          </a:p>
        </p:txBody>
      </p:sp>
      <p:sp>
        <p:nvSpPr>
          <p:cNvPr id="36" name="Shape 32"/>
          <p:cNvSpPr/>
          <p:nvPr/>
        </p:nvSpPr>
        <p:spPr>
          <a:xfrm>
            <a:off x="0" y="4892040"/>
            <a:ext cx="9144000" cy="251460"/>
          </a:xfrm>
          <a:prstGeom prst="rect">
            <a:avLst/>
          </a:prstGeom>
          <a:solidFill>
            <a:srgbClr val="1A2E45"/>
          </a:solidFill>
          <a:ln w="12700">
            <a:solidFill>
              <a:srgbClr val="1A2E45"/>
            </a:solidFill>
            <a:prstDash val="solid"/>
          </a:ln>
        </p:spPr>
      </p:sp>
      <p:sp>
        <p:nvSpPr>
          <p:cNvPr id="37" name="Text 33"/>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38" name="Text 34"/>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Lambda Theory — Pillar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LAMBDA THEORY — PILLAR 2: PERMISSIONS</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the Execution Role Allows Lambda To Do</a:t>
            </a:r>
            <a:endParaRPr lang="en-US" sz="2600" dirty="0"/>
          </a:p>
        </p:txBody>
      </p:sp>
      <p:sp>
        <p:nvSpPr>
          <p:cNvPr id="5" name="Shape 3"/>
          <p:cNvSpPr/>
          <p:nvPr/>
        </p:nvSpPr>
        <p:spPr>
          <a:xfrm>
            <a:off x="457200" y="1261872"/>
            <a:ext cx="8229600" cy="566928"/>
          </a:xfrm>
          <a:prstGeom prst="rect">
            <a:avLst/>
          </a:prstGeom>
          <a:solidFill>
            <a:srgbClr val="1E3A5F"/>
          </a:solidFill>
          <a:ln w="12700">
            <a:solidFill>
              <a:srgbClr val="1E3A5F"/>
            </a:solidFill>
            <a:prstDash val="solid"/>
          </a:ln>
        </p:spPr>
      </p:sp>
      <p:sp>
        <p:nvSpPr>
          <p:cNvPr id="6" name="Shape 4"/>
          <p:cNvSpPr/>
          <p:nvPr/>
        </p:nvSpPr>
        <p:spPr>
          <a:xfrm>
            <a:off x="621792" y="1325880"/>
            <a:ext cx="438912" cy="438912"/>
          </a:xfrm>
          <a:prstGeom prst="ellipse">
            <a:avLst/>
          </a:prstGeom>
          <a:solidFill>
            <a:srgbClr val="00B4D8"/>
          </a:solidFill>
          <a:ln w="1270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709574" y="1413662"/>
            <a:ext cx="263347" cy="263347"/>
          </a:xfrm>
          <a:prstGeom prst="rect">
            <a:avLst/>
          </a:prstGeom>
        </p:spPr>
      </p:pic>
      <p:sp>
        <p:nvSpPr>
          <p:cNvPr id="8" name="Text 5"/>
          <p:cNvSpPr/>
          <p:nvPr/>
        </p:nvSpPr>
        <p:spPr>
          <a:xfrm>
            <a:off x="1170432" y="1316736"/>
            <a:ext cx="7315200" cy="475488"/>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If the trust policy is the badge, the permission policy is the access list on every door in the building. Once Lambda is wearing the badge, these policies decide which rooms it can enter — S3, DynamoDB, SQS, CloudWatch, and so on.</a:t>
            </a:r>
            <a:endParaRPr lang="en-US" sz="1200" dirty="0"/>
          </a:p>
        </p:txBody>
      </p:sp>
      <p:sp>
        <p:nvSpPr>
          <p:cNvPr id="9" name="Shape 6"/>
          <p:cNvSpPr/>
          <p:nvPr/>
        </p:nvSpPr>
        <p:spPr>
          <a:xfrm>
            <a:off x="457200" y="1920240"/>
            <a:ext cx="3977640" cy="2834640"/>
          </a:xfrm>
          <a:prstGeom prst="rect">
            <a:avLst/>
          </a:prstGeom>
          <a:solidFill>
            <a:srgbClr val="1A2E45"/>
          </a:solidFill>
          <a:ln w="12700">
            <a:solidFill>
              <a:srgbClr val="1A2E45"/>
            </a:solidFill>
            <a:prstDash val="solid"/>
          </a:ln>
        </p:spPr>
      </p:sp>
      <p:sp>
        <p:nvSpPr>
          <p:cNvPr id="10" name="Text 7"/>
          <p:cNvSpPr/>
          <p:nvPr/>
        </p:nvSpPr>
        <p:spPr>
          <a:xfrm>
            <a:off x="594360" y="1975104"/>
            <a:ext cx="3657600" cy="292608"/>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Always Required — The Baseline</a:t>
            </a:r>
            <a:endParaRPr lang="en-US" sz="1300" dirty="0"/>
          </a:p>
        </p:txBody>
      </p:sp>
      <p:sp>
        <p:nvSpPr>
          <p:cNvPr id="11" name="Text 8"/>
          <p:cNvSpPr/>
          <p:nvPr/>
        </p:nvSpPr>
        <p:spPr>
          <a:xfrm>
            <a:off x="594360" y="2304288"/>
            <a:ext cx="3566160" cy="45720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Every Lambda function ever written needs these three CloudWatch Logs permissions. No exceptions.</a:t>
            </a:r>
            <a:endParaRPr lang="en-US" sz="1100" dirty="0"/>
          </a:p>
        </p:txBody>
      </p:sp>
      <p:sp>
        <p:nvSpPr>
          <p:cNvPr id="12" name="Shape 9"/>
          <p:cNvSpPr/>
          <p:nvPr/>
        </p:nvSpPr>
        <p:spPr>
          <a:xfrm>
            <a:off x="594360" y="2834640"/>
            <a:ext cx="3703320" cy="512064"/>
          </a:xfrm>
          <a:prstGeom prst="rect">
            <a:avLst/>
          </a:prstGeom>
          <a:solidFill>
            <a:srgbClr val="1E3A5F"/>
          </a:solidFill>
          <a:ln w="12700">
            <a:solidFill>
              <a:srgbClr val="1E3A5F"/>
            </a:solidFill>
            <a:prstDash val="solid"/>
          </a:ln>
        </p:spPr>
      </p:sp>
      <p:sp>
        <p:nvSpPr>
          <p:cNvPr id="13" name="Shape 10"/>
          <p:cNvSpPr/>
          <p:nvPr/>
        </p:nvSpPr>
        <p:spPr>
          <a:xfrm>
            <a:off x="676656" y="2907792"/>
            <a:ext cx="365760" cy="365760"/>
          </a:xfrm>
          <a:prstGeom prst="ellipse">
            <a:avLst/>
          </a:prstGeom>
          <a:solidFill>
            <a:srgbClr val="00B4D8"/>
          </a:solidFill>
          <a:ln w="12700">
            <a:solidFill>
              <a:srgbClr val="00B4D8"/>
            </a:solidFill>
            <a:prstDash val="solid"/>
          </a:ln>
        </p:spPr>
      </p:sp>
      <p:pic>
        <p:nvPicPr>
          <p:cNvPr id="14" name="Image 1" descr="preencoded.png">    </p:cNvPr>
          <p:cNvPicPr>
            <a:picLocks noChangeAspect="1"/>
          </p:cNvPicPr>
          <p:nvPr/>
        </p:nvPicPr>
        <p:blipFill>
          <a:blip r:embed="rId2"/>
          <a:stretch>
            <a:fillRect/>
          </a:stretch>
        </p:blipFill>
        <p:spPr>
          <a:xfrm>
            <a:off x="749808" y="2980944"/>
            <a:ext cx="219456" cy="219456"/>
          </a:xfrm>
          <a:prstGeom prst="rect">
            <a:avLst/>
          </a:prstGeom>
        </p:spPr>
      </p:pic>
      <p:sp>
        <p:nvSpPr>
          <p:cNvPr id="15" name="Text 11"/>
          <p:cNvSpPr/>
          <p:nvPr/>
        </p:nvSpPr>
        <p:spPr>
          <a:xfrm>
            <a:off x="1115568" y="2871216"/>
            <a:ext cx="3017520" cy="256032"/>
          </a:xfrm>
          <a:prstGeom prst="rect">
            <a:avLst/>
          </a:prstGeom>
          <a:noFill/>
          <a:ln/>
        </p:spPr>
        <p:txBody>
          <a:bodyPr wrap="square"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logs:CreateLogGroup</a:t>
            </a:r>
            <a:endParaRPr lang="en-US" sz="1000" dirty="0"/>
          </a:p>
        </p:txBody>
      </p:sp>
      <p:sp>
        <p:nvSpPr>
          <p:cNvPr id="16" name="Text 12"/>
          <p:cNvSpPr/>
          <p:nvPr/>
        </p:nvSpPr>
        <p:spPr>
          <a:xfrm>
            <a:off x="1115568" y="3108960"/>
            <a:ext cx="3017520" cy="20116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Creates /aws/lambda/&lt;name&gt; log group</a:t>
            </a:r>
            <a:endParaRPr lang="en-US" sz="950" dirty="0"/>
          </a:p>
        </p:txBody>
      </p:sp>
      <p:sp>
        <p:nvSpPr>
          <p:cNvPr id="17" name="Shape 13"/>
          <p:cNvSpPr/>
          <p:nvPr/>
        </p:nvSpPr>
        <p:spPr>
          <a:xfrm>
            <a:off x="594360" y="3429000"/>
            <a:ext cx="3703320" cy="512064"/>
          </a:xfrm>
          <a:prstGeom prst="rect">
            <a:avLst/>
          </a:prstGeom>
          <a:solidFill>
            <a:srgbClr val="1E3A5F"/>
          </a:solidFill>
          <a:ln w="12700">
            <a:solidFill>
              <a:srgbClr val="1E3A5F"/>
            </a:solidFill>
            <a:prstDash val="solid"/>
          </a:ln>
        </p:spPr>
      </p:sp>
      <p:sp>
        <p:nvSpPr>
          <p:cNvPr id="18" name="Shape 14"/>
          <p:cNvSpPr/>
          <p:nvPr/>
        </p:nvSpPr>
        <p:spPr>
          <a:xfrm>
            <a:off x="676656" y="3502152"/>
            <a:ext cx="365760" cy="365760"/>
          </a:xfrm>
          <a:prstGeom prst="ellipse">
            <a:avLst/>
          </a:prstGeom>
          <a:solidFill>
            <a:srgbClr val="00B4D8"/>
          </a:solidFill>
          <a:ln w="12700">
            <a:solidFill>
              <a:srgbClr val="00B4D8"/>
            </a:solidFill>
            <a:prstDash val="solid"/>
          </a:ln>
        </p:spPr>
      </p:sp>
      <p:pic>
        <p:nvPicPr>
          <p:cNvPr id="19" name="Image 2" descr="preencoded.png">    </p:cNvPr>
          <p:cNvPicPr>
            <a:picLocks noChangeAspect="1"/>
          </p:cNvPicPr>
          <p:nvPr/>
        </p:nvPicPr>
        <p:blipFill>
          <a:blip r:embed="rId3"/>
          <a:stretch>
            <a:fillRect/>
          </a:stretch>
        </p:blipFill>
        <p:spPr>
          <a:xfrm>
            <a:off x="749808" y="3575304"/>
            <a:ext cx="219456" cy="219456"/>
          </a:xfrm>
          <a:prstGeom prst="rect">
            <a:avLst/>
          </a:prstGeom>
        </p:spPr>
      </p:pic>
      <p:sp>
        <p:nvSpPr>
          <p:cNvPr id="20" name="Text 15"/>
          <p:cNvSpPr/>
          <p:nvPr/>
        </p:nvSpPr>
        <p:spPr>
          <a:xfrm>
            <a:off x="1115568" y="3465576"/>
            <a:ext cx="3017520" cy="256032"/>
          </a:xfrm>
          <a:prstGeom prst="rect">
            <a:avLst/>
          </a:prstGeom>
          <a:noFill/>
          <a:ln/>
        </p:spPr>
        <p:txBody>
          <a:bodyPr wrap="square"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logs:CreateLogStream</a:t>
            </a:r>
            <a:endParaRPr lang="en-US" sz="1000" dirty="0"/>
          </a:p>
        </p:txBody>
      </p:sp>
      <p:sp>
        <p:nvSpPr>
          <p:cNvPr id="21" name="Text 16"/>
          <p:cNvSpPr/>
          <p:nvPr/>
        </p:nvSpPr>
        <p:spPr>
          <a:xfrm>
            <a:off x="1115568" y="3703320"/>
            <a:ext cx="3017520" cy="20116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Creates a stream per invocation</a:t>
            </a:r>
            <a:endParaRPr lang="en-US" sz="950" dirty="0"/>
          </a:p>
        </p:txBody>
      </p:sp>
      <p:sp>
        <p:nvSpPr>
          <p:cNvPr id="22" name="Shape 17"/>
          <p:cNvSpPr/>
          <p:nvPr/>
        </p:nvSpPr>
        <p:spPr>
          <a:xfrm>
            <a:off x="594360" y="4023360"/>
            <a:ext cx="3703320" cy="512064"/>
          </a:xfrm>
          <a:prstGeom prst="rect">
            <a:avLst/>
          </a:prstGeom>
          <a:solidFill>
            <a:srgbClr val="1E3A5F"/>
          </a:solidFill>
          <a:ln w="12700">
            <a:solidFill>
              <a:srgbClr val="1E3A5F"/>
            </a:solidFill>
            <a:prstDash val="solid"/>
          </a:ln>
        </p:spPr>
      </p:sp>
      <p:sp>
        <p:nvSpPr>
          <p:cNvPr id="23" name="Shape 18"/>
          <p:cNvSpPr/>
          <p:nvPr/>
        </p:nvSpPr>
        <p:spPr>
          <a:xfrm>
            <a:off x="676656" y="4096512"/>
            <a:ext cx="365760" cy="365760"/>
          </a:xfrm>
          <a:prstGeom prst="ellipse">
            <a:avLst/>
          </a:prstGeom>
          <a:solidFill>
            <a:srgbClr val="00B4D8"/>
          </a:solidFill>
          <a:ln w="12700">
            <a:solidFill>
              <a:srgbClr val="00B4D8"/>
            </a:solidFill>
            <a:prstDash val="solid"/>
          </a:ln>
        </p:spPr>
      </p:sp>
      <p:pic>
        <p:nvPicPr>
          <p:cNvPr id="24" name="Image 3" descr="preencoded.png">    </p:cNvPr>
          <p:cNvPicPr>
            <a:picLocks noChangeAspect="1"/>
          </p:cNvPicPr>
          <p:nvPr/>
        </p:nvPicPr>
        <p:blipFill>
          <a:blip r:embed="rId4"/>
          <a:stretch>
            <a:fillRect/>
          </a:stretch>
        </p:blipFill>
        <p:spPr>
          <a:xfrm>
            <a:off x="749808" y="4169664"/>
            <a:ext cx="219456" cy="219456"/>
          </a:xfrm>
          <a:prstGeom prst="rect">
            <a:avLst/>
          </a:prstGeom>
        </p:spPr>
      </p:pic>
      <p:sp>
        <p:nvSpPr>
          <p:cNvPr id="25" name="Text 19"/>
          <p:cNvSpPr/>
          <p:nvPr/>
        </p:nvSpPr>
        <p:spPr>
          <a:xfrm>
            <a:off x="1115568" y="4059936"/>
            <a:ext cx="3017520" cy="256032"/>
          </a:xfrm>
          <a:prstGeom prst="rect">
            <a:avLst/>
          </a:prstGeom>
          <a:noFill/>
          <a:ln/>
        </p:spPr>
        <p:txBody>
          <a:bodyPr wrap="square" rtlCol="0" anchor="ctr"/>
          <a:lstStyle/>
          <a:p>
            <a:pPr indent="0" marL="0">
              <a:buNone/>
            </a:pPr>
            <a:r>
              <a:rPr lang="en-US" sz="1000" b="1" dirty="0">
                <a:solidFill>
                  <a:srgbClr val="10B981"/>
                </a:solidFill>
                <a:latin typeface="Consolas" pitchFamily="34" charset="0"/>
                <a:ea typeface="Consolas" pitchFamily="34" charset="-122"/>
                <a:cs typeface="Consolas" pitchFamily="34" charset="-120"/>
              </a:rPr>
              <a:t>logs:PutLogEvents</a:t>
            </a:r>
            <a:endParaRPr lang="en-US" sz="1000" dirty="0"/>
          </a:p>
        </p:txBody>
      </p:sp>
      <p:sp>
        <p:nvSpPr>
          <p:cNvPr id="26" name="Text 20"/>
          <p:cNvSpPr/>
          <p:nvPr/>
        </p:nvSpPr>
        <p:spPr>
          <a:xfrm>
            <a:off x="1115568" y="4297680"/>
            <a:ext cx="3017520" cy="20116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Writes your actual log output</a:t>
            </a:r>
            <a:endParaRPr lang="en-US" sz="950" dirty="0"/>
          </a:p>
        </p:txBody>
      </p:sp>
      <p:sp>
        <p:nvSpPr>
          <p:cNvPr id="27" name="Shape 21"/>
          <p:cNvSpPr/>
          <p:nvPr/>
        </p:nvSpPr>
        <p:spPr>
          <a:xfrm>
            <a:off x="4617720" y="1920240"/>
            <a:ext cx="4069080" cy="2834640"/>
          </a:xfrm>
          <a:prstGeom prst="rect">
            <a:avLst/>
          </a:prstGeom>
          <a:solidFill>
            <a:srgbClr val="1A2E45"/>
          </a:solidFill>
          <a:ln w="12700">
            <a:solidFill>
              <a:srgbClr val="1A2E45"/>
            </a:solidFill>
            <a:prstDash val="solid"/>
          </a:ln>
        </p:spPr>
      </p:sp>
      <p:sp>
        <p:nvSpPr>
          <p:cNvPr id="28" name="Text 22"/>
          <p:cNvSpPr/>
          <p:nvPr/>
        </p:nvSpPr>
        <p:spPr>
          <a:xfrm>
            <a:off x="4754880" y="1975104"/>
            <a:ext cx="3749040" cy="292608"/>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Additional — Depends on What Lambda Does</a:t>
            </a:r>
            <a:endParaRPr lang="en-US" sz="1300" dirty="0"/>
          </a:p>
        </p:txBody>
      </p:sp>
      <p:sp>
        <p:nvSpPr>
          <p:cNvPr id="29" name="Shape 23"/>
          <p:cNvSpPr/>
          <p:nvPr/>
        </p:nvSpPr>
        <p:spPr>
          <a:xfrm>
            <a:off x="4754880" y="2331720"/>
            <a:ext cx="3749040" cy="512064"/>
          </a:xfrm>
          <a:prstGeom prst="rect">
            <a:avLst/>
          </a:prstGeom>
          <a:solidFill>
            <a:srgbClr val="1E3A5F"/>
          </a:solidFill>
          <a:ln w="12700">
            <a:solidFill>
              <a:srgbClr val="1E3A5F"/>
            </a:solidFill>
            <a:prstDash val="solid"/>
          </a:ln>
        </p:spPr>
      </p:sp>
      <p:sp>
        <p:nvSpPr>
          <p:cNvPr id="30" name="Text 24"/>
          <p:cNvSpPr/>
          <p:nvPr/>
        </p:nvSpPr>
        <p:spPr>
          <a:xfrm>
            <a:off x="4919472" y="2368296"/>
            <a:ext cx="3383280" cy="256032"/>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s3:GetObject / PutObject</a:t>
            </a:r>
            <a:endParaRPr lang="en-US" sz="1000" dirty="0"/>
          </a:p>
        </p:txBody>
      </p:sp>
      <p:sp>
        <p:nvSpPr>
          <p:cNvPr id="31" name="Text 25"/>
          <p:cNvSpPr/>
          <p:nvPr/>
        </p:nvSpPr>
        <p:spPr>
          <a:xfrm>
            <a:off x="4919472" y="2606040"/>
            <a:ext cx="3383280" cy="20116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Reading or writing S3 files</a:t>
            </a:r>
            <a:endParaRPr lang="en-US" sz="950" dirty="0"/>
          </a:p>
        </p:txBody>
      </p:sp>
      <p:sp>
        <p:nvSpPr>
          <p:cNvPr id="32" name="Shape 26"/>
          <p:cNvSpPr/>
          <p:nvPr/>
        </p:nvSpPr>
        <p:spPr>
          <a:xfrm>
            <a:off x="4754880" y="2926080"/>
            <a:ext cx="3749040" cy="512064"/>
          </a:xfrm>
          <a:prstGeom prst="rect">
            <a:avLst/>
          </a:prstGeom>
          <a:solidFill>
            <a:srgbClr val="1E3A5F"/>
          </a:solidFill>
          <a:ln w="12700">
            <a:solidFill>
              <a:srgbClr val="1E3A5F"/>
            </a:solidFill>
            <a:prstDash val="solid"/>
          </a:ln>
        </p:spPr>
      </p:sp>
      <p:sp>
        <p:nvSpPr>
          <p:cNvPr id="33" name="Text 27"/>
          <p:cNvSpPr/>
          <p:nvPr/>
        </p:nvSpPr>
        <p:spPr>
          <a:xfrm>
            <a:off x="4919472" y="2962656"/>
            <a:ext cx="3383280" cy="256032"/>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dynamodb:PutItem / Query</a:t>
            </a:r>
            <a:endParaRPr lang="en-US" sz="1000" dirty="0"/>
          </a:p>
        </p:txBody>
      </p:sp>
      <p:sp>
        <p:nvSpPr>
          <p:cNvPr id="34" name="Text 28"/>
          <p:cNvSpPr/>
          <p:nvPr/>
        </p:nvSpPr>
        <p:spPr>
          <a:xfrm>
            <a:off x="4919472" y="3200400"/>
            <a:ext cx="3383280" cy="20116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Writing to DynamoDB tables</a:t>
            </a:r>
            <a:endParaRPr lang="en-US" sz="950" dirty="0"/>
          </a:p>
        </p:txBody>
      </p:sp>
      <p:sp>
        <p:nvSpPr>
          <p:cNvPr id="35" name="Shape 29"/>
          <p:cNvSpPr/>
          <p:nvPr/>
        </p:nvSpPr>
        <p:spPr>
          <a:xfrm>
            <a:off x="4754880" y="3520440"/>
            <a:ext cx="3749040" cy="512064"/>
          </a:xfrm>
          <a:prstGeom prst="rect">
            <a:avLst/>
          </a:prstGeom>
          <a:solidFill>
            <a:srgbClr val="1E3A5F"/>
          </a:solidFill>
          <a:ln w="12700">
            <a:solidFill>
              <a:srgbClr val="1E3A5F"/>
            </a:solidFill>
            <a:prstDash val="solid"/>
          </a:ln>
        </p:spPr>
      </p:sp>
      <p:sp>
        <p:nvSpPr>
          <p:cNvPr id="36" name="Text 30"/>
          <p:cNvSpPr/>
          <p:nvPr/>
        </p:nvSpPr>
        <p:spPr>
          <a:xfrm>
            <a:off x="4919472" y="3557016"/>
            <a:ext cx="3383280" cy="256032"/>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sqs:ReceiveMessage</a:t>
            </a:r>
            <a:endParaRPr lang="en-US" sz="1000" dirty="0"/>
          </a:p>
        </p:txBody>
      </p:sp>
      <p:sp>
        <p:nvSpPr>
          <p:cNvPr id="37" name="Text 31"/>
          <p:cNvSpPr/>
          <p:nvPr/>
        </p:nvSpPr>
        <p:spPr>
          <a:xfrm>
            <a:off x="4919472" y="3794760"/>
            <a:ext cx="3383280" cy="20116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Polling an SQS queue</a:t>
            </a:r>
            <a:endParaRPr lang="en-US" sz="950" dirty="0"/>
          </a:p>
        </p:txBody>
      </p:sp>
      <p:sp>
        <p:nvSpPr>
          <p:cNvPr id="38" name="Shape 32"/>
          <p:cNvSpPr/>
          <p:nvPr/>
        </p:nvSpPr>
        <p:spPr>
          <a:xfrm>
            <a:off x="4754880" y="4114800"/>
            <a:ext cx="3749040" cy="512064"/>
          </a:xfrm>
          <a:prstGeom prst="rect">
            <a:avLst/>
          </a:prstGeom>
          <a:solidFill>
            <a:srgbClr val="1E3A5F"/>
          </a:solidFill>
          <a:ln w="12700">
            <a:solidFill>
              <a:srgbClr val="1E3A5F"/>
            </a:solidFill>
            <a:prstDash val="solid"/>
          </a:ln>
        </p:spPr>
      </p:sp>
      <p:sp>
        <p:nvSpPr>
          <p:cNvPr id="39" name="Text 33"/>
          <p:cNvSpPr/>
          <p:nvPr/>
        </p:nvSpPr>
        <p:spPr>
          <a:xfrm>
            <a:off x="4919472" y="4151376"/>
            <a:ext cx="3383280" cy="256032"/>
          </a:xfrm>
          <a:prstGeom prst="rect">
            <a:avLst/>
          </a:prstGeom>
          <a:noFill/>
          <a:ln/>
        </p:spPr>
        <p:txBody>
          <a:bodyPr wrap="square" rtlCol="0" anchor="ctr"/>
          <a:lstStyle/>
          <a:p>
            <a:pPr indent="0" marL="0">
              <a:buNone/>
            </a:pPr>
            <a:r>
              <a:rPr lang="en-US" sz="1000" b="1" dirty="0">
                <a:solidFill>
                  <a:srgbClr val="00B4D8"/>
                </a:solidFill>
                <a:latin typeface="Consolas" pitchFamily="34" charset="0"/>
                <a:ea typeface="Consolas" pitchFamily="34" charset="-122"/>
                <a:cs typeface="Consolas" pitchFamily="34" charset="-120"/>
              </a:rPr>
              <a:t>sns:Publish</a:t>
            </a:r>
            <a:endParaRPr lang="en-US" sz="1000" dirty="0"/>
          </a:p>
        </p:txBody>
      </p:sp>
      <p:sp>
        <p:nvSpPr>
          <p:cNvPr id="40" name="Text 34"/>
          <p:cNvSpPr/>
          <p:nvPr/>
        </p:nvSpPr>
        <p:spPr>
          <a:xfrm>
            <a:off x="4919472" y="4389120"/>
            <a:ext cx="3383280" cy="20116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Sending SNS notifications</a:t>
            </a:r>
            <a:endParaRPr lang="en-US" sz="950" dirty="0"/>
          </a:p>
        </p:txBody>
      </p:sp>
      <p:sp>
        <p:nvSpPr>
          <p:cNvPr id="41" name="Shape 35"/>
          <p:cNvSpPr/>
          <p:nvPr/>
        </p:nvSpPr>
        <p:spPr>
          <a:xfrm>
            <a:off x="0" y="4892040"/>
            <a:ext cx="9144000" cy="251460"/>
          </a:xfrm>
          <a:prstGeom prst="rect">
            <a:avLst/>
          </a:prstGeom>
          <a:solidFill>
            <a:srgbClr val="1A2E45"/>
          </a:solidFill>
          <a:ln w="12700">
            <a:solidFill>
              <a:srgbClr val="1A2E45"/>
            </a:solidFill>
            <a:prstDash val="solid"/>
          </a:ln>
        </p:spPr>
      </p:sp>
      <p:sp>
        <p:nvSpPr>
          <p:cNvPr id="42" name="Text 36"/>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43" name="Text 37"/>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Lambda Theory — Pillar 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LAMBDA THEORY — PILLAR 3: INVOCATION</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Two Separate Permission Questions</a:t>
            </a:r>
            <a:endParaRPr lang="en-US" sz="2600" dirty="0"/>
          </a:p>
        </p:txBody>
      </p:sp>
      <p:sp>
        <p:nvSpPr>
          <p:cNvPr id="5" name="Shape 3"/>
          <p:cNvSpPr/>
          <p:nvPr/>
        </p:nvSpPr>
        <p:spPr>
          <a:xfrm>
            <a:off x="457200" y="1298448"/>
            <a:ext cx="3977640" cy="3474720"/>
          </a:xfrm>
          <a:prstGeom prst="rect">
            <a:avLst/>
          </a:prstGeom>
          <a:solidFill>
            <a:srgbClr val="1E3A5F"/>
          </a:solidFill>
          <a:ln w="12700">
            <a:solidFill>
              <a:srgbClr val="1E3A5F"/>
            </a:solidFill>
            <a:prstDash val="solid"/>
          </a:ln>
        </p:spPr>
      </p:sp>
      <p:sp>
        <p:nvSpPr>
          <p:cNvPr id="6" name="Shape 4"/>
          <p:cNvSpPr/>
          <p:nvPr/>
        </p:nvSpPr>
        <p:spPr>
          <a:xfrm>
            <a:off x="457200" y="1298448"/>
            <a:ext cx="3977640" cy="54864"/>
          </a:xfrm>
          <a:prstGeom prst="rect">
            <a:avLst/>
          </a:prstGeom>
          <a:solidFill>
            <a:srgbClr val="00B4D8"/>
          </a:solidFill>
          <a:ln w="12700">
            <a:solidFill>
              <a:srgbClr val="00B4D8"/>
            </a:solidFill>
            <a:prstDash val="solid"/>
          </a:ln>
        </p:spPr>
      </p:sp>
      <p:sp>
        <p:nvSpPr>
          <p:cNvPr id="7" name="Text 5"/>
          <p:cNvSpPr/>
          <p:nvPr/>
        </p:nvSpPr>
        <p:spPr>
          <a:xfrm>
            <a:off x="594360" y="1417320"/>
            <a:ext cx="3657600" cy="274320"/>
          </a:xfrm>
          <a:prstGeom prst="rect">
            <a:avLst/>
          </a:prstGeom>
          <a:noFill/>
          <a:ln/>
        </p:spPr>
        <p:txBody>
          <a:bodyPr wrap="square" rtlCol="0" anchor="ctr"/>
          <a:lstStyle/>
          <a:p>
            <a:pPr indent="0" marL="0">
              <a:buNone/>
            </a:pPr>
            <a:r>
              <a:rPr lang="en-US" sz="1100" b="1" spc="200" kern="0" dirty="0">
                <a:solidFill>
                  <a:srgbClr val="00B4D8"/>
                </a:solidFill>
                <a:latin typeface="Calibri" pitchFamily="34" charset="0"/>
                <a:ea typeface="Calibri" pitchFamily="34" charset="-122"/>
                <a:cs typeface="Calibri" pitchFamily="34" charset="-120"/>
              </a:rPr>
              <a:t>Question 1</a:t>
            </a:r>
            <a:endParaRPr lang="en-US" sz="1100" dirty="0"/>
          </a:p>
        </p:txBody>
      </p:sp>
      <p:sp>
        <p:nvSpPr>
          <p:cNvPr id="8" name="Text 6"/>
          <p:cNvSpPr/>
          <p:nvPr/>
        </p:nvSpPr>
        <p:spPr>
          <a:xfrm>
            <a:off x="594360" y="1719072"/>
            <a:ext cx="37033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"Who is allowed to INVOKE this Lambda?"</a:t>
            </a:r>
            <a:endParaRPr lang="en-US" sz="1300" dirty="0"/>
          </a:p>
        </p:txBody>
      </p:sp>
      <p:sp>
        <p:nvSpPr>
          <p:cNvPr id="9" name="Text 7"/>
          <p:cNvSpPr/>
          <p:nvPr/>
        </p:nvSpPr>
        <p:spPr>
          <a:xfrm>
            <a:off x="594360" y="2176272"/>
            <a:ext cx="3703320" cy="411480"/>
          </a:xfrm>
          <a:prstGeom prst="rect">
            <a:avLst/>
          </a:prstGeom>
          <a:noFill/>
          <a:ln/>
        </p:spPr>
        <p:txBody>
          <a:bodyPr wrap="square" rtlCol="0" anchor="ctr"/>
          <a:lstStyle/>
          <a:p>
            <a:pPr indent="0" marL="0">
              <a:buNone/>
            </a:pPr>
            <a:r>
              <a:rPr lang="en-US" sz="1100" dirty="0">
                <a:solidFill>
                  <a:srgbClr val="00B4D8"/>
                </a:solidFill>
                <a:latin typeface="Calibri" pitchFamily="34" charset="0"/>
                <a:ea typeface="Calibri" pitchFamily="34" charset="-122"/>
                <a:cs typeface="Calibri" pitchFamily="34" charset="-120"/>
              </a:rPr>
              <a:t>Answered by the Lambda Resource Policy</a:t>
            </a:r>
            <a:endParaRPr lang="en-US" sz="1100" dirty="0"/>
          </a:p>
          <a:p>
            <a:pPr indent="0" marL="0">
              <a:buNone/>
            </a:pPr>
            <a:r>
              <a:rPr lang="en-US" sz="1100" dirty="0">
                <a:solidFill>
                  <a:srgbClr val="00B4D8"/>
                </a:solidFill>
                <a:latin typeface="Calibri" pitchFamily="34" charset="0"/>
                <a:ea typeface="Calibri" pitchFamily="34" charset="-122"/>
                <a:cs typeface="Calibri" pitchFamily="34" charset="-120"/>
              </a:rPr>
              <a:t>(aws_lambda_permission)</a:t>
            </a:r>
            <a:endParaRPr lang="en-US" sz="1100" dirty="0"/>
          </a:p>
        </p:txBody>
      </p:sp>
      <p:sp>
        <p:nvSpPr>
          <p:cNvPr id="10" name="Shape 8"/>
          <p:cNvSpPr/>
          <p:nvPr/>
        </p:nvSpPr>
        <p:spPr>
          <a:xfrm>
            <a:off x="594360" y="2624328"/>
            <a:ext cx="3703320" cy="36576"/>
          </a:xfrm>
          <a:prstGeom prst="rect">
            <a:avLst/>
          </a:prstGeom>
          <a:solidFill>
            <a:srgbClr val="1A2E45"/>
          </a:solidFill>
          <a:ln w="12700">
            <a:solidFill>
              <a:srgbClr val="1A2E45"/>
            </a:solidFill>
            <a:prstDash val="solid"/>
          </a:ln>
        </p:spPr>
      </p:sp>
      <p:sp>
        <p:nvSpPr>
          <p:cNvPr id="11" name="Text 9"/>
          <p:cNvSpPr/>
          <p:nvPr/>
        </p:nvSpPr>
        <p:spPr>
          <a:xfrm>
            <a:off x="594360" y="2706624"/>
            <a:ext cx="370332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Lives ON the Lambda function itself.</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Says 'I permit X to call me.'</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Required for every push trigger</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(S3, API Gateway, SNS, EventBridge).</a:t>
            </a:r>
            <a:endParaRPr lang="en-US" sz="1100" dirty="0"/>
          </a:p>
        </p:txBody>
      </p:sp>
      <p:sp>
        <p:nvSpPr>
          <p:cNvPr id="12" name="Shape 10"/>
          <p:cNvSpPr/>
          <p:nvPr/>
        </p:nvSpPr>
        <p:spPr>
          <a:xfrm>
            <a:off x="1865376" y="4096512"/>
            <a:ext cx="548640" cy="548640"/>
          </a:xfrm>
          <a:prstGeom prst="ellipse">
            <a:avLst/>
          </a:prstGeom>
          <a:solidFill>
            <a:srgbClr val="00B4D8"/>
          </a:solidFill>
          <a:ln w="12700">
            <a:solidFill>
              <a:srgbClr val="00B4D8"/>
            </a:solidFill>
            <a:prstDash val="solid"/>
          </a:ln>
        </p:spPr>
      </p:sp>
      <p:pic>
        <p:nvPicPr>
          <p:cNvPr id="13" name="Image 0" descr="preencoded.png">    </p:cNvPr>
          <p:cNvPicPr>
            <a:picLocks noChangeAspect="1"/>
          </p:cNvPicPr>
          <p:nvPr/>
        </p:nvPicPr>
        <p:blipFill>
          <a:blip r:embed="rId1"/>
          <a:stretch>
            <a:fillRect/>
          </a:stretch>
        </p:blipFill>
        <p:spPr>
          <a:xfrm>
            <a:off x="1975104" y="4206240"/>
            <a:ext cx="329184" cy="329184"/>
          </a:xfrm>
          <a:prstGeom prst="rect">
            <a:avLst/>
          </a:prstGeom>
        </p:spPr>
      </p:pic>
      <p:sp>
        <p:nvSpPr>
          <p:cNvPr id="14" name="Text 11"/>
          <p:cNvSpPr/>
          <p:nvPr/>
        </p:nvSpPr>
        <p:spPr>
          <a:xfrm>
            <a:off x="640080" y="4663440"/>
            <a:ext cx="3703320" cy="219456"/>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Resource-based policy</a:t>
            </a:r>
            <a:endParaRPr lang="en-US" sz="1000" dirty="0"/>
          </a:p>
        </p:txBody>
      </p:sp>
      <p:sp>
        <p:nvSpPr>
          <p:cNvPr id="15" name="Shape 12"/>
          <p:cNvSpPr/>
          <p:nvPr/>
        </p:nvSpPr>
        <p:spPr>
          <a:xfrm>
            <a:off x="4709160" y="1298448"/>
            <a:ext cx="3977640" cy="3474720"/>
          </a:xfrm>
          <a:prstGeom prst="rect">
            <a:avLst/>
          </a:prstGeom>
          <a:solidFill>
            <a:srgbClr val="1E3A5F"/>
          </a:solidFill>
          <a:ln w="12700">
            <a:solidFill>
              <a:srgbClr val="1E3A5F"/>
            </a:solidFill>
            <a:prstDash val="solid"/>
          </a:ln>
        </p:spPr>
      </p:sp>
      <p:sp>
        <p:nvSpPr>
          <p:cNvPr id="16" name="Shape 13"/>
          <p:cNvSpPr/>
          <p:nvPr/>
        </p:nvSpPr>
        <p:spPr>
          <a:xfrm>
            <a:off x="4709160" y="1298448"/>
            <a:ext cx="3977640" cy="54864"/>
          </a:xfrm>
          <a:prstGeom prst="rect">
            <a:avLst/>
          </a:prstGeom>
          <a:solidFill>
            <a:srgbClr val="F59E0B"/>
          </a:solidFill>
          <a:ln w="12700">
            <a:solidFill>
              <a:srgbClr val="F59E0B"/>
            </a:solidFill>
            <a:prstDash val="solid"/>
          </a:ln>
        </p:spPr>
      </p:sp>
      <p:sp>
        <p:nvSpPr>
          <p:cNvPr id="17" name="Text 14"/>
          <p:cNvSpPr/>
          <p:nvPr/>
        </p:nvSpPr>
        <p:spPr>
          <a:xfrm>
            <a:off x="4846320" y="1417320"/>
            <a:ext cx="3657600" cy="274320"/>
          </a:xfrm>
          <a:prstGeom prst="rect">
            <a:avLst/>
          </a:prstGeom>
          <a:noFill/>
          <a:ln/>
        </p:spPr>
        <p:txBody>
          <a:bodyPr wrap="square"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Question 2</a:t>
            </a:r>
            <a:endParaRPr lang="en-US" sz="1100" dirty="0"/>
          </a:p>
        </p:txBody>
      </p:sp>
      <p:sp>
        <p:nvSpPr>
          <p:cNvPr id="18" name="Text 15"/>
          <p:cNvSpPr/>
          <p:nvPr/>
        </p:nvSpPr>
        <p:spPr>
          <a:xfrm>
            <a:off x="4846320" y="1719072"/>
            <a:ext cx="37033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is Lambda allowed to DO once running?"</a:t>
            </a:r>
            <a:endParaRPr lang="en-US" sz="1300" dirty="0"/>
          </a:p>
        </p:txBody>
      </p:sp>
      <p:sp>
        <p:nvSpPr>
          <p:cNvPr id="19" name="Text 16"/>
          <p:cNvSpPr/>
          <p:nvPr/>
        </p:nvSpPr>
        <p:spPr>
          <a:xfrm>
            <a:off x="4846320" y="2176272"/>
            <a:ext cx="3703320" cy="411480"/>
          </a:xfrm>
          <a:prstGeom prst="rect">
            <a:avLst/>
          </a:prstGeom>
          <a:noFill/>
          <a:ln/>
        </p:spPr>
        <p:txBody>
          <a:bodyPr wrap="square" rtlCol="0" anchor="ctr"/>
          <a:lstStyle/>
          <a:p>
            <a:pPr indent="0" marL="0">
              <a:buNone/>
            </a:pPr>
            <a:r>
              <a:rPr lang="en-US" sz="1100" dirty="0">
                <a:solidFill>
                  <a:srgbClr val="F59E0B"/>
                </a:solidFill>
                <a:latin typeface="Calibri" pitchFamily="34" charset="0"/>
                <a:ea typeface="Calibri" pitchFamily="34" charset="-122"/>
                <a:cs typeface="Calibri" pitchFamily="34" charset="-120"/>
              </a:rPr>
              <a:t>Answered by the IAM Execution Role</a:t>
            </a:r>
            <a:endParaRPr lang="en-US" sz="1100" dirty="0"/>
          </a:p>
          <a:p>
            <a:pPr indent="0" marL="0">
              <a:buNone/>
            </a:pPr>
            <a:r>
              <a:rPr lang="en-US" sz="1100" dirty="0">
                <a:solidFill>
                  <a:srgbClr val="F59E0B"/>
                </a:solidFill>
                <a:latin typeface="Calibri" pitchFamily="34" charset="0"/>
                <a:ea typeface="Calibri" pitchFamily="34" charset="-122"/>
                <a:cs typeface="Calibri" pitchFamily="34" charset="-120"/>
              </a:rPr>
              <a:t>(aws_iam_role_policy)</a:t>
            </a:r>
            <a:endParaRPr lang="en-US" sz="1100" dirty="0"/>
          </a:p>
        </p:txBody>
      </p:sp>
      <p:sp>
        <p:nvSpPr>
          <p:cNvPr id="20" name="Shape 17"/>
          <p:cNvSpPr/>
          <p:nvPr/>
        </p:nvSpPr>
        <p:spPr>
          <a:xfrm>
            <a:off x="4846320" y="2624328"/>
            <a:ext cx="3703320" cy="36576"/>
          </a:xfrm>
          <a:prstGeom prst="rect">
            <a:avLst/>
          </a:prstGeom>
          <a:solidFill>
            <a:srgbClr val="1A2E45"/>
          </a:solidFill>
          <a:ln w="12700">
            <a:solidFill>
              <a:srgbClr val="1A2E45"/>
            </a:solidFill>
            <a:prstDash val="solid"/>
          </a:ln>
        </p:spPr>
      </p:sp>
      <p:sp>
        <p:nvSpPr>
          <p:cNvPr id="21" name="Text 18"/>
          <p:cNvSpPr/>
          <p:nvPr/>
        </p:nvSpPr>
        <p:spPr>
          <a:xfrm>
            <a:off x="4846320" y="2706624"/>
            <a:ext cx="370332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Lives ON the IAM role Lambda wears.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Says 'I am allowed to touch X.'</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Required for every action Lambda</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takes against other AWS services.</a:t>
            </a:r>
            <a:endParaRPr lang="en-US" sz="1100" dirty="0"/>
          </a:p>
        </p:txBody>
      </p:sp>
      <p:sp>
        <p:nvSpPr>
          <p:cNvPr id="22" name="Shape 19"/>
          <p:cNvSpPr/>
          <p:nvPr/>
        </p:nvSpPr>
        <p:spPr>
          <a:xfrm>
            <a:off x="6720840" y="4096512"/>
            <a:ext cx="548640" cy="548640"/>
          </a:xfrm>
          <a:prstGeom prst="ellipse">
            <a:avLst/>
          </a:prstGeom>
          <a:solidFill>
            <a:srgbClr val="00B4D8"/>
          </a:solidFill>
          <a:ln w="12700">
            <a:solidFill>
              <a:srgbClr val="00B4D8"/>
            </a:solidFill>
            <a:prstDash val="solid"/>
          </a:ln>
        </p:spPr>
      </p:sp>
      <p:pic>
        <p:nvPicPr>
          <p:cNvPr id="23" name="Image 1" descr="preencoded.png">    </p:cNvPr>
          <p:cNvPicPr>
            <a:picLocks noChangeAspect="1"/>
          </p:cNvPicPr>
          <p:nvPr/>
        </p:nvPicPr>
        <p:blipFill>
          <a:blip r:embed="rId2"/>
          <a:stretch>
            <a:fillRect/>
          </a:stretch>
        </p:blipFill>
        <p:spPr>
          <a:xfrm>
            <a:off x="6830568" y="4206240"/>
            <a:ext cx="329184" cy="329184"/>
          </a:xfrm>
          <a:prstGeom prst="rect">
            <a:avLst/>
          </a:prstGeom>
        </p:spPr>
      </p:pic>
      <p:sp>
        <p:nvSpPr>
          <p:cNvPr id="24" name="Text 20"/>
          <p:cNvSpPr/>
          <p:nvPr/>
        </p:nvSpPr>
        <p:spPr>
          <a:xfrm>
            <a:off x="4846320" y="4663440"/>
            <a:ext cx="3703320" cy="219456"/>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Identity-based policy</a:t>
            </a:r>
            <a:endParaRPr lang="en-US" sz="1000" dirty="0"/>
          </a:p>
        </p:txBody>
      </p:sp>
      <p:sp>
        <p:nvSpPr>
          <p:cNvPr id="25" name="Text 21"/>
          <p:cNvSpPr/>
          <p:nvPr/>
        </p:nvSpPr>
        <p:spPr>
          <a:xfrm>
            <a:off x="3730752" y="2651760"/>
            <a:ext cx="1682496"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BOTH</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REQUIRED</a:t>
            </a:r>
            <a:endParaRPr lang="en-US" sz="1300" dirty="0"/>
          </a:p>
        </p:txBody>
      </p:sp>
      <p:sp>
        <p:nvSpPr>
          <p:cNvPr id="26" name="Shape 22"/>
          <p:cNvSpPr/>
          <p:nvPr/>
        </p:nvSpPr>
        <p:spPr>
          <a:xfrm>
            <a:off x="0" y="4892040"/>
            <a:ext cx="9144000" cy="251460"/>
          </a:xfrm>
          <a:prstGeom prst="rect">
            <a:avLst/>
          </a:prstGeom>
          <a:solidFill>
            <a:srgbClr val="1A2E45"/>
          </a:solidFill>
          <a:ln w="12700">
            <a:solidFill>
              <a:srgbClr val="1A2E45"/>
            </a:solidFill>
            <a:prstDash val="solid"/>
          </a:ln>
        </p:spPr>
      </p:sp>
      <p:sp>
        <p:nvSpPr>
          <p:cNvPr id="27" name="Text 23"/>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28" name="Text 24"/>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Lambda Theory — Pillar 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LAMBDA THEORY — INVOCATION MODELS</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Push vs. Pull — How Triggers Work</a:t>
            </a:r>
            <a:endParaRPr lang="en-US" sz="2600" dirty="0"/>
          </a:p>
        </p:txBody>
      </p:sp>
      <p:sp>
        <p:nvSpPr>
          <p:cNvPr id="5" name="Shape 3"/>
          <p:cNvSpPr/>
          <p:nvPr/>
        </p:nvSpPr>
        <p:spPr>
          <a:xfrm>
            <a:off x="457200" y="1298448"/>
            <a:ext cx="3977640" cy="3566160"/>
          </a:xfrm>
          <a:prstGeom prst="rect">
            <a:avLst/>
          </a:prstGeom>
          <a:solidFill>
            <a:srgbClr val="1A2E45"/>
          </a:solidFill>
          <a:ln w="12700">
            <a:solidFill>
              <a:srgbClr val="1A2E45"/>
            </a:solidFill>
            <a:prstDash val="solid"/>
          </a:ln>
        </p:spPr>
      </p:sp>
      <p:sp>
        <p:nvSpPr>
          <p:cNvPr id="6" name="Shape 4"/>
          <p:cNvSpPr/>
          <p:nvPr/>
        </p:nvSpPr>
        <p:spPr>
          <a:xfrm>
            <a:off x="457200" y="1298448"/>
            <a:ext cx="3977640" cy="45720"/>
          </a:xfrm>
          <a:prstGeom prst="rect">
            <a:avLst/>
          </a:prstGeom>
          <a:solidFill>
            <a:srgbClr val="00B4D8"/>
          </a:solidFill>
          <a:ln w="12700">
            <a:solidFill>
              <a:srgbClr val="00B4D8"/>
            </a:solidFill>
            <a:prstDash val="solid"/>
          </a:ln>
        </p:spPr>
      </p:sp>
      <p:sp>
        <p:nvSpPr>
          <p:cNvPr id="7" name="Text 5"/>
          <p:cNvSpPr/>
          <p:nvPr/>
        </p:nvSpPr>
        <p:spPr>
          <a:xfrm>
            <a:off x="594360" y="1371600"/>
            <a:ext cx="3703320" cy="310896"/>
          </a:xfrm>
          <a:prstGeom prst="rect">
            <a:avLst/>
          </a:prstGeom>
          <a:noFill/>
          <a:ln/>
        </p:spPr>
        <p:txBody>
          <a:bodyPr wrap="square" rtlCol="0" anchor="ctr"/>
          <a:lstStyle/>
          <a:p>
            <a:pPr indent="0" marL="0">
              <a:buNone/>
            </a:pPr>
            <a:r>
              <a:rPr lang="en-US" sz="1400" b="1" spc="300" kern="0" dirty="0">
                <a:solidFill>
                  <a:srgbClr val="00B4D8"/>
                </a:solidFill>
                <a:latin typeface="Calibri" pitchFamily="34" charset="0"/>
                <a:ea typeface="Calibri" pitchFamily="34" charset="-122"/>
                <a:cs typeface="Calibri" pitchFamily="34" charset="-120"/>
              </a:rPr>
              <a:t>PUSH MODEL</a:t>
            </a:r>
            <a:endParaRPr lang="en-US" sz="1400" dirty="0"/>
          </a:p>
        </p:txBody>
      </p:sp>
      <p:sp>
        <p:nvSpPr>
          <p:cNvPr id="8" name="Text 6"/>
          <p:cNvSpPr/>
          <p:nvPr/>
        </p:nvSpPr>
        <p:spPr>
          <a:xfrm>
            <a:off x="594360" y="1700784"/>
            <a:ext cx="3703320" cy="274320"/>
          </a:xfrm>
          <a:prstGeom prst="rect">
            <a:avLst/>
          </a:prstGeom>
          <a:noFill/>
          <a:ln/>
        </p:spPr>
        <p:txBody>
          <a:bodyPr wrap="square" rtlCol="0" anchor="ctr"/>
          <a:lstStyle/>
          <a:p>
            <a:pPr indent="0" marL="0">
              <a:buNone/>
            </a:pPr>
            <a:r>
              <a:rPr lang="en-US" sz="1100" i="1" dirty="0">
                <a:solidFill>
                  <a:srgbClr val="CBD5E1"/>
                </a:solidFill>
                <a:latin typeface="Calibri" pitchFamily="34" charset="0"/>
                <a:ea typeface="Calibri" pitchFamily="34" charset="-122"/>
                <a:cs typeface="Calibri" pitchFamily="34" charset="-120"/>
              </a:rPr>
              <a:t>The external service calls Lambda</a:t>
            </a:r>
            <a:endParaRPr lang="en-US" sz="1100" dirty="0"/>
          </a:p>
        </p:txBody>
      </p:sp>
      <p:sp>
        <p:nvSpPr>
          <p:cNvPr id="9" name="Shape 7"/>
          <p:cNvSpPr/>
          <p:nvPr/>
        </p:nvSpPr>
        <p:spPr>
          <a:xfrm>
            <a:off x="594360" y="2084832"/>
            <a:ext cx="1554480" cy="329184"/>
          </a:xfrm>
          <a:prstGeom prst="rect">
            <a:avLst/>
          </a:prstGeom>
          <a:solidFill>
            <a:srgbClr val="1E3A5F"/>
          </a:solidFill>
          <a:ln w="12700">
            <a:solidFill>
              <a:srgbClr val="1E3A5F"/>
            </a:solidFill>
            <a:prstDash val="solid"/>
          </a:ln>
        </p:spPr>
      </p:sp>
      <p:sp>
        <p:nvSpPr>
          <p:cNvPr id="10" name="Text 8"/>
          <p:cNvSpPr/>
          <p:nvPr/>
        </p:nvSpPr>
        <p:spPr>
          <a:xfrm>
            <a:off x="594360" y="2084832"/>
            <a:ext cx="1554480" cy="32918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S3 Bucket</a:t>
            </a:r>
            <a:endParaRPr lang="en-US" sz="1050" dirty="0"/>
          </a:p>
        </p:txBody>
      </p:sp>
      <p:pic>
        <p:nvPicPr>
          <p:cNvPr id="11" name="Image 0" descr="preencoded.png">    </p:cNvPr>
          <p:cNvPicPr>
            <a:picLocks noChangeAspect="1"/>
          </p:cNvPicPr>
          <p:nvPr/>
        </p:nvPicPr>
        <p:blipFill>
          <a:blip r:embed="rId1"/>
          <a:stretch>
            <a:fillRect/>
          </a:stretch>
        </p:blipFill>
        <p:spPr>
          <a:xfrm>
            <a:off x="2221992" y="2139696"/>
            <a:ext cx="256032" cy="219456"/>
          </a:xfrm>
          <a:prstGeom prst="rect">
            <a:avLst/>
          </a:prstGeom>
        </p:spPr>
      </p:pic>
      <p:sp>
        <p:nvSpPr>
          <p:cNvPr id="12" name="Shape 9"/>
          <p:cNvSpPr/>
          <p:nvPr/>
        </p:nvSpPr>
        <p:spPr>
          <a:xfrm>
            <a:off x="2560320" y="2084832"/>
            <a:ext cx="1737360" cy="329184"/>
          </a:xfrm>
          <a:prstGeom prst="rect">
            <a:avLst/>
          </a:prstGeom>
          <a:solidFill>
            <a:srgbClr val="0096B7"/>
          </a:solidFill>
          <a:ln w="12700">
            <a:solidFill>
              <a:srgbClr val="0096B7"/>
            </a:solidFill>
            <a:prstDash val="solid"/>
          </a:ln>
        </p:spPr>
      </p:sp>
      <p:sp>
        <p:nvSpPr>
          <p:cNvPr id="13" name="Text 10"/>
          <p:cNvSpPr/>
          <p:nvPr/>
        </p:nvSpPr>
        <p:spPr>
          <a:xfrm>
            <a:off x="2560320" y="2084832"/>
            <a:ext cx="17373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a:t>
            </a:r>
            <a:endParaRPr lang="en-US" sz="1050" dirty="0"/>
          </a:p>
        </p:txBody>
      </p:sp>
      <p:sp>
        <p:nvSpPr>
          <p:cNvPr id="14" name="Shape 11"/>
          <p:cNvSpPr/>
          <p:nvPr/>
        </p:nvSpPr>
        <p:spPr>
          <a:xfrm>
            <a:off x="594360" y="2487168"/>
            <a:ext cx="1554480" cy="329184"/>
          </a:xfrm>
          <a:prstGeom prst="rect">
            <a:avLst/>
          </a:prstGeom>
          <a:solidFill>
            <a:srgbClr val="1E3A5F"/>
          </a:solidFill>
          <a:ln w="12700">
            <a:solidFill>
              <a:srgbClr val="1E3A5F"/>
            </a:solidFill>
            <a:prstDash val="solid"/>
          </a:ln>
        </p:spPr>
      </p:sp>
      <p:sp>
        <p:nvSpPr>
          <p:cNvPr id="15" name="Text 12"/>
          <p:cNvSpPr/>
          <p:nvPr/>
        </p:nvSpPr>
        <p:spPr>
          <a:xfrm>
            <a:off x="594360" y="2487168"/>
            <a:ext cx="1554480" cy="32918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API Gateway</a:t>
            </a:r>
            <a:endParaRPr lang="en-US" sz="1050" dirty="0"/>
          </a:p>
        </p:txBody>
      </p:sp>
      <p:pic>
        <p:nvPicPr>
          <p:cNvPr id="16" name="Image 1" descr="preencoded.png">    </p:cNvPr>
          <p:cNvPicPr>
            <a:picLocks noChangeAspect="1"/>
          </p:cNvPicPr>
          <p:nvPr/>
        </p:nvPicPr>
        <p:blipFill>
          <a:blip r:embed="rId2"/>
          <a:stretch>
            <a:fillRect/>
          </a:stretch>
        </p:blipFill>
        <p:spPr>
          <a:xfrm>
            <a:off x="2221992" y="2542032"/>
            <a:ext cx="256032" cy="219456"/>
          </a:xfrm>
          <a:prstGeom prst="rect">
            <a:avLst/>
          </a:prstGeom>
        </p:spPr>
      </p:pic>
      <p:sp>
        <p:nvSpPr>
          <p:cNvPr id="17" name="Shape 13"/>
          <p:cNvSpPr/>
          <p:nvPr/>
        </p:nvSpPr>
        <p:spPr>
          <a:xfrm>
            <a:off x="2560320" y="2487168"/>
            <a:ext cx="1737360" cy="329184"/>
          </a:xfrm>
          <a:prstGeom prst="rect">
            <a:avLst/>
          </a:prstGeom>
          <a:solidFill>
            <a:srgbClr val="0096B7"/>
          </a:solidFill>
          <a:ln w="12700">
            <a:solidFill>
              <a:srgbClr val="0096B7"/>
            </a:solidFill>
            <a:prstDash val="solid"/>
          </a:ln>
        </p:spPr>
      </p:sp>
      <p:sp>
        <p:nvSpPr>
          <p:cNvPr id="18" name="Text 14"/>
          <p:cNvSpPr/>
          <p:nvPr/>
        </p:nvSpPr>
        <p:spPr>
          <a:xfrm>
            <a:off x="2560320" y="2487168"/>
            <a:ext cx="17373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a:t>
            </a:r>
            <a:endParaRPr lang="en-US" sz="1050" dirty="0"/>
          </a:p>
        </p:txBody>
      </p:sp>
      <p:sp>
        <p:nvSpPr>
          <p:cNvPr id="19" name="Shape 15"/>
          <p:cNvSpPr/>
          <p:nvPr/>
        </p:nvSpPr>
        <p:spPr>
          <a:xfrm>
            <a:off x="594360" y="2889504"/>
            <a:ext cx="1554480" cy="329184"/>
          </a:xfrm>
          <a:prstGeom prst="rect">
            <a:avLst/>
          </a:prstGeom>
          <a:solidFill>
            <a:srgbClr val="1E3A5F"/>
          </a:solidFill>
          <a:ln w="12700">
            <a:solidFill>
              <a:srgbClr val="1E3A5F"/>
            </a:solidFill>
            <a:prstDash val="solid"/>
          </a:ln>
        </p:spPr>
      </p:sp>
      <p:sp>
        <p:nvSpPr>
          <p:cNvPr id="20" name="Text 16"/>
          <p:cNvSpPr/>
          <p:nvPr/>
        </p:nvSpPr>
        <p:spPr>
          <a:xfrm>
            <a:off x="594360" y="2889504"/>
            <a:ext cx="1554480" cy="32918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SNS Topic</a:t>
            </a:r>
            <a:endParaRPr lang="en-US" sz="1050" dirty="0"/>
          </a:p>
        </p:txBody>
      </p:sp>
      <p:pic>
        <p:nvPicPr>
          <p:cNvPr id="21" name="Image 2" descr="preencoded.png">    </p:cNvPr>
          <p:cNvPicPr>
            <a:picLocks noChangeAspect="1"/>
          </p:cNvPicPr>
          <p:nvPr/>
        </p:nvPicPr>
        <p:blipFill>
          <a:blip r:embed="rId3"/>
          <a:stretch>
            <a:fillRect/>
          </a:stretch>
        </p:blipFill>
        <p:spPr>
          <a:xfrm>
            <a:off x="2221992" y="2944368"/>
            <a:ext cx="256032" cy="219456"/>
          </a:xfrm>
          <a:prstGeom prst="rect">
            <a:avLst/>
          </a:prstGeom>
        </p:spPr>
      </p:pic>
      <p:sp>
        <p:nvSpPr>
          <p:cNvPr id="22" name="Shape 17"/>
          <p:cNvSpPr/>
          <p:nvPr/>
        </p:nvSpPr>
        <p:spPr>
          <a:xfrm>
            <a:off x="2560320" y="2889504"/>
            <a:ext cx="1737360" cy="329184"/>
          </a:xfrm>
          <a:prstGeom prst="rect">
            <a:avLst/>
          </a:prstGeom>
          <a:solidFill>
            <a:srgbClr val="0096B7"/>
          </a:solidFill>
          <a:ln w="12700">
            <a:solidFill>
              <a:srgbClr val="0096B7"/>
            </a:solidFill>
            <a:prstDash val="solid"/>
          </a:ln>
        </p:spPr>
      </p:sp>
      <p:sp>
        <p:nvSpPr>
          <p:cNvPr id="23" name="Text 18"/>
          <p:cNvSpPr/>
          <p:nvPr/>
        </p:nvSpPr>
        <p:spPr>
          <a:xfrm>
            <a:off x="2560320" y="2889504"/>
            <a:ext cx="17373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a:t>
            </a:r>
            <a:endParaRPr lang="en-US" sz="1050" dirty="0"/>
          </a:p>
        </p:txBody>
      </p:sp>
      <p:sp>
        <p:nvSpPr>
          <p:cNvPr id="24" name="Shape 19"/>
          <p:cNvSpPr/>
          <p:nvPr/>
        </p:nvSpPr>
        <p:spPr>
          <a:xfrm>
            <a:off x="594360" y="3291840"/>
            <a:ext cx="1554480" cy="329184"/>
          </a:xfrm>
          <a:prstGeom prst="rect">
            <a:avLst/>
          </a:prstGeom>
          <a:solidFill>
            <a:srgbClr val="1E3A5F"/>
          </a:solidFill>
          <a:ln w="12700">
            <a:solidFill>
              <a:srgbClr val="1E3A5F"/>
            </a:solidFill>
            <a:prstDash val="solid"/>
          </a:ln>
        </p:spPr>
      </p:sp>
      <p:sp>
        <p:nvSpPr>
          <p:cNvPr id="25" name="Text 20"/>
          <p:cNvSpPr/>
          <p:nvPr/>
        </p:nvSpPr>
        <p:spPr>
          <a:xfrm>
            <a:off x="594360" y="3291840"/>
            <a:ext cx="1554480" cy="32918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EventBridge</a:t>
            </a:r>
            <a:endParaRPr lang="en-US" sz="1050" dirty="0"/>
          </a:p>
        </p:txBody>
      </p:sp>
      <p:pic>
        <p:nvPicPr>
          <p:cNvPr id="26" name="Image 3" descr="preencoded.png">    </p:cNvPr>
          <p:cNvPicPr>
            <a:picLocks noChangeAspect="1"/>
          </p:cNvPicPr>
          <p:nvPr/>
        </p:nvPicPr>
        <p:blipFill>
          <a:blip r:embed="rId4"/>
          <a:stretch>
            <a:fillRect/>
          </a:stretch>
        </p:blipFill>
        <p:spPr>
          <a:xfrm>
            <a:off x="2221992" y="3346704"/>
            <a:ext cx="256032" cy="219456"/>
          </a:xfrm>
          <a:prstGeom prst="rect">
            <a:avLst/>
          </a:prstGeom>
        </p:spPr>
      </p:pic>
      <p:sp>
        <p:nvSpPr>
          <p:cNvPr id="27" name="Shape 21"/>
          <p:cNvSpPr/>
          <p:nvPr/>
        </p:nvSpPr>
        <p:spPr>
          <a:xfrm>
            <a:off x="2560320" y="3291840"/>
            <a:ext cx="1737360" cy="329184"/>
          </a:xfrm>
          <a:prstGeom prst="rect">
            <a:avLst/>
          </a:prstGeom>
          <a:solidFill>
            <a:srgbClr val="0096B7"/>
          </a:solidFill>
          <a:ln w="12700">
            <a:solidFill>
              <a:srgbClr val="0096B7"/>
            </a:solidFill>
            <a:prstDash val="solid"/>
          </a:ln>
        </p:spPr>
      </p:sp>
      <p:sp>
        <p:nvSpPr>
          <p:cNvPr id="28" name="Text 22"/>
          <p:cNvSpPr/>
          <p:nvPr/>
        </p:nvSpPr>
        <p:spPr>
          <a:xfrm>
            <a:off x="2560320" y="3291840"/>
            <a:ext cx="17373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a:t>
            </a:r>
            <a:endParaRPr lang="en-US" sz="1050" dirty="0"/>
          </a:p>
        </p:txBody>
      </p:sp>
      <p:sp>
        <p:nvSpPr>
          <p:cNvPr id="29" name="Shape 23"/>
          <p:cNvSpPr/>
          <p:nvPr/>
        </p:nvSpPr>
        <p:spPr>
          <a:xfrm>
            <a:off x="594360" y="3730752"/>
            <a:ext cx="3703320" cy="960120"/>
          </a:xfrm>
          <a:prstGeom prst="rect">
            <a:avLst/>
          </a:prstGeom>
          <a:solidFill>
            <a:srgbClr val="1E3A5F"/>
          </a:solidFill>
          <a:ln w="12700">
            <a:solidFill>
              <a:srgbClr val="1E3A5F"/>
            </a:solidFill>
            <a:prstDash val="solid"/>
          </a:ln>
        </p:spPr>
      </p:sp>
      <p:sp>
        <p:nvSpPr>
          <p:cNvPr id="30" name="Text 24"/>
          <p:cNvSpPr/>
          <p:nvPr/>
        </p:nvSpPr>
        <p:spPr>
          <a:xfrm>
            <a:off x="731520" y="3767328"/>
            <a:ext cx="3383280" cy="256032"/>
          </a:xfrm>
          <a:prstGeom prst="rect">
            <a:avLst/>
          </a:prstGeom>
          <a:noFill/>
          <a:ln/>
        </p:spPr>
        <p:txBody>
          <a:bodyPr wrap="square"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Needs:</a:t>
            </a:r>
            <a:endParaRPr lang="en-US" sz="1100" dirty="0"/>
          </a:p>
        </p:txBody>
      </p:sp>
      <p:sp>
        <p:nvSpPr>
          <p:cNvPr id="31" name="Text 25"/>
          <p:cNvSpPr/>
          <p:nvPr/>
        </p:nvSpPr>
        <p:spPr>
          <a:xfrm>
            <a:off x="731520" y="4041648"/>
            <a:ext cx="3383280" cy="59436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aws_lambda_permission</a:t>
            </a:r>
            <a:pPr indent="0" marL="0">
              <a:buNone/>
            </a:pPr>
            <a:r>
              <a:rPr lang="en-US" sz="1000" dirty="0">
                <a:solidFill>
                  <a:srgbClr val="CBD5E1"/>
                </a:solidFill>
                <a:latin typeface="Calibri" pitchFamily="34" charset="0"/>
                <a:ea typeface="Calibri" pitchFamily="34" charset="-122"/>
                <a:cs typeface="Calibri" pitchFamily="34" charset="-120"/>
              </a:rPr>
              <a:t> — grants the service the right to invoke Lambda</a:t>
            </a:r>
            <a:pPr indent="0" marL="0">
              <a:buNone/>
            </a:pPr>
            <a:r>
              <a:rPr lang="en-US" sz="1000" dirty="0">
                <a:solidFill>
                  <a:srgbClr val="000000"/>
                </a:solidFill>
                <a:latin typeface="Calibri" pitchFamily="34" charset="0"/>
                <a:ea typeface="Calibri" pitchFamily="34" charset="-122"/>
                <a:cs typeface="Calibri" pitchFamily="34" charset="-120"/>
              </a:rPr>
              <a:t>
</a:t>
            </a:r>
            <a:pPr indent="0" marL="0">
              <a:buNone/>
            </a:pPr>
            <a:r>
              <a:rPr lang="en-US" sz="1000" b="1" dirty="0">
                <a:solidFill>
                  <a:srgbClr val="10B981"/>
                </a:solidFill>
                <a:latin typeface="Calibri" pitchFamily="34" charset="0"/>
                <a:ea typeface="Calibri" pitchFamily="34" charset="-122"/>
                <a:cs typeface="Calibri" pitchFamily="34" charset="-120"/>
              </a:rPr>
              <a:t>Trigger config resource</a:t>
            </a:r>
            <a:pPr indent="0" marL="0">
              <a:buNone/>
            </a:pPr>
            <a:r>
              <a:rPr lang="en-US" sz="1000" dirty="0">
                <a:solidFill>
                  <a:srgbClr val="CBD5E1"/>
                </a:solidFill>
                <a:latin typeface="Calibri" pitchFamily="34" charset="0"/>
                <a:ea typeface="Calibri" pitchFamily="34" charset="-122"/>
                <a:cs typeface="Calibri" pitchFamily="34" charset="-120"/>
              </a:rPr>
              <a:t> — e.g. aws_s3_bucket_notification</a:t>
            </a:r>
            <a:endParaRPr lang="en-US" sz="1000" dirty="0"/>
          </a:p>
        </p:txBody>
      </p:sp>
      <p:sp>
        <p:nvSpPr>
          <p:cNvPr id="32" name="Shape 26"/>
          <p:cNvSpPr/>
          <p:nvPr/>
        </p:nvSpPr>
        <p:spPr>
          <a:xfrm>
            <a:off x="4709160" y="1298448"/>
            <a:ext cx="3977640" cy="3566160"/>
          </a:xfrm>
          <a:prstGeom prst="rect">
            <a:avLst/>
          </a:prstGeom>
          <a:solidFill>
            <a:srgbClr val="1A2E45"/>
          </a:solidFill>
          <a:ln w="12700">
            <a:solidFill>
              <a:srgbClr val="1A2E45"/>
            </a:solidFill>
            <a:prstDash val="solid"/>
          </a:ln>
        </p:spPr>
      </p:sp>
      <p:sp>
        <p:nvSpPr>
          <p:cNvPr id="33" name="Shape 27"/>
          <p:cNvSpPr/>
          <p:nvPr/>
        </p:nvSpPr>
        <p:spPr>
          <a:xfrm>
            <a:off x="4709160" y="1298448"/>
            <a:ext cx="3977640" cy="45720"/>
          </a:xfrm>
          <a:prstGeom prst="rect">
            <a:avLst/>
          </a:prstGeom>
          <a:solidFill>
            <a:srgbClr val="F59E0B"/>
          </a:solidFill>
          <a:ln w="12700">
            <a:solidFill>
              <a:srgbClr val="F59E0B"/>
            </a:solidFill>
            <a:prstDash val="solid"/>
          </a:ln>
        </p:spPr>
      </p:sp>
      <p:sp>
        <p:nvSpPr>
          <p:cNvPr id="34" name="Text 28"/>
          <p:cNvSpPr/>
          <p:nvPr/>
        </p:nvSpPr>
        <p:spPr>
          <a:xfrm>
            <a:off x="4846320" y="1371600"/>
            <a:ext cx="3703320" cy="310896"/>
          </a:xfrm>
          <a:prstGeom prst="rect">
            <a:avLst/>
          </a:prstGeom>
          <a:noFill/>
          <a:ln/>
        </p:spPr>
        <p:txBody>
          <a:bodyPr wrap="square" rtlCol="0" anchor="ctr"/>
          <a:lstStyle/>
          <a:p>
            <a:pPr indent="0" marL="0">
              <a:buNone/>
            </a:pPr>
            <a:r>
              <a:rPr lang="en-US" sz="1400" b="1" spc="300" kern="0" dirty="0">
                <a:solidFill>
                  <a:srgbClr val="F59E0B"/>
                </a:solidFill>
                <a:latin typeface="Calibri" pitchFamily="34" charset="0"/>
                <a:ea typeface="Calibri" pitchFamily="34" charset="-122"/>
                <a:cs typeface="Calibri" pitchFamily="34" charset="-120"/>
              </a:rPr>
              <a:t>PULL MODEL</a:t>
            </a:r>
            <a:endParaRPr lang="en-US" sz="1400" dirty="0"/>
          </a:p>
        </p:txBody>
      </p:sp>
      <p:sp>
        <p:nvSpPr>
          <p:cNvPr id="35" name="Text 29"/>
          <p:cNvSpPr/>
          <p:nvPr/>
        </p:nvSpPr>
        <p:spPr>
          <a:xfrm>
            <a:off x="4846320" y="1700784"/>
            <a:ext cx="3703320" cy="274320"/>
          </a:xfrm>
          <a:prstGeom prst="rect">
            <a:avLst/>
          </a:prstGeom>
          <a:noFill/>
          <a:ln/>
        </p:spPr>
        <p:txBody>
          <a:bodyPr wrap="square" rtlCol="0" anchor="ctr"/>
          <a:lstStyle/>
          <a:p>
            <a:pPr indent="0" marL="0">
              <a:buNone/>
            </a:pPr>
            <a:r>
              <a:rPr lang="en-US" sz="1100" i="1" dirty="0">
                <a:solidFill>
                  <a:srgbClr val="CBD5E1"/>
                </a:solidFill>
                <a:latin typeface="Calibri" pitchFamily="34" charset="0"/>
                <a:ea typeface="Calibri" pitchFamily="34" charset="-122"/>
                <a:cs typeface="Calibri" pitchFamily="34" charset="-120"/>
              </a:rPr>
              <a:t>Lambda reaches out and reads</a:t>
            </a:r>
            <a:endParaRPr lang="en-US" sz="1100" dirty="0"/>
          </a:p>
        </p:txBody>
      </p:sp>
      <p:sp>
        <p:nvSpPr>
          <p:cNvPr id="36" name="Shape 30"/>
          <p:cNvSpPr/>
          <p:nvPr/>
        </p:nvSpPr>
        <p:spPr>
          <a:xfrm>
            <a:off x="4846320" y="2084832"/>
            <a:ext cx="1737360" cy="329184"/>
          </a:xfrm>
          <a:prstGeom prst="rect">
            <a:avLst/>
          </a:prstGeom>
          <a:solidFill>
            <a:srgbClr val="0096B7"/>
          </a:solidFill>
          <a:ln w="12700">
            <a:solidFill>
              <a:srgbClr val="0096B7"/>
            </a:solidFill>
            <a:prstDash val="solid"/>
          </a:ln>
        </p:spPr>
      </p:sp>
      <p:sp>
        <p:nvSpPr>
          <p:cNvPr id="37" name="Text 31"/>
          <p:cNvSpPr/>
          <p:nvPr/>
        </p:nvSpPr>
        <p:spPr>
          <a:xfrm>
            <a:off x="4846320" y="2084832"/>
            <a:ext cx="17373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a:t>
            </a:r>
            <a:endParaRPr lang="en-US" sz="1050" dirty="0"/>
          </a:p>
        </p:txBody>
      </p:sp>
      <p:pic>
        <p:nvPicPr>
          <p:cNvPr id="38" name="Image 4" descr="preencoded.png">    </p:cNvPr>
          <p:cNvPicPr>
            <a:picLocks noChangeAspect="1"/>
          </p:cNvPicPr>
          <p:nvPr/>
        </p:nvPicPr>
        <p:blipFill>
          <a:blip r:embed="rId5"/>
          <a:stretch>
            <a:fillRect/>
          </a:stretch>
        </p:blipFill>
        <p:spPr>
          <a:xfrm>
            <a:off x="6656832" y="2139696"/>
            <a:ext cx="256032" cy="219456"/>
          </a:xfrm>
          <a:prstGeom prst="rect">
            <a:avLst/>
          </a:prstGeom>
        </p:spPr>
      </p:pic>
      <p:sp>
        <p:nvSpPr>
          <p:cNvPr id="39" name="Shape 32"/>
          <p:cNvSpPr/>
          <p:nvPr/>
        </p:nvSpPr>
        <p:spPr>
          <a:xfrm>
            <a:off x="6995160" y="2084832"/>
            <a:ext cx="1554480" cy="329184"/>
          </a:xfrm>
          <a:prstGeom prst="rect">
            <a:avLst/>
          </a:prstGeom>
          <a:solidFill>
            <a:srgbClr val="1E3A5F"/>
          </a:solidFill>
          <a:ln w="12700">
            <a:solidFill>
              <a:srgbClr val="1E3A5F"/>
            </a:solidFill>
            <a:prstDash val="solid"/>
          </a:ln>
        </p:spPr>
      </p:sp>
      <p:sp>
        <p:nvSpPr>
          <p:cNvPr id="40" name="Text 33"/>
          <p:cNvSpPr/>
          <p:nvPr/>
        </p:nvSpPr>
        <p:spPr>
          <a:xfrm>
            <a:off x="6995160" y="2084832"/>
            <a:ext cx="1554480" cy="32918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SQS Queue</a:t>
            </a:r>
            <a:endParaRPr lang="en-US" sz="1050" dirty="0"/>
          </a:p>
        </p:txBody>
      </p:sp>
      <p:sp>
        <p:nvSpPr>
          <p:cNvPr id="41" name="Shape 34"/>
          <p:cNvSpPr/>
          <p:nvPr/>
        </p:nvSpPr>
        <p:spPr>
          <a:xfrm>
            <a:off x="4846320" y="2487168"/>
            <a:ext cx="1737360" cy="329184"/>
          </a:xfrm>
          <a:prstGeom prst="rect">
            <a:avLst/>
          </a:prstGeom>
          <a:solidFill>
            <a:srgbClr val="0096B7"/>
          </a:solidFill>
          <a:ln w="12700">
            <a:solidFill>
              <a:srgbClr val="0096B7"/>
            </a:solidFill>
            <a:prstDash val="solid"/>
          </a:ln>
        </p:spPr>
      </p:sp>
      <p:sp>
        <p:nvSpPr>
          <p:cNvPr id="42" name="Text 35"/>
          <p:cNvSpPr/>
          <p:nvPr/>
        </p:nvSpPr>
        <p:spPr>
          <a:xfrm>
            <a:off x="4846320" y="2487168"/>
            <a:ext cx="17373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a:t>
            </a:r>
            <a:endParaRPr lang="en-US" sz="1050" dirty="0"/>
          </a:p>
        </p:txBody>
      </p:sp>
      <p:pic>
        <p:nvPicPr>
          <p:cNvPr id="43" name="Image 5" descr="preencoded.png">    </p:cNvPr>
          <p:cNvPicPr>
            <a:picLocks noChangeAspect="1"/>
          </p:cNvPicPr>
          <p:nvPr/>
        </p:nvPicPr>
        <p:blipFill>
          <a:blip r:embed="rId6"/>
          <a:stretch>
            <a:fillRect/>
          </a:stretch>
        </p:blipFill>
        <p:spPr>
          <a:xfrm>
            <a:off x="6656832" y="2542032"/>
            <a:ext cx="256032" cy="219456"/>
          </a:xfrm>
          <a:prstGeom prst="rect">
            <a:avLst/>
          </a:prstGeom>
        </p:spPr>
      </p:pic>
      <p:sp>
        <p:nvSpPr>
          <p:cNvPr id="44" name="Shape 36"/>
          <p:cNvSpPr/>
          <p:nvPr/>
        </p:nvSpPr>
        <p:spPr>
          <a:xfrm>
            <a:off x="6995160" y="2487168"/>
            <a:ext cx="1554480" cy="329184"/>
          </a:xfrm>
          <a:prstGeom prst="rect">
            <a:avLst/>
          </a:prstGeom>
          <a:solidFill>
            <a:srgbClr val="1E3A5F"/>
          </a:solidFill>
          <a:ln w="12700">
            <a:solidFill>
              <a:srgbClr val="1E3A5F"/>
            </a:solidFill>
            <a:prstDash val="solid"/>
          </a:ln>
        </p:spPr>
      </p:sp>
      <p:sp>
        <p:nvSpPr>
          <p:cNvPr id="45" name="Text 37"/>
          <p:cNvSpPr/>
          <p:nvPr/>
        </p:nvSpPr>
        <p:spPr>
          <a:xfrm>
            <a:off x="6995160" y="2487168"/>
            <a:ext cx="1554480" cy="32918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DynamoDB Stream</a:t>
            </a:r>
            <a:endParaRPr lang="en-US" sz="1050" dirty="0"/>
          </a:p>
        </p:txBody>
      </p:sp>
      <p:sp>
        <p:nvSpPr>
          <p:cNvPr id="46" name="Shape 38"/>
          <p:cNvSpPr/>
          <p:nvPr/>
        </p:nvSpPr>
        <p:spPr>
          <a:xfrm>
            <a:off x="4846320" y="2889504"/>
            <a:ext cx="1737360" cy="329184"/>
          </a:xfrm>
          <a:prstGeom prst="rect">
            <a:avLst/>
          </a:prstGeom>
          <a:solidFill>
            <a:srgbClr val="0096B7"/>
          </a:solidFill>
          <a:ln w="12700">
            <a:solidFill>
              <a:srgbClr val="0096B7"/>
            </a:solidFill>
            <a:prstDash val="solid"/>
          </a:ln>
        </p:spPr>
      </p:sp>
      <p:sp>
        <p:nvSpPr>
          <p:cNvPr id="47" name="Text 39"/>
          <p:cNvSpPr/>
          <p:nvPr/>
        </p:nvSpPr>
        <p:spPr>
          <a:xfrm>
            <a:off x="4846320" y="2889504"/>
            <a:ext cx="1737360" cy="329184"/>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Lambda</a:t>
            </a:r>
            <a:endParaRPr lang="en-US" sz="1050" dirty="0"/>
          </a:p>
        </p:txBody>
      </p:sp>
      <p:pic>
        <p:nvPicPr>
          <p:cNvPr id="48" name="Image 6" descr="preencoded.png">    </p:cNvPr>
          <p:cNvPicPr>
            <a:picLocks noChangeAspect="1"/>
          </p:cNvPicPr>
          <p:nvPr/>
        </p:nvPicPr>
        <p:blipFill>
          <a:blip r:embed="rId7"/>
          <a:stretch>
            <a:fillRect/>
          </a:stretch>
        </p:blipFill>
        <p:spPr>
          <a:xfrm>
            <a:off x="6656832" y="2944368"/>
            <a:ext cx="256032" cy="219456"/>
          </a:xfrm>
          <a:prstGeom prst="rect">
            <a:avLst/>
          </a:prstGeom>
        </p:spPr>
      </p:pic>
      <p:sp>
        <p:nvSpPr>
          <p:cNvPr id="49" name="Shape 40"/>
          <p:cNvSpPr/>
          <p:nvPr/>
        </p:nvSpPr>
        <p:spPr>
          <a:xfrm>
            <a:off x="6995160" y="2889504"/>
            <a:ext cx="1554480" cy="329184"/>
          </a:xfrm>
          <a:prstGeom prst="rect">
            <a:avLst/>
          </a:prstGeom>
          <a:solidFill>
            <a:srgbClr val="1E3A5F"/>
          </a:solidFill>
          <a:ln w="12700">
            <a:solidFill>
              <a:srgbClr val="1E3A5F"/>
            </a:solidFill>
            <a:prstDash val="solid"/>
          </a:ln>
        </p:spPr>
      </p:sp>
      <p:sp>
        <p:nvSpPr>
          <p:cNvPr id="50" name="Text 41"/>
          <p:cNvSpPr/>
          <p:nvPr/>
        </p:nvSpPr>
        <p:spPr>
          <a:xfrm>
            <a:off x="6995160" y="2889504"/>
            <a:ext cx="1554480" cy="329184"/>
          </a:xfrm>
          <a:prstGeom prst="rect">
            <a:avLst/>
          </a:prstGeom>
          <a:noFill/>
          <a:ln/>
        </p:spPr>
        <p:txBody>
          <a:bodyPr wrap="square"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Kinesis Stream</a:t>
            </a:r>
            <a:endParaRPr lang="en-US" sz="1050" dirty="0"/>
          </a:p>
        </p:txBody>
      </p:sp>
      <p:sp>
        <p:nvSpPr>
          <p:cNvPr id="51" name="Shape 42"/>
          <p:cNvSpPr/>
          <p:nvPr/>
        </p:nvSpPr>
        <p:spPr>
          <a:xfrm>
            <a:off x="4846320" y="3730752"/>
            <a:ext cx="3703320" cy="960120"/>
          </a:xfrm>
          <a:prstGeom prst="rect">
            <a:avLst/>
          </a:prstGeom>
          <a:solidFill>
            <a:srgbClr val="1E3A5F"/>
          </a:solidFill>
          <a:ln w="12700">
            <a:solidFill>
              <a:srgbClr val="1E3A5F"/>
            </a:solidFill>
            <a:prstDash val="solid"/>
          </a:ln>
        </p:spPr>
      </p:sp>
      <p:sp>
        <p:nvSpPr>
          <p:cNvPr id="52" name="Text 43"/>
          <p:cNvSpPr/>
          <p:nvPr/>
        </p:nvSpPr>
        <p:spPr>
          <a:xfrm>
            <a:off x="4983480" y="3767328"/>
            <a:ext cx="3383280" cy="256032"/>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Needs:</a:t>
            </a:r>
            <a:endParaRPr lang="en-US" sz="1100" dirty="0"/>
          </a:p>
        </p:txBody>
      </p:sp>
      <p:sp>
        <p:nvSpPr>
          <p:cNvPr id="53" name="Text 44"/>
          <p:cNvSpPr/>
          <p:nvPr/>
        </p:nvSpPr>
        <p:spPr>
          <a:xfrm>
            <a:off x="4983480" y="4041648"/>
            <a:ext cx="3383280" cy="59436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NO aws_lambda_permission</a:t>
            </a:r>
            <a:pPr indent="0" marL="0">
              <a:buNone/>
            </a:pPr>
            <a:r>
              <a:rPr lang="en-US" sz="1000" dirty="0">
                <a:solidFill>
                  <a:srgbClr val="CBD5E1"/>
                </a:solidFill>
                <a:latin typeface="Calibri" pitchFamily="34" charset="0"/>
                <a:ea typeface="Calibri" pitchFamily="34" charset="-122"/>
                <a:cs typeface="Calibri" pitchFamily="34" charset="-120"/>
              </a:rPr>
              <a:t> — Lambda is calling, not being called</a:t>
            </a:r>
            <a:pPr indent="0" marL="0">
              <a:buNone/>
            </a:pPr>
            <a:r>
              <a:rPr lang="en-US" sz="1000" dirty="0">
                <a:solidFill>
                  <a:srgbClr val="000000"/>
                </a:solidFill>
                <a:latin typeface="Calibri" pitchFamily="34" charset="0"/>
                <a:ea typeface="Calibri" pitchFamily="34" charset="-122"/>
                <a:cs typeface="Calibri" pitchFamily="34" charset="-120"/>
              </a:rPr>
              <a:t>
</a:t>
            </a:r>
            <a:pPr indent="0" marL="0">
              <a:buNone/>
            </a:pPr>
            <a:r>
              <a:rPr lang="en-US" sz="1000" b="1" dirty="0">
                <a:solidFill>
                  <a:srgbClr val="10B981"/>
                </a:solidFill>
                <a:latin typeface="Calibri" pitchFamily="34" charset="0"/>
                <a:ea typeface="Calibri" pitchFamily="34" charset="-122"/>
                <a:cs typeface="Calibri" pitchFamily="34" charset="-120"/>
              </a:rPr>
              <a:t>aws_lambda_event_source_mapping</a:t>
            </a:r>
            <a:pPr indent="0" marL="0">
              <a:buNone/>
            </a:pPr>
            <a:r>
              <a:rPr lang="en-US" sz="1000" dirty="0">
                <a:solidFill>
                  <a:srgbClr val="CBD5E1"/>
                </a:solidFill>
                <a:latin typeface="Calibri" pitchFamily="34" charset="0"/>
                <a:ea typeface="Calibri" pitchFamily="34" charset="-122"/>
                <a:cs typeface="Calibri" pitchFamily="34" charset="-120"/>
              </a:rPr>
              <a:t> — sets up polling config</a:t>
            </a:r>
            <a:endParaRPr lang="en-US" sz="1000" dirty="0"/>
          </a:p>
        </p:txBody>
      </p:sp>
      <p:sp>
        <p:nvSpPr>
          <p:cNvPr id="54" name="Shape 45"/>
          <p:cNvSpPr/>
          <p:nvPr/>
        </p:nvSpPr>
        <p:spPr>
          <a:xfrm>
            <a:off x="0" y="4892040"/>
            <a:ext cx="9144000" cy="251460"/>
          </a:xfrm>
          <a:prstGeom prst="rect">
            <a:avLst/>
          </a:prstGeom>
          <a:solidFill>
            <a:srgbClr val="1A2E45"/>
          </a:solidFill>
          <a:ln w="12700">
            <a:solidFill>
              <a:srgbClr val="1A2E45"/>
            </a:solidFill>
            <a:prstDash val="solid"/>
          </a:ln>
        </p:spPr>
      </p:sp>
      <p:sp>
        <p:nvSpPr>
          <p:cNvPr id="55" name="Text 46"/>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56" name="Text 47"/>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Lambda Theory — Push vs Pull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LAMBDA THEORY — DIAGNOSTIC FRAMEWORK</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Mental Model: What to Check When Lambda Fails</a:t>
            </a:r>
            <a:endParaRPr lang="en-US" sz="2400" dirty="0"/>
          </a:p>
        </p:txBody>
      </p:sp>
      <p:sp>
        <p:nvSpPr>
          <p:cNvPr id="5" name="Shape 3"/>
          <p:cNvSpPr/>
          <p:nvPr/>
        </p:nvSpPr>
        <p:spPr>
          <a:xfrm>
            <a:off x="457200" y="1298448"/>
            <a:ext cx="8229600" cy="804672"/>
          </a:xfrm>
          <a:prstGeom prst="rect">
            <a:avLst/>
          </a:prstGeom>
          <a:solidFill>
            <a:srgbClr val="1E3A5F"/>
          </a:solidFill>
          <a:ln w="12700">
            <a:solidFill>
              <a:srgbClr val="1E3A5F"/>
            </a:solidFill>
            <a:prstDash val="solid"/>
          </a:ln>
        </p:spPr>
      </p:sp>
      <p:sp>
        <p:nvSpPr>
          <p:cNvPr id="6" name="Shape 4"/>
          <p:cNvSpPr/>
          <p:nvPr/>
        </p:nvSpPr>
        <p:spPr>
          <a:xfrm>
            <a:off x="457200" y="1298448"/>
            <a:ext cx="54864" cy="804672"/>
          </a:xfrm>
          <a:prstGeom prst="rect">
            <a:avLst/>
          </a:prstGeom>
          <a:solidFill>
            <a:srgbClr val="EF4444"/>
          </a:solidFill>
          <a:ln w="12700">
            <a:solidFill>
              <a:srgbClr val="EF4444"/>
            </a:solidFill>
            <a:prstDash val="solid"/>
          </a:ln>
        </p:spPr>
      </p:sp>
      <p:sp>
        <p:nvSpPr>
          <p:cNvPr id="7" name="Shape 5"/>
          <p:cNvSpPr/>
          <p:nvPr/>
        </p:nvSpPr>
        <p:spPr>
          <a:xfrm>
            <a:off x="640080" y="1453896"/>
            <a:ext cx="475488" cy="475488"/>
          </a:xfrm>
          <a:prstGeom prst="ellipse">
            <a:avLst/>
          </a:prstGeom>
          <a:solidFill>
            <a:srgbClr val="EF4444">
              <a:alpha val="20000"/>
            </a:srgbClr>
          </a:solidFill>
          <a:ln w="12700">
            <a:solidFill>
              <a:srgbClr val="EF4444">
                <a:alpha val="20000"/>
              </a:srgbClr>
            </a:solidFill>
            <a:prstDash val="solid"/>
          </a:ln>
        </p:spPr>
      </p:sp>
      <p:sp>
        <p:nvSpPr>
          <p:cNvPr id="8" name="Text 6"/>
          <p:cNvSpPr/>
          <p:nvPr/>
        </p:nvSpPr>
        <p:spPr>
          <a:xfrm>
            <a:off x="640080" y="1453896"/>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207008" y="1353312"/>
            <a:ext cx="731520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Is Lambda even starting?</a:t>
            </a:r>
            <a:endParaRPr lang="en-US" sz="1200" dirty="0"/>
          </a:p>
        </p:txBody>
      </p:sp>
      <p:sp>
        <p:nvSpPr>
          <p:cNvPr id="10" name="Text 8"/>
          <p:cNvSpPr/>
          <p:nvPr/>
        </p:nvSpPr>
        <p:spPr>
          <a:xfrm>
            <a:off x="1207008" y="1664208"/>
            <a:ext cx="7315200" cy="384048"/>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Check the trust policy — does it name lambda.amazonaws.com as Principal? If not, Lambda can't assume the role and won't start at all.</a:t>
            </a:r>
            <a:endParaRPr lang="en-US" sz="1050" dirty="0"/>
          </a:p>
        </p:txBody>
      </p:sp>
      <p:sp>
        <p:nvSpPr>
          <p:cNvPr id="11" name="Shape 9"/>
          <p:cNvSpPr/>
          <p:nvPr/>
        </p:nvSpPr>
        <p:spPr>
          <a:xfrm>
            <a:off x="457200" y="2194560"/>
            <a:ext cx="8229600" cy="804672"/>
          </a:xfrm>
          <a:prstGeom prst="rect">
            <a:avLst/>
          </a:prstGeom>
          <a:solidFill>
            <a:srgbClr val="1E3A5F"/>
          </a:solidFill>
          <a:ln w="12700">
            <a:solidFill>
              <a:srgbClr val="1E3A5F"/>
            </a:solidFill>
            <a:prstDash val="solid"/>
          </a:ln>
        </p:spPr>
      </p:sp>
      <p:sp>
        <p:nvSpPr>
          <p:cNvPr id="12" name="Shape 10"/>
          <p:cNvSpPr/>
          <p:nvPr/>
        </p:nvSpPr>
        <p:spPr>
          <a:xfrm>
            <a:off x="457200" y="2194560"/>
            <a:ext cx="54864" cy="804672"/>
          </a:xfrm>
          <a:prstGeom prst="rect">
            <a:avLst/>
          </a:prstGeom>
          <a:solidFill>
            <a:srgbClr val="F59E0B"/>
          </a:solidFill>
          <a:ln w="12700">
            <a:solidFill>
              <a:srgbClr val="F59E0B"/>
            </a:solidFill>
            <a:prstDash val="solid"/>
          </a:ln>
        </p:spPr>
      </p:sp>
      <p:sp>
        <p:nvSpPr>
          <p:cNvPr id="13" name="Shape 11"/>
          <p:cNvSpPr/>
          <p:nvPr/>
        </p:nvSpPr>
        <p:spPr>
          <a:xfrm>
            <a:off x="640080" y="2350008"/>
            <a:ext cx="475488" cy="475488"/>
          </a:xfrm>
          <a:prstGeom prst="ellipse">
            <a:avLst/>
          </a:prstGeom>
          <a:solidFill>
            <a:srgbClr val="F59E0B">
              <a:alpha val="20000"/>
            </a:srgbClr>
          </a:solidFill>
          <a:ln w="12700">
            <a:solidFill>
              <a:srgbClr val="F59E0B">
                <a:alpha val="20000"/>
              </a:srgbClr>
            </a:solidFill>
            <a:prstDash val="solid"/>
          </a:ln>
        </p:spPr>
      </p:sp>
      <p:sp>
        <p:nvSpPr>
          <p:cNvPr id="14" name="Text 12"/>
          <p:cNvSpPr/>
          <p:nvPr/>
        </p:nvSpPr>
        <p:spPr>
          <a:xfrm>
            <a:off x="640080" y="235000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1207008" y="2249424"/>
            <a:ext cx="731520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Are there any logs anywhere?</a:t>
            </a:r>
            <a:endParaRPr lang="en-US" sz="1200" dirty="0"/>
          </a:p>
        </p:txBody>
      </p:sp>
      <p:sp>
        <p:nvSpPr>
          <p:cNvPr id="16" name="Text 14"/>
          <p:cNvSpPr/>
          <p:nvPr/>
        </p:nvSpPr>
        <p:spPr>
          <a:xfrm>
            <a:off x="1207008" y="2560320"/>
            <a:ext cx="7315200" cy="384048"/>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Check for logs:CreateLogGroup, logs:CreateLogStream, logs:PutLogEvents on the execution role. No logs = no visibility, even if the function runs.</a:t>
            </a:r>
            <a:endParaRPr lang="en-US" sz="1050" dirty="0"/>
          </a:p>
        </p:txBody>
      </p:sp>
      <p:sp>
        <p:nvSpPr>
          <p:cNvPr id="17" name="Shape 15"/>
          <p:cNvSpPr/>
          <p:nvPr/>
        </p:nvSpPr>
        <p:spPr>
          <a:xfrm>
            <a:off x="457200" y="3090672"/>
            <a:ext cx="8229600" cy="804672"/>
          </a:xfrm>
          <a:prstGeom prst="rect">
            <a:avLst/>
          </a:prstGeom>
          <a:solidFill>
            <a:srgbClr val="1E3A5F"/>
          </a:solidFill>
          <a:ln w="12700">
            <a:solidFill>
              <a:srgbClr val="1E3A5F"/>
            </a:solidFill>
            <a:prstDash val="solid"/>
          </a:ln>
        </p:spPr>
      </p:sp>
      <p:sp>
        <p:nvSpPr>
          <p:cNvPr id="18" name="Shape 16"/>
          <p:cNvSpPr/>
          <p:nvPr/>
        </p:nvSpPr>
        <p:spPr>
          <a:xfrm>
            <a:off x="457200" y="3090672"/>
            <a:ext cx="54864" cy="804672"/>
          </a:xfrm>
          <a:prstGeom prst="rect">
            <a:avLst/>
          </a:prstGeom>
          <a:solidFill>
            <a:srgbClr val="00B4D8"/>
          </a:solidFill>
          <a:ln w="12700">
            <a:solidFill>
              <a:srgbClr val="00B4D8"/>
            </a:solidFill>
            <a:prstDash val="solid"/>
          </a:ln>
        </p:spPr>
      </p:sp>
      <p:sp>
        <p:nvSpPr>
          <p:cNvPr id="19" name="Shape 17"/>
          <p:cNvSpPr/>
          <p:nvPr/>
        </p:nvSpPr>
        <p:spPr>
          <a:xfrm>
            <a:off x="640080" y="3246120"/>
            <a:ext cx="475488" cy="475488"/>
          </a:xfrm>
          <a:prstGeom prst="ellipse">
            <a:avLst/>
          </a:prstGeom>
          <a:solidFill>
            <a:srgbClr val="00B4D8">
              <a:alpha val="20000"/>
            </a:srgbClr>
          </a:solidFill>
          <a:ln w="12700">
            <a:solidFill>
              <a:srgbClr val="00B4D8">
                <a:alpha val="20000"/>
              </a:srgbClr>
            </a:solidFill>
            <a:prstDash val="solid"/>
          </a:ln>
        </p:spPr>
      </p:sp>
      <p:sp>
        <p:nvSpPr>
          <p:cNvPr id="20" name="Text 18"/>
          <p:cNvSpPr/>
          <p:nvPr/>
        </p:nvSpPr>
        <p:spPr>
          <a:xfrm>
            <a:off x="640080" y="3246120"/>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1207008" y="3145536"/>
            <a:ext cx="731520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Is the trigger firing?</a:t>
            </a:r>
            <a:endParaRPr lang="en-US" sz="1200" dirty="0"/>
          </a:p>
        </p:txBody>
      </p:sp>
      <p:sp>
        <p:nvSpPr>
          <p:cNvPr id="22" name="Text 20"/>
          <p:cNvSpPr/>
          <p:nvPr/>
        </p:nvSpPr>
        <p:spPr>
          <a:xfrm>
            <a:off x="1207008" y="3456432"/>
            <a:ext cx="7315200" cy="384048"/>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For push: check aws_lambda_permission exists. For pull: check aws_lambda_event_source_mapping. Either way — does the source know about Lambda?</a:t>
            </a:r>
            <a:endParaRPr lang="en-US" sz="1050" dirty="0"/>
          </a:p>
        </p:txBody>
      </p:sp>
      <p:sp>
        <p:nvSpPr>
          <p:cNvPr id="23" name="Shape 21"/>
          <p:cNvSpPr/>
          <p:nvPr/>
        </p:nvSpPr>
        <p:spPr>
          <a:xfrm>
            <a:off x="457200" y="3986784"/>
            <a:ext cx="8229600" cy="804672"/>
          </a:xfrm>
          <a:prstGeom prst="rect">
            <a:avLst/>
          </a:prstGeom>
          <a:solidFill>
            <a:srgbClr val="1E3A5F"/>
          </a:solidFill>
          <a:ln w="12700">
            <a:solidFill>
              <a:srgbClr val="1E3A5F"/>
            </a:solidFill>
            <a:prstDash val="solid"/>
          </a:ln>
        </p:spPr>
      </p:sp>
      <p:sp>
        <p:nvSpPr>
          <p:cNvPr id="24" name="Shape 22"/>
          <p:cNvSpPr/>
          <p:nvPr/>
        </p:nvSpPr>
        <p:spPr>
          <a:xfrm>
            <a:off x="457200" y="3986784"/>
            <a:ext cx="54864" cy="804672"/>
          </a:xfrm>
          <a:prstGeom prst="rect">
            <a:avLst/>
          </a:prstGeom>
          <a:solidFill>
            <a:srgbClr val="10B981"/>
          </a:solidFill>
          <a:ln w="12700">
            <a:solidFill>
              <a:srgbClr val="10B981"/>
            </a:solidFill>
            <a:prstDash val="solid"/>
          </a:ln>
        </p:spPr>
      </p:sp>
      <p:sp>
        <p:nvSpPr>
          <p:cNvPr id="25" name="Shape 23"/>
          <p:cNvSpPr/>
          <p:nvPr/>
        </p:nvSpPr>
        <p:spPr>
          <a:xfrm>
            <a:off x="640080" y="4142232"/>
            <a:ext cx="475488" cy="475488"/>
          </a:xfrm>
          <a:prstGeom prst="ellipse">
            <a:avLst/>
          </a:prstGeom>
          <a:solidFill>
            <a:srgbClr val="10B981">
              <a:alpha val="20000"/>
            </a:srgbClr>
          </a:solidFill>
          <a:ln w="12700">
            <a:solidFill>
              <a:srgbClr val="10B981">
                <a:alpha val="20000"/>
              </a:srgbClr>
            </a:solidFill>
            <a:prstDash val="solid"/>
          </a:ln>
        </p:spPr>
      </p:sp>
      <p:sp>
        <p:nvSpPr>
          <p:cNvPr id="26" name="Text 24"/>
          <p:cNvSpPr/>
          <p:nvPr/>
        </p:nvSpPr>
        <p:spPr>
          <a:xfrm>
            <a:off x="640080" y="4142232"/>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1207008" y="4041648"/>
            <a:ext cx="731520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Is Lambda failing on a specific action?</a:t>
            </a:r>
            <a:endParaRPr lang="en-US" sz="1200" dirty="0"/>
          </a:p>
        </p:txBody>
      </p:sp>
      <p:sp>
        <p:nvSpPr>
          <p:cNvPr id="28" name="Text 26"/>
          <p:cNvSpPr/>
          <p:nvPr/>
        </p:nvSpPr>
        <p:spPr>
          <a:xfrm>
            <a:off x="1207008" y="4352544"/>
            <a:ext cx="7315200" cy="384048"/>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Check the execution role for the relevant permission. Lambda will tell you exactly which action was denied in CloudWatch Logs — if you have logging set up.</a:t>
            </a:r>
            <a:endParaRPr lang="en-US" sz="1050" dirty="0"/>
          </a:p>
        </p:txBody>
      </p:sp>
      <p:sp>
        <p:nvSpPr>
          <p:cNvPr id="29" name="Shape 27"/>
          <p:cNvSpPr/>
          <p:nvPr/>
        </p:nvSpPr>
        <p:spPr>
          <a:xfrm>
            <a:off x="0" y="4892040"/>
            <a:ext cx="9144000" cy="251460"/>
          </a:xfrm>
          <a:prstGeom prst="rect">
            <a:avLst/>
          </a:prstGeom>
          <a:solidFill>
            <a:srgbClr val="1A2E45"/>
          </a:solidFill>
          <a:ln w="12700">
            <a:solidFill>
              <a:srgbClr val="1A2E45"/>
            </a:solidFill>
            <a:prstDash val="solid"/>
          </a:ln>
        </p:spPr>
      </p:sp>
      <p:sp>
        <p:nvSpPr>
          <p:cNvPr id="30" name="Text 28"/>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31" name="Text 29"/>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Lambda Theory — Diagnostic Framework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LAB 067 — THE SCENARIO</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Ticket</a:t>
            </a:r>
            <a:endParaRPr lang="en-US" sz="2800" dirty="0"/>
          </a:p>
        </p:txBody>
      </p:sp>
      <p:sp>
        <p:nvSpPr>
          <p:cNvPr id="5" name="Shape 3"/>
          <p:cNvSpPr/>
          <p:nvPr/>
        </p:nvSpPr>
        <p:spPr>
          <a:xfrm>
            <a:off x="457200" y="1298448"/>
            <a:ext cx="8229600" cy="1417320"/>
          </a:xfrm>
          <a:prstGeom prst="rect">
            <a:avLst/>
          </a:prstGeom>
          <a:solidFill>
            <a:srgbClr val="1E3A5F"/>
          </a:solidFill>
          <a:ln w="12700">
            <a:solidFill>
              <a:srgbClr val="1E3A5F"/>
            </a:solidFill>
            <a:prstDash val="solid"/>
          </a:ln>
        </p:spPr>
      </p:sp>
      <p:sp>
        <p:nvSpPr>
          <p:cNvPr id="6" name="Shape 4"/>
          <p:cNvSpPr/>
          <p:nvPr/>
        </p:nvSpPr>
        <p:spPr>
          <a:xfrm>
            <a:off x="457200" y="1298448"/>
            <a:ext cx="8229600" cy="45720"/>
          </a:xfrm>
          <a:prstGeom prst="rect">
            <a:avLst/>
          </a:prstGeom>
          <a:solidFill>
            <a:srgbClr val="F59E0B"/>
          </a:solidFill>
          <a:ln w="12700">
            <a:solidFill>
              <a:srgbClr val="F59E0B"/>
            </a:solidFill>
            <a:prstDash val="solid"/>
          </a:ln>
        </p:spPr>
      </p:sp>
      <p:sp>
        <p:nvSpPr>
          <p:cNvPr id="7" name="Text 5"/>
          <p:cNvSpPr/>
          <p:nvPr/>
        </p:nvSpPr>
        <p:spPr>
          <a:xfrm>
            <a:off x="640080" y="1389888"/>
            <a:ext cx="2743200" cy="256032"/>
          </a:xfrm>
          <a:prstGeom prst="rect">
            <a:avLst/>
          </a:prstGeom>
          <a:noFill/>
          <a:ln/>
        </p:spPr>
        <p:txBody>
          <a:bodyPr wrap="square"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INCIDENT TICKET</a:t>
            </a:r>
            <a:endParaRPr lang="en-US" sz="1000" dirty="0"/>
          </a:p>
        </p:txBody>
      </p:sp>
      <p:sp>
        <p:nvSpPr>
          <p:cNvPr id="8" name="Text 6"/>
          <p:cNvSpPr/>
          <p:nvPr/>
        </p:nvSpPr>
        <p:spPr>
          <a:xfrm>
            <a:off x="6858000" y="1389888"/>
            <a:ext cx="1645920" cy="256032"/>
          </a:xfrm>
          <a:prstGeom prst="rect">
            <a:avLst/>
          </a:prstGeom>
          <a:noFill/>
          <a:ln/>
        </p:spPr>
        <p:txBody>
          <a:bodyPr wrap="square" rtlCol="0" anchor="ctr"/>
          <a:lstStyle/>
          <a:p>
            <a:pPr algn="r" indent="0" marL="0">
              <a:buNone/>
            </a:pPr>
            <a:r>
              <a:rPr lang="en-US" sz="1000" b="1" dirty="0">
                <a:solidFill>
                  <a:srgbClr val="EF4444"/>
                </a:solidFill>
                <a:latin typeface="Calibri" pitchFamily="34" charset="0"/>
                <a:ea typeface="Calibri" pitchFamily="34" charset="-122"/>
                <a:cs typeface="Calibri" pitchFamily="34" charset="-120"/>
              </a:rPr>
              <a:t>Priority: High</a:t>
            </a:r>
            <a:endParaRPr lang="en-US" sz="1000" dirty="0"/>
          </a:p>
        </p:txBody>
      </p:sp>
      <p:sp>
        <p:nvSpPr>
          <p:cNvPr id="9" name="Text 7"/>
          <p:cNvSpPr/>
          <p:nvPr/>
        </p:nvSpPr>
        <p:spPr>
          <a:xfrm>
            <a:off x="640080" y="1700784"/>
            <a:ext cx="7863840" cy="932688"/>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new file-processing Lambda hasn't triggered once since we deployed it last week. Users are uploading files to the S3 bucket but nothing downstream is happening. CloudWatch shows no invocation logs at all."</a:t>
            </a:r>
            <a:endParaRPr lang="en-US" sz="1300" dirty="0"/>
          </a:p>
        </p:txBody>
      </p:sp>
      <p:sp>
        <p:nvSpPr>
          <p:cNvPr id="10" name="Text 8"/>
          <p:cNvSpPr/>
          <p:nvPr/>
        </p:nvSpPr>
        <p:spPr>
          <a:xfrm>
            <a:off x="457200" y="2834640"/>
            <a:ext cx="8229600" cy="292608"/>
          </a:xfrm>
          <a:prstGeom prst="rect">
            <a:avLst/>
          </a:prstGeom>
          <a:noFill/>
          <a:ln/>
        </p:spPr>
        <p:txBody>
          <a:bodyPr wrap="square" rtlCol="0" anchor="ctr"/>
          <a:lstStyle/>
          <a:p>
            <a:pPr indent="0" marL="0">
              <a:buNone/>
            </a:pPr>
            <a:r>
              <a:rPr lang="en-US" sz="1300" b="1" dirty="0">
                <a:solidFill>
                  <a:srgbClr val="00B4D8"/>
                </a:solidFill>
                <a:latin typeface="Calibri" pitchFamily="34" charset="0"/>
                <a:ea typeface="Calibri" pitchFamily="34" charset="-122"/>
                <a:cs typeface="Calibri" pitchFamily="34" charset="-120"/>
              </a:rPr>
              <a:t>What You'll Find:</a:t>
            </a:r>
            <a:endParaRPr lang="en-US" sz="1300" dirty="0"/>
          </a:p>
        </p:txBody>
      </p:sp>
      <p:sp>
        <p:nvSpPr>
          <p:cNvPr id="11" name="Shape 9"/>
          <p:cNvSpPr/>
          <p:nvPr/>
        </p:nvSpPr>
        <p:spPr>
          <a:xfrm>
            <a:off x="457200" y="3182112"/>
            <a:ext cx="2651760" cy="1600200"/>
          </a:xfrm>
          <a:prstGeom prst="rect">
            <a:avLst/>
          </a:prstGeom>
          <a:solidFill>
            <a:srgbClr val="1A2E45"/>
          </a:solidFill>
          <a:ln w="12700">
            <a:solidFill>
              <a:srgbClr val="1A2E45"/>
            </a:solidFill>
            <a:prstDash val="solid"/>
          </a:ln>
        </p:spPr>
      </p:sp>
      <p:sp>
        <p:nvSpPr>
          <p:cNvPr id="12" name="Shape 10"/>
          <p:cNvSpPr/>
          <p:nvPr/>
        </p:nvSpPr>
        <p:spPr>
          <a:xfrm>
            <a:off x="457200" y="3182112"/>
            <a:ext cx="2651760" cy="45720"/>
          </a:xfrm>
          <a:prstGeom prst="rect">
            <a:avLst/>
          </a:prstGeom>
          <a:solidFill>
            <a:srgbClr val="EF4444"/>
          </a:solidFill>
          <a:ln w="12700">
            <a:solidFill>
              <a:srgbClr val="EF4444"/>
            </a:solidFill>
            <a:prstDash val="solid"/>
          </a:ln>
        </p:spPr>
      </p:sp>
      <p:sp>
        <p:nvSpPr>
          <p:cNvPr id="13" name="Shape 11"/>
          <p:cNvSpPr/>
          <p:nvPr/>
        </p:nvSpPr>
        <p:spPr>
          <a:xfrm>
            <a:off x="603504" y="3282696"/>
            <a:ext cx="475488" cy="475488"/>
          </a:xfrm>
          <a:prstGeom prst="ellipse">
            <a:avLst/>
          </a:prstGeom>
          <a:solidFill>
            <a:srgbClr val="00B4D8"/>
          </a:solidFill>
          <a:ln w="12700">
            <a:solidFill>
              <a:srgbClr val="00B4D8"/>
            </a:solidFill>
            <a:prstDash val="solid"/>
          </a:ln>
        </p:spPr>
      </p:sp>
      <p:pic>
        <p:nvPicPr>
          <p:cNvPr id="14" name="Image 0" descr="preencoded.png">    </p:cNvPr>
          <p:cNvPicPr>
            <a:picLocks noChangeAspect="1"/>
          </p:cNvPicPr>
          <p:nvPr/>
        </p:nvPicPr>
        <p:blipFill>
          <a:blip r:embed="rId1"/>
          <a:stretch>
            <a:fillRect/>
          </a:stretch>
        </p:blipFill>
        <p:spPr>
          <a:xfrm>
            <a:off x="698602" y="3377794"/>
            <a:ext cx="285293" cy="285293"/>
          </a:xfrm>
          <a:prstGeom prst="rect">
            <a:avLst/>
          </a:prstGeom>
        </p:spPr>
      </p:pic>
      <p:sp>
        <p:nvSpPr>
          <p:cNvPr id="15" name="Text 12"/>
          <p:cNvSpPr/>
          <p:nvPr/>
        </p:nvSpPr>
        <p:spPr>
          <a:xfrm>
            <a:off x="1170432" y="3310128"/>
            <a:ext cx="1783080" cy="237744"/>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Bug 1</a:t>
            </a:r>
            <a:endParaRPr lang="en-US" sz="1000" dirty="0"/>
          </a:p>
        </p:txBody>
      </p:sp>
      <p:sp>
        <p:nvSpPr>
          <p:cNvPr id="16" name="Text 13"/>
          <p:cNvSpPr/>
          <p:nvPr/>
        </p:nvSpPr>
        <p:spPr>
          <a:xfrm>
            <a:off x="566928" y="3675888"/>
            <a:ext cx="242316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Wrong Trust Policy</a:t>
            </a:r>
            <a:endParaRPr lang="en-US" sz="1150" dirty="0"/>
          </a:p>
        </p:txBody>
      </p:sp>
      <p:sp>
        <p:nvSpPr>
          <p:cNvPr id="17" name="Text 14"/>
          <p:cNvSpPr/>
          <p:nvPr/>
        </p:nvSpPr>
        <p:spPr>
          <a:xfrm>
            <a:off x="566928" y="4005072"/>
            <a:ext cx="2423160" cy="7132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Execution role trusts EC2, not Lambda — function can't start</a:t>
            </a:r>
            <a:endParaRPr lang="en-US" sz="1000" dirty="0"/>
          </a:p>
        </p:txBody>
      </p:sp>
      <p:sp>
        <p:nvSpPr>
          <p:cNvPr id="18" name="Shape 15"/>
          <p:cNvSpPr/>
          <p:nvPr/>
        </p:nvSpPr>
        <p:spPr>
          <a:xfrm>
            <a:off x="3291840" y="3182112"/>
            <a:ext cx="2651760" cy="1600200"/>
          </a:xfrm>
          <a:prstGeom prst="rect">
            <a:avLst/>
          </a:prstGeom>
          <a:solidFill>
            <a:srgbClr val="1A2E45"/>
          </a:solidFill>
          <a:ln w="12700">
            <a:solidFill>
              <a:srgbClr val="1A2E45"/>
            </a:solidFill>
            <a:prstDash val="solid"/>
          </a:ln>
        </p:spPr>
      </p:sp>
      <p:sp>
        <p:nvSpPr>
          <p:cNvPr id="19" name="Shape 16"/>
          <p:cNvSpPr/>
          <p:nvPr/>
        </p:nvSpPr>
        <p:spPr>
          <a:xfrm>
            <a:off x="3291840" y="3182112"/>
            <a:ext cx="2651760" cy="45720"/>
          </a:xfrm>
          <a:prstGeom prst="rect">
            <a:avLst/>
          </a:prstGeom>
          <a:solidFill>
            <a:srgbClr val="EF4444"/>
          </a:solidFill>
          <a:ln w="12700">
            <a:solidFill>
              <a:srgbClr val="EF4444"/>
            </a:solidFill>
            <a:prstDash val="solid"/>
          </a:ln>
        </p:spPr>
      </p:sp>
      <p:sp>
        <p:nvSpPr>
          <p:cNvPr id="20" name="Shape 17"/>
          <p:cNvSpPr/>
          <p:nvPr/>
        </p:nvSpPr>
        <p:spPr>
          <a:xfrm>
            <a:off x="3438144" y="3282696"/>
            <a:ext cx="475488" cy="475488"/>
          </a:xfrm>
          <a:prstGeom prst="ellipse">
            <a:avLst/>
          </a:prstGeom>
          <a:solidFill>
            <a:srgbClr val="00B4D8"/>
          </a:solidFill>
          <a:ln w="12700">
            <a:solidFill>
              <a:srgbClr val="00B4D8"/>
            </a:solidFill>
            <a:prstDash val="solid"/>
          </a:ln>
        </p:spPr>
      </p:sp>
      <p:pic>
        <p:nvPicPr>
          <p:cNvPr id="21" name="Image 1" descr="preencoded.png">    </p:cNvPr>
          <p:cNvPicPr>
            <a:picLocks noChangeAspect="1"/>
          </p:cNvPicPr>
          <p:nvPr/>
        </p:nvPicPr>
        <p:blipFill>
          <a:blip r:embed="rId2"/>
          <a:stretch>
            <a:fillRect/>
          </a:stretch>
        </p:blipFill>
        <p:spPr>
          <a:xfrm>
            <a:off x="3533242" y="3377794"/>
            <a:ext cx="285293" cy="285293"/>
          </a:xfrm>
          <a:prstGeom prst="rect">
            <a:avLst/>
          </a:prstGeom>
        </p:spPr>
      </p:pic>
      <p:sp>
        <p:nvSpPr>
          <p:cNvPr id="22" name="Text 18"/>
          <p:cNvSpPr/>
          <p:nvPr/>
        </p:nvSpPr>
        <p:spPr>
          <a:xfrm>
            <a:off x="4005072" y="3310128"/>
            <a:ext cx="1783080" cy="237744"/>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Bug 2</a:t>
            </a:r>
            <a:endParaRPr lang="en-US" sz="1000" dirty="0"/>
          </a:p>
        </p:txBody>
      </p:sp>
      <p:sp>
        <p:nvSpPr>
          <p:cNvPr id="23" name="Text 19"/>
          <p:cNvSpPr/>
          <p:nvPr/>
        </p:nvSpPr>
        <p:spPr>
          <a:xfrm>
            <a:off x="3401568" y="3675888"/>
            <a:ext cx="242316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Missing Log Permissions</a:t>
            </a:r>
            <a:endParaRPr lang="en-US" sz="1150" dirty="0"/>
          </a:p>
        </p:txBody>
      </p:sp>
      <p:sp>
        <p:nvSpPr>
          <p:cNvPr id="24" name="Text 20"/>
          <p:cNvSpPr/>
          <p:nvPr/>
        </p:nvSpPr>
        <p:spPr>
          <a:xfrm>
            <a:off x="3401568" y="4005072"/>
            <a:ext cx="2423160" cy="7132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No CloudWatch Logs permissions — function can't write any output</a:t>
            </a:r>
            <a:endParaRPr lang="en-US" sz="1000" dirty="0"/>
          </a:p>
        </p:txBody>
      </p:sp>
      <p:sp>
        <p:nvSpPr>
          <p:cNvPr id="25" name="Shape 21"/>
          <p:cNvSpPr/>
          <p:nvPr/>
        </p:nvSpPr>
        <p:spPr>
          <a:xfrm>
            <a:off x="6126480" y="3182112"/>
            <a:ext cx="2651760" cy="1600200"/>
          </a:xfrm>
          <a:prstGeom prst="rect">
            <a:avLst/>
          </a:prstGeom>
          <a:solidFill>
            <a:srgbClr val="1A2E45"/>
          </a:solidFill>
          <a:ln w="12700">
            <a:solidFill>
              <a:srgbClr val="1A2E45"/>
            </a:solidFill>
            <a:prstDash val="solid"/>
          </a:ln>
        </p:spPr>
      </p:sp>
      <p:sp>
        <p:nvSpPr>
          <p:cNvPr id="26" name="Shape 22"/>
          <p:cNvSpPr/>
          <p:nvPr/>
        </p:nvSpPr>
        <p:spPr>
          <a:xfrm>
            <a:off x="6126480" y="3182112"/>
            <a:ext cx="2651760" cy="45720"/>
          </a:xfrm>
          <a:prstGeom prst="rect">
            <a:avLst/>
          </a:prstGeom>
          <a:solidFill>
            <a:srgbClr val="EF4444"/>
          </a:solidFill>
          <a:ln w="12700">
            <a:solidFill>
              <a:srgbClr val="EF4444"/>
            </a:solidFill>
            <a:prstDash val="solid"/>
          </a:ln>
        </p:spPr>
      </p:sp>
      <p:sp>
        <p:nvSpPr>
          <p:cNvPr id="27" name="Shape 23"/>
          <p:cNvSpPr/>
          <p:nvPr/>
        </p:nvSpPr>
        <p:spPr>
          <a:xfrm>
            <a:off x="6272784" y="3282696"/>
            <a:ext cx="475488" cy="475488"/>
          </a:xfrm>
          <a:prstGeom prst="ellipse">
            <a:avLst/>
          </a:prstGeom>
          <a:solidFill>
            <a:srgbClr val="00B4D8"/>
          </a:solidFill>
          <a:ln w="12700">
            <a:solidFill>
              <a:srgbClr val="00B4D8"/>
            </a:solidFill>
            <a:prstDash val="solid"/>
          </a:ln>
        </p:spPr>
      </p:sp>
      <p:pic>
        <p:nvPicPr>
          <p:cNvPr id="28" name="Image 2" descr="preencoded.png">    </p:cNvPr>
          <p:cNvPicPr>
            <a:picLocks noChangeAspect="1"/>
          </p:cNvPicPr>
          <p:nvPr/>
        </p:nvPicPr>
        <p:blipFill>
          <a:blip r:embed="rId3"/>
          <a:stretch>
            <a:fillRect/>
          </a:stretch>
        </p:blipFill>
        <p:spPr>
          <a:xfrm>
            <a:off x="6367882" y="3377794"/>
            <a:ext cx="285293" cy="285293"/>
          </a:xfrm>
          <a:prstGeom prst="rect">
            <a:avLst/>
          </a:prstGeom>
        </p:spPr>
      </p:pic>
      <p:sp>
        <p:nvSpPr>
          <p:cNvPr id="29" name="Text 24"/>
          <p:cNvSpPr/>
          <p:nvPr/>
        </p:nvSpPr>
        <p:spPr>
          <a:xfrm>
            <a:off x="6839712" y="3310128"/>
            <a:ext cx="1783080" cy="237744"/>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Bug 3</a:t>
            </a:r>
            <a:endParaRPr lang="en-US" sz="1000" dirty="0"/>
          </a:p>
        </p:txBody>
      </p:sp>
      <p:sp>
        <p:nvSpPr>
          <p:cNvPr id="30" name="Text 25"/>
          <p:cNvSpPr/>
          <p:nvPr/>
        </p:nvSpPr>
        <p:spPr>
          <a:xfrm>
            <a:off x="6236208" y="3675888"/>
            <a:ext cx="242316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 S3 Trigger</a:t>
            </a:r>
            <a:endParaRPr lang="en-US" sz="1150" dirty="0"/>
          </a:p>
        </p:txBody>
      </p:sp>
      <p:sp>
        <p:nvSpPr>
          <p:cNvPr id="31" name="Text 26"/>
          <p:cNvSpPr/>
          <p:nvPr/>
        </p:nvSpPr>
        <p:spPr>
          <a:xfrm>
            <a:off x="6236208" y="4005072"/>
            <a:ext cx="2423160" cy="7132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No aws_lambda_permission and no bucket notification — S3 never calls Lambda</a:t>
            </a:r>
            <a:endParaRPr lang="en-US" sz="1000" dirty="0"/>
          </a:p>
        </p:txBody>
      </p:sp>
      <p:sp>
        <p:nvSpPr>
          <p:cNvPr id="32" name="Shape 27"/>
          <p:cNvSpPr/>
          <p:nvPr/>
        </p:nvSpPr>
        <p:spPr>
          <a:xfrm>
            <a:off x="0" y="4892040"/>
            <a:ext cx="9144000" cy="251460"/>
          </a:xfrm>
          <a:prstGeom prst="rect">
            <a:avLst/>
          </a:prstGeom>
          <a:solidFill>
            <a:srgbClr val="1A2E45"/>
          </a:solidFill>
          <a:ln w="12700">
            <a:solidFill>
              <a:srgbClr val="1A2E45"/>
            </a:solidFill>
            <a:prstDash val="solid"/>
          </a:ln>
        </p:spPr>
      </p:sp>
      <p:sp>
        <p:nvSpPr>
          <p:cNvPr id="33" name="Text 28"/>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34" name="Text 29"/>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Lab 067 — Scenario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LAB 067 — BUG 1</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Bug 1: Wrong Trust Policy Principal</a:t>
            </a:r>
            <a:endParaRPr lang="en-US" sz="2600" dirty="0"/>
          </a:p>
        </p:txBody>
      </p:sp>
      <p:sp>
        <p:nvSpPr>
          <p:cNvPr id="5" name="Shape 3"/>
          <p:cNvSpPr/>
          <p:nvPr/>
        </p:nvSpPr>
        <p:spPr>
          <a:xfrm>
            <a:off x="457200" y="1261872"/>
            <a:ext cx="8229600" cy="512064"/>
          </a:xfrm>
          <a:prstGeom prst="rect">
            <a:avLst/>
          </a:prstGeom>
          <a:solidFill>
            <a:srgbClr val="1E3A5F"/>
          </a:solidFill>
          <a:ln w="12700">
            <a:solidFill>
              <a:srgbClr val="1E3A5F"/>
            </a:solidFill>
            <a:prstDash val="solid"/>
          </a:ln>
        </p:spPr>
      </p:sp>
      <p:sp>
        <p:nvSpPr>
          <p:cNvPr id="6" name="Shape 4"/>
          <p:cNvSpPr/>
          <p:nvPr/>
        </p:nvSpPr>
        <p:spPr>
          <a:xfrm>
            <a:off x="603504" y="1316736"/>
            <a:ext cx="402336" cy="402336"/>
          </a:xfrm>
          <a:prstGeom prst="ellipse">
            <a:avLst/>
          </a:prstGeom>
          <a:solidFill>
            <a:srgbClr val="00B4D8"/>
          </a:solidFill>
          <a:ln w="1270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683971" y="1397203"/>
            <a:ext cx="241402" cy="241402"/>
          </a:xfrm>
          <a:prstGeom prst="rect">
            <a:avLst/>
          </a:prstGeom>
        </p:spPr>
      </p:pic>
      <p:sp>
        <p:nvSpPr>
          <p:cNvPr id="8" name="Text 5"/>
          <p:cNvSpPr/>
          <p:nvPr/>
        </p:nvSpPr>
        <p:spPr>
          <a:xfrm>
            <a:off x="1115568" y="1316736"/>
            <a:ext cx="731520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Why check this first? The ticket says Lambda never invoked — not that it crashed. The most fundamental failure point is Lambda being unable to assume its role.</a:t>
            </a:r>
            <a:endParaRPr lang="en-US" sz="1150" dirty="0"/>
          </a:p>
        </p:txBody>
      </p:sp>
      <p:sp>
        <p:nvSpPr>
          <p:cNvPr id="9" name="Shape 6"/>
          <p:cNvSpPr/>
          <p:nvPr/>
        </p:nvSpPr>
        <p:spPr>
          <a:xfrm>
            <a:off x="457200" y="1883664"/>
            <a:ext cx="3977640" cy="2286000"/>
          </a:xfrm>
          <a:prstGeom prst="rect">
            <a:avLst/>
          </a:prstGeom>
          <a:solidFill>
            <a:srgbClr val="1A2E45"/>
          </a:solidFill>
          <a:ln w="12700">
            <a:solidFill>
              <a:srgbClr val="1A2E45"/>
            </a:solidFill>
            <a:prstDash val="solid"/>
          </a:ln>
        </p:spPr>
      </p:sp>
      <p:sp>
        <p:nvSpPr>
          <p:cNvPr id="10" name="Shape 7"/>
          <p:cNvSpPr/>
          <p:nvPr/>
        </p:nvSpPr>
        <p:spPr>
          <a:xfrm>
            <a:off x="457200" y="1883664"/>
            <a:ext cx="3977640" cy="45720"/>
          </a:xfrm>
          <a:prstGeom prst="rect">
            <a:avLst/>
          </a:prstGeom>
          <a:solidFill>
            <a:srgbClr val="EF4444"/>
          </a:solidFill>
          <a:ln w="12700">
            <a:solidFill>
              <a:srgbClr val="EF4444"/>
            </a:solidFill>
            <a:prstDash val="solid"/>
          </a:ln>
        </p:spPr>
      </p:sp>
      <p:sp>
        <p:nvSpPr>
          <p:cNvPr id="11" name="Text 8"/>
          <p:cNvSpPr/>
          <p:nvPr/>
        </p:nvSpPr>
        <p:spPr>
          <a:xfrm>
            <a:off x="594360" y="1956816"/>
            <a:ext cx="3703320" cy="274320"/>
          </a:xfrm>
          <a:prstGeom prst="rect">
            <a:avLst/>
          </a:prstGeom>
          <a:noFill/>
          <a:ln/>
        </p:spPr>
        <p:txBody>
          <a:bodyPr wrap="square" rtlCol="0" anchor="ctr"/>
          <a:lstStyle/>
          <a:p>
            <a:pPr indent="0" marL="0">
              <a:buNone/>
            </a:pPr>
            <a:r>
              <a:rPr lang="en-US" sz="1200" b="1" spc="200" kern="0" dirty="0">
                <a:solidFill>
                  <a:srgbClr val="EF4444"/>
                </a:solidFill>
                <a:latin typeface="Calibri" pitchFamily="34" charset="0"/>
                <a:ea typeface="Calibri" pitchFamily="34" charset="-122"/>
                <a:cs typeface="Calibri" pitchFamily="34" charset="-120"/>
              </a:rPr>
              <a:t>BROKEN</a:t>
            </a:r>
            <a:endParaRPr lang="en-US" sz="1200" dirty="0"/>
          </a:p>
        </p:txBody>
      </p:sp>
      <p:sp>
        <p:nvSpPr>
          <p:cNvPr id="12" name="Text 9"/>
          <p:cNvSpPr/>
          <p:nvPr/>
        </p:nvSpPr>
        <p:spPr>
          <a:xfrm>
            <a:off x="594360" y="2286000"/>
            <a:ext cx="3703320" cy="777240"/>
          </a:xfrm>
          <a:prstGeom prst="rect">
            <a:avLst/>
          </a:prstGeom>
          <a:noFill/>
          <a:ln/>
        </p:spPr>
        <p:txBody>
          <a:bodyPr wrap="square"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Principal = {</a:t>
            </a:r>
            <a:endParaRPr lang="en-US" sz="1100" dirty="0"/>
          </a:p>
          <a:p>
            <a:pPr indent="0" marL="0">
              <a:buNone/>
            </a:pPr>
            <a:r>
              <a:rPr lang="en-US" sz="1100" dirty="0">
                <a:solidFill>
                  <a:srgbClr val="CBD5E1"/>
                </a:solidFill>
                <a:latin typeface="Consolas" pitchFamily="34" charset="0"/>
                <a:ea typeface="Consolas" pitchFamily="34" charset="-122"/>
                <a:cs typeface="Consolas" pitchFamily="34" charset="-120"/>
              </a:rPr>
              <a:t>  Service = "ec2.amazonaws.com"</a:t>
            </a:r>
            <a:endParaRPr lang="en-US" sz="1100" dirty="0"/>
          </a:p>
          <a:p>
            <a:pPr indent="0" marL="0">
              <a:buNone/>
            </a:pPr>
            <a:r>
              <a:rPr lang="en-US" sz="1100" dirty="0">
                <a:solidFill>
                  <a:srgbClr val="CBD5E1"/>
                </a:solidFill>
                <a:latin typeface="Consolas" pitchFamily="34" charset="0"/>
                <a:ea typeface="Consolas" pitchFamily="34" charset="-122"/>
                <a:cs typeface="Consolas" pitchFamily="34" charset="-120"/>
              </a:rPr>
              <a:t>}</a:t>
            </a:r>
            <a:endParaRPr lang="en-US" sz="1100" dirty="0"/>
          </a:p>
        </p:txBody>
      </p:sp>
      <p:sp>
        <p:nvSpPr>
          <p:cNvPr id="13" name="Shape 10"/>
          <p:cNvSpPr/>
          <p:nvPr/>
        </p:nvSpPr>
        <p:spPr>
          <a:xfrm>
            <a:off x="2212848" y="3163824"/>
            <a:ext cx="475488" cy="475488"/>
          </a:xfrm>
          <a:prstGeom prst="ellipse">
            <a:avLst/>
          </a:prstGeom>
          <a:solidFill>
            <a:srgbClr val="00B4D8"/>
          </a:solidFill>
          <a:ln w="12700">
            <a:solidFill>
              <a:srgbClr val="00B4D8"/>
            </a:solidFill>
            <a:prstDash val="solid"/>
          </a:ln>
        </p:spPr>
      </p:sp>
      <p:pic>
        <p:nvPicPr>
          <p:cNvPr id="14" name="Image 1" descr="preencoded.png">    </p:cNvPr>
          <p:cNvPicPr>
            <a:picLocks noChangeAspect="1"/>
          </p:cNvPicPr>
          <p:nvPr/>
        </p:nvPicPr>
        <p:blipFill>
          <a:blip r:embed="rId2"/>
          <a:stretch>
            <a:fillRect/>
          </a:stretch>
        </p:blipFill>
        <p:spPr>
          <a:xfrm>
            <a:off x="2307946" y="3258922"/>
            <a:ext cx="285293" cy="285293"/>
          </a:xfrm>
          <a:prstGeom prst="rect">
            <a:avLst/>
          </a:prstGeom>
        </p:spPr>
      </p:pic>
      <p:sp>
        <p:nvSpPr>
          <p:cNvPr id="15" name="Text 11"/>
          <p:cNvSpPr/>
          <p:nvPr/>
        </p:nvSpPr>
        <p:spPr>
          <a:xfrm>
            <a:off x="731520" y="3639312"/>
            <a:ext cx="3383280" cy="411480"/>
          </a:xfrm>
          <a:prstGeom prst="rect">
            <a:avLst/>
          </a:prstGeom>
          <a:noFill/>
          <a:ln/>
        </p:spPr>
        <p:txBody>
          <a:bodyPr wrap="square" rtlCol="0" anchor="ctr"/>
          <a:lstStyle/>
          <a:p>
            <a:pPr algn="ctr" indent="0" marL="0">
              <a:buNone/>
            </a:pPr>
            <a:r>
              <a:rPr lang="en-US" sz="1050" dirty="0">
                <a:solidFill>
                  <a:srgbClr val="EF4444"/>
                </a:solidFill>
                <a:latin typeface="Calibri" pitchFamily="34" charset="0"/>
                <a:ea typeface="Calibri" pitchFamily="34" charset="-122"/>
                <a:cs typeface="Calibri" pitchFamily="34" charset="-120"/>
              </a:rPr>
              <a:t>Lambda service cannot</a:t>
            </a:r>
            <a:endParaRPr lang="en-US" sz="1050" dirty="0"/>
          </a:p>
          <a:p>
            <a:pPr algn="ctr" indent="0" marL="0">
              <a:buNone/>
            </a:pPr>
            <a:r>
              <a:rPr lang="en-US" sz="1050" dirty="0">
                <a:solidFill>
                  <a:srgbClr val="EF4444"/>
                </a:solidFill>
                <a:latin typeface="Calibri" pitchFamily="34" charset="0"/>
                <a:ea typeface="Calibri" pitchFamily="34" charset="-122"/>
                <a:cs typeface="Calibri" pitchFamily="34" charset="-120"/>
              </a:rPr>
              <a:t>assume this role</a:t>
            </a:r>
            <a:endParaRPr lang="en-US" sz="1050" dirty="0"/>
          </a:p>
        </p:txBody>
      </p:sp>
      <p:sp>
        <p:nvSpPr>
          <p:cNvPr id="16" name="Shape 12"/>
          <p:cNvSpPr/>
          <p:nvPr/>
        </p:nvSpPr>
        <p:spPr>
          <a:xfrm>
            <a:off x="4709160" y="1883664"/>
            <a:ext cx="3977640" cy="2286000"/>
          </a:xfrm>
          <a:prstGeom prst="rect">
            <a:avLst/>
          </a:prstGeom>
          <a:solidFill>
            <a:srgbClr val="1A2E45"/>
          </a:solidFill>
          <a:ln w="12700">
            <a:solidFill>
              <a:srgbClr val="1A2E45"/>
            </a:solidFill>
            <a:prstDash val="solid"/>
          </a:ln>
        </p:spPr>
      </p:sp>
      <p:sp>
        <p:nvSpPr>
          <p:cNvPr id="17" name="Shape 13"/>
          <p:cNvSpPr/>
          <p:nvPr/>
        </p:nvSpPr>
        <p:spPr>
          <a:xfrm>
            <a:off x="4709160" y="1883664"/>
            <a:ext cx="3977640" cy="45720"/>
          </a:xfrm>
          <a:prstGeom prst="rect">
            <a:avLst/>
          </a:prstGeom>
          <a:solidFill>
            <a:srgbClr val="10B981"/>
          </a:solidFill>
          <a:ln w="12700">
            <a:solidFill>
              <a:srgbClr val="10B981"/>
            </a:solidFill>
            <a:prstDash val="solid"/>
          </a:ln>
        </p:spPr>
      </p:sp>
      <p:sp>
        <p:nvSpPr>
          <p:cNvPr id="18" name="Text 14"/>
          <p:cNvSpPr/>
          <p:nvPr/>
        </p:nvSpPr>
        <p:spPr>
          <a:xfrm>
            <a:off x="4846320" y="1956816"/>
            <a:ext cx="3703320" cy="274320"/>
          </a:xfrm>
          <a:prstGeom prst="rect">
            <a:avLst/>
          </a:prstGeom>
          <a:noFill/>
          <a:ln/>
        </p:spPr>
        <p:txBody>
          <a:bodyPr wrap="square" rtlCol="0" anchor="ctr"/>
          <a:lstStyle/>
          <a:p>
            <a:pPr indent="0" marL="0">
              <a:buNone/>
            </a:pPr>
            <a:r>
              <a:rPr lang="en-US" sz="1200" b="1" spc="200" kern="0" dirty="0">
                <a:solidFill>
                  <a:srgbClr val="10B981"/>
                </a:solidFill>
                <a:latin typeface="Calibri" pitchFamily="34" charset="0"/>
                <a:ea typeface="Calibri" pitchFamily="34" charset="-122"/>
                <a:cs typeface="Calibri" pitchFamily="34" charset="-120"/>
              </a:rPr>
              <a:t>FIXED</a:t>
            </a:r>
            <a:endParaRPr lang="en-US" sz="1200" dirty="0"/>
          </a:p>
        </p:txBody>
      </p:sp>
      <p:sp>
        <p:nvSpPr>
          <p:cNvPr id="19" name="Text 15"/>
          <p:cNvSpPr/>
          <p:nvPr/>
        </p:nvSpPr>
        <p:spPr>
          <a:xfrm>
            <a:off x="4846320" y="2286000"/>
            <a:ext cx="3703320" cy="777240"/>
          </a:xfrm>
          <a:prstGeom prst="rect">
            <a:avLst/>
          </a:prstGeom>
          <a:noFill/>
          <a:ln/>
        </p:spPr>
        <p:txBody>
          <a:bodyPr wrap="square" rtlCol="0" anchor="ctr"/>
          <a:lstStyle/>
          <a:p>
            <a:pPr indent="0" marL="0">
              <a:buNone/>
            </a:pPr>
            <a:r>
              <a:rPr lang="en-US" sz="1100" dirty="0">
                <a:solidFill>
                  <a:srgbClr val="10B981"/>
                </a:solidFill>
                <a:latin typeface="Consolas" pitchFamily="34" charset="0"/>
                <a:ea typeface="Consolas" pitchFamily="34" charset="-122"/>
                <a:cs typeface="Consolas" pitchFamily="34" charset="-120"/>
              </a:rPr>
              <a:t>Principal = {</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  Service = "lambda.amazonaws.com"</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a:t>
            </a:r>
            <a:endParaRPr lang="en-US" sz="1100" dirty="0"/>
          </a:p>
        </p:txBody>
      </p:sp>
      <p:sp>
        <p:nvSpPr>
          <p:cNvPr id="20" name="Shape 16"/>
          <p:cNvSpPr/>
          <p:nvPr/>
        </p:nvSpPr>
        <p:spPr>
          <a:xfrm>
            <a:off x="6464808" y="3163824"/>
            <a:ext cx="475488" cy="475488"/>
          </a:xfrm>
          <a:prstGeom prst="ellipse">
            <a:avLst/>
          </a:prstGeom>
          <a:solidFill>
            <a:srgbClr val="00B4D8"/>
          </a:solidFill>
          <a:ln w="12700">
            <a:solidFill>
              <a:srgbClr val="00B4D8"/>
            </a:solidFill>
            <a:prstDash val="solid"/>
          </a:ln>
        </p:spPr>
      </p:sp>
      <p:pic>
        <p:nvPicPr>
          <p:cNvPr id="21" name="Image 2" descr="preencoded.png">    </p:cNvPr>
          <p:cNvPicPr>
            <a:picLocks noChangeAspect="1"/>
          </p:cNvPicPr>
          <p:nvPr/>
        </p:nvPicPr>
        <p:blipFill>
          <a:blip r:embed="rId3"/>
          <a:stretch>
            <a:fillRect/>
          </a:stretch>
        </p:blipFill>
        <p:spPr>
          <a:xfrm>
            <a:off x="6559906" y="3258922"/>
            <a:ext cx="285293" cy="285293"/>
          </a:xfrm>
          <a:prstGeom prst="rect">
            <a:avLst/>
          </a:prstGeom>
        </p:spPr>
      </p:pic>
      <p:sp>
        <p:nvSpPr>
          <p:cNvPr id="22" name="Text 17"/>
          <p:cNvSpPr/>
          <p:nvPr/>
        </p:nvSpPr>
        <p:spPr>
          <a:xfrm>
            <a:off x="4846320" y="3639312"/>
            <a:ext cx="3566160" cy="411480"/>
          </a:xfrm>
          <a:prstGeom prst="rect">
            <a:avLst/>
          </a:prstGeom>
          <a:noFill/>
          <a:ln/>
        </p:spPr>
        <p:txBody>
          <a:bodyPr wrap="square" rtlCol="0" anchor="ctr"/>
          <a:lstStyle/>
          <a:p>
            <a:pPr algn="ctr" indent="0" marL="0">
              <a:buNone/>
            </a:pPr>
            <a:r>
              <a:rPr lang="en-US" sz="1050" dirty="0">
                <a:solidFill>
                  <a:srgbClr val="10B981"/>
                </a:solidFill>
                <a:latin typeface="Calibri" pitchFamily="34" charset="0"/>
                <a:ea typeface="Calibri" pitchFamily="34" charset="-122"/>
                <a:cs typeface="Calibri" pitchFamily="34" charset="-120"/>
              </a:rPr>
              <a:t>Lambda can assume the role</a:t>
            </a:r>
            <a:endParaRPr lang="en-US" sz="1050" dirty="0"/>
          </a:p>
          <a:p>
            <a:pPr algn="ctr" indent="0" marL="0">
              <a:buNone/>
            </a:pPr>
            <a:r>
              <a:rPr lang="en-US" sz="1050" dirty="0">
                <a:solidFill>
                  <a:srgbClr val="10B981"/>
                </a:solidFill>
                <a:latin typeface="Calibri" pitchFamily="34" charset="0"/>
                <a:ea typeface="Calibri" pitchFamily="34" charset="-122"/>
                <a:cs typeface="Calibri" pitchFamily="34" charset="-120"/>
              </a:rPr>
              <a:t>and start executing</a:t>
            </a:r>
            <a:endParaRPr lang="en-US" sz="1050" dirty="0"/>
          </a:p>
        </p:txBody>
      </p:sp>
      <p:sp>
        <p:nvSpPr>
          <p:cNvPr id="23" name="Shape 18"/>
          <p:cNvSpPr/>
          <p:nvPr/>
        </p:nvSpPr>
        <p:spPr>
          <a:xfrm>
            <a:off x="457200" y="4224528"/>
            <a:ext cx="8229600" cy="548640"/>
          </a:xfrm>
          <a:prstGeom prst="rect">
            <a:avLst/>
          </a:prstGeom>
          <a:solidFill>
            <a:srgbClr val="1E3A5F"/>
          </a:solidFill>
          <a:ln w="12700">
            <a:solidFill>
              <a:srgbClr val="1E3A5F"/>
            </a:solidFill>
            <a:prstDash val="solid"/>
          </a:ln>
        </p:spPr>
      </p:sp>
      <p:sp>
        <p:nvSpPr>
          <p:cNvPr id="24" name="Text 19"/>
          <p:cNvSpPr/>
          <p:nvPr/>
        </p:nvSpPr>
        <p:spPr>
          <a:xfrm>
            <a:off x="640080" y="4288536"/>
            <a:ext cx="1371600" cy="292608"/>
          </a:xfrm>
          <a:prstGeom prst="rect">
            <a:avLst/>
          </a:prstGeom>
          <a:noFill/>
          <a:ln/>
        </p:spPr>
        <p:txBody>
          <a:bodyPr wrap="square" lIns="0" tIns="0" rIns="0" bIns="0" rtlCol="0" anchor="ctr"/>
          <a:lstStyle/>
          <a:p>
            <a:pPr indent="0" marL="0">
              <a:buNone/>
            </a:pPr>
            <a:r>
              <a:rPr lang="en-US" sz="1150" b="1" dirty="0">
                <a:solidFill>
                  <a:srgbClr val="00B4D8"/>
                </a:solidFill>
                <a:latin typeface="Calibri" pitchFamily="34" charset="0"/>
                <a:ea typeface="Calibri" pitchFamily="34" charset="-122"/>
                <a:cs typeface="Calibri" pitchFamily="34" charset="-120"/>
              </a:rPr>
              <a:t>Key Principle: </a:t>
            </a:r>
            <a:endParaRPr lang="en-US" sz="1150" dirty="0"/>
          </a:p>
        </p:txBody>
      </p:sp>
      <p:sp>
        <p:nvSpPr>
          <p:cNvPr id="25" name="Text 20"/>
          <p:cNvSpPr/>
          <p:nvPr/>
        </p:nvSpPr>
        <p:spPr>
          <a:xfrm>
            <a:off x="1874520" y="4288536"/>
            <a:ext cx="6583680" cy="34747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Each AWS service has its own Principal identifier. The trust policy must match the service that will use the role. Copying an EC2 role template and forgetting to update the Principal is the most common cause of this exact bug.</a:t>
            </a:r>
            <a:endParaRPr lang="en-US" sz="1100" dirty="0"/>
          </a:p>
        </p:txBody>
      </p:sp>
      <p:sp>
        <p:nvSpPr>
          <p:cNvPr id="26" name="Shape 21"/>
          <p:cNvSpPr/>
          <p:nvPr/>
        </p:nvSpPr>
        <p:spPr>
          <a:xfrm>
            <a:off x="0" y="4892040"/>
            <a:ext cx="9144000" cy="251460"/>
          </a:xfrm>
          <a:prstGeom prst="rect">
            <a:avLst/>
          </a:prstGeom>
          <a:solidFill>
            <a:srgbClr val="1A2E45"/>
          </a:solidFill>
          <a:ln w="12700">
            <a:solidFill>
              <a:srgbClr val="1A2E45"/>
            </a:solidFill>
            <a:prstDash val="solid"/>
          </a:ln>
        </p:spPr>
      </p:sp>
      <p:sp>
        <p:nvSpPr>
          <p:cNvPr id="27" name="Text 22"/>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28" name="Text 23"/>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Lab 067 — Bug 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LAB 067 — BUG 2</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Bug 2: Missing CloudWatch Logs Permissions</a:t>
            </a:r>
            <a:endParaRPr lang="en-US" sz="2600" dirty="0"/>
          </a:p>
        </p:txBody>
      </p:sp>
      <p:sp>
        <p:nvSpPr>
          <p:cNvPr id="5" name="Shape 3"/>
          <p:cNvSpPr/>
          <p:nvPr/>
        </p:nvSpPr>
        <p:spPr>
          <a:xfrm>
            <a:off x="457200" y="1261872"/>
            <a:ext cx="8229600" cy="512064"/>
          </a:xfrm>
          <a:prstGeom prst="rect">
            <a:avLst/>
          </a:prstGeom>
          <a:solidFill>
            <a:srgbClr val="1E3A5F"/>
          </a:solidFill>
          <a:ln w="12700">
            <a:solidFill>
              <a:srgbClr val="1E3A5F"/>
            </a:solidFill>
            <a:prstDash val="solid"/>
          </a:ln>
        </p:spPr>
      </p:sp>
      <p:sp>
        <p:nvSpPr>
          <p:cNvPr id="6" name="Shape 4"/>
          <p:cNvSpPr/>
          <p:nvPr/>
        </p:nvSpPr>
        <p:spPr>
          <a:xfrm>
            <a:off x="603504" y="1316736"/>
            <a:ext cx="402336" cy="402336"/>
          </a:xfrm>
          <a:prstGeom prst="ellipse">
            <a:avLst/>
          </a:prstGeom>
          <a:solidFill>
            <a:srgbClr val="00B4D8"/>
          </a:solidFill>
          <a:ln w="1270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683971" y="1397203"/>
            <a:ext cx="241402" cy="241402"/>
          </a:xfrm>
          <a:prstGeom prst="rect">
            <a:avLst/>
          </a:prstGeom>
        </p:spPr>
      </p:pic>
      <p:sp>
        <p:nvSpPr>
          <p:cNvPr id="8" name="Text 5"/>
          <p:cNvSpPr/>
          <p:nvPr/>
        </p:nvSpPr>
        <p:spPr>
          <a:xfrm>
            <a:off x="1115568" y="1316736"/>
            <a:ext cx="731520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Even if Bug 1 were fixed, the ticket still says 'no logs.' Without CloudWatch Logs permissions, Lambda runs silently — no output, no errors, nothing to debug with. This is a career-ending omission in production.</a:t>
            </a:r>
            <a:endParaRPr lang="en-US" sz="1150" dirty="0"/>
          </a:p>
        </p:txBody>
      </p:sp>
      <p:sp>
        <p:nvSpPr>
          <p:cNvPr id="9" name="Shape 6"/>
          <p:cNvSpPr/>
          <p:nvPr/>
        </p:nvSpPr>
        <p:spPr>
          <a:xfrm>
            <a:off x="457200" y="1883664"/>
            <a:ext cx="3977640" cy="2834640"/>
          </a:xfrm>
          <a:prstGeom prst="rect">
            <a:avLst/>
          </a:prstGeom>
          <a:solidFill>
            <a:srgbClr val="1A2E45"/>
          </a:solidFill>
          <a:ln w="12700">
            <a:solidFill>
              <a:srgbClr val="1A2E45"/>
            </a:solidFill>
            <a:prstDash val="solid"/>
          </a:ln>
        </p:spPr>
      </p:sp>
      <p:sp>
        <p:nvSpPr>
          <p:cNvPr id="10" name="Shape 7"/>
          <p:cNvSpPr/>
          <p:nvPr/>
        </p:nvSpPr>
        <p:spPr>
          <a:xfrm>
            <a:off x="457200" y="1883664"/>
            <a:ext cx="3977640" cy="45720"/>
          </a:xfrm>
          <a:prstGeom prst="rect">
            <a:avLst/>
          </a:prstGeom>
          <a:solidFill>
            <a:srgbClr val="EF4444"/>
          </a:solidFill>
          <a:ln w="12700">
            <a:solidFill>
              <a:srgbClr val="EF4444"/>
            </a:solidFill>
            <a:prstDash val="solid"/>
          </a:ln>
        </p:spPr>
      </p:sp>
      <p:sp>
        <p:nvSpPr>
          <p:cNvPr id="11" name="Text 8"/>
          <p:cNvSpPr/>
          <p:nvPr/>
        </p:nvSpPr>
        <p:spPr>
          <a:xfrm>
            <a:off x="594360" y="1956816"/>
            <a:ext cx="3703320" cy="274320"/>
          </a:xfrm>
          <a:prstGeom prst="rect">
            <a:avLst/>
          </a:prstGeom>
          <a:noFill/>
          <a:ln/>
        </p:spPr>
        <p:txBody>
          <a:bodyPr wrap="square"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BROKEN — Policy only has:</a:t>
            </a:r>
            <a:endParaRPr lang="en-US" sz="1200" dirty="0"/>
          </a:p>
        </p:txBody>
      </p:sp>
      <p:sp>
        <p:nvSpPr>
          <p:cNvPr id="12" name="Text 9"/>
          <p:cNvSpPr/>
          <p:nvPr/>
        </p:nvSpPr>
        <p:spPr>
          <a:xfrm>
            <a:off x="594360" y="2304288"/>
            <a:ext cx="3703320" cy="822960"/>
          </a:xfrm>
          <a:prstGeom prst="rect">
            <a:avLst/>
          </a:prstGeom>
          <a:noFill/>
          <a:ln/>
        </p:spPr>
        <p:txBody>
          <a:bodyPr wrap="square"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Action = ["s3:GetObject"]</a:t>
            </a:r>
            <a:endParaRPr lang="en-US" sz="1100" dirty="0"/>
          </a:p>
          <a:p>
            <a:pPr indent="0" marL="0">
              <a:buNone/>
            </a:pPr>
            <a:endParaRPr lang="en-US" sz="1100" dirty="0"/>
          </a:p>
          <a:p>
            <a:pPr indent="0" marL="0">
              <a:buNone/>
            </a:pPr>
            <a:r>
              <a:rPr lang="en-US" sz="1100" dirty="0">
                <a:solidFill>
                  <a:srgbClr val="CBD5E1"/>
                </a:solidFill>
                <a:latin typeface="Consolas" pitchFamily="34" charset="0"/>
                <a:ea typeface="Consolas" pitchFamily="34" charset="-122"/>
                <a:cs typeface="Consolas" pitchFamily="34" charset="-120"/>
              </a:rPr>
              <a:t>// No logs permissions.</a:t>
            </a:r>
            <a:endParaRPr lang="en-US" sz="1100" dirty="0"/>
          </a:p>
          <a:p>
            <a:pPr indent="0" marL="0">
              <a:buNone/>
            </a:pPr>
            <a:r>
              <a:rPr lang="en-US" sz="1100" dirty="0">
                <a:solidFill>
                  <a:srgbClr val="CBD5E1"/>
                </a:solidFill>
                <a:latin typeface="Consolas" pitchFamily="34" charset="0"/>
                <a:ea typeface="Consolas" pitchFamily="34" charset="-122"/>
                <a:cs typeface="Consolas" pitchFamily="34" charset="-120"/>
              </a:rPr>
              <a:t>// Function is mute.</a:t>
            </a:r>
            <a:endParaRPr lang="en-US" sz="1100" dirty="0"/>
          </a:p>
        </p:txBody>
      </p:sp>
      <p:sp>
        <p:nvSpPr>
          <p:cNvPr id="13" name="Text 10"/>
          <p:cNvSpPr/>
          <p:nvPr/>
        </p:nvSpPr>
        <p:spPr>
          <a:xfrm>
            <a:off x="594360" y="3200400"/>
            <a:ext cx="3703320" cy="27432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What happens without log permissions:</a:t>
            </a:r>
            <a:endParaRPr lang="en-US" sz="1100" dirty="0"/>
          </a:p>
        </p:txBody>
      </p:sp>
      <p:sp>
        <p:nvSpPr>
          <p:cNvPr id="14" name="Shape 11"/>
          <p:cNvSpPr/>
          <p:nvPr/>
        </p:nvSpPr>
        <p:spPr>
          <a:xfrm>
            <a:off x="658368" y="3438144"/>
            <a:ext cx="292608" cy="292608"/>
          </a:xfrm>
          <a:prstGeom prst="ellipse">
            <a:avLst/>
          </a:prstGeom>
          <a:solidFill>
            <a:srgbClr val="00B4D8"/>
          </a:solidFill>
          <a:ln w="12700">
            <a:solidFill>
              <a:srgbClr val="00B4D8"/>
            </a:solidFill>
            <a:prstDash val="solid"/>
          </a:ln>
        </p:spPr>
      </p:sp>
      <p:pic>
        <p:nvPicPr>
          <p:cNvPr id="15" name="Image 1" descr="preencoded.png">    </p:cNvPr>
          <p:cNvPicPr>
            <a:picLocks noChangeAspect="1"/>
          </p:cNvPicPr>
          <p:nvPr/>
        </p:nvPicPr>
        <p:blipFill>
          <a:blip r:embed="rId2"/>
          <a:stretch>
            <a:fillRect/>
          </a:stretch>
        </p:blipFill>
        <p:spPr>
          <a:xfrm>
            <a:off x="716890" y="3496666"/>
            <a:ext cx="175565" cy="175565"/>
          </a:xfrm>
          <a:prstGeom prst="rect">
            <a:avLst/>
          </a:prstGeom>
        </p:spPr>
      </p:pic>
      <p:sp>
        <p:nvSpPr>
          <p:cNvPr id="16" name="Text 12"/>
          <p:cNvSpPr/>
          <p:nvPr/>
        </p:nvSpPr>
        <p:spPr>
          <a:xfrm>
            <a:off x="1042416" y="3493008"/>
            <a:ext cx="3200400" cy="256032"/>
          </a:xfrm>
          <a:prstGeom prst="rect">
            <a:avLst/>
          </a:prstGeom>
          <a:noFill/>
          <a:ln/>
        </p:spPr>
        <p:txBody>
          <a:bodyPr wrap="square" rtlCol="0" anchor="ctr"/>
          <a:lstStyle/>
          <a:p>
            <a:pPr indent="0" marL="0">
              <a:buNone/>
            </a:pPr>
            <a:r>
              <a:rPr lang="en-US" sz="1050" dirty="0">
                <a:solidFill>
                  <a:srgbClr val="EF4444"/>
                </a:solidFill>
                <a:latin typeface="Calibri" pitchFamily="34" charset="0"/>
                <a:ea typeface="Calibri" pitchFamily="34" charset="-122"/>
                <a:cs typeface="Calibri" pitchFamily="34" charset="-120"/>
              </a:rPr>
              <a:t>Cannot create log group</a:t>
            </a:r>
            <a:endParaRPr lang="en-US" sz="1050" dirty="0"/>
          </a:p>
        </p:txBody>
      </p:sp>
      <p:sp>
        <p:nvSpPr>
          <p:cNvPr id="17" name="Shape 13"/>
          <p:cNvSpPr/>
          <p:nvPr/>
        </p:nvSpPr>
        <p:spPr>
          <a:xfrm>
            <a:off x="658368" y="3758184"/>
            <a:ext cx="292608" cy="292608"/>
          </a:xfrm>
          <a:prstGeom prst="ellipse">
            <a:avLst/>
          </a:prstGeom>
          <a:solidFill>
            <a:srgbClr val="00B4D8"/>
          </a:solidFill>
          <a:ln w="12700">
            <a:solidFill>
              <a:srgbClr val="00B4D8"/>
            </a:solidFill>
            <a:prstDash val="solid"/>
          </a:ln>
        </p:spPr>
      </p:sp>
      <p:pic>
        <p:nvPicPr>
          <p:cNvPr id="18" name="Image 2" descr="preencoded.png">    </p:cNvPr>
          <p:cNvPicPr>
            <a:picLocks noChangeAspect="1"/>
          </p:cNvPicPr>
          <p:nvPr/>
        </p:nvPicPr>
        <p:blipFill>
          <a:blip r:embed="rId3"/>
          <a:stretch>
            <a:fillRect/>
          </a:stretch>
        </p:blipFill>
        <p:spPr>
          <a:xfrm>
            <a:off x="716890" y="3816706"/>
            <a:ext cx="175565" cy="175565"/>
          </a:xfrm>
          <a:prstGeom prst="rect">
            <a:avLst/>
          </a:prstGeom>
        </p:spPr>
      </p:pic>
      <p:sp>
        <p:nvSpPr>
          <p:cNvPr id="19" name="Text 14"/>
          <p:cNvSpPr/>
          <p:nvPr/>
        </p:nvSpPr>
        <p:spPr>
          <a:xfrm>
            <a:off x="1042416" y="3813048"/>
            <a:ext cx="3200400" cy="256032"/>
          </a:xfrm>
          <a:prstGeom prst="rect">
            <a:avLst/>
          </a:prstGeom>
          <a:noFill/>
          <a:ln/>
        </p:spPr>
        <p:txBody>
          <a:bodyPr wrap="square" rtlCol="0" anchor="ctr"/>
          <a:lstStyle/>
          <a:p>
            <a:pPr indent="0" marL="0">
              <a:buNone/>
            </a:pPr>
            <a:r>
              <a:rPr lang="en-US" sz="1050" dirty="0">
                <a:solidFill>
                  <a:srgbClr val="EF4444"/>
                </a:solidFill>
                <a:latin typeface="Calibri" pitchFamily="34" charset="0"/>
                <a:ea typeface="Calibri" pitchFamily="34" charset="-122"/>
                <a:cs typeface="Calibri" pitchFamily="34" charset="-120"/>
              </a:rPr>
              <a:t>Cannot create log stream</a:t>
            </a:r>
            <a:endParaRPr lang="en-US" sz="1050" dirty="0"/>
          </a:p>
        </p:txBody>
      </p:sp>
      <p:sp>
        <p:nvSpPr>
          <p:cNvPr id="20" name="Shape 15"/>
          <p:cNvSpPr/>
          <p:nvPr/>
        </p:nvSpPr>
        <p:spPr>
          <a:xfrm>
            <a:off x="658368" y="4078224"/>
            <a:ext cx="292608" cy="292608"/>
          </a:xfrm>
          <a:prstGeom prst="ellipse">
            <a:avLst/>
          </a:prstGeom>
          <a:solidFill>
            <a:srgbClr val="00B4D8"/>
          </a:solidFill>
          <a:ln w="12700">
            <a:solidFill>
              <a:srgbClr val="00B4D8"/>
            </a:solidFill>
            <a:prstDash val="solid"/>
          </a:ln>
        </p:spPr>
      </p:sp>
      <p:pic>
        <p:nvPicPr>
          <p:cNvPr id="21" name="Image 3" descr="preencoded.png">    </p:cNvPr>
          <p:cNvPicPr>
            <a:picLocks noChangeAspect="1"/>
          </p:cNvPicPr>
          <p:nvPr/>
        </p:nvPicPr>
        <p:blipFill>
          <a:blip r:embed="rId4"/>
          <a:stretch>
            <a:fillRect/>
          </a:stretch>
        </p:blipFill>
        <p:spPr>
          <a:xfrm>
            <a:off x="716890" y="4136746"/>
            <a:ext cx="175565" cy="175565"/>
          </a:xfrm>
          <a:prstGeom prst="rect">
            <a:avLst/>
          </a:prstGeom>
        </p:spPr>
      </p:pic>
      <p:sp>
        <p:nvSpPr>
          <p:cNvPr id="22" name="Text 16"/>
          <p:cNvSpPr/>
          <p:nvPr/>
        </p:nvSpPr>
        <p:spPr>
          <a:xfrm>
            <a:off x="1042416" y="4133088"/>
            <a:ext cx="3200400" cy="256032"/>
          </a:xfrm>
          <a:prstGeom prst="rect">
            <a:avLst/>
          </a:prstGeom>
          <a:noFill/>
          <a:ln/>
        </p:spPr>
        <p:txBody>
          <a:bodyPr wrap="square" rtlCol="0" anchor="ctr"/>
          <a:lstStyle/>
          <a:p>
            <a:pPr indent="0" marL="0">
              <a:buNone/>
            </a:pPr>
            <a:r>
              <a:rPr lang="en-US" sz="1050" dirty="0">
                <a:solidFill>
                  <a:srgbClr val="EF4444"/>
                </a:solidFill>
                <a:latin typeface="Calibri" pitchFamily="34" charset="0"/>
                <a:ea typeface="Calibri" pitchFamily="34" charset="-122"/>
                <a:cs typeface="Calibri" pitchFamily="34" charset="-120"/>
              </a:rPr>
              <a:t>Cannot write any output</a:t>
            </a:r>
            <a:endParaRPr lang="en-US" sz="1050" dirty="0"/>
          </a:p>
        </p:txBody>
      </p:sp>
      <p:sp>
        <p:nvSpPr>
          <p:cNvPr id="23" name="Shape 17"/>
          <p:cNvSpPr/>
          <p:nvPr/>
        </p:nvSpPr>
        <p:spPr>
          <a:xfrm>
            <a:off x="658368" y="4398264"/>
            <a:ext cx="292608" cy="292608"/>
          </a:xfrm>
          <a:prstGeom prst="ellipse">
            <a:avLst/>
          </a:prstGeom>
          <a:solidFill>
            <a:srgbClr val="00B4D8"/>
          </a:solidFill>
          <a:ln w="12700">
            <a:solidFill>
              <a:srgbClr val="00B4D8"/>
            </a:solidFill>
            <a:prstDash val="solid"/>
          </a:ln>
        </p:spPr>
      </p:sp>
      <p:pic>
        <p:nvPicPr>
          <p:cNvPr id="24" name="Image 4" descr="preencoded.png">    </p:cNvPr>
          <p:cNvPicPr>
            <a:picLocks noChangeAspect="1"/>
          </p:cNvPicPr>
          <p:nvPr/>
        </p:nvPicPr>
        <p:blipFill>
          <a:blip r:embed="rId5"/>
          <a:stretch>
            <a:fillRect/>
          </a:stretch>
        </p:blipFill>
        <p:spPr>
          <a:xfrm>
            <a:off x="716890" y="4456786"/>
            <a:ext cx="175565" cy="175565"/>
          </a:xfrm>
          <a:prstGeom prst="rect">
            <a:avLst/>
          </a:prstGeom>
        </p:spPr>
      </p:pic>
      <p:sp>
        <p:nvSpPr>
          <p:cNvPr id="25" name="Text 18"/>
          <p:cNvSpPr/>
          <p:nvPr/>
        </p:nvSpPr>
        <p:spPr>
          <a:xfrm>
            <a:off x="1042416" y="4453128"/>
            <a:ext cx="3200400" cy="256032"/>
          </a:xfrm>
          <a:prstGeom prst="rect">
            <a:avLst/>
          </a:prstGeom>
          <a:noFill/>
          <a:ln/>
        </p:spPr>
        <p:txBody>
          <a:bodyPr wrap="square" rtlCol="0" anchor="ctr"/>
          <a:lstStyle/>
          <a:p>
            <a:pPr indent="0" marL="0">
              <a:buNone/>
            </a:pPr>
            <a:r>
              <a:rPr lang="en-US" sz="1050" dirty="0">
                <a:solidFill>
                  <a:srgbClr val="EF4444"/>
                </a:solidFill>
                <a:latin typeface="Calibri" pitchFamily="34" charset="0"/>
                <a:ea typeface="Calibri" pitchFamily="34" charset="-122"/>
                <a:cs typeface="Calibri" pitchFamily="34" charset="-120"/>
              </a:rPr>
              <a:t>Debugging is impossible</a:t>
            </a:r>
            <a:endParaRPr lang="en-US" sz="1050" dirty="0"/>
          </a:p>
        </p:txBody>
      </p:sp>
      <p:sp>
        <p:nvSpPr>
          <p:cNvPr id="26" name="Shape 19"/>
          <p:cNvSpPr/>
          <p:nvPr/>
        </p:nvSpPr>
        <p:spPr>
          <a:xfrm>
            <a:off x="4709160" y="1883664"/>
            <a:ext cx="3977640" cy="2834640"/>
          </a:xfrm>
          <a:prstGeom prst="rect">
            <a:avLst/>
          </a:prstGeom>
          <a:solidFill>
            <a:srgbClr val="1A2E45"/>
          </a:solidFill>
          <a:ln w="12700">
            <a:solidFill>
              <a:srgbClr val="1A2E45"/>
            </a:solidFill>
            <a:prstDash val="solid"/>
          </a:ln>
        </p:spPr>
      </p:sp>
      <p:sp>
        <p:nvSpPr>
          <p:cNvPr id="27" name="Shape 20"/>
          <p:cNvSpPr/>
          <p:nvPr/>
        </p:nvSpPr>
        <p:spPr>
          <a:xfrm>
            <a:off x="4709160" y="1883664"/>
            <a:ext cx="3977640" cy="45720"/>
          </a:xfrm>
          <a:prstGeom prst="rect">
            <a:avLst/>
          </a:prstGeom>
          <a:solidFill>
            <a:srgbClr val="10B981"/>
          </a:solidFill>
          <a:ln w="12700">
            <a:solidFill>
              <a:srgbClr val="10B981"/>
            </a:solidFill>
            <a:prstDash val="solid"/>
          </a:ln>
        </p:spPr>
      </p:sp>
      <p:sp>
        <p:nvSpPr>
          <p:cNvPr id="28" name="Text 21"/>
          <p:cNvSpPr/>
          <p:nvPr/>
        </p:nvSpPr>
        <p:spPr>
          <a:xfrm>
            <a:off x="4846320" y="1956816"/>
            <a:ext cx="3703320" cy="27432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FIXED — Add second statement:</a:t>
            </a:r>
            <a:endParaRPr lang="en-US" sz="1200" dirty="0"/>
          </a:p>
        </p:txBody>
      </p:sp>
      <p:sp>
        <p:nvSpPr>
          <p:cNvPr id="29" name="Text 22"/>
          <p:cNvSpPr/>
          <p:nvPr/>
        </p:nvSpPr>
        <p:spPr>
          <a:xfrm>
            <a:off x="4846320" y="2304288"/>
            <a:ext cx="3703320" cy="1005840"/>
          </a:xfrm>
          <a:prstGeom prst="rect">
            <a:avLst/>
          </a:prstGeom>
          <a:noFill/>
          <a:ln/>
        </p:spPr>
        <p:txBody>
          <a:bodyPr wrap="square" rtlCol="0" anchor="ctr"/>
          <a:lstStyle/>
          <a:p>
            <a:pPr indent="0" marL="0">
              <a:buNone/>
            </a:pPr>
            <a:r>
              <a:rPr lang="en-US" sz="1100" dirty="0">
                <a:solidFill>
                  <a:srgbClr val="10B981"/>
                </a:solidFill>
                <a:latin typeface="Consolas" pitchFamily="34" charset="0"/>
                <a:ea typeface="Consolas" pitchFamily="34" charset="-122"/>
                <a:cs typeface="Consolas" pitchFamily="34" charset="-120"/>
              </a:rPr>
              <a:t>"logs:CreateLogGroup",</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"logs:CreateLogStream",</a:t>
            </a: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"logs:PutLogEvents"</a:t>
            </a:r>
            <a:endParaRPr lang="en-US" sz="1100" dirty="0"/>
          </a:p>
          <a:p>
            <a:pPr indent="0" marL="0">
              <a:buNone/>
            </a:pPr>
            <a:endParaRPr lang="en-US" sz="1100" dirty="0"/>
          </a:p>
          <a:p>
            <a:pPr indent="0" marL="0">
              <a:buNone/>
            </a:pPr>
            <a:r>
              <a:rPr lang="en-US" sz="1100" dirty="0">
                <a:solidFill>
                  <a:srgbClr val="10B981"/>
                </a:solidFill>
                <a:latin typeface="Consolas" pitchFamily="34" charset="0"/>
                <a:ea typeface="Consolas" pitchFamily="34" charset="-122"/>
                <a:cs typeface="Consolas" pitchFamily="34" charset="-120"/>
              </a:rPr>
              <a:t>Resource = "arn:aws:logs:*:*:*"</a:t>
            </a:r>
            <a:endParaRPr lang="en-US" sz="1100" dirty="0"/>
          </a:p>
        </p:txBody>
      </p:sp>
      <p:sp>
        <p:nvSpPr>
          <p:cNvPr id="30" name="Text 23"/>
          <p:cNvSpPr/>
          <p:nvPr/>
        </p:nvSpPr>
        <p:spPr>
          <a:xfrm>
            <a:off x="4846320" y="3401568"/>
            <a:ext cx="3703320" cy="274320"/>
          </a:xfrm>
          <a:prstGeom prst="rect">
            <a:avLst/>
          </a:prstGeom>
          <a:noFill/>
          <a:ln/>
        </p:spPr>
        <p:txBody>
          <a:bodyPr wrap="square"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Production shortcut:</a:t>
            </a:r>
            <a:endParaRPr lang="en-US" sz="1100" dirty="0"/>
          </a:p>
        </p:txBody>
      </p:sp>
      <p:sp>
        <p:nvSpPr>
          <p:cNvPr id="31" name="Text 24"/>
          <p:cNvSpPr/>
          <p:nvPr/>
        </p:nvSpPr>
        <p:spPr>
          <a:xfrm>
            <a:off x="4846320" y="3712464"/>
            <a:ext cx="3703320" cy="59436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Use AWS managed policy AWSLambdaBasicExecutionRole — contains exactly these three permissions, maintained by AWS.</a:t>
            </a:r>
            <a:endParaRPr lang="en-US" sz="1050" dirty="0"/>
          </a:p>
        </p:txBody>
      </p:sp>
      <p:sp>
        <p:nvSpPr>
          <p:cNvPr id="32" name="Shape 25"/>
          <p:cNvSpPr/>
          <p:nvPr/>
        </p:nvSpPr>
        <p:spPr>
          <a:xfrm>
            <a:off x="0" y="4892040"/>
            <a:ext cx="9144000" cy="251460"/>
          </a:xfrm>
          <a:prstGeom prst="rect">
            <a:avLst/>
          </a:prstGeom>
          <a:solidFill>
            <a:srgbClr val="1A2E45"/>
          </a:solidFill>
          <a:ln w="12700">
            <a:solidFill>
              <a:srgbClr val="1A2E45"/>
            </a:solidFill>
            <a:prstDash val="solid"/>
          </a:ln>
        </p:spPr>
      </p:sp>
      <p:sp>
        <p:nvSpPr>
          <p:cNvPr id="33" name="Text 26"/>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34" name="Text 27"/>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Lab 067 — Bug 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LAB 067 — BUG 3</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Bug 3: No S3 Trigger Configuration</a:t>
            </a:r>
            <a:endParaRPr lang="en-US" sz="2600" dirty="0"/>
          </a:p>
        </p:txBody>
      </p:sp>
      <p:sp>
        <p:nvSpPr>
          <p:cNvPr id="5" name="Shape 3"/>
          <p:cNvSpPr/>
          <p:nvPr/>
        </p:nvSpPr>
        <p:spPr>
          <a:xfrm>
            <a:off x="457200" y="1261872"/>
            <a:ext cx="8229600" cy="512064"/>
          </a:xfrm>
          <a:prstGeom prst="rect">
            <a:avLst/>
          </a:prstGeom>
          <a:solidFill>
            <a:srgbClr val="1E3A5F"/>
          </a:solidFill>
          <a:ln w="12700">
            <a:solidFill>
              <a:srgbClr val="1E3A5F"/>
            </a:solidFill>
            <a:prstDash val="solid"/>
          </a:ln>
        </p:spPr>
      </p:sp>
      <p:sp>
        <p:nvSpPr>
          <p:cNvPr id="6" name="Shape 4"/>
          <p:cNvSpPr/>
          <p:nvPr/>
        </p:nvSpPr>
        <p:spPr>
          <a:xfrm>
            <a:off x="603504" y="1316736"/>
            <a:ext cx="402336" cy="402336"/>
          </a:xfrm>
          <a:prstGeom prst="ellipse">
            <a:avLst/>
          </a:prstGeom>
          <a:solidFill>
            <a:srgbClr val="00B4D8"/>
          </a:solidFill>
          <a:ln w="12700">
            <a:solidFill>
              <a:srgbClr val="00B4D8"/>
            </a:solidFill>
            <a:prstDash val="solid"/>
          </a:ln>
        </p:spPr>
      </p:sp>
      <p:pic>
        <p:nvPicPr>
          <p:cNvPr id="7" name="Image 0" descr="preencoded.png">    </p:cNvPr>
          <p:cNvPicPr>
            <a:picLocks noChangeAspect="1"/>
          </p:cNvPicPr>
          <p:nvPr/>
        </p:nvPicPr>
        <p:blipFill>
          <a:blip r:embed="rId1"/>
          <a:stretch>
            <a:fillRect/>
          </a:stretch>
        </p:blipFill>
        <p:spPr>
          <a:xfrm>
            <a:off x="683971" y="1397203"/>
            <a:ext cx="241402" cy="241402"/>
          </a:xfrm>
          <a:prstGeom prst="rect">
            <a:avLst/>
          </a:prstGeom>
        </p:spPr>
      </p:pic>
      <p:sp>
        <p:nvSpPr>
          <p:cNvPr id="8" name="Text 5"/>
          <p:cNvSpPr/>
          <p:nvPr/>
        </p:nvSpPr>
        <p:spPr>
          <a:xfrm>
            <a:off x="1115568" y="1316736"/>
            <a:ext cx="7315200" cy="402336"/>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Even with a perfect IAM role, S3 has no idea Lambda exists. Two resources are both missing — without either one, no event is ever sent and Lambda never runs.</a:t>
            </a:r>
            <a:endParaRPr lang="en-US" sz="1150" dirty="0"/>
          </a:p>
        </p:txBody>
      </p:sp>
      <p:sp>
        <p:nvSpPr>
          <p:cNvPr id="9" name="Shape 6"/>
          <p:cNvSpPr/>
          <p:nvPr/>
        </p:nvSpPr>
        <p:spPr>
          <a:xfrm>
            <a:off x="457200" y="1883664"/>
            <a:ext cx="3977640" cy="2487168"/>
          </a:xfrm>
          <a:prstGeom prst="rect">
            <a:avLst/>
          </a:prstGeom>
          <a:solidFill>
            <a:srgbClr val="1A2E45"/>
          </a:solidFill>
          <a:ln w="12700">
            <a:solidFill>
              <a:srgbClr val="1A2E45"/>
            </a:solidFill>
            <a:prstDash val="solid"/>
          </a:ln>
        </p:spPr>
      </p:sp>
      <p:sp>
        <p:nvSpPr>
          <p:cNvPr id="10" name="Shape 7"/>
          <p:cNvSpPr/>
          <p:nvPr/>
        </p:nvSpPr>
        <p:spPr>
          <a:xfrm>
            <a:off x="457200" y="1883664"/>
            <a:ext cx="3977640" cy="45720"/>
          </a:xfrm>
          <a:prstGeom prst="rect">
            <a:avLst/>
          </a:prstGeom>
          <a:solidFill>
            <a:srgbClr val="00B4D8"/>
          </a:solidFill>
          <a:ln w="12700">
            <a:solidFill>
              <a:srgbClr val="00B4D8"/>
            </a:solidFill>
            <a:prstDash val="solid"/>
          </a:ln>
        </p:spPr>
      </p:sp>
      <p:sp>
        <p:nvSpPr>
          <p:cNvPr id="11" name="Shape 8"/>
          <p:cNvSpPr/>
          <p:nvPr/>
        </p:nvSpPr>
        <p:spPr>
          <a:xfrm>
            <a:off x="768096" y="1993392"/>
            <a:ext cx="438912" cy="438912"/>
          </a:xfrm>
          <a:prstGeom prst="ellipse">
            <a:avLst/>
          </a:prstGeom>
          <a:solidFill>
            <a:srgbClr val="00B4D8"/>
          </a:solidFill>
          <a:ln w="12700">
            <a:solidFill>
              <a:srgbClr val="00B4D8"/>
            </a:solidFill>
            <a:prstDash val="solid"/>
          </a:ln>
        </p:spPr>
      </p:sp>
      <p:pic>
        <p:nvPicPr>
          <p:cNvPr id="12" name="Image 1" descr="preencoded.png">    </p:cNvPr>
          <p:cNvPicPr>
            <a:picLocks noChangeAspect="1"/>
          </p:cNvPicPr>
          <p:nvPr/>
        </p:nvPicPr>
        <p:blipFill>
          <a:blip r:embed="rId2"/>
          <a:stretch>
            <a:fillRect/>
          </a:stretch>
        </p:blipFill>
        <p:spPr>
          <a:xfrm>
            <a:off x="855878" y="2081174"/>
            <a:ext cx="263347" cy="263347"/>
          </a:xfrm>
          <a:prstGeom prst="rect">
            <a:avLst/>
          </a:prstGeom>
        </p:spPr>
      </p:pic>
      <p:sp>
        <p:nvSpPr>
          <p:cNvPr id="13" name="Text 9"/>
          <p:cNvSpPr/>
          <p:nvPr/>
        </p:nvSpPr>
        <p:spPr>
          <a:xfrm>
            <a:off x="1316736" y="2029968"/>
            <a:ext cx="2926080" cy="310896"/>
          </a:xfrm>
          <a:prstGeom prst="rect">
            <a:avLst/>
          </a:prstGeom>
          <a:noFill/>
          <a:ln/>
        </p:spPr>
        <p:txBody>
          <a:bodyPr wrap="square" lIns="0" tIns="0" rIns="0" bIns="0" rtlCol="0" anchor="ctr"/>
          <a:lstStyle/>
          <a:p>
            <a:pPr indent="0" marL="0">
              <a:buNone/>
            </a:pPr>
            <a:r>
              <a:rPr lang="en-US" sz="1250" b="1" dirty="0">
                <a:solidFill>
                  <a:srgbClr val="00B4D8"/>
                </a:solidFill>
                <a:latin typeface="Calibri" pitchFamily="34" charset="0"/>
                <a:ea typeface="Calibri" pitchFamily="34" charset="-122"/>
                <a:cs typeface="Calibri" pitchFamily="34" charset="-120"/>
              </a:rPr>
              <a:t>aws_lambda_permission</a:t>
            </a:r>
            <a:endParaRPr lang="en-US" sz="1250" dirty="0"/>
          </a:p>
        </p:txBody>
      </p:sp>
      <p:sp>
        <p:nvSpPr>
          <p:cNvPr id="14" name="Text 10"/>
          <p:cNvSpPr/>
          <p:nvPr/>
        </p:nvSpPr>
        <p:spPr>
          <a:xfrm>
            <a:off x="594360" y="2423160"/>
            <a:ext cx="3703320" cy="256032"/>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The key to the front door.</a:t>
            </a:r>
            <a:endParaRPr lang="en-US" sz="1100" dirty="0"/>
          </a:p>
        </p:txBody>
      </p:sp>
      <p:sp>
        <p:nvSpPr>
          <p:cNvPr id="15" name="Text 11"/>
          <p:cNvSpPr/>
          <p:nvPr/>
        </p:nvSpPr>
        <p:spPr>
          <a:xfrm>
            <a:off x="594360" y="2724912"/>
            <a:ext cx="3703320" cy="621792"/>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 resource-based policy on the Lambda function itself. Grants S3 permission to invoke it. Without this, S3's call is rejected with Access Denied.</a:t>
            </a:r>
            <a:endParaRPr lang="en-US" sz="1100" dirty="0"/>
          </a:p>
        </p:txBody>
      </p:sp>
      <p:sp>
        <p:nvSpPr>
          <p:cNvPr id="16" name="Text 12"/>
          <p:cNvSpPr/>
          <p:nvPr/>
        </p:nvSpPr>
        <p:spPr>
          <a:xfrm>
            <a:off x="594360" y="3401568"/>
            <a:ext cx="3703320" cy="438912"/>
          </a:xfrm>
          <a:prstGeom prst="rect">
            <a:avLst/>
          </a:prstGeom>
          <a:noFill/>
          <a:ln/>
        </p:spPr>
        <p:txBody>
          <a:bodyPr wrap="square" rtlCol="0" anchor="ctr"/>
          <a:lstStyle/>
          <a:p>
            <a:pPr indent="0" marL="0">
              <a:buNone/>
            </a:pPr>
            <a:r>
              <a:rPr lang="en-US" sz="1050" dirty="0">
                <a:solidFill>
                  <a:srgbClr val="F59E0B"/>
                </a:solidFill>
                <a:latin typeface="Calibri" pitchFamily="34" charset="0"/>
                <a:ea typeface="Calibri" pitchFamily="34" charset="-122"/>
                <a:cs typeface="Calibri" pitchFamily="34" charset="-120"/>
              </a:rPr>
              <a:t>source_arn restricts which specific bucket may call this function — never omit it.</a:t>
            </a:r>
            <a:endParaRPr lang="en-US" sz="1050" dirty="0"/>
          </a:p>
        </p:txBody>
      </p:sp>
      <p:sp>
        <p:nvSpPr>
          <p:cNvPr id="17" name="Shape 13"/>
          <p:cNvSpPr/>
          <p:nvPr/>
        </p:nvSpPr>
        <p:spPr>
          <a:xfrm>
            <a:off x="4709160" y="1883664"/>
            <a:ext cx="3977640" cy="2487168"/>
          </a:xfrm>
          <a:prstGeom prst="rect">
            <a:avLst/>
          </a:prstGeom>
          <a:solidFill>
            <a:srgbClr val="1A2E45"/>
          </a:solidFill>
          <a:ln w="12700">
            <a:solidFill>
              <a:srgbClr val="1A2E45"/>
            </a:solidFill>
            <a:prstDash val="solid"/>
          </a:ln>
        </p:spPr>
      </p:sp>
      <p:sp>
        <p:nvSpPr>
          <p:cNvPr id="18" name="Shape 14"/>
          <p:cNvSpPr/>
          <p:nvPr/>
        </p:nvSpPr>
        <p:spPr>
          <a:xfrm>
            <a:off x="4709160" y="1883664"/>
            <a:ext cx="3977640" cy="45720"/>
          </a:xfrm>
          <a:prstGeom prst="rect">
            <a:avLst/>
          </a:prstGeom>
          <a:solidFill>
            <a:srgbClr val="00B4D8"/>
          </a:solidFill>
          <a:ln w="12700">
            <a:solidFill>
              <a:srgbClr val="00B4D8"/>
            </a:solidFill>
            <a:prstDash val="solid"/>
          </a:ln>
        </p:spPr>
      </p:sp>
      <p:sp>
        <p:nvSpPr>
          <p:cNvPr id="19" name="Shape 15"/>
          <p:cNvSpPr/>
          <p:nvPr/>
        </p:nvSpPr>
        <p:spPr>
          <a:xfrm>
            <a:off x="5020056" y="1993392"/>
            <a:ext cx="438912" cy="438912"/>
          </a:xfrm>
          <a:prstGeom prst="ellipse">
            <a:avLst/>
          </a:prstGeom>
          <a:solidFill>
            <a:srgbClr val="00B4D8"/>
          </a:solidFill>
          <a:ln w="12700">
            <a:solidFill>
              <a:srgbClr val="00B4D8"/>
            </a:solidFill>
            <a:prstDash val="solid"/>
          </a:ln>
        </p:spPr>
      </p:sp>
      <p:pic>
        <p:nvPicPr>
          <p:cNvPr id="20" name="Image 2" descr="preencoded.png">    </p:cNvPr>
          <p:cNvPicPr>
            <a:picLocks noChangeAspect="1"/>
          </p:cNvPicPr>
          <p:nvPr/>
        </p:nvPicPr>
        <p:blipFill>
          <a:blip r:embed="rId3"/>
          <a:stretch>
            <a:fillRect/>
          </a:stretch>
        </p:blipFill>
        <p:spPr>
          <a:xfrm>
            <a:off x="5107838" y="2081174"/>
            <a:ext cx="263347" cy="263347"/>
          </a:xfrm>
          <a:prstGeom prst="rect">
            <a:avLst/>
          </a:prstGeom>
        </p:spPr>
      </p:pic>
      <p:sp>
        <p:nvSpPr>
          <p:cNvPr id="21" name="Text 16"/>
          <p:cNvSpPr/>
          <p:nvPr/>
        </p:nvSpPr>
        <p:spPr>
          <a:xfrm>
            <a:off x="5568696" y="2029968"/>
            <a:ext cx="2926080" cy="310896"/>
          </a:xfrm>
          <a:prstGeom prst="rect">
            <a:avLst/>
          </a:prstGeom>
          <a:noFill/>
          <a:ln/>
        </p:spPr>
        <p:txBody>
          <a:bodyPr wrap="square" lIns="0" tIns="0" rIns="0" bIns="0" rtlCol="0" anchor="ctr"/>
          <a:lstStyle/>
          <a:p>
            <a:pPr indent="0" marL="0">
              <a:buNone/>
            </a:pPr>
            <a:r>
              <a:rPr lang="en-US" sz="1250" b="1" dirty="0">
                <a:solidFill>
                  <a:srgbClr val="00B4D8"/>
                </a:solidFill>
                <a:latin typeface="Calibri" pitchFamily="34" charset="0"/>
                <a:ea typeface="Calibri" pitchFamily="34" charset="-122"/>
                <a:cs typeface="Calibri" pitchFamily="34" charset="-120"/>
              </a:rPr>
              <a:t>aws_s3_bucket_notification</a:t>
            </a:r>
            <a:endParaRPr lang="en-US" sz="1250" dirty="0"/>
          </a:p>
        </p:txBody>
      </p:sp>
      <p:sp>
        <p:nvSpPr>
          <p:cNvPr id="22" name="Text 17"/>
          <p:cNvSpPr/>
          <p:nvPr/>
        </p:nvSpPr>
        <p:spPr>
          <a:xfrm>
            <a:off x="4846320" y="2423160"/>
            <a:ext cx="3703320" cy="256032"/>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The address card.</a:t>
            </a:r>
            <a:endParaRPr lang="en-US" sz="1100" dirty="0"/>
          </a:p>
        </p:txBody>
      </p:sp>
      <p:sp>
        <p:nvSpPr>
          <p:cNvPr id="23" name="Text 18"/>
          <p:cNvSpPr/>
          <p:nvPr/>
        </p:nvSpPr>
        <p:spPr>
          <a:xfrm>
            <a:off x="4846320" y="2724912"/>
            <a:ext cx="3703320" cy="621792"/>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Configures the S3 bucket to actually send events to Lambda. Without this, S3 doesn't even know to try — no event is ever fired.</a:t>
            </a:r>
            <a:endParaRPr lang="en-US" sz="1100" dirty="0"/>
          </a:p>
        </p:txBody>
      </p:sp>
      <p:sp>
        <p:nvSpPr>
          <p:cNvPr id="24" name="Text 19"/>
          <p:cNvSpPr/>
          <p:nvPr/>
        </p:nvSpPr>
        <p:spPr>
          <a:xfrm>
            <a:off x="4846320" y="3401568"/>
            <a:ext cx="3703320" cy="438912"/>
          </a:xfrm>
          <a:prstGeom prst="rect">
            <a:avLst/>
          </a:prstGeom>
          <a:noFill/>
          <a:ln/>
        </p:spPr>
        <p:txBody>
          <a:bodyPr wrap="square" rtlCol="0" anchor="ctr"/>
          <a:lstStyle/>
          <a:p>
            <a:pPr indent="0" marL="0">
              <a:buNone/>
            </a:pPr>
            <a:r>
              <a:rPr lang="en-US" sz="1050" dirty="0">
                <a:solidFill>
                  <a:srgbClr val="F59E0B"/>
                </a:solidFill>
                <a:latin typeface="Calibri" pitchFamily="34" charset="0"/>
                <a:ea typeface="Calibri" pitchFamily="34" charset="-122"/>
                <a:cs typeface="Calibri" pitchFamily="34" charset="-120"/>
              </a:rPr>
              <a:t>depends_on ensures the permission is created first — S3 validates it during notification setup.</a:t>
            </a:r>
            <a:endParaRPr lang="en-US" sz="1050" dirty="0"/>
          </a:p>
        </p:txBody>
      </p:sp>
      <p:sp>
        <p:nvSpPr>
          <p:cNvPr id="25" name="Shape 20"/>
          <p:cNvSpPr/>
          <p:nvPr/>
        </p:nvSpPr>
        <p:spPr>
          <a:xfrm>
            <a:off x="457200" y="4462272"/>
            <a:ext cx="8229600" cy="420624"/>
          </a:xfrm>
          <a:prstGeom prst="rect">
            <a:avLst/>
          </a:prstGeom>
          <a:solidFill>
            <a:srgbClr val="1E3A5F"/>
          </a:solidFill>
          <a:ln w="12700">
            <a:solidFill>
              <a:srgbClr val="1E3A5F"/>
            </a:solidFill>
            <a:prstDash val="solid"/>
          </a:ln>
        </p:spPr>
      </p:sp>
      <p:sp>
        <p:nvSpPr>
          <p:cNvPr id="26" name="Text 21"/>
          <p:cNvSpPr/>
          <p:nvPr/>
        </p:nvSpPr>
        <p:spPr>
          <a:xfrm>
            <a:off x="548640" y="4517136"/>
            <a:ext cx="1463040" cy="310896"/>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S3 Upload</a:t>
            </a:r>
            <a:endParaRPr lang="en-US" sz="950" dirty="0"/>
          </a:p>
        </p:txBody>
      </p:sp>
      <p:pic>
        <p:nvPicPr>
          <p:cNvPr id="27" name="Image 3" descr="preencoded.png">    </p:cNvPr>
          <p:cNvPicPr>
            <a:picLocks noChangeAspect="1"/>
          </p:cNvPicPr>
          <p:nvPr/>
        </p:nvPicPr>
        <p:blipFill>
          <a:blip r:embed="rId4"/>
          <a:stretch>
            <a:fillRect/>
          </a:stretch>
        </p:blipFill>
        <p:spPr>
          <a:xfrm>
            <a:off x="2011680" y="4608576"/>
            <a:ext cx="182880" cy="146304"/>
          </a:xfrm>
          <a:prstGeom prst="rect">
            <a:avLst/>
          </a:prstGeom>
        </p:spPr>
      </p:pic>
      <p:sp>
        <p:nvSpPr>
          <p:cNvPr id="28" name="Text 22"/>
          <p:cNvSpPr/>
          <p:nvPr/>
        </p:nvSpPr>
        <p:spPr>
          <a:xfrm>
            <a:off x="2212848" y="4517136"/>
            <a:ext cx="1463040" cy="310896"/>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Bucket Notification fires</a:t>
            </a:r>
            <a:endParaRPr lang="en-US" sz="950" dirty="0"/>
          </a:p>
        </p:txBody>
      </p:sp>
      <p:pic>
        <p:nvPicPr>
          <p:cNvPr id="29" name="Image 4" descr="preencoded.png">    </p:cNvPr>
          <p:cNvPicPr>
            <a:picLocks noChangeAspect="1"/>
          </p:cNvPicPr>
          <p:nvPr/>
        </p:nvPicPr>
        <p:blipFill>
          <a:blip r:embed="rId5"/>
          <a:stretch>
            <a:fillRect/>
          </a:stretch>
        </p:blipFill>
        <p:spPr>
          <a:xfrm>
            <a:off x="3675888" y="4608576"/>
            <a:ext cx="182880" cy="146304"/>
          </a:xfrm>
          <a:prstGeom prst="rect">
            <a:avLst/>
          </a:prstGeom>
        </p:spPr>
      </p:pic>
      <p:sp>
        <p:nvSpPr>
          <p:cNvPr id="30" name="Text 23"/>
          <p:cNvSpPr/>
          <p:nvPr/>
        </p:nvSpPr>
        <p:spPr>
          <a:xfrm>
            <a:off x="3877056" y="4517136"/>
            <a:ext cx="1463040" cy="310896"/>
          </a:xfrm>
          <a:prstGeom prst="rect">
            <a:avLst/>
          </a:prstGeom>
          <a:noFill/>
          <a:ln/>
        </p:spPr>
        <p:txBody>
          <a:bodyPr wrap="square" rtlCol="0" anchor="ctr"/>
          <a:lstStyle/>
          <a:p>
            <a:pPr algn="ctr" indent="0" marL="0">
              <a:buNone/>
            </a:pPr>
            <a:r>
              <a:rPr lang="en-US" sz="950" b="1" dirty="0">
                <a:solidFill>
                  <a:srgbClr val="F59E0B"/>
                </a:solidFill>
                <a:latin typeface="Calibri" pitchFamily="34" charset="0"/>
                <a:ea typeface="Calibri" pitchFamily="34" charset="-122"/>
                <a:cs typeface="Calibri" pitchFamily="34" charset="-120"/>
              </a:rPr>
              <a:t>Checks Lambda Permission</a:t>
            </a:r>
            <a:endParaRPr lang="en-US" sz="950" dirty="0"/>
          </a:p>
        </p:txBody>
      </p:sp>
      <p:pic>
        <p:nvPicPr>
          <p:cNvPr id="31" name="Image 5" descr="preencoded.png">    </p:cNvPr>
          <p:cNvPicPr>
            <a:picLocks noChangeAspect="1"/>
          </p:cNvPicPr>
          <p:nvPr/>
        </p:nvPicPr>
        <p:blipFill>
          <a:blip r:embed="rId6"/>
          <a:stretch>
            <a:fillRect/>
          </a:stretch>
        </p:blipFill>
        <p:spPr>
          <a:xfrm>
            <a:off x="5340096" y="4608576"/>
            <a:ext cx="182880" cy="146304"/>
          </a:xfrm>
          <a:prstGeom prst="rect">
            <a:avLst/>
          </a:prstGeom>
        </p:spPr>
      </p:pic>
      <p:sp>
        <p:nvSpPr>
          <p:cNvPr id="32" name="Text 24"/>
          <p:cNvSpPr/>
          <p:nvPr/>
        </p:nvSpPr>
        <p:spPr>
          <a:xfrm>
            <a:off x="5541264" y="4517136"/>
            <a:ext cx="1463040" cy="310896"/>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Invokes Lambda</a:t>
            </a:r>
            <a:endParaRPr lang="en-US" sz="950" dirty="0"/>
          </a:p>
        </p:txBody>
      </p:sp>
      <p:pic>
        <p:nvPicPr>
          <p:cNvPr id="33" name="Image 6" descr="preencoded.png">    </p:cNvPr>
          <p:cNvPicPr>
            <a:picLocks noChangeAspect="1"/>
          </p:cNvPicPr>
          <p:nvPr/>
        </p:nvPicPr>
        <p:blipFill>
          <a:blip r:embed="rId7"/>
          <a:stretch>
            <a:fillRect/>
          </a:stretch>
        </p:blipFill>
        <p:spPr>
          <a:xfrm>
            <a:off x="7004304" y="4608576"/>
            <a:ext cx="182880" cy="146304"/>
          </a:xfrm>
          <a:prstGeom prst="rect">
            <a:avLst/>
          </a:prstGeom>
        </p:spPr>
      </p:pic>
      <p:sp>
        <p:nvSpPr>
          <p:cNvPr id="34" name="Text 25"/>
          <p:cNvSpPr/>
          <p:nvPr/>
        </p:nvSpPr>
        <p:spPr>
          <a:xfrm>
            <a:off x="7205472" y="4517136"/>
            <a:ext cx="1463040" cy="310896"/>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Lambda Runs</a:t>
            </a:r>
            <a:endParaRPr lang="en-US" sz="950" dirty="0"/>
          </a:p>
        </p:txBody>
      </p:sp>
      <p:sp>
        <p:nvSpPr>
          <p:cNvPr id="35" name="Shape 26"/>
          <p:cNvSpPr/>
          <p:nvPr/>
        </p:nvSpPr>
        <p:spPr>
          <a:xfrm>
            <a:off x="0" y="4892040"/>
            <a:ext cx="9144000" cy="251460"/>
          </a:xfrm>
          <a:prstGeom prst="rect">
            <a:avLst/>
          </a:prstGeom>
          <a:solidFill>
            <a:srgbClr val="1A2E45"/>
          </a:solidFill>
          <a:ln w="12700">
            <a:solidFill>
              <a:srgbClr val="1A2E45"/>
            </a:solidFill>
            <a:prstDash val="solid"/>
          </a:ln>
        </p:spPr>
      </p:sp>
      <p:sp>
        <p:nvSpPr>
          <p:cNvPr id="36" name="Text 27"/>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37" name="Text 28"/>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Lab 067 — Bug 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457200" y="256032"/>
            <a:ext cx="54864" cy="347472"/>
          </a:xfrm>
          <a:prstGeom prst="rect">
            <a:avLst/>
          </a:prstGeom>
          <a:solidFill>
            <a:srgbClr val="00B4D8"/>
          </a:solidFill>
          <a:ln w="12700">
            <a:solidFill>
              <a:srgbClr val="00B4D8"/>
            </a:solidFill>
            <a:prstDash val="solid"/>
          </a:ln>
        </p:spPr>
      </p:sp>
      <p:sp>
        <p:nvSpPr>
          <p:cNvPr id="3" name="Text 1"/>
          <p:cNvSpPr/>
          <p:nvPr/>
        </p:nvSpPr>
        <p:spPr>
          <a:xfrm>
            <a:off x="594360" y="256032"/>
            <a:ext cx="7772400" cy="347472"/>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LAB 067 — LAB VS REAL LIFE</a:t>
            </a:r>
            <a:endParaRPr lang="en-US" sz="1300" dirty="0"/>
          </a:p>
        </p:txBody>
      </p:sp>
      <p:sp>
        <p:nvSpPr>
          <p:cNvPr id="4" name="Text 2"/>
          <p:cNvSpPr/>
          <p:nvPr/>
        </p:nvSpPr>
        <p:spPr>
          <a:xfrm>
            <a:off x="457200" y="68580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Lab Shortcuts vs. Production Practice</a:t>
            </a:r>
            <a:endParaRPr lang="en-US" sz="2600" dirty="0"/>
          </a:p>
        </p:txBody>
      </p:sp>
      <p:sp>
        <p:nvSpPr>
          <p:cNvPr id="5" name="Shape 3"/>
          <p:cNvSpPr/>
          <p:nvPr/>
        </p:nvSpPr>
        <p:spPr>
          <a:xfrm>
            <a:off x="457200" y="1298448"/>
            <a:ext cx="3977640" cy="347472"/>
          </a:xfrm>
          <a:prstGeom prst="rect">
            <a:avLst/>
          </a:prstGeom>
          <a:solidFill>
            <a:srgbClr val="1A2E45"/>
          </a:solidFill>
          <a:ln w="12700">
            <a:solidFill>
              <a:srgbClr val="1A2E45"/>
            </a:solidFill>
            <a:prstDash val="solid"/>
          </a:ln>
        </p:spPr>
      </p:sp>
      <p:sp>
        <p:nvSpPr>
          <p:cNvPr id="6" name="Text 4"/>
          <p:cNvSpPr/>
          <p:nvPr/>
        </p:nvSpPr>
        <p:spPr>
          <a:xfrm>
            <a:off x="594360" y="1335024"/>
            <a:ext cx="3703320" cy="274320"/>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In This Lab</a:t>
            </a:r>
            <a:endParaRPr lang="en-US" sz="1200" dirty="0"/>
          </a:p>
        </p:txBody>
      </p:sp>
      <p:sp>
        <p:nvSpPr>
          <p:cNvPr id="7" name="Shape 5"/>
          <p:cNvSpPr/>
          <p:nvPr/>
        </p:nvSpPr>
        <p:spPr>
          <a:xfrm>
            <a:off x="4709160" y="1298448"/>
            <a:ext cx="3977640" cy="347472"/>
          </a:xfrm>
          <a:prstGeom prst="rect">
            <a:avLst/>
          </a:prstGeom>
          <a:solidFill>
            <a:srgbClr val="1A2E45"/>
          </a:solidFill>
          <a:ln w="12700">
            <a:solidFill>
              <a:srgbClr val="1A2E45"/>
            </a:solidFill>
            <a:prstDash val="solid"/>
          </a:ln>
        </p:spPr>
      </p:sp>
      <p:sp>
        <p:nvSpPr>
          <p:cNvPr id="8" name="Text 6"/>
          <p:cNvSpPr/>
          <p:nvPr/>
        </p:nvSpPr>
        <p:spPr>
          <a:xfrm>
            <a:off x="4846320" y="1335024"/>
            <a:ext cx="3703320" cy="274320"/>
          </a:xfrm>
          <a:prstGeom prst="rect">
            <a:avLst/>
          </a:prstGeom>
          <a:noFill/>
          <a:ln/>
        </p:spPr>
        <p:txBody>
          <a:bodyPr wrap="square"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In Production</a:t>
            </a:r>
            <a:endParaRPr lang="en-US" sz="1200" dirty="0"/>
          </a:p>
        </p:txBody>
      </p:sp>
      <p:sp>
        <p:nvSpPr>
          <p:cNvPr id="9" name="Shape 7"/>
          <p:cNvSpPr/>
          <p:nvPr/>
        </p:nvSpPr>
        <p:spPr>
          <a:xfrm>
            <a:off x="457200" y="1719072"/>
            <a:ext cx="3977640" cy="585216"/>
          </a:xfrm>
          <a:prstGeom prst="rect">
            <a:avLst/>
          </a:prstGeom>
          <a:solidFill>
            <a:srgbClr val="1E3A5F"/>
          </a:solidFill>
          <a:ln w="12700">
            <a:solidFill>
              <a:srgbClr val="1E3A5F"/>
            </a:solidFill>
            <a:prstDash val="solid"/>
          </a:ln>
        </p:spPr>
      </p:sp>
      <p:sp>
        <p:nvSpPr>
          <p:cNvPr id="10" name="Shape 8"/>
          <p:cNvSpPr/>
          <p:nvPr/>
        </p:nvSpPr>
        <p:spPr>
          <a:xfrm>
            <a:off x="548640" y="1847088"/>
            <a:ext cx="329184" cy="329184"/>
          </a:xfrm>
          <a:prstGeom prst="ellipse">
            <a:avLst/>
          </a:prstGeom>
          <a:solidFill>
            <a:srgbClr val="00B4D8"/>
          </a:solidFill>
          <a:ln w="12700">
            <a:solidFill>
              <a:srgbClr val="00B4D8"/>
            </a:solidFill>
            <a:prstDash val="solid"/>
          </a:ln>
        </p:spPr>
      </p:sp>
      <p:pic>
        <p:nvPicPr>
          <p:cNvPr id="11" name="Image 0" descr="preencoded.png">    </p:cNvPr>
          <p:cNvPicPr>
            <a:picLocks noChangeAspect="1"/>
          </p:cNvPicPr>
          <p:nvPr/>
        </p:nvPicPr>
        <p:blipFill>
          <a:blip r:embed="rId1"/>
          <a:stretch>
            <a:fillRect/>
          </a:stretch>
        </p:blipFill>
        <p:spPr>
          <a:xfrm>
            <a:off x="614477" y="1912925"/>
            <a:ext cx="197510" cy="197510"/>
          </a:xfrm>
          <a:prstGeom prst="rect">
            <a:avLst/>
          </a:prstGeom>
        </p:spPr>
      </p:pic>
      <p:sp>
        <p:nvSpPr>
          <p:cNvPr id="12" name="Text 9"/>
          <p:cNvSpPr/>
          <p:nvPr/>
        </p:nvSpPr>
        <p:spPr>
          <a:xfrm>
            <a:off x="969264" y="1792224"/>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Inline IAM policy with log permissions written by hand</a:t>
            </a:r>
            <a:endParaRPr lang="en-US" sz="1000" dirty="0"/>
          </a:p>
        </p:txBody>
      </p:sp>
      <p:sp>
        <p:nvSpPr>
          <p:cNvPr id="13" name="Shape 10"/>
          <p:cNvSpPr/>
          <p:nvPr/>
        </p:nvSpPr>
        <p:spPr>
          <a:xfrm>
            <a:off x="4709160" y="1719072"/>
            <a:ext cx="3977640" cy="585216"/>
          </a:xfrm>
          <a:prstGeom prst="rect">
            <a:avLst/>
          </a:prstGeom>
          <a:solidFill>
            <a:srgbClr val="1E3A5F"/>
          </a:solidFill>
          <a:ln w="12700">
            <a:solidFill>
              <a:srgbClr val="1E3A5F"/>
            </a:solidFill>
            <a:prstDash val="solid"/>
          </a:ln>
        </p:spPr>
      </p:sp>
      <p:sp>
        <p:nvSpPr>
          <p:cNvPr id="14" name="Shape 11"/>
          <p:cNvSpPr/>
          <p:nvPr/>
        </p:nvSpPr>
        <p:spPr>
          <a:xfrm>
            <a:off x="4800600" y="1847088"/>
            <a:ext cx="329184" cy="329184"/>
          </a:xfrm>
          <a:prstGeom prst="ellipse">
            <a:avLst/>
          </a:prstGeom>
          <a:solidFill>
            <a:srgbClr val="00B4D8"/>
          </a:solidFill>
          <a:ln w="12700">
            <a:solidFill>
              <a:srgbClr val="00B4D8"/>
            </a:solidFill>
            <a:prstDash val="solid"/>
          </a:ln>
        </p:spPr>
      </p:sp>
      <p:pic>
        <p:nvPicPr>
          <p:cNvPr id="15" name="Image 1" descr="preencoded.png">    </p:cNvPr>
          <p:cNvPicPr>
            <a:picLocks noChangeAspect="1"/>
          </p:cNvPicPr>
          <p:nvPr/>
        </p:nvPicPr>
        <p:blipFill>
          <a:blip r:embed="rId2"/>
          <a:stretch>
            <a:fillRect/>
          </a:stretch>
        </p:blipFill>
        <p:spPr>
          <a:xfrm>
            <a:off x="4866437" y="1912925"/>
            <a:ext cx="197510" cy="197510"/>
          </a:xfrm>
          <a:prstGeom prst="rect">
            <a:avLst/>
          </a:prstGeom>
        </p:spPr>
      </p:pic>
      <p:sp>
        <p:nvSpPr>
          <p:cNvPr id="16" name="Text 12"/>
          <p:cNvSpPr/>
          <p:nvPr/>
        </p:nvSpPr>
        <p:spPr>
          <a:xfrm>
            <a:off x="5221224" y="1792224"/>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Use AWS managed policy AWSLambdaBasicExecutionRole — maintained by AWS, always correct</a:t>
            </a:r>
            <a:endParaRPr lang="en-US" sz="1000" dirty="0"/>
          </a:p>
        </p:txBody>
      </p:sp>
      <p:sp>
        <p:nvSpPr>
          <p:cNvPr id="17" name="Shape 13"/>
          <p:cNvSpPr/>
          <p:nvPr/>
        </p:nvSpPr>
        <p:spPr>
          <a:xfrm>
            <a:off x="457200" y="2377440"/>
            <a:ext cx="3977640" cy="585216"/>
          </a:xfrm>
          <a:prstGeom prst="rect">
            <a:avLst/>
          </a:prstGeom>
          <a:solidFill>
            <a:srgbClr val="1A2E45"/>
          </a:solidFill>
          <a:ln w="12700">
            <a:solidFill>
              <a:srgbClr val="1A2E45"/>
            </a:solidFill>
            <a:prstDash val="solid"/>
          </a:ln>
        </p:spPr>
      </p:sp>
      <p:sp>
        <p:nvSpPr>
          <p:cNvPr id="18" name="Shape 14"/>
          <p:cNvSpPr/>
          <p:nvPr/>
        </p:nvSpPr>
        <p:spPr>
          <a:xfrm>
            <a:off x="548640" y="2505456"/>
            <a:ext cx="329184" cy="329184"/>
          </a:xfrm>
          <a:prstGeom prst="ellipse">
            <a:avLst/>
          </a:prstGeom>
          <a:solidFill>
            <a:srgbClr val="00B4D8"/>
          </a:solidFill>
          <a:ln w="12700">
            <a:solidFill>
              <a:srgbClr val="00B4D8"/>
            </a:solidFill>
            <a:prstDash val="solid"/>
          </a:ln>
        </p:spPr>
      </p:sp>
      <p:pic>
        <p:nvPicPr>
          <p:cNvPr id="19" name="Image 2" descr="preencoded.png">    </p:cNvPr>
          <p:cNvPicPr>
            <a:picLocks noChangeAspect="1"/>
          </p:cNvPicPr>
          <p:nvPr/>
        </p:nvPicPr>
        <p:blipFill>
          <a:blip r:embed="rId3"/>
          <a:stretch>
            <a:fillRect/>
          </a:stretch>
        </p:blipFill>
        <p:spPr>
          <a:xfrm>
            <a:off x="614477" y="2571293"/>
            <a:ext cx="197510" cy="197510"/>
          </a:xfrm>
          <a:prstGeom prst="rect">
            <a:avLst/>
          </a:prstGeom>
        </p:spPr>
      </p:pic>
      <p:sp>
        <p:nvSpPr>
          <p:cNvPr id="20" name="Text 15"/>
          <p:cNvSpPr/>
          <p:nvPr/>
        </p:nvSpPr>
        <p:spPr>
          <a:xfrm>
            <a:off x="969264" y="2450592"/>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No dead letter queue configured</a:t>
            </a:r>
            <a:endParaRPr lang="en-US" sz="1000" dirty="0"/>
          </a:p>
        </p:txBody>
      </p:sp>
      <p:sp>
        <p:nvSpPr>
          <p:cNvPr id="21" name="Shape 16"/>
          <p:cNvSpPr/>
          <p:nvPr/>
        </p:nvSpPr>
        <p:spPr>
          <a:xfrm>
            <a:off x="4709160" y="2377440"/>
            <a:ext cx="3977640" cy="585216"/>
          </a:xfrm>
          <a:prstGeom prst="rect">
            <a:avLst/>
          </a:prstGeom>
          <a:solidFill>
            <a:srgbClr val="1A2E45"/>
          </a:solidFill>
          <a:ln w="12700">
            <a:solidFill>
              <a:srgbClr val="1A2E45"/>
            </a:solidFill>
            <a:prstDash val="solid"/>
          </a:ln>
        </p:spPr>
      </p:sp>
      <p:sp>
        <p:nvSpPr>
          <p:cNvPr id="22" name="Shape 17"/>
          <p:cNvSpPr/>
          <p:nvPr/>
        </p:nvSpPr>
        <p:spPr>
          <a:xfrm>
            <a:off x="4800600" y="2505456"/>
            <a:ext cx="329184" cy="329184"/>
          </a:xfrm>
          <a:prstGeom prst="ellipse">
            <a:avLst/>
          </a:prstGeom>
          <a:solidFill>
            <a:srgbClr val="00B4D8"/>
          </a:solidFill>
          <a:ln w="12700">
            <a:solidFill>
              <a:srgbClr val="00B4D8"/>
            </a:solidFill>
            <a:prstDash val="solid"/>
          </a:ln>
        </p:spPr>
      </p:sp>
      <p:pic>
        <p:nvPicPr>
          <p:cNvPr id="23" name="Image 3" descr="preencoded.png">    </p:cNvPr>
          <p:cNvPicPr>
            <a:picLocks noChangeAspect="1"/>
          </p:cNvPicPr>
          <p:nvPr/>
        </p:nvPicPr>
        <p:blipFill>
          <a:blip r:embed="rId4"/>
          <a:stretch>
            <a:fillRect/>
          </a:stretch>
        </p:blipFill>
        <p:spPr>
          <a:xfrm>
            <a:off x="4866437" y="2571293"/>
            <a:ext cx="197510" cy="197510"/>
          </a:xfrm>
          <a:prstGeom prst="rect">
            <a:avLst/>
          </a:prstGeom>
        </p:spPr>
      </p:pic>
      <p:sp>
        <p:nvSpPr>
          <p:cNvPr id="24" name="Text 18"/>
          <p:cNvSpPr/>
          <p:nvPr/>
        </p:nvSpPr>
        <p:spPr>
          <a:xfrm>
            <a:off x="5221224" y="2450592"/>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Production Lambdas need a DLQ (SQS or SNS) — failed invocations are otherwise silently lost</a:t>
            </a:r>
            <a:endParaRPr lang="en-US" sz="1000" dirty="0"/>
          </a:p>
        </p:txBody>
      </p:sp>
      <p:sp>
        <p:nvSpPr>
          <p:cNvPr id="25" name="Shape 19"/>
          <p:cNvSpPr/>
          <p:nvPr/>
        </p:nvSpPr>
        <p:spPr>
          <a:xfrm>
            <a:off x="457200" y="3035808"/>
            <a:ext cx="3977640" cy="585216"/>
          </a:xfrm>
          <a:prstGeom prst="rect">
            <a:avLst/>
          </a:prstGeom>
          <a:solidFill>
            <a:srgbClr val="1E3A5F"/>
          </a:solidFill>
          <a:ln w="12700">
            <a:solidFill>
              <a:srgbClr val="1E3A5F"/>
            </a:solidFill>
            <a:prstDash val="solid"/>
          </a:ln>
        </p:spPr>
      </p:sp>
      <p:sp>
        <p:nvSpPr>
          <p:cNvPr id="26" name="Shape 20"/>
          <p:cNvSpPr/>
          <p:nvPr/>
        </p:nvSpPr>
        <p:spPr>
          <a:xfrm>
            <a:off x="548640" y="3163824"/>
            <a:ext cx="329184" cy="329184"/>
          </a:xfrm>
          <a:prstGeom prst="ellipse">
            <a:avLst/>
          </a:prstGeom>
          <a:solidFill>
            <a:srgbClr val="00B4D8"/>
          </a:solidFill>
          <a:ln w="12700">
            <a:solidFill>
              <a:srgbClr val="00B4D8"/>
            </a:solidFill>
            <a:prstDash val="solid"/>
          </a:ln>
        </p:spPr>
      </p:sp>
      <p:pic>
        <p:nvPicPr>
          <p:cNvPr id="27" name="Image 4" descr="preencoded.png">    </p:cNvPr>
          <p:cNvPicPr>
            <a:picLocks noChangeAspect="1"/>
          </p:cNvPicPr>
          <p:nvPr/>
        </p:nvPicPr>
        <p:blipFill>
          <a:blip r:embed="rId5"/>
          <a:stretch>
            <a:fillRect/>
          </a:stretch>
        </p:blipFill>
        <p:spPr>
          <a:xfrm>
            <a:off x="614477" y="3229661"/>
            <a:ext cx="197510" cy="197510"/>
          </a:xfrm>
          <a:prstGeom prst="rect">
            <a:avLst/>
          </a:prstGeom>
        </p:spPr>
      </p:pic>
      <p:sp>
        <p:nvSpPr>
          <p:cNvPr id="28" name="Text 21"/>
          <p:cNvSpPr/>
          <p:nvPr/>
        </p:nvSpPr>
        <p:spPr>
          <a:xfrm>
            <a:off x="969264" y="3108960"/>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No concurrency limits set</a:t>
            </a:r>
            <a:endParaRPr lang="en-US" sz="1000" dirty="0"/>
          </a:p>
        </p:txBody>
      </p:sp>
      <p:sp>
        <p:nvSpPr>
          <p:cNvPr id="29" name="Shape 22"/>
          <p:cNvSpPr/>
          <p:nvPr/>
        </p:nvSpPr>
        <p:spPr>
          <a:xfrm>
            <a:off x="4709160" y="3035808"/>
            <a:ext cx="3977640" cy="585216"/>
          </a:xfrm>
          <a:prstGeom prst="rect">
            <a:avLst/>
          </a:prstGeom>
          <a:solidFill>
            <a:srgbClr val="1E3A5F"/>
          </a:solidFill>
          <a:ln w="12700">
            <a:solidFill>
              <a:srgbClr val="1E3A5F"/>
            </a:solidFill>
            <a:prstDash val="solid"/>
          </a:ln>
        </p:spPr>
      </p:sp>
      <p:sp>
        <p:nvSpPr>
          <p:cNvPr id="30" name="Shape 23"/>
          <p:cNvSpPr/>
          <p:nvPr/>
        </p:nvSpPr>
        <p:spPr>
          <a:xfrm>
            <a:off x="4800600" y="3163824"/>
            <a:ext cx="329184" cy="329184"/>
          </a:xfrm>
          <a:prstGeom prst="ellipse">
            <a:avLst/>
          </a:prstGeom>
          <a:solidFill>
            <a:srgbClr val="00B4D8"/>
          </a:solidFill>
          <a:ln w="12700">
            <a:solidFill>
              <a:srgbClr val="00B4D8"/>
            </a:solidFill>
            <a:prstDash val="solid"/>
          </a:ln>
        </p:spPr>
      </p:sp>
      <p:pic>
        <p:nvPicPr>
          <p:cNvPr id="31" name="Image 5" descr="preencoded.png">    </p:cNvPr>
          <p:cNvPicPr>
            <a:picLocks noChangeAspect="1"/>
          </p:cNvPicPr>
          <p:nvPr/>
        </p:nvPicPr>
        <p:blipFill>
          <a:blip r:embed="rId6"/>
          <a:stretch>
            <a:fillRect/>
          </a:stretch>
        </p:blipFill>
        <p:spPr>
          <a:xfrm>
            <a:off x="4866437" y="3229661"/>
            <a:ext cx="197510" cy="197510"/>
          </a:xfrm>
          <a:prstGeom prst="rect">
            <a:avLst/>
          </a:prstGeom>
        </p:spPr>
      </p:pic>
      <p:sp>
        <p:nvSpPr>
          <p:cNvPr id="32" name="Text 24"/>
          <p:cNvSpPr/>
          <p:nvPr/>
        </p:nvSpPr>
        <p:spPr>
          <a:xfrm>
            <a:off x="5221224" y="3108960"/>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Set reserved concurrency — prevents one function consuming all account concurrency and throttling everything else</a:t>
            </a:r>
            <a:endParaRPr lang="en-US" sz="1000" dirty="0"/>
          </a:p>
        </p:txBody>
      </p:sp>
      <p:sp>
        <p:nvSpPr>
          <p:cNvPr id="33" name="Shape 25"/>
          <p:cNvSpPr/>
          <p:nvPr/>
        </p:nvSpPr>
        <p:spPr>
          <a:xfrm>
            <a:off x="457200" y="3694176"/>
            <a:ext cx="3977640" cy="585216"/>
          </a:xfrm>
          <a:prstGeom prst="rect">
            <a:avLst/>
          </a:prstGeom>
          <a:solidFill>
            <a:srgbClr val="1A2E45"/>
          </a:solidFill>
          <a:ln w="12700">
            <a:solidFill>
              <a:srgbClr val="1A2E45"/>
            </a:solidFill>
            <a:prstDash val="solid"/>
          </a:ln>
        </p:spPr>
      </p:sp>
      <p:sp>
        <p:nvSpPr>
          <p:cNvPr id="34" name="Shape 26"/>
          <p:cNvSpPr/>
          <p:nvPr/>
        </p:nvSpPr>
        <p:spPr>
          <a:xfrm>
            <a:off x="548640" y="3822192"/>
            <a:ext cx="329184" cy="329184"/>
          </a:xfrm>
          <a:prstGeom prst="ellipse">
            <a:avLst/>
          </a:prstGeom>
          <a:solidFill>
            <a:srgbClr val="00B4D8"/>
          </a:solidFill>
          <a:ln w="12700">
            <a:solidFill>
              <a:srgbClr val="00B4D8"/>
            </a:solidFill>
            <a:prstDash val="solid"/>
          </a:ln>
        </p:spPr>
      </p:sp>
      <p:pic>
        <p:nvPicPr>
          <p:cNvPr id="35" name="Image 6" descr="preencoded.png">    </p:cNvPr>
          <p:cNvPicPr>
            <a:picLocks noChangeAspect="1"/>
          </p:cNvPicPr>
          <p:nvPr/>
        </p:nvPicPr>
        <p:blipFill>
          <a:blip r:embed="rId7"/>
          <a:stretch>
            <a:fillRect/>
          </a:stretch>
        </p:blipFill>
        <p:spPr>
          <a:xfrm>
            <a:off x="614477" y="3888029"/>
            <a:ext cx="197510" cy="197510"/>
          </a:xfrm>
          <a:prstGeom prst="rect">
            <a:avLst/>
          </a:prstGeom>
        </p:spPr>
      </p:pic>
      <p:sp>
        <p:nvSpPr>
          <p:cNvPr id="36" name="Text 27"/>
          <p:cNvSpPr/>
          <p:nvPr/>
        </p:nvSpPr>
        <p:spPr>
          <a:xfrm>
            <a:off x="969264" y="3767328"/>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s3:ObjectCreated:* on the whole bucket</a:t>
            </a:r>
            <a:endParaRPr lang="en-US" sz="1000" dirty="0"/>
          </a:p>
        </p:txBody>
      </p:sp>
      <p:sp>
        <p:nvSpPr>
          <p:cNvPr id="37" name="Shape 28"/>
          <p:cNvSpPr/>
          <p:nvPr/>
        </p:nvSpPr>
        <p:spPr>
          <a:xfrm>
            <a:off x="4709160" y="3694176"/>
            <a:ext cx="3977640" cy="585216"/>
          </a:xfrm>
          <a:prstGeom prst="rect">
            <a:avLst/>
          </a:prstGeom>
          <a:solidFill>
            <a:srgbClr val="1A2E45"/>
          </a:solidFill>
          <a:ln w="12700">
            <a:solidFill>
              <a:srgbClr val="1A2E45"/>
            </a:solidFill>
            <a:prstDash val="solid"/>
          </a:ln>
        </p:spPr>
      </p:sp>
      <p:sp>
        <p:nvSpPr>
          <p:cNvPr id="38" name="Shape 29"/>
          <p:cNvSpPr/>
          <p:nvPr/>
        </p:nvSpPr>
        <p:spPr>
          <a:xfrm>
            <a:off x="4800600" y="3822192"/>
            <a:ext cx="329184" cy="329184"/>
          </a:xfrm>
          <a:prstGeom prst="ellipse">
            <a:avLst/>
          </a:prstGeom>
          <a:solidFill>
            <a:srgbClr val="00B4D8"/>
          </a:solidFill>
          <a:ln w="12700">
            <a:solidFill>
              <a:srgbClr val="00B4D8"/>
            </a:solidFill>
            <a:prstDash val="solid"/>
          </a:ln>
        </p:spPr>
      </p:sp>
      <p:pic>
        <p:nvPicPr>
          <p:cNvPr id="39" name="Image 7" descr="preencoded.png">    </p:cNvPr>
          <p:cNvPicPr>
            <a:picLocks noChangeAspect="1"/>
          </p:cNvPicPr>
          <p:nvPr/>
        </p:nvPicPr>
        <p:blipFill>
          <a:blip r:embed="rId8"/>
          <a:stretch>
            <a:fillRect/>
          </a:stretch>
        </p:blipFill>
        <p:spPr>
          <a:xfrm>
            <a:off x="4866437" y="3888029"/>
            <a:ext cx="197510" cy="197510"/>
          </a:xfrm>
          <a:prstGeom prst="rect">
            <a:avLst/>
          </a:prstGeom>
        </p:spPr>
      </p:pic>
      <p:sp>
        <p:nvSpPr>
          <p:cNvPr id="40" name="Text 30"/>
          <p:cNvSpPr/>
          <p:nvPr/>
        </p:nvSpPr>
        <p:spPr>
          <a:xfrm>
            <a:off x="5221224" y="3767328"/>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Use prefix/suffix filters to restrict events — avoids unnecessary invocations and unnecessary cost</a:t>
            </a:r>
            <a:endParaRPr lang="en-US" sz="1000" dirty="0"/>
          </a:p>
        </p:txBody>
      </p:sp>
      <p:sp>
        <p:nvSpPr>
          <p:cNvPr id="41" name="Shape 31"/>
          <p:cNvSpPr/>
          <p:nvPr/>
        </p:nvSpPr>
        <p:spPr>
          <a:xfrm>
            <a:off x="457200" y="4352544"/>
            <a:ext cx="3977640" cy="585216"/>
          </a:xfrm>
          <a:prstGeom prst="rect">
            <a:avLst/>
          </a:prstGeom>
          <a:solidFill>
            <a:srgbClr val="1E3A5F"/>
          </a:solidFill>
          <a:ln w="12700">
            <a:solidFill>
              <a:srgbClr val="1E3A5F"/>
            </a:solidFill>
            <a:prstDash val="solid"/>
          </a:ln>
        </p:spPr>
      </p:sp>
      <p:sp>
        <p:nvSpPr>
          <p:cNvPr id="42" name="Shape 32"/>
          <p:cNvSpPr/>
          <p:nvPr/>
        </p:nvSpPr>
        <p:spPr>
          <a:xfrm>
            <a:off x="548640" y="4480560"/>
            <a:ext cx="329184" cy="329184"/>
          </a:xfrm>
          <a:prstGeom prst="ellipse">
            <a:avLst/>
          </a:prstGeom>
          <a:solidFill>
            <a:srgbClr val="00B4D8"/>
          </a:solidFill>
          <a:ln w="12700">
            <a:solidFill>
              <a:srgbClr val="00B4D8"/>
            </a:solidFill>
            <a:prstDash val="solid"/>
          </a:ln>
        </p:spPr>
      </p:sp>
      <p:pic>
        <p:nvPicPr>
          <p:cNvPr id="43" name="Image 8" descr="preencoded.png">    </p:cNvPr>
          <p:cNvPicPr>
            <a:picLocks noChangeAspect="1"/>
          </p:cNvPicPr>
          <p:nvPr/>
        </p:nvPicPr>
        <p:blipFill>
          <a:blip r:embed="rId9"/>
          <a:stretch>
            <a:fillRect/>
          </a:stretch>
        </p:blipFill>
        <p:spPr>
          <a:xfrm>
            <a:off x="614477" y="4546397"/>
            <a:ext cx="197510" cy="197510"/>
          </a:xfrm>
          <a:prstGeom prst="rect">
            <a:avLst/>
          </a:prstGeom>
        </p:spPr>
      </p:pic>
      <p:sp>
        <p:nvSpPr>
          <p:cNvPr id="44" name="Text 33"/>
          <p:cNvSpPr/>
          <p:nvPr/>
        </p:nvSpPr>
        <p:spPr>
          <a:xfrm>
            <a:off x="969264" y="4425696"/>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No VPC configuration</a:t>
            </a:r>
            <a:endParaRPr lang="en-US" sz="1000" dirty="0"/>
          </a:p>
        </p:txBody>
      </p:sp>
      <p:sp>
        <p:nvSpPr>
          <p:cNvPr id="45" name="Shape 34"/>
          <p:cNvSpPr/>
          <p:nvPr/>
        </p:nvSpPr>
        <p:spPr>
          <a:xfrm>
            <a:off x="4709160" y="4352544"/>
            <a:ext cx="3977640" cy="585216"/>
          </a:xfrm>
          <a:prstGeom prst="rect">
            <a:avLst/>
          </a:prstGeom>
          <a:solidFill>
            <a:srgbClr val="1E3A5F"/>
          </a:solidFill>
          <a:ln w="12700">
            <a:solidFill>
              <a:srgbClr val="1E3A5F"/>
            </a:solidFill>
            <a:prstDash val="solid"/>
          </a:ln>
        </p:spPr>
      </p:sp>
      <p:sp>
        <p:nvSpPr>
          <p:cNvPr id="46" name="Shape 35"/>
          <p:cNvSpPr/>
          <p:nvPr/>
        </p:nvSpPr>
        <p:spPr>
          <a:xfrm>
            <a:off x="4800600" y="4480560"/>
            <a:ext cx="329184" cy="329184"/>
          </a:xfrm>
          <a:prstGeom prst="ellipse">
            <a:avLst/>
          </a:prstGeom>
          <a:solidFill>
            <a:srgbClr val="00B4D8"/>
          </a:solidFill>
          <a:ln w="12700">
            <a:solidFill>
              <a:srgbClr val="00B4D8"/>
            </a:solidFill>
            <a:prstDash val="solid"/>
          </a:ln>
        </p:spPr>
      </p:sp>
      <p:pic>
        <p:nvPicPr>
          <p:cNvPr id="47" name="Image 9" descr="preencoded.png">    </p:cNvPr>
          <p:cNvPicPr>
            <a:picLocks noChangeAspect="1"/>
          </p:cNvPicPr>
          <p:nvPr/>
        </p:nvPicPr>
        <p:blipFill>
          <a:blip r:embed="rId10"/>
          <a:stretch>
            <a:fillRect/>
          </a:stretch>
        </p:blipFill>
        <p:spPr>
          <a:xfrm>
            <a:off x="4866437" y="4546397"/>
            <a:ext cx="197510" cy="197510"/>
          </a:xfrm>
          <a:prstGeom prst="rect">
            <a:avLst/>
          </a:prstGeom>
        </p:spPr>
      </p:pic>
      <p:sp>
        <p:nvSpPr>
          <p:cNvPr id="48" name="Text 36"/>
          <p:cNvSpPr/>
          <p:nvPr/>
        </p:nvSpPr>
        <p:spPr>
          <a:xfrm>
            <a:off x="5221224" y="4425696"/>
            <a:ext cx="3291840" cy="45720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If Lambda needs to reach RDS or ElastiCache it needs VPC config + AWSLambdaVPCAccessExecutionRole</a:t>
            </a:r>
            <a:endParaRPr lang="en-US" sz="1000" dirty="0"/>
          </a:p>
        </p:txBody>
      </p:sp>
      <p:sp>
        <p:nvSpPr>
          <p:cNvPr id="49" name="Shape 37"/>
          <p:cNvSpPr/>
          <p:nvPr/>
        </p:nvSpPr>
        <p:spPr>
          <a:xfrm>
            <a:off x="0" y="4892040"/>
            <a:ext cx="9144000" cy="251460"/>
          </a:xfrm>
          <a:prstGeom prst="rect">
            <a:avLst/>
          </a:prstGeom>
          <a:solidFill>
            <a:srgbClr val="1A2E45"/>
          </a:solidFill>
          <a:ln w="12700">
            <a:solidFill>
              <a:srgbClr val="1A2E45"/>
            </a:solidFill>
            <a:prstDash val="solid"/>
          </a:ln>
        </p:spPr>
      </p:sp>
      <p:sp>
        <p:nvSpPr>
          <p:cNvPr id="50" name="Text 38"/>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51" name="Text 39"/>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Lab 067 — Lab vs Real Life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pic>
        <p:nvPicPr>
          <p:cNvPr id="3" name="Image 0" descr="preencoded.png">    </p:cNvPr>
          <p:cNvPicPr>
            <a:picLocks noChangeAspect="1"/>
          </p:cNvPicPr>
          <p:nvPr/>
        </p:nvPicPr>
        <p:blipFill>
          <a:blip r:embed="rId1">
            <a:alphaModFix amt="85000"/>
          </a:blip>
          <a:stretch>
            <a:fillRect/>
          </a:stretch>
        </p:blipFill>
        <p:spPr>
          <a:xfrm>
            <a:off x="7132320" y="457200"/>
            <a:ext cx="1737360" cy="1737360"/>
          </a:xfrm>
          <a:prstGeom prst="rect">
            <a:avLst/>
          </a:prstGeom>
        </p:spPr>
      </p:pic>
      <p:sp>
        <p:nvSpPr>
          <p:cNvPr id="4" name="Text 1"/>
          <p:cNvSpPr/>
          <p:nvPr/>
        </p:nvSpPr>
        <p:spPr>
          <a:xfrm>
            <a:off x="365760" y="347472"/>
            <a:ext cx="6400800" cy="274320"/>
          </a:xfrm>
          <a:prstGeom prst="rect">
            <a:avLst/>
          </a:prstGeom>
          <a:noFill/>
          <a:ln/>
        </p:spPr>
        <p:txBody>
          <a:bodyPr wrap="square" rtlCol="0" anchor="ctr"/>
          <a:lstStyle/>
          <a:p>
            <a:pPr indent="0" marL="0">
              <a:buNone/>
            </a:pPr>
            <a:r>
              <a:rPr lang="en-US" sz="1000" b="1" spc="400" kern="0" dirty="0">
                <a:solidFill>
                  <a:srgbClr val="00B4D8"/>
                </a:solidFill>
                <a:latin typeface="Calibri" pitchFamily="34" charset="0"/>
                <a:ea typeface="Calibri" pitchFamily="34" charset="-122"/>
                <a:cs typeface="Calibri" pitchFamily="34" charset="-120"/>
              </a:rPr>
              <a:t>KEY TAKEAWAYS</a:t>
            </a:r>
            <a:endParaRPr lang="en-US" sz="1000" dirty="0"/>
          </a:p>
        </p:txBody>
      </p:sp>
      <p:sp>
        <p:nvSpPr>
          <p:cNvPr id="5" name="Text 2"/>
          <p:cNvSpPr/>
          <p:nvPr/>
        </p:nvSpPr>
        <p:spPr>
          <a:xfrm>
            <a:off x="365760" y="658368"/>
            <a:ext cx="685800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Lambda Theory — What Travels With You</a:t>
            </a:r>
            <a:endParaRPr lang="en-US" sz="2600" dirty="0"/>
          </a:p>
        </p:txBody>
      </p:sp>
      <p:sp>
        <p:nvSpPr>
          <p:cNvPr id="6" name="Shape 3"/>
          <p:cNvSpPr/>
          <p:nvPr/>
        </p:nvSpPr>
        <p:spPr>
          <a:xfrm>
            <a:off x="365760" y="1371600"/>
            <a:ext cx="8321040" cy="621792"/>
          </a:xfrm>
          <a:prstGeom prst="rect">
            <a:avLst/>
          </a:prstGeom>
          <a:solidFill>
            <a:srgbClr val="1E3A5F"/>
          </a:solidFill>
          <a:ln w="12700">
            <a:solidFill>
              <a:srgbClr val="1E3A5F"/>
            </a:solidFill>
            <a:prstDash val="solid"/>
          </a:ln>
        </p:spPr>
      </p:sp>
      <p:sp>
        <p:nvSpPr>
          <p:cNvPr id="7" name="Shape 4"/>
          <p:cNvSpPr/>
          <p:nvPr/>
        </p:nvSpPr>
        <p:spPr>
          <a:xfrm>
            <a:off x="365760" y="1371600"/>
            <a:ext cx="54864" cy="621792"/>
          </a:xfrm>
          <a:prstGeom prst="rect">
            <a:avLst/>
          </a:prstGeom>
          <a:solidFill>
            <a:srgbClr val="00B4D8"/>
          </a:solidFill>
          <a:ln w="12700">
            <a:solidFill>
              <a:srgbClr val="00B4D8"/>
            </a:solidFill>
            <a:prstDash val="solid"/>
          </a:ln>
        </p:spPr>
      </p:sp>
      <p:sp>
        <p:nvSpPr>
          <p:cNvPr id="8" name="Shape 5"/>
          <p:cNvSpPr/>
          <p:nvPr/>
        </p:nvSpPr>
        <p:spPr>
          <a:xfrm>
            <a:off x="548640" y="1463040"/>
            <a:ext cx="438912" cy="438912"/>
          </a:xfrm>
          <a:prstGeom prst="ellipse">
            <a:avLst/>
          </a:prstGeom>
          <a:solidFill>
            <a:srgbClr val="00B4D8"/>
          </a:solidFill>
          <a:ln w="12700">
            <a:solidFill>
              <a:srgbClr val="00B4D8"/>
            </a:solidFill>
            <a:prstDash val="solid"/>
          </a:ln>
        </p:spPr>
      </p:sp>
      <p:pic>
        <p:nvPicPr>
          <p:cNvPr id="9" name="Image 1" descr="preencoded.png">    </p:cNvPr>
          <p:cNvPicPr>
            <a:picLocks noChangeAspect="1"/>
          </p:cNvPicPr>
          <p:nvPr/>
        </p:nvPicPr>
        <p:blipFill>
          <a:blip r:embed="rId2"/>
          <a:stretch>
            <a:fillRect/>
          </a:stretch>
        </p:blipFill>
        <p:spPr>
          <a:xfrm>
            <a:off x="636422" y="1550822"/>
            <a:ext cx="263347" cy="263347"/>
          </a:xfrm>
          <a:prstGeom prst="rect">
            <a:avLst/>
          </a:prstGeom>
        </p:spPr>
      </p:pic>
      <p:sp>
        <p:nvSpPr>
          <p:cNvPr id="10" name="Text 6"/>
          <p:cNvSpPr/>
          <p:nvPr/>
        </p:nvSpPr>
        <p:spPr>
          <a:xfrm>
            <a:off x="1097280" y="1426464"/>
            <a:ext cx="74066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Every Lambda needs an execution role</a:t>
            </a:r>
            <a:endParaRPr lang="en-US" sz="1200" dirty="0"/>
          </a:p>
        </p:txBody>
      </p:sp>
      <p:sp>
        <p:nvSpPr>
          <p:cNvPr id="11" name="Text 7"/>
          <p:cNvSpPr/>
          <p:nvPr/>
        </p:nvSpPr>
        <p:spPr>
          <a:xfrm>
            <a:off x="1097280" y="1700784"/>
            <a:ext cx="740664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The trust policy must name lambda.amazonaws.com. Without this, Lambda can't assume the role and won't start.</a:t>
            </a:r>
            <a:endParaRPr lang="en-US" sz="1050" dirty="0"/>
          </a:p>
        </p:txBody>
      </p:sp>
      <p:sp>
        <p:nvSpPr>
          <p:cNvPr id="12" name="Shape 8"/>
          <p:cNvSpPr/>
          <p:nvPr/>
        </p:nvSpPr>
        <p:spPr>
          <a:xfrm>
            <a:off x="365760" y="2084832"/>
            <a:ext cx="8321040" cy="621792"/>
          </a:xfrm>
          <a:prstGeom prst="rect">
            <a:avLst/>
          </a:prstGeom>
          <a:solidFill>
            <a:srgbClr val="1E3A5F"/>
          </a:solidFill>
          <a:ln w="12700">
            <a:solidFill>
              <a:srgbClr val="1E3A5F"/>
            </a:solidFill>
            <a:prstDash val="solid"/>
          </a:ln>
        </p:spPr>
      </p:sp>
      <p:sp>
        <p:nvSpPr>
          <p:cNvPr id="13" name="Shape 9"/>
          <p:cNvSpPr/>
          <p:nvPr/>
        </p:nvSpPr>
        <p:spPr>
          <a:xfrm>
            <a:off x="365760" y="2084832"/>
            <a:ext cx="54864" cy="621792"/>
          </a:xfrm>
          <a:prstGeom prst="rect">
            <a:avLst/>
          </a:prstGeom>
          <a:solidFill>
            <a:srgbClr val="00B4D8"/>
          </a:solidFill>
          <a:ln w="12700">
            <a:solidFill>
              <a:srgbClr val="00B4D8"/>
            </a:solidFill>
            <a:prstDash val="solid"/>
          </a:ln>
        </p:spPr>
      </p:sp>
      <p:sp>
        <p:nvSpPr>
          <p:cNvPr id="14" name="Shape 10"/>
          <p:cNvSpPr/>
          <p:nvPr/>
        </p:nvSpPr>
        <p:spPr>
          <a:xfrm>
            <a:off x="548640" y="2176272"/>
            <a:ext cx="438912" cy="438912"/>
          </a:xfrm>
          <a:prstGeom prst="ellipse">
            <a:avLst/>
          </a:prstGeom>
          <a:solidFill>
            <a:srgbClr val="00B4D8"/>
          </a:solidFill>
          <a:ln w="12700">
            <a:solidFill>
              <a:srgbClr val="00B4D8"/>
            </a:solidFill>
            <a:prstDash val="solid"/>
          </a:ln>
        </p:spPr>
      </p:sp>
      <p:pic>
        <p:nvPicPr>
          <p:cNvPr id="15" name="Image 2" descr="preencoded.png">    </p:cNvPr>
          <p:cNvPicPr>
            <a:picLocks noChangeAspect="1"/>
          </p:cNvPicPr>
          <p:nvPr/>
        </p:nvPicPr>
        <p:blipFill>
          <a:blip r:embed="rId3"/>
          <a:stretch>
            <a:fillRect/>
          </a:stretch>
        </p:blipFill>
        <p:spPr>
          <a:xfrm>
            <a:off x="636422" y="2264054"/>
            <a:ext cx="263347" cy="263347"/>
          </a:xfrm>
          <a:prstGeom prst="rect">
            <a:avLst/>
          </a:prstGeom>
        </p:spPr>
      </p:pic>
      <p:sp>
        <p:nvSpPr>
          <p:cNvPr id="16" name="Text 11"/>
          <p:cNvSpPr/>
          <p:nvPr/>
        </p:nvSpPr>
        <p:spPr>
          <a:xfrm>
            <a:off x="1097280" y="2139696"/>
            <a:ext cx="74066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CloudWatch Logs permissions are always required</a:t>
            </a:r>
            <a:endParaRPr lang="en-US" sz="1200" dirty="0"/>
          </a:p>
        </p:txBody>
      </p:sp>
      <p:sp>
        <p:nvSpPr>
          <p:cNvPr id="17" name="Text 12"/>
          <p:cNvSpPr/>
          <p:nvPr/>
        </p:nvSpPr>
        <p:spPr>
          <a:xfrm>
            <a:off x="1097280" y="2414016"/>
            <a:ext cx="740664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logs:CreateLogGroup, CreateLogStream, PutLogEvents — baseline minimum for every Lambda, no exceptions.</a:t>
            </a:r>
            <a:endParaRPr lang="en-US" sz="1050" dirty="0"/>
          </a:p>
        </p:txBody>
      </p:sp>
      <p:sp>
        <p:nvSpPr>
          <p:cNvPr id="18" name="Shape 13"/>
          <p:cNvSpPr/>
          <p:nvPr/>
        </p:nvSpPr>
        <p:spPr>
          <a:xfrm>
            <a:off x="365760" y="2798064"/>
            <a:ext cx="8321040" cy="621792"/>
          </a:xfrm>
          <a:prstGeom prst="rect">
            <a:avLst/>
          </a:prstGeom>
          <a:solidFill>
            <a:srgbClr val="1E3A5F"/>
          </a:solidFill>
          <a:ln w="12700">
            <a:solidFill>
              <a:srgbClr val="1E3A5F"/>
            </a:solidFill>
            <a:prstDash val="solid"/>
          </a:ln>
        </p:spPr>
      </p:sp>
      <p:sp>
        <p:nvSpPr>
          <p:cNvPr id="19" name="Shape 14"/>
          <p:cNvSpPr/>
          <p:nvPr/>
        </p:nvSpPr>
        <p:spPr>
          <a:xfrm>
            <a:off x="365760" y="2798064"/>
            <a:ext cx="54864" cy="621792"/>
          </a:xfrm>
          <a:prstGeom prst="rect">
            <a:avLst/>
          </a:prstGeom>
          <a:solidFill>
            <a:srgbClr val="00B4D8"/>
          </a:solidFill>
          <a:ln w="12700">
            <a:solidFill>
              <a:srgbClr val="00B4D8"/>
            </a:solidFill>
            <a:prstDash val="solid"/>
          </a:ln>
        </p:spPr>
      </p:sp>
      <p:sp>
        <p:nvSpPr>
          <p:cNvPr id="20" name="Shape 15"/>
          <p:cNvSpPr/>
          <p:nvPr/>
        </p:nvSpPr>
        <p:spPr>
          <a:xfrm>
            <a:off x="548640" y="2889504"/>
            <a:ext cx="438912" cy="438912"/>
          </a:xfrm>
          <a:prstGeom prst="ellipse">
            <a:avLst/>
          </a:prstGeom>
          <a:solidFill>
            <a:srgbClr val="00B4D8"/>
          </a:solidFill>
          <a:ln w="12700">
            <a:solidFill>
              <a:srgbClr val="00B4D8"/>
            </a:solidFill>
            <a:prstDash val="solid"/>
          </a:ln>
        </p:spPr>
      </p:sp>
      <p:pic>
        <p:nvPicPr>
          <p:cNvPr id="21" name="Image 3" descr="preencoded.png">    </p:cNvPr>
          <p:cNvPicPr>
            <a:picLocks noChangeAspect="1"/>
          </p:cNvPicPr>
          <p:nvPr/>
        </p:nvPicPr>
        <p:blipFill>
          <a:blip r:embed="rId4"/>
          <a:stretch>
            <a:fillRect/>
          </a:stretch>
        </p:blipFill>
        <p:spPr>
          <a:xfrm>
            <a:off x="636422" y="2977286"/>
            <a:ext cx="263347" cy="263347"/>
          </a:xfrm>
          <a:prstGeom prst="rect">
            <a:avLst/>
          </a:prstGeom>
        </p:spPr>
      </p:pic>
      <p:sp>
        <p:nvSpPr>
          <p:cNvPr id="22" name="Text 16"/>
          <p:cNvSpPr/>
          <p:nvPr/>
        </p:nvSpPr>
        <p:spPr>
          <a:xfrm>
            <a:off x="1097280" y="2852928"/>
            <a:ext cx="74066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Push triggers need both a permission AND a config</a:t>
            </a:r>
            <a:endParaRPr lang="en-US" sz="1200" dirty="0"/>
          </a:p>
        </p:txBody>
      </p:sp>
      <p:sp>
        <p:nvSpPr>
          <p:cNvPr id="23" name="Text 17"/>
          <p:cNvSpPr/>
          <p:nvPr/>
        </p:nvSpPr>
        <p:spPr>
          <a:xfrm>
            <a:off x="1097280" y="3127248"/>
            <a:ext cx="740664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aws_lambda_permission gives S3 the right to call Lambda. aws_s3_bucket_notification tells S3 where to send events. Both are required.</a:t>
            </a:r>
            <a:endParaRPr lang="en-US" sz="1050" dirty="0"/>
          </a:p>
        </p:txBody>
      </p:sp>
      <p:sp>
        <p:nvSpPr>
          <p:cNvPr id="24" name="Shape 18"/>
          <p:cNvSpPr/>
          <p:nvPr/>
        </p:nvSpPr>
        <p:spPr>
          <a:xfrm>
            <a:off x="365760" y="3511296"/>
            <a:ext cx="8321040" cy="621792"/>
          </a:xfrm>
          <a:prstGeom prst="rect">
            <a:avLst/>
          </a:prstGeom>
          <a:solidFill>
            <a:srgbClr val="1E3A5F"/>
          </a:solidFill>
          <a:ln w="12700">
            <a:solidFill>
              <a:srgbClr val="1E3A5F"/>
            </a:solidFill>
            <a:prstDash val="solid"/>
          </a:ln>
        </p:spPr>
      </p:sp>
      <p:sp>
        <p:nvSpPr>
          <p:cNvPr id="25" name="Shape 19"/>
          <p:cNvSpPr/>
          <p:nvPr/>
        </p:nvSpPr>
        <p:spPr>
          <a:xfrm>
            <a:off x="365760" y="3511296"/>
            <a:ext cx="54864" cy="621792"/>
          </a:xfrm>
          <a:prstGeom prst="rect">
            <a:avLst/>
          </a:prstGeom>
          <a:solidFill>
            <a:srgbClr val="F59E0B"/>
          </a:solidFill>
          <a:ln w="12700">
            <a:solidFill>
              <a:srgbClr val="F59E0B"/>
            </a:solidFill>
            <a:prstDash val="solid"/>
          </a:ln>
        </p:spPr>
      </p:sp>
      <p:sp>
        <p:nvSpPr>
          <p:cNvPr id="26" name="Shape 20"/>
          <p:cNvSpPr/>
          <p:nvPr/>
        </p:nvSpPr>
        <p:spPr>
          <a:xfrm>
            <a:off x="548640" y="3602736"/>
            <a:ext cx="438912" cy="438912"/>
          </a:xfrm>
          <a:prstGeom prst="ellipse">
            <a:avLst/>
          </a:prstGeom>
          <a:solidFill>
            <a:srgbClr val="00B4D8"/>
          </a:solidFill>
          <a:ln w="12700">
            <a:solidFill>
              <a:srgbClr val="00B4D8"/>
            </a:solidFill>
            <a:prstDash val="solid"/>
          </a:ln>
        </p:spPr>
      </p:sp>
      <p:pic>
        <p:nvPicPr>
          <p:cNvPr id="27" name="Image 4" descr="preencoded.png">    </p:cNvPr>
          <p:cNvPicPr>
            <a:picLocks noChangeAspect="1"/>
          </p:cNvPicPr>
          <p:nvPr/>
        </p:nvPicPr>
        <p:blipFill>
          <a:blip r:embed="rId5"/>
          <a:stretch>
            <a:fillRect/>
          </a:stretch>
        </p:blipFill>
        <p:spPr>
          <a:xfrm>
            <a:off x="636422" y="3690518"/>
            <a:ext cx="263347" cy="263347"/>
          </a:xfrm>
          <a:prstGeom prst="rect">
            <a:avLst/>
          </a:prstGeom>
        </p:spPr>
      </p:pic>
      <p:sp>
        <p:nvSpPr>
          <p:cNvPr id="28" name="Text 21"/>
          <p:cNvSpPr/>
          <p:nvPr/>
        </p:nvSpPr>
        <p:spPr>
          <a:xfrm>
            <a:off x="1097280" y="3566160"/>
            <a:ext cx="74066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Two permission planes always exist</a:t>
            </a:r>
            <a:endParaRPr lang="en-US" sz="1200" dirty="0"/>
          </a:p>
        </p:txBody>
      </p:sp>
      <p:sp>
        <p:nvSpPr>
          <p:cNvPr id="29" name="Text 22"/>
          <p:cNvSpPr/>
          <p:nvPr/>
        </p:nvSpPr>
        <p:spPr>
          <a:xfrm>
            <a:off x="1097280" y="3840480"/>
            <a:ext cx="740664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Resource policy on Lambda (who can call me) + Identity policy on the role (what can I do). Both sides must consent.</a:t>
            </a:r>
            <a:endParaRPr lang="en-US" sz="1050" dirty="0"/>
          </a:p>
        </p:txBody>
      </p:sp>
      <p:sp>
        <p:nvSpPr>
          <p:cNvPr id="30" name="Shape 23"/>
          <p:cNvSpPr/>
          <p:nvPr/>
        </p:nvSpPr>
        <p:spPr>
          <a:xfrm>
            <a:off x="365760" y="4224528"/>
            <a:ext cx="8321040" cy="621792"/>
          </a:xfrm>
          <a:prstGeom prst="rect">
            <a:avLst/>
          </a:prstGeom>
          <a:solidFill>
            <a:srgbClr val="1E3A5F"/>
          </a:solidFill>
          <a:ln w="12700">
            <a:solidFill>
              <a:srgbClr val="1E3A5F"/>
            </a:solidFill>
            <a:prstDash val="solid"/>
          </a:ln>
        </p:spPr>
      </p:sp>
      <p:sp>
        <p:nvSpPr>
          <p:cNvPr id="31" name="Shape 24"/>
          <p:cNvSpPr/>
          <p:nvPr/>
        </p:nvSpPr>
        <p:spPr>
          <a:xfrm>
            <a:off x="365760" y="4224528"/>
            <a:ext cx="54864" cy="621792"/>
          </a:xfrm>
          <a:prstGeom prst="rect">
            <a:avLst/>
          </a:prstGeom>
          <a:solidFill>
            <a:srgbClr val="F59E0B"/>
          </a:solidFill>
          <a:ln w="12700">
            <a:solidFill>
              <a:srgbClr val="F59E0B"/>
            </a:solidFill>
            <a:prstDash val="solid"/>
          </a:ln>
        </p:spPr>
      </p:sp>
      <p:sp>
        <p:nvSpPr>
          <p:cNvPr id="32" name="Shape 25"/>
          <p:cNvSpPr/>
          <p:nvPr/>
        </p:nvSpPr>
        <p:spPr>
          <a:xfrm>
            <a:off x="548640" y="4315968"/>
            <a:ext cx="438912" cy="438912"/>
          </a:xfrm>
          <a:prstGeom prst="ellipse">
            <a:avLst/>
          </a:prstGeom>
          <a:solidFill>
            <a:srgbClr val="00B4D8"/>
          </a:solidFill>
          <a:ln w="12700">
            <a:solidFill>
              <a:srgbClr val="00B4D8"/>
            </a:solidFill>
            <a:prstDash val="solid"/>
          </a:ln>
        </p:spPr>
      </p:sp>
      <p:pic>
        <p:nvPicPr>
          <p:cNvPr id="33" name="Image 5" descr="preencoded.png">    </p:cNvPr>
          <p:cNvPicPr>
            <a:picLocks noChangeAspect="1"/>
          </p:cNvPicPr>
          <p:nvPr/>
        </p:nvPicPr>
        <p:blipFill>
          <a:blip r:embed="rId6"/>
          <a:stretch>
            <a:fillRect/>
          </a:stretch>
        </p:blipFill>
        <p:spPr>
          <a:xfrm>
            <a:off x="636422" y="4403750"/>
            <a:ext cx="263347" cy="263347"/>
          </a:xfrm>
          <a:prstGeom prst="rect">
            <a:avLst/>
          </a:prstGeom>
        </p:spPr>
      </p:pic>
      <p:sp>
        <p:nvSpPr>
          <p:cNvPr id="34" name="Text 26"/>
          <p:cNvSpPr/>
          <p:nvPr/>
        </p:nvSpPr>
        <p:spPr>
          <a:xfrm>
            <a:off x="1097280" y="4279392"/>
            <a:ext cx="74066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Push vs Pull changes what you need</a:t>
            </a:r>
            <a:endParaRPr lang="en-US" sz="1200" dirty="0"/>
          </a:p>
        </p:txBody>
      </p:sp>
      <p:sp>
        <p:nvSpPr>
          <p:cNvPr id="35" name="Text 27"/>
          <p:cNvSpPr/>
          <p:nvPr/>
        </p:nvSpPr>
        <p:spPr>
          <a:xfrm>
            <a:off x="1097280" y="4553712"/>
            <a:ext cx="740664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Push triggers need aws_lambda_permission. Pull triggers (SQS, DynamoDB, Kinesis) don't — Lambda reads, nothing calls it.</a:t>
            </a:r>
            <a:endParaRPr lang="en-US" sz="1050" dirty="0"/>
          </a:p>
        </p:txBody>
      </p:sp>
      <p:sp>
        <p:nvSpPr>
          <p:cNvPr id="36" name="Shape 28"/>
          <p:cNvSpPr/>
          <p:nvPr/>
        </p:nvSpPr>
        <p:spPr>
          <a:xfrm>
            <a:off x="0" y="4892040"/>
            <a:ext cx="9144000" cy="251460"/>
          </a:xfrm>
          <a:prstGeom prst="rect">
            <a:avLst/>
          </a:prstGeom>
          <a:solidFill>
            <a:srgbClr val="1A2E45"/>
          </a:solidFill>
          <a:ln w="12700">
            <a:solidFill>
              <a:srgbClr val="1A2E45"/>
            </a:solidFill>
            <a:prstDash val="solid"/>
          </a:ln>
        </p:spPr>
      </p:sp>
      <p:sp>
        <p:nvSpPr>
          <p:cNvPr id="37" name="Text 29"/>
          <p:cNvSpPr/>
          <p:nvPr/>
        </p:nvSpPr>
        <p:spPr>
          <a:xfrm>
            <a:off x="274320" y="4901184"/>
            <a:ext cx="2743200" cy="201168"/>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cloud-engineer-labs</a:t>
            </a:r>
            <a:endParaRPr lang="en-US" sz="900" dirty="0"/>
          </a:p>
        </p:txBody>
      </p:sp>
      <p:sp>
        <p:nvSpPr>
          <p:cNvPr id="38" name="Text 30"/>
          <p:cNvSpPr/>
          <p:nvPr/>
        </p:nvSpPr>
        <p:spPr>
          <a:xfrm>
            <a:off x="6400800" y="4901184"/>
            <a:ext cx="2468880" cy="201168"/>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Lab 067 — Key Takeaways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067 — Lambda Theory &amp; Missing Permissions</dc:title>
  <dc:subject>PptxGenJS Presentation</dc:subject>
  <dc:creator>PptxGenJS</dc:creator>
  <cp:lastModifiedBy>PptxGenJS</cp:lastModifiedBy>
  <cp:revision>1</cp:revision>
  <dcterms:created xsi:type="dcterms:W3CDTF">2026-04-10T07:40:22Z</dcterms:created>
  <dcterms:modified xsi:type="dcterms:W3CDTF">2026-04-10T07:40:22Z</dcterms:modified>
</cp:coreProperties>
</file>
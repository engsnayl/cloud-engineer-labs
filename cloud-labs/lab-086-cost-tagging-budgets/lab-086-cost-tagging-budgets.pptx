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457200"/>
            <a:ext cx="1828800" cy="365760"/>
          </a:xfrm>
          <a:prstGeom prst="rect">
            <a:avLst/>
          </a:prstGeom>
          <a:noFill/>
          <a:ln/>
        </p:spPr>
        <p:txBody>
          <a:bodyPr wrap="square" rtlCol="0" anchor="ctr"/>
          <a:lstStyle/>
          <a:p>
            <a:pPr indent="0" marL="0">
              <a:buNone/>
            </a:pPr>
            <a:r>
              <a:rPr lang="en-US" sz="1400" b="1" spc="400" kern="0" dirty="0">
                <a:solidFill>
                  <a:srgbClr val="14B8A6"/>
                </a:solidFill>
                <a:latin typeface="Consolas" pitchFamily="34" charset="0"/>
                <a:ea typeface="Consolas" pitchFamily="34" charset="-122"/>
                <a:cs typeface="Consolas" pitchFamily="34" charset="-120"/>
              </a:rPr>
              <a:t>LAB 086</a:t>
            </a:r>
            <a:endParaRPr lang="en-US" sz="1400" dirty="0"/>
          </a:p>
        </p:txBody>
      </p:sp>
      <p:sp>
        <p:nvSpPr>
          <p:cNvPr id="3" name="Text 1"/>
          <p:cNvSpPr/>
          <p:nvPr/>
        </p:nvSpPr>
        <p:spPr>
          <a:xfrm>
            <a:off x="548640" y="1097280"/>
            <a:ext cx="11064240" cy="146304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Cost Tagging &amp; Budgets</a:t>
            </a:r>
            <a:endParaRPr lang="en-US" sz="5200" dirty="0"/>
          </a:p>
        </p:txBody>
      </p:sp>
      <p:sp>
        <p:nvSpPr>
          <p:cNvPr id="4" name="Text 2"/>
          <p:cNvSpPr/>
          <p:nvPr/>
        </p:nvSpPr>
        <p:spPr>
          <a:xfrm>
            <a:off x="548640" y="2651760"/>
            <a:ext cx="11064240" cy="731520"/>
          </a:xfrm>
          <a:prstGeom prst="rect">
            <a:avLst/>
          </a:prstGeom>
          <a:noFill/>
          <a:ln/>
        </p:spPr>
        <p:txBody>
          <a:bodyPr wrap="square" rtlCol="0" anchor="ctr"/>
          <a:lstStyle/>
          <a:p>
            <a:pPr indent="0" marL="0">
              <a:buNone/>
            </a:pPr>
            <a:r>
              <a:rPr lang="en-US" sz="2000" i="1" dirty="0">
                <a:solidFill>
                  <a:srgbClr val="94A3B8"/>
                </a:solidFill>
                <a:latin typeface="Calibri" pitchFamily="34" charset="0"/>
                <a:ea typeface="Calibri" pitchFamily="34" charset="-122"/>
                <a:cs typeface="Calibri" pitchFamily="34" charset="-120"/>
              </a:rPr>
              <a:t>AWS cost governance, billing alarms, and the Terraform gotchas that come with them</a:t>
            </a:r>
            <a:endParaRPr lang="en-US" sz="2000" dirty="0"/>
          </a:p>
        </p:txBody>
      </p:sp>
      <p:sp>
        <p:nvSpPr>
          <p:cNvPr id="5" name="Shape 3"/>
          <p:cNvSpPr/>
          <p:nvPr/>
        </p:nvSpPr>
        <p:spPr>
          <a:xfrm>
            <a:off x="548640" y="4754880"/>
            <a:ext cx="2468880" cy="1097280"/>
          </a:xfrm>
          <a:prstGeom prst="roundRect">
            <a:avLst>
              <a:gd name="adj" fmla="val 10000"/>
            </a:avLst>
          </a:prstGeom>
          <a:solidFill>
            <a:srgbClr val="1A2744"/>
          </a:solidFill>
          <a:ln w="12700">
            <a:solidFill>
              <a:srgbClr val="0D9488"/>
            </a:solidFill>
            <a:prstDash val="solid"/>
          </a:ln>
        </p:spPr>
      </p:sp>
      <p:sp>
        <p:nvSpPr>
          <p:cNvPr id="6" name="Text 4"/>
          <p:cNvSpPr/>
          <p:nvPr/>
        </p:nvSpPr>
        <p:spPr>
          <a:xfrm>
            <a:off x="548640" y="4846320"/>
            <a:ext cx="2468880" cy="54864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6</a:t>
            </a:r>
            <a:endParaRPr lang="en-US" sz="3200" dirty="0"/>
          </a:p>
        </p:txBody>
      </p:sp>
      <p:sp>
        <p:nvSpPr>
          <p:cNvPr id="7" name="Text 5"/>
          <p:cNvSpPr/>
          <p:nvPr/>
        </p:nvSpPr>
        <p:spPr>
          <a:xfrm>
            <a:off x="548640" y="5394960"/>
            <a:ext cx="246888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bugs diagnosed</a:t>
            </a:r>
            <a:endParaRPr lang="en-US" sz="1200" dirty="0"/>
          </a:p>
        </p:txBody>
      </p:sp>
      <p:sp>
        <p:nvSpPr>
          <p:cNvPr id="8" name="Shape 6"/>
          <p:cNvSpPr/>
          <p:nvPr/>
        </p:nvSpPr>
        <p:spPr>
          <a:xfrm>
            <a:off x="3337560" y="4754880"/>
            <a:ext cx="2468880" cy="1097280"/>
          </a:xfrm>
          <a:prstGeom prst="roundRect">
            <a:avLst>
              <a:gd name="adj" fmla="val 10000"/>
            </a:avLst>
          </a:prstGeom>
          <a:solidFill>
            <a:srgbClr val="1A2744"/>
          </a:solidFill>
          <a:ln w="12700">
            <a:solidFill>
              <a:srgbClr val="0D9488"/>
            </a:solidFill>
            <a:prstDash val="solid"/>
          </a:ln>
        </p:spPr>
      </p:sp>
      <p:sp>
        <p:nvSpPr>
          <p:cNvPr id="9" name="Text 7"/>
          <p:cNvSpPr/>
          <p:nvPr/>
        </p:nvSpPr>
        <p:spPr>
          <a:xfrm>
            <a:off x="3337560" y="4846320"/>
            <a:ext cx="2468880" cy="54864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2</a:t>
            </a:r>
            <a:endParaRPr lang="en-US" sz="3200" dirty="0"/>
          </a:p>
        </p:txBody>
      </p:sp>
      <p:sp>
        <p:nvSpPr>
          <p:cNvPr id="10" name="Text 8"/>
          <p:cNvSpPr/>
          <p:nvPr/>
        </p:nvSpPr>
        <p:spPr>
          <a:xfrm>
            <a:off x="3337560" y="5394960"/>
            <a:ext cx="246888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AWS regions in play</a:t>
            </a:r>
            <a:endParaRPr lang="en-US" sz="1200" dirty="0"/>
          </a:p>
        </p:txBody>
      </p:sp>
      <p:sp>
        <p:nvSpPr>
          <p:cNvPr id="11" name="Shape 9"/>
          <p:cNvSpPr/>
          <p:nvPr/>
        </p:nvSpPr>
        <p:spPr>
          <a:xfrm>
            <a:off x="6126480" y="4754880"/>
            <a:ext cx="2468880" cy="1097280"/>
          </a:xfrm>
          <a:prstGeom prst="roundRect">
            <a:avLst>
              <a:gd name="adj" fmla="val 10000"/>
            </a:avLst>
          </a:prstGeom>
          <a:solidFill>
            <a:srgbClr val="1A2744"/>
          </a:solidFill>
          <a:ln w="12700">
            <a:solidFill>
              <a:srgbClr val="0D9488"/>
            </a:solidFill>
            <a:prstDash val="solid"/>
          </a:ln>
        </p:spPr>
      </p:sp>
      <p:sp>
        <p:nvSpPr>
          <p:cNvPr id="12" name="Text 10"/>
          <p:cNvSpPr/>
          <p:nvPr/>
        </p:nvSpPr>
        <p:spPr>
          <a:xfrm>
            <a:off x="6126480" y="4846320"/>
            <a:ext cx="2468880" cy="54864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£11,200</a:t>
            </a:r>
            <a:endParaRPr lang="en-US" sz="3200" dirty="0"/>
          </a:p>
        </p:txBody>
      </p:sp>
      <p:sp>
        <p:nvSpPr>
          <p:cNvPr id="13" name="Text 11"/>
          <p:cNvSpPr/>
          <p:nvPr/>
        </p:nvSpPr>
        <p:spPr>
          <a:xfrm>
            <a:off x="6126480" y="5394960"/>
            <a:ext cx="246888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the bill that triggered this</a:t>
            </a:r>
            <a:endParaRPr lang="en-US" sz="1200" dirty="0"/>
          </a:p>
        </p:txBody>
      </p:sp>
      <p:sp>
        <p:nvSpPr>
          <p:cNvPr id="14" name="Shape 12"/>
          <p:cNvSpPr/>
          <p:nvPr/>
        </p:nvSpPr>
        <p:spPr>
          <a:xfrm>
            <a:off x="8915400" y="4754880"/>
            <a:ext cx="2468880" cy="1097280"/>
          </a:xfrm>
          <a:prstGeom prst="roundRect">
            <a:avLst>
              <a:gd name="adj" fmla="val 10000"/>
            </a:avLst>
          </a:prstGeom>
          <a:solidFill>
            <a:srgbClr val="1A2744"/>
          </a:solidFill>
          <a:ln w="12700">
            <a:solidFill>
              <a:srgbClr val="0D9488"/>
            </a:solidFill>
            <a:prstDash val="solid"/>
          </a:ln>
        </p:spPr>
      </p:sp>
      <p:sp>
        <p:nvSpPr>
          <p:cNvPr id="15" name="Text 13"/>
          <p:cNvSpPr/>
          <p:nvPr/>
        </p:nvSpPr>
        <p:spPr>
          <a:xfrm>
            <a:off x="8915400" y="4846320"/>
            <a:ext cx="2468880" cy="548640"/>
          </a:xfrm>
          <a:prstGeom prst="rect">
            <a:avLst/>
          </a:prstGeom>
          <a:noFill/>
          <a:ln/>
        </p:spPr>
        <p:txBody>
          <a:bodyPr wrap="square" rtlCol="0" anchor="ctr"/>
          <a:lstStyle/>
          <a:p>
            <a:pPr algn="ctr" indent="0" marL="0">
              <a:buNone/>
            </a:pPr>
            <a:r>
              <a:rPr lang="en-US" sz="3200" b="1" dirty="0">
                <a:solidFill>
                  <a:srgbClr val="14B8A6"/>
                </a:solidFill>
                <a:latin typeface="Georgia" pitchFamily="34" charset="0"/>
                <a:ea typeface="Georgia" pitchFamily="34" charset="-122"/>
                <a:cs typeface="Georgia" pitchFamily="34" charset="-120"/>
              </a:rPr>
              <a:t>1</a:t>
            </a:r>
            <a:endParaRPr lang="en-US" sz="3200" dirty="0"/>
          </a:p>
        </p:txBody>
      </p:sp>
      <p:sp>
        <p:nvSpPr>
          <p:cNvPr id="16" name="Text 14"/>
          <p:cNvSpPr/>
          <p:nvPr/>
        </p:nvSpPr>
        <p:spPr>
          <a:xfrm>
            <a:off x="8915400" y="5394960"/>
            <a:ext cx="246888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Terraform provider bug</a:t>
            </a:r>
            <a:endParaRPr lang="en-US" sz="1200" dirty="0"/>
          </a:p>
        </p:txBody>
      </p:sp>
      <p:sp>
        <p:nvSpPr>
          <p:cNvPr id="17" name="Text 15"/>
          <p:cNvSpPr/>
          <p:nvPr/>
        </p:nvSpPr>
        <p:spPr>
          <a:xfrm>
            <a:off x="548640" y="6217920"/>
            <a:ext cx="1106424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Intermediate  •  AWS / Cost Management  •  Skills: Tagging, Budgets, CloudWatch, Terraform providers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ticket lands</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Monday morning. Two things hit your queue in eight minutes.</a:t>
            </a:r>
            <a:endParaRPr lang="en-US" sz="1600" dirty="0"/>
          </a:p>
        </p:txBody>
      </p:sp>
      <p:sp>
        <p:nvSpPr>
          <p:cNvPr id="4" name="Shape 2"/>
          <p:cNvSpPr/>
          <p:nvPr/>
        </p:nvSpPr>
        <p:spPr>
          <a:xfrm>
            <a:off x="548640" y="1828800"/>
            <a:ext cx="5394960" cy="3657600"/>
          </a:xfrm>
          <a:prstGeom prst="roundRect">
            <a:avLst>
              <a:gd name="adj" fmla="val 2500"/>
            </a:avLst>
          </a:prstGeom>
          <a:solidFill>
            <a:srgbClr val="1A2744"/>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731520" y="2011680"/>
            <a:ext cx="548640" cy="548640"/>
          </a:xfrm>
          <a:prstGeom prst="rect">
            <a:avLst/>
          </a:prstGeom>
        </p:spPr>
      </p:pic>
      <p:sp>
        <p:nvSpPr>
          <p:cNvPr id="6" name="Text 3"/>
          <p:cNvSpPr/>
          <p:nvPr/>
        </p:nvSpPr>
        <p:spPr>
          <a:xfrm>
            <a:off x="1371600" y="2011680"/>
            <a:ext cx="3931920" cy="274320"/>
          </a:xfrm>
          <a:prstGeom prst="rect">
            <a:avLst/>
          </a:prstGeom>
          <a:noFill/>
          <a:ln/>
        </p:spPr>
        <p:txBody>
          <a:bodyPr wrap="square" rtlCol="0" anchor="ctr"/>
          <a:lstStyle/>
          <a:p>
            <a:pPr indent="0" marL="0">
              <a:buNone/>
            </a:pPr>
            <a:r>
              <a:rPr lang="en-US" sz="1100" b="1" spc="200" kern="0" dirty="0">
                <a:solidFill>
                  <a:srgbClr val="14B8A6"/>
                </a:solidFill>
                <a:latin typeface="Consolas" pitchFamily="34" charset="0"/>
                <a:ea typeface="Consolas" pitchFamily="34" charset="-122"/>
                <a:cs typeface="Consolas" pitchFamily="34" charset="-120"/>
              </a:rPr>
              <a:t>09:14 — Slack</a:t>
            </a:r>
            <a:endParaRPr lang="en-US" sz="1100" dirty="0"/>
          </a:p>
        </p:txBody>
      </p:sp>
      <p:sp>
        <p:nvSpPr>
          <p:cNvPr id="7" name="Text 4"/>
          <p:cNvSpPr/>
          <p:nvPr/>
        </p:nvSpPr>
        <p:spPr>
          <a:xfrm>
            <a:off x="1371600" y="2286000"/>
            <a:ext cx="39319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Head of Finance</a:t>
            </a:r>
            <a:endParaRPr lang="en-US" sz="1400" dirty="0"/>
          </a:p>
        </p:txBody>
      </p:sp>
      <p:sp>
        <p:nvSpPr>
          <p:cNvPr id="8" name="Text 5"/>
          <p:cNvSpPr/>
          <p:nvPr/>
        </p:nvSpPr>
        <p:spPr>
          <a:xfrm>
            <a:off x="731520" y="2834640"/>
            <a:ext cx="5029200" cy="2468880"/>
          </a:xfrm>
          <a:prstGeom prst="rect">
            <a:avLst/>
          </a:prstGeom>
          <a:noFill/>
          <a:ln/>
        </p:spPr>
        <p:txBody>
          <a:bodyPr wrap="square"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"We got hit for £11,200 last month, up from £8,000. I can't tell finance who's responsible. Cost Explorer just shows one big lump labelled 'untagged'. CFO wants cost controls and team-level attribution by Friday."</a:t>
            </a:r>
            <a:endParaRPr lang="en-US" sz="1400" dirty="0"/>
          </a:p>
        </p:txBody>
      </p:sp>
      <p:sp>
        <p:nvSpPr>
          <p:cNvPr id="9" name="Shape 6"/>
          <p:cNvSpPr/>
          <p:nvPr/>
        </p:nvSpPr>
        <p:spPr>
          <a:xfrm>
            <a:off x="6263640" y="1828800"/>
            <a:ext cx="5394960" cy="3657600"/>
          </a:xfrm>
          <a:prstGeom prst="roundRect">
            <a:avLst>
              <a:gd name="adj" fmla="val 2500"/>
            </a:avLst>
          </a:prstGeom>
          <a:solidFill>
            <a:srgbClr val="1A2744"/>
          </a:solidFill>
          <a:ln w="12700">
            <a:solidFill>
              <a:srgbClr val="0D9488"/>
            </a:solidFill>
            <a:prstDash val="solid"/>
          </a:ln>
        </p:spPr>
      </p:sp>
      <p:pic>
        <p:nvPicPr>
          <p:cNvPr id="10" name="Image 1" descr="preencoded.png">    </p:cNvPr>
          <p:cNvPicPr>
            <a:picLocks noChangeAspect="1"/>
          </p:cNvPicPr>
          <p:nvPr/>
        </p:nvPicPr>
        <p:blipFill>
          <a:blip r:embed="rId2"/>
          <a:stretch>
            <a:fillRect/>
          </a:stretch>
        </p:blipFill>
        <p:spPr>
          <a:xfrm>
            <a:off x="6446520" y="2011680"/>
            <a:ext cx="548640" cy="548640"/>
          </a:xfrm>
          <a:prstGeom prst="rect">
            <a:avLst/>
          </a:prstGeom>
        </p:spPr>
      </p:pic>
      <p:sp>
        <p:nvSpPr>
          <p:cNvPr id="11" name="Text 7"/>
          <p:cNvSpPr/>
          <p:nvPr/>
        </p:nvSpPr>
        <p:spPr>
          <a:xfrm>
            <a:off x="7086600" y="2011680"/>
            <a:ext cx="3931920" cy="274320"/>
          </a:xfrm>
          <a:prstGeom prst="rect">
            <a:avLst/>
          </a:prstGeom>
          <a:noFill/>
          <a:ln/>
        </p:spPr>
        <p:txBody>
          <a:bodyPr wrap="square" rtlCol="0" anchor="ctr"/>
          <a:lstStyle/>
          <a:p>
            <a:pPr indent="0" marL="0">
              <a:buNone/>
            </a:pPr>
            <a:r>
              <a:rPr lang="en-US" sz="1100" b="1" spc="200" kern="0" dirty="0">
                <a:solidFill>
                  <a:srgbClr val="14B8A6"/>
                </a:solidFill>
                <a:latin typeface="Consolas" pitchFamily="34" charset="0"/>
                <a:ea typeface="Consolas" pitchFamily="34" charset="-122"/>
                <a:cs typeface="Consolas" pitchFamily="34" charset="-120"/>
              </a:rPr>
              <a:t>09:22 — PagerDuty</a:t>
            </a:r>
            <a:endParaRPr lang="en-US" sz="1100" dirty="0"/>
          </a:p>
        </p:txBody>
      </p:sp>
      <p:sp>
        <p:nvSpPr>
          <p:cNvPr id="12" name="Text 8"/>
          <p:cNvSpPr/>
          <p:nvPr/>
        </p:nvSpPr>
        <p:spPr>
          <a:xfrm>
            <a:off x="7086600" y="2286000"/>
            <a:ext cx="39319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INCIDENT-COST-001</a:t>
            </a:r>
            <a:endParaRPr lang="en-US" sz="1400" dirty="0"/>
          </a:p>
        </p:txBody>
      </p:sp>
      <p:sp>
        <p:nvSpPr>
          <p:cNvPr id="13" name="Text 9"/>
          <p:cNvSpPr/>
          <p:nvPr/>
        </p:nvSpPr>
        <p:spPr>
          <a:xfrm>
            <a:off x="6446520" y="2834640"/>
            <a:ext cx="5029200" cy="2468880"/>
          </a:xfrm>
          <a:prstGeom prst="rect">
            <a:avLst/>
          </a:prstGeom>
          <a:noFill/>
          <a:ln/>
        </p:spPr>
        <p:txBody>
          <a:bodyPr wrap="square"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"Monthly billing alarm monthly-billing-alarm has triggered 47 times in the last 24 hours. Teams have started muting the channel."</a:t>
            </a:r>
            <a:endParaRPr lang="en-US" sz="1400" dirty="0"/>
          </a:p>
        </p:txBody>
      </p:sp>
      <p:sp>
        <p:nvSpPr>
          <p:cNvPr id="14" name="Text 10"/>
          <p:cNvSpPr/>
          <p:nvPr/>
        </p:nvSpPr>
        <p:spPr>
          <a:xfrm>
            <a:off x="548640" y="5852160"/>
            <a:ext cx="11064240" cy="457200"/>
          </a:xfrm>
          <a:prstGeom prst="rect">
            <a:avLst/>
          </a:prstGeom>
          <a:noFill/>
          <a:ln/>
        </p:spPr>
        <p:txBody>
          <a:bodyPr wrap="square" rtlCol="0" anchor="ctr"/>
          <a:lstStyle/>
          <a:p>
            <a:pPr algn="ctr" indent="0" marL="0">
              <a:buNone/>
            </a:pPr>
            <a:r>
              <a:rPr lang="en-US" sz="1400" i="1" dirty="0">
                <a:solidFill>
                  <a:srgbClr val="14B8A6"/>
                </a:solidFill>
                <a:latin typeface="Calibri" pitchFamily="34" charset="0"/>
                <a:ea typeface="Calibri" pitchFamily="34" charset="-122"/>
                <a:cs typeface="Calibri" pitchFamily="34" charset="-120"/>
              </a:rPr>
              <a:t>You haven't touched this account before. It's Terraform-managed. You open a terminal.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was broken</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Six gaps across cost governance — all interconnected</a:t>
            </a:r>
            <a:endParaRPr lang="en-US" sz="1600" dirty="0"/>
          </a:p>
        </p:txBody>
      </p:sp>
      <p:sp>
        <p:nvSpPr>
          <p:cNvPr id="4" name="Shape 2"/>
          <p:cNvSpPr/>
          <p:nvPr/>
        </p:nvSpPr>
        <p:spPr>
          <a:xfrm>
            <a:off x="548640" y="1828800"/>
            <a:ext cx="3675888" cy="1280160"/>
          </a:xfrm>
          <a:prstGeom prst="roundRect">
            <a:avLst>
              <a:gd name="adj" fmla="val 5714"/>
            </a:avLst>
          </a:prstGeom>
          <a:solidFill>
            <a:srgbClr val="1A2744"/>
          </a:solidFill>
          <a:ln w="12700">
            <a:solidFill>
              <a:srgbClr val="0D9488"/>
            </a:solidFill>
            <a:prstDash val="solid"/>
          </a:ln>
        </p:spPr>
      </p:sp>
      <p:sp>
        <p:nvSpPr>
          <p:cNvPr id="5" name="Shape 3"/>
          <p:cNvSpPr/>
          <p:nvPr/>
        </p:nvSpPr>
        <p:spPr>
          <a:xfrm>
            <a:off x="685800" y="1965960"/>
            <a:ext cx="822960" cy="1005840"/>
          </a:xfrm>
          <a:prstGeom prst="roundRect">
            <a:avLst>
              <a:gd name="adj" fmla="val 8889"/>
            </a:avLst>
          </a:prstGeom>
          <a:solidFill>
            <a:srgbClr val="0D9488"/>
          </a:solidFill>
          <a:ln w="12700">
            <a:solidFill>
              <a:srgbClr val="0D9488"/>
            </a:solidFill>
            <a:prstDash val="solid"/>
          </a:ln>
        </p:spPr>
      </p:sp>
      <p:sp>
        <p:nvSpPr>
          <p:cNvPr id="6" name="Text 4"/>
          <p:cNvSpPr/>
          <p:nvPr/>
        </p:nvSpPr>
        <p:spPr>
          <a:xfrm>
            <a:off x="685800" y="1965960"/>
            <a:ext cx="822960" cy="100584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a:t>
            </a:r>
            <a:endParaRPr lang="en-US" sz="4000" dirty="0"/>
          </a:p>
        </p:txBody>
      </p:sp>
      <p:sp>
        <p:nvSpPr>
          <p:cNvPr id="7" name="Text 5"/>
          <p:cNvSpPr/>
          <p:nvPr/>
        </p:nvSpPr>
        <p:spPr>
          <a:xfrm>
            <a:off x="1645920" y="2011680"/>
            <a:ext cx="244144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default_tags</a:t>
            </a:r>
            <a:endParaRPr lang="en-US" sz="1400" dirty="0"/>
          </a:p>
        </p:txBody>
      </p:sp>
      <p:sp>
        <p:nvSpPr>
          <p:cNvPr id="8" name="Text 6"/>
          <p:cNvSpPr/>
          <p:nvPr/>
        </p:nvSpPr>
        <p:spPr>
          <a:xfrm>
            <a:off x="1645920" y="2377440"/>
            <a:ext cx="2441448" cy="640080"/>
          </a:xfrm>
          <a:prstGeom prst="rect">
            <a:avLst/>
          </a:prstGeom>
          <a:noFill/>
          <a:ln/>
        </p:spPr>
        <p:txBody>
          <a:bodyPr wrap="square" rtlCol="0" anchor="t"/>
          <a:lstStyle/>
          <a:p>
            <a:pPr indent="0" marL="0">
              <a:buNone/>
            </a:pPr>
            <a:r>
              <a:rPr lang="en-US" sz="1100" dirty="0">
                <a:solidFill>
                  <a:srgbClr val="94A3B8"/>
                </a:solidFill>
                <a:latin typeface="Calibri" pitchFamily="34" charset="0"/>
                <a:ea typeface="Calibri" pitchFamily="34" charset="-122"/>
                <a:cs typeface="Calibri" pitchFamily="34" charset="-120"/>
              </a:rPr>
              <a:t>Provider doesn't auto-inherit any tags</a:t>
            </a:r>
            <a:endParaRPr lang="en-US" sz="1100" dirty="0"/>
          </a:p>
        </p:txBody>
      </p:sp>
      <p:sp>
        <p:nvSpPr>
          <p:cNvPr id="9" name="Shape 7"/>
          <p:cNvSpPr/>
          <p:nvPr/>
        </p:nvSpPr>
        <p:spPr>
          <a:xfrm>
            <a:off x="4361688" y="1828800"/>
            <a:ext cx="3675888" cy="1280160"/>
          </a:xfrm>
          <a:prstGeom prst="roundRect">
            <a:avLst>
              <a:gd name="adj" fmla="val 5714"/>
            </a:avLst>
          </a:prstGeom>
          <a:solidFill>
            <a:srgbClr val="1A2744"/>
          </a:solidFill>
          <a:ln w="12700">
            <a:solidFill>
              <a:srgbClr val="0D9488"/>
            </a:solidFill>
            <a:prstDash val="solid"/>
          </a:ln>
        </p:spPr>
      </p:sp>
      <p:sp>
        <p:nvSpPr>
          <p:cNvPr id="10" name="Shape 8"/>
          <p:cNvSpPr/>
          <p:nvPr/>
        </p:nvSpPr>
        <p:spPr>
          <a:xfrm>
            <a:off x="4498848" y="1965960"/>
            <a:ext cx="822960" cy="1005840"/>
          </a:xfrm>
          <a:prstGeom prst="roundRect">
            <a:avLst>
              <a:gd name="adj" fmla="val 8889"/>
            </a:avLst>
          </a:prstGeom>
          <a:solidFill>
            <a:srgbClr val="0D9488"/>
          </a:solidFill>
          <a:ln w="12700">
            <a:solidFill>
              <a:srgbClr val="0D9488"/>
            </a:solidFill>
            <a:prstDash val="solid"/>
          </a:ln>
        </p:spPr>
      </p:sp>
      <p:sp>
        <p:nvSpPr>
          <p:cNvPr id="11" name="Text 9"/>
          <p:cNvSpPr/>
          <p:nvPr/>
        </p:nvSpPr>
        <p:spPr>
          <a:xfrm>
            <a:off x="4498848" y="1965960"/>
            <a:ext cx="822960" cy="100584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2</a:t>
            </a:r>
            <a:endParaRPr lang="en-US" sz="4000" dirty="0"/>
          </a:p>
        </p:txBody>
      </p:sp>
      <p:sp>
        <p:nvSpPr>
          <p:cNvPr id="12" name="Text 10"/>
          <p:cNvSpPr/>
          <p:nvPr/>
        </p:nvSpPr>
        <p:spPr>
          <a:xfrm>
            <a:off x="5458968" y="2011680"/>
            <a:ext cx="244144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Resources untagged</a:t>
            </a:r>
            <a:endParaRPr lang="en-US" sz="1400" dirty="0"/>
          </a:p>
        </p:txBody>
      </p:sp>
      <p:sp>
        <p:nvSpPr>
          <p:cNvPr id="13" name="Text 11"/>
          <p:cNvSpPr/>
          <p:nvPr/>
        </p:nvSpPr>
        <p:spPr>
          <a:xfrm>
            <a:off x="5458968" y="2377440"/>
            <a:ext cx="2441448" cy="640080"/>
          </a:xfrm>
          <a:prstGeom prst="rect">
            <a:avLst/>
          </a:prstGeom>
          <a:noFill/>
          <a:ln/>
        </p:spPr>
        <p:txBody>
          <a:bodyPr wrap="square" rtlCol="0" anchor="t"/>
          <a:lstStyle/>
          <a:p>
            <a:pPr indent="0" marL="0">
              <a:buNone/>
            </a:pPr>
            <a:r>
              <a:rPr lang="en-US" sz="1100" dirty="0">
                <a:solidFill>
                  <a:srgbClr val="94A3B8"/>
                </a:solidFill>
                <a:latin typeface="Calibri" pitchFamily="34" charset="0"/>
                <a:ea typeface="Calibri" pitchFamily="34" charset="-122"/>
                <a:cs typeface="Calibri" pitchFamily="34" charset="-120"/>
              </a:rPr>
              <a:t>VPC, subnet, S3 don't reference common_tags</a:t>
            </a:r>
            <a:endParaRPr lang="en-US" sz="1100" dirty="0"/>
          </a:p>
        </p:txBody>
      </p:sp>
      <p:sp>
        <p:nvSpPr>
          <p:cNvPr id="14" name="Shape 12"/>
          <p:cNvSpPr/>
          <p:nvPr/>
        </p:nvSpPr>
        <p:spPr>
          <a:xfrm>
            <a:off x="8174736" y="1828800"/>
            <a:ext cx="3675888" cy="1280160"/>
          </a:xfrm>
          <a:prstGeom prst="roundRect">
            <a:avLst>
              <a:gd name="adj" fmla="val 5714"/>
            </a:avLst>
          </a:prstGeom>
          <a:solidFill>
            <a:srgbClr val="1A2744"/>
          </a:solidFill>
          <a:ln w="12700">
            <a:solidFill>
              <a:srgbClr val="0D9488"/>
            </a:solidFill>
            <a:prstDash val="solid"/>
          </a:ln>
        </p:spPr>
      </p:sp>
      <p:sp>
        <p:nvSpPr>
          <p:cNvPr id="15" name="Shape 13"/>
          <p:cNvSpPr/>
          <p:nvPr/>
        </p:nvSpPr>
        <p:spPr>
          <a:xfrm>
            <a:off x="8311896" y="1965960"/>
            <a:ext cx="822960" cy="1005840"/>
          </a:xfrm>
          <a:prstGeom prst="roundRect">
            <a:avLst>
              <a:gd name="adj" fmla="val 8889"/>
            </a:avLst>
          </a:prstGeom>
          <a:solidFill>
            <a:srgbClr val="0D9488"/>
          </a:solidFill>
          <a:ln w="12700">
            <a:solidFill>
              <a:srgbClr val="0D9488"/>
            </a:solidFill>
            <a:prstDash val="solid"/>
          </a:ln>
        </p:spPr>
      </p:sp>
      <p:sp>
        <p:nvSpPr>
          <p:cNvPr id="16" name="Text 14"/>
          <p:cNvSpPr/>
          <p:nvPr/>
        </p:nvSpPr>
        <p:spPr>
          <a:xfrm>
            <a:off x="8311896" y="1965960"/>
            <a:ext cx="822960" cy="100584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3</a:t>
            </a:r>
            <a:endParaRPr lang="en-US" sz="4000" dirty="0"/>
          </a:p>
        </p:txBody>
      </p:sp>
      <p:sp>
        <p:nvSpPr>
          <p:cNvPr id="17" name="Text 15"/>
          <p:cNvSpPr/>
          <p:nvPr/>
        </p:nvSpPr>
        <p:spPr>
          <a:xfrm>
            <a:off x="9272016" y="2011680"/>
            <a:ext cx="244144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Budget has no notifications</a:t>
            </a:r>
            <a:endParaRPr lang="en-US" sz="1400" dirty="0"/>
          </a:p>
        </p:txBody>
      </p:sp>
      <p:sp>
        <p:nvSpPr>
          <p:cNvPr id="18" name="Text 16"/>
          <p:cNvSpPr/>
          <p:nvPr/>
        </p:nvSpPr>
        <p:spPr>
          <a:xfrm>
            <a:off x="9272016" y="2377440"/>
            <a:ext cx="2441448" cy="640080"/>
          </a:xfrm>
          <a:prstGeom prst="rect">
            <a:avLst/>
          </a:prstGeom>
          <a:noFill/>
          <a:ln/>
        </p:spPr>
        <p:txBody>
          <a:bodyPr wrap="square" rtlCol="0" anchor="t"/>
          <a:lstStyle/>
          <a:p>
            <a:pPr indent="0" marL="0">
              <a:buNone/>
            </a:pPr>
            <a:r>
              <a:rPr lang="en-US" sz="1100" dirty="0">
                <a:solidFill>
                  <a:srgbClr val="94A3B8"/>
                </a:solidFill>
                <a:latin typeface="Calibri" pitchFamily="34" charset="0"/>
                <a:ea typeface="Calibri" pitchFamily="34" charset="-122"/>
                <a:cs typeface="Calibri" pitchFamily="34" charset="-120"/>
              </a:rPr>
              <a:t>Silent number in a dashboard</a:t>
            </a:r>
            <a:endParaRPr lang="en-US" sz="1100" dirty="0"/>
          </a:p>
        </p:txBody>
      </p:sp>
      <p:sp>
        <p:nvSpPr>
          <p:cNvPr id="19" name="Shape 17"/>
          <p:cNvSpPr/>
          <p:nvPr/>
        </p:nvSpPr>
        <p:spPr>
          <a:xfrm>
            <a:off x="548640" y="3291840"/>
            <a:ext cx="3675888" cy="1280160"/>
          </a:xfrm>
          <a:prstGeom prst="roundRect">
            <a:avLst>
              <a:gd name="adj" fmla="val 5714"/>
            </a:avLst>
          </a:prstGeom>
          <a:solidFill>
            <a:srgbClr val="1A2744"/>
          </a:solidFill>
          <a:ln w="12700">
            <a:solidFill>
              <a:srgbClr val="0D9488"/>
            </a:solidFill>
            <a:prstDash val="solid"/>
          </a:ln>
        </p:spPr>
      </p:sp>
      <p:sp>
        <p:nvSpPr>
          <p:cNvPr id="20" name="Shape 18"/>
          <p:cNvSpPr/>
          <p:nvPr/>
        </p:nvSpPr>
        <p:spPr>
          <a:xfrm>
            <a:off x="685800" y="3429000"/>
            <a:ext cx="822960" cy="1005840"/>
          </a:xfrm>
          <a:prstGeom prst="roundRect">
            <a:avLst>
              <a:gd name="adj" fmla="val 8889"/>
            </a:avLst>
          </a:prstGeom>
          <a:solidFill>
            <a:srgbClr val="0D9488"/>
          </a:solidFill>
          <a:ln w="12700">
            <a:solidFill>
              <a:srgbClr val="0D9488"/>
            </a:solidFill>
            <a:prstDash val="solid"/>
          </a:ln>
        </p:spPr>
      </p:sp>
      <p:sp>
        <p:nvSpPr>
          <p:cNvPr id="21" name="Text 19"/>
          <p:cNvSpPr/>
          <p:nvPr/>
        </p:nvSpPr>
        <p:spPr>
          <a:xfrm>
            <a:off x="685800" y="3429000"/>
            <a:ext cx="822960" cy="100584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4</a:t>
            </a:r>
            <a:endParaRPr lang="en-US" sz="4000" dirty="0"/>
          </a:p>
        </p:txBody>
      </p:sp>
      <p:sp>
        <p:nvSpPr>
          <p:cNvPr id="22" name="Text 20"/>
          <p:cNvSpPr/>
          <p:nvPr/>
        </p:nvSpPr>
        <p:spPr>
          <a:xfrm>
            <a:off x="1645920" y="3474720"/>
            <a:ext cx="244144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Alarm threshold = $0</a:t>
            </a:r>
            <a:endParaRPr lang="en-US" sz="1400" dirty="0"/>
          </a:p>
        </p:txBody>
      </p:sp>
      <p:sp>
        <p:nvSpPr>
          <p:cNvPr id="23" name="Text 21"/>
          <p:cNvSpPr/>
          <p:nvPr/>
        </p:nvSpPr>
        <p:spPr>
          <a:xfrm>
            <a:off x="1645920" y="3840480"/>
            <a:ext cx="2441448" cy="640080"/>
          </a:xfrm>
          <a:prstGeom prst="rect">
            <a:avLst/>
          </a:prstGeom>
          <a:noFill/>
          <a:ln/>
        </p:spPr>
        <p:txBody>
          <a:bodyPr wrap="square" rtlCol="0" anchor="t"/>
          <a:lstStyle/>
          <a:p>
            <a:pPr indent="0" marL="0">
              <a:buNone/>
            </a:pPr>
            <a:r>
              <a:rPr lang="en-US" sz="1100" dirty="0">
                <a:solidFill>
                  <a:srgbClr val="94A3B8"/>
                </a:solidFill>
                <a:latin typeface="Calibri" pitchFamily="34" charset="0"/>
                <a:ea typeface="Calibri" pitchFamily="34" charset="-122"/>
                <a:cs typeface="Calibri" pitchFamily="34" charset="-120"/>
              </a:rPr>
              <a:t>Would fire constantly — alert fatigue</a:t>
            </a:r>
            <a:endParaRPr lang="en-US" sz="1100" dirty="0"/>
          </a:p>
        </p:txBody>
      </p:sp>
      <p:sp>
        <p:nvSpPr>
          <p:cNvPr id="24" name="Shape 22"/>
          <p:cNvSpPr/>
          <p:nvPr/>
        </p:nvSpPr>
        <p:spPr>
          <a:xfrm>
            <a:off x="4361688" y="3291840"/>
            <a:ext cx="3675888" cy="1280160"/>
          </a:xfrm>
          <a:prstGeom prst="roundRect">
            <a:avLst>
              <a:gd name="adj" fmla="val 5714"/>
            </a:avLst>
          </a:prstGeom>
          <a:solidFill>
            <a:srgbClr val="1A2744"/>
          </a:solidFill>
          <a:ln w="12700">
            <a:solidFill>
              <a:srgbClr val="0D9488"/>
            </a:solidFill>
            <a:prstDash val="solid"/>
          </a:ln>
        </p:spPr>
      </p:sp>
      <p:sp>
        <p:nvSpPr>
          <p:cNvPr id="25" name="Shape 23"/>
          <p:cNvSpPr/>
          <p:nvPr/>
        </p:nvSpPr>
        <p:spPr>
          <a:xfrm>
            <a:off x="4498848" y="3429000"/>
            <a:ext cx="822960" cy="1005840"/>
          </a:xfrm>
          <a:prstGeom prst="roundRect">
            <a:avLst>
              <a:gd name="adj" fmla="val 8889"/>
            </a:avLst>
          </a:prstGeom>
          <a:solidFill>
            <a:srgbClr val="0D9488"/>
          </a:solidFill>
          <a:ln w="12700">
            <a:solidFill>
              <a:srgbClr val="0D9488"/>
            </a:solidFill>
            <a:prstDash val="solid"/>
          </a:ln>
        </p:spPr>
      </p:sp>
      <p:sp>
        <p:nvSpPr>
          <p:cNvPr id="26" name="Text 24"/>
          <p:cNvSpPr/>
          <p:nvPr/>
        </p:nvSpPr>
        <p:spPr>
          <a:xfrm>
            <a:off x="4498848" y="3429000"/>
            <a:ext cx="822960" cy="100584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5</a:t>
            </a:r>
            <a:endParaRPr lang="en-US" sz="4000" dirty="0"/>
          </a:p>
        </p:txBody>
      </p:sp>
      <p:sp>
        <p:nvSpPr>
          <p:cNvPr id="27" name="Text 25"/>
          <p:cNvSpPr/>
          <p:nvPr/>
        </p:nvSpPr>
        <p:spPr>
          <a:xfrm>
            <a:off x="5458968" y="3474720"/>
            <a:ext cx="244144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SNS topic untagged</a:t>
            </a:r>
            <a:endParaRPr lang="en-US" sz="1400" dirty="0"/>
          </a:p>
        </p:txBody>
      </p:sp>
      <p:sp>
        <p:nvSpPr>
          <p:cNvPr id="28" name="Text 26"/>
          <p:cNvSpPr/>
          <p:nvPr/>
        </p:nvSpPr>
        <p:spPr>
          <a:xfrm>
            <a:off x="5458968" y="3840480"/>
            <a:ext cx="2441448" cy="640080"/>
          </a:xfrm>
          <a:prstGeom prst="rect">
            <a:avLst/>
          </a:prstGeom>
          <a:noFill/>
          <a:ln/>
        </p:spPr>
        <p:txBody>
          <a:bodyPr wrap="square" rtlCol="0" anchor="t"/>
          <a:lstStyle/>
          <a:p>
            <a:pPr indent="0" marL="0">
              <a:buNone/>
            </a:pPr>
            <a:r>
              <a:rPr lang="en-US" sz="1100" dirty="0">
                <a:solidFill>
                  <a:srgbClr val="94A3B8"/>
                </a:solidFill>
                <a:latin typeface="Calibri" pitchFamily="34" charset="0"/>
                <a:ea typeface="Calibri" pitchFamily="34" charset="-122"/>
                <a:cs typeface="Calibri" pitchFamily="34" charset="-120"/>
              </a:rPr>
              <a:t>Meta-infrastructure missing attribution</a:t>
            </a:r>
            <a:endParaRPr lang="en-US" sz="1100" dirty="0"/>
          </a:p>
        </p:txBody>
      </p:sp>
      <p:sp>
        <p:nvSpPr>
          <p:cNvPr id="29" name="Shape 27"/>
          <p:cNvSpPr/>
          <p:nvPr/>
        </p:nvSpPr>
        <p:spPr>
          <a:xfrm>
            <a:off x="8174736" y="3291840"/>
            <a:ext cx="3675888" cy="1280160"/>
          </a:xfrm>
          <a:prstGeom prst="roundRect">
            <a:avLst>
              <a:gd name="adj" fmla="val 5714"/>
            </a:avLst>
          </a:prstGeom>
          <a:solidFill>
            <a:srgbClr val="1A2744"/>
          </a:solidFill>
          <a:ln w="12700">
            <a:solidFill>
              <a:srgbClr val="0D9488"/>
            </a:solidFill>
            <a:prstDash val="solid"/>
          </a:ln>
        </p:spPr>
      </p:sp>
      <p:sp>
        <p:nvSpPr>
          <p:cNvPr id="30" name="Shape 28"/>
          <p:cNvSpPr/>
          <p:nvPr/>
        </p:nvSpPr>
        <p:spPr>
          <a:xfrm>
            <a:off x="8311896" y="3429000"/>
            <a:ext cx="822960" cy="1005840"/>
          </a:xfrm>
          <a:prstGeom prst="roundRect">
            <a:avLst>
              <a:gd name="adj" fmla="val 8889"/>
            </a:avLst>
          </a:prstGeom>
          <a:solidFill>
            <a:srgbClr val="0D9488"/>
          </a:solidFill>
          <a:ln w="12700">
            <a:solidFill>
              <a:srgbClr val="0D9488"/>
            </a:solidFill>
            <a:prstDash val="solid"/>
          </a:ln>
        </p:spPr>
      </p:sp>
      <p:sp>
        <p:nvSpPr>
          <p:cNvPr id="31" name="Text 29"/>
          <p:cNvSpPr/>
          <p:nvPr/>
        </p:nvSpPr>
        <p:spPr>
          <a:xfrm>
            <a:off x="8311896" y="3429000"/>
            <a:ext cx="822960" cy="100584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6</a:t>
            </a:r>
            <a:endParaRPr lang="en-US" sz="4000" dirty="0"/>
          </a:p>
        </p:txBody>
      </p:sp>
      <p:sp>
        <p:nvSpPr>
          <p:cNvPr id="32" name="Text 30"/>
          <p:cNvSpPr/>
          <p:nvPr/>
        </p:nvSpPr>
        <p:spPr>
          <a:xfrm>
            <a:off x="9272016" y="3474720"/>
            <a:ext cx="244144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Alarm in wrong region</a:t>
            </a:r>
            <a:endParaRPr lang="en-US" sz="1400" dirty="0"/>
          </a:p>
        </p:txBody>
      </p:sp>
      <p:sp>
        <p:nvSpPr>
          <p:cNvPr id="33" name="Text 31"/>
          <p:cNvSpPr/>
          <p:nvPr/>
        </p:nvSpPr>
        <p:spPr>
          <a:xfrm>
            <a:off x="9272016" y="3840480"/>
            <a:ext cx="2441448" cy="640080"/>
          </a:xfrm>
          <a:prstGeom prst="rect">
            <a:avLst/>
          </a:prstGeom>
          <a:noFill/>
          <a:ln/>
        </p:spPr>
        <p:txBody>
          <a:bodyPr wrap="square" rtlCol="0" anchor="t"/>
          <a:lstStyle/>
          <a:p>
            <a:pPr indent="0" marL="0">
              <a:buNone/>
            </a:pPr>
            <a:r>
              <a:rPr lang="en-US" sz="1100" dirty="0">
                <a:solidFill>
                  <a:srgbClr val="94A3B8"/>
                </a:solidFill>
                <a:latin typeface="Calibri" pitchFamily="34" charset="0"/>
                <a:ea typeface="Calibri" pitchFamily="34" charset="-122"/>
                <a:cs typeface="Calibri" pitchFamily="34" charset="-120"/>
              </a:rPr>
              <a:t>AWS/Billing metrics only publish to us-east-1</a:t>
            </a:r>
            <a:endParaRPr lang="en-US" sz="1100" dirty="0"/>
          </a:p>
        </p:txBody>
      </p:sp>
      <p:sp>
        <p:nvSpPr>
          <p:cNvPr id="34" name="Text 32"/>
          <p:cNvSpPr/>
          <p:nvPr/>
        </p:nvSpPr>
        <p:spPr>
          <a:xfrm>
            <a:off x="548640" y="5852160"/>
            <a:ext cx="11064240" cy="457200"/>
          </a:xfrm>
          <a:prstGeom prst="rect">
            <a:avLst/>
          </a:prstGeom>
          <a:noFill/>
          <a:ln/>
        </p:spPr>
        <p:txBody>
          <a:bodyPr wrap="square"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Numbered in order of discovery, not severity. Bugs 4 and 6 are both 'the alarm' — found in the same investigation.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investigation flow</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You don't arrive with a bug list. You pull threads.</a:t>
            </a:r>
            <a:endParaRPr lang="en-US" sz="1600" dirty="0"/>
          </a:p>
        </p:txBody>
      </p:sp>
      <p:pic>
        <p:nvPicPr>
          <p:cNvPr id="4" name="Image 0" descr="preencoded.png">    </p:cNvPr>
          <p:cNvPicPr>
            <a:picLocks noChangeAspect="1"/>
          </p:cNvPicPr>
          <p:nvPr/>
        </p:nvPicPr>
        <p:blipFill>
          <a:blip r:embed="rId1"/>
          <a:stretch>
            <a:fillRect/>
          </a:stretch>
        </p:blipFill>
        <p:spPr>
          <a:xfrm>
            <a:off x="548640" y="1874520"/>
            <a:ext cx="502920" cy="502920"/>
          </a:xfrm>
          <a:prstGeom prst="rect">
            <a:avLst/>
          </a:prstGeom>
        </p:spPr>
      </p:pic>
      <p:sp>
        <p:nvSpPr>
          <p:cNvPr id="5" name="Text 2"/>
          <p:cNvSpPr/>
          <p:nvPr/>
        </p:nvSpPr>
        <p:spPr>
          <a:xfrm>
            <a:off x="1234440" y="1828800"/>
            <a:ext cx="32004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Orient</a:t>
            </a:r>
            <a:endParaRPr lang="en-US" sz="1500" dirty="0"/>
          </a:p>
        </p:txBody>
      </p:sp>
      <p:sp>
        <p:nvSpPr>
          <p:cNvPr id="6" name="Text 3"/>
          <p:cNvSpPr/>
          <p:nvPr/>
        </p:nvSpPr>
        <p:spPr>
          <a:xfrm>
            <a:off x="1234440" y="2176272"/>
            <a:ext cx="1033272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Read main.tf. Build a mental model. Don't touch anything.</a:t>
            </a:r>
            <a:endParaRPr lang="en-US" sz="1200" dirty="0"/>
          </a:p>
        </p:txBody>
      </p:sp>
      <p:pic>
        <p:nvPicPr>
          <p:cNvPr id="7" name="Image 1" descr="preencoded.png">    </p:cNvPr>
          <p:cNvPicPr>
            <a:picLocks noChangeAspect="1"/>
          </p:cNvPicPr>
          <p:nvPr/>
        </p:nvPicPr>
        <p:blipFill>
          <a:blip r:embed="rId2"/>
          <a:stretch>
            <a:fillRect/>
          </a:stretch>
        </p:blipFill>
        <p:spPr>
          <a:xfrm>
            <a:off x="548640" y="2560320"/>
            <a:ext cx="502920" cy="502920"/>
          </a:xfrm>
          <a:prstGeom prst="rect">
            <a:avLst/>
          </a:prstGeom>
        </p:spPr>
      </p:pic>
      <p:sp>
        <p:nvSpPr>
          <p:cNvPr id="8" name="Text 4"/>
          <p:cNvSpPr/>
          <p:nvPr/>
        </p:nvSpPr>
        <p:spPr>
          <a:xfrm>
            <a:off x="1234440" y="2514600"/>
            <a:ext cx="32004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Act One — Tags</a:t>
            </a:r>
            <a:endParaRPr lang="en-US" sz="1500" dirty="0"/>
          </a:p>
        </p:txBody>
      </p:sp>
      <p:sp>
        <p:nvSpPr>
          <p:cNvPr id="9" name="Text 5"/>
          <p:cNvSpPr/>
          <p:nvPr/>
        </p:nvSpPr>
        <p:spPr>
          <a:xfrm>
            <a:off x="1234440" y="2862072"/>
            <a:ext cx="1033272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Is common_tags used? Any default_tags? Check live VPC + S3 state.</a:t>
            </a:r>
            <a:endParaRPr lang="en-US" sz="1200" dirty="0"/>
          </a:p>
        </p:txBody>
      </p:sp>
      <p:pic>
        <p:nvPicPr>
          <p:cNvPr id="10" name="Image 2" descr="preencoded.png">    </p:cNvPr>
          <p:cNvPicPr>
            <a:picLocks noChangeAspect="1"/>
          </p:cNvPicPr>
          <p:nvPr/>
        </p:nvPicPr>
        <p:blipFill>
          <a:blip r:embed="rId3"/>
          <a:stretch>
            <a:fillRect/>
          </a:stretch>
        </p:blipFill>
        <p:spPr>
          <a:xfrm>
            <a:off x="548640" y="3246120"/>
            <a:ext cx="502920" cy="502920"/>
          </a:xfrm>
          <a:prstGeom prst="rect">
            <a:avLst/>
          </a:prstGeom>
        </p:spPr>
      </p:pic>
      <p:sp>
        <p:nvSpPr>
          <p:cNvPr id="11" name="Text 6"/>
          <p:cNvSpPr/>
          <p:nvPr/>
        </p:nvSpPr>
        <p:spPr>
          <a:xfrm>
            <a:off x="1234440" y="3200400"/>
            <a:ext cx="32004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Act One — Budget</a:t>
            </a:r>
            <a:endParaRPr lang="en-US" sz="1500" dirty="0"/>
          </a:p>
        </p:txBody>
      </p:sp>
      <p:sp>
        <p:nvSpPr>
          <p:cNvPr id="12" name="Text 7"/>
          <p:cNvSpPr/>
          <p:nvPr/>
        </p:nvSpPr>
        <p:spPr>
          <a:xfrm>
            <a:off x="1234440" y="3547872"/>
            <a:ext cx="1033272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Describe the budget. List its notifications. Compare to main.tf.</a:t>
            </a:r>
            <a:endParaRPr lang="en-US" sz="1200" dirty="0"/>
          </a:p>
        </p:txBody>
      </p:sp>
      <p:pic>
        <p:nvPicPr>
          <p:cNvPr id="13" name="Image 3" descr="preencoded.png">    </p:cNvPr>
          <p:cNvPicPr>
            <a:picLocks noChangeAspect="1"/>
          </p:cNvPicPr>
          <p:nvPr/>
        </p:nvPicPr>
        <p:blipFill>
          <a:blip r:embed="rId4"/>
          <a:stretch>
            <a:fillRect/>
          </a:stretch>
        </p:blipFill>
        <p:spPr>
          <a:xfrm>
            <a:off x="548640" y="3931920"/>
            <a:ext cx="502920" cy="502920"/>
          </a:xfrm>
          <a:prstGeom prst="rect">
            <a:avLst/>
          </a:prstGeom>
        </p:spPr>
      </p:pic>
      <p:sp>
        <p:nvSpPr>
          <p:cNvPr id="14" name="Text 8"/>
          <p:cNvSpPr/>
          <p:nvPr/>
        </p:nvSpPr>
        <p:spPr>
          <a:xfrm>
            <a:off x="1234440" y="3886200"/>
            <a:ext cx="32004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Act Two — Alarm</a:t>
            </a:r>
            <a:endParaRPr lang="en-US" sz="1500" dirty="0"/>
          </a:p>
        </p:txBody>
      </p:sp>
      <p:sp>
        <p:nvSpPr>
          <p:cNvPr id="15" name="Text 9"/>
          <p:cNvSpPr/>
          <p:nvPr/>
        </p:nvSpPr>
        <p:spPr>
          <a:xfrm>
            <a:off x="1234440" y="4233672"/>
            <a:ext cx="1033272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Start in us-east-1 (correct region). Empty. Check eu-west-2.</a:t>
            </a:r>
            <a:endParaRPr lang="en-US" sz="1200" dirty="0"/>
          </a:p>
        </p:txBody>
      </p:sp>
      <p:pic>
        <p:nvPicPr>
          <p:cNvPr id="16" name="Image 4" descr="preencoded.png">    </p:cNvPr>
          <p:cNvPicPr>
            <a:picLocks noChangeAspect="1"/>
          </p:cNvPicPr>
          <p:nvPr/>
        </p:nvPicPr>
        <p:blipFill>
          <a:blip r:embed="rId5"/>
          <a:stretch>
            <a:fillRect/>
          </a:stretch>
        </p:blipFill>
        <p:spPr>
          <a:xfrm>
            <a:off x="548640" y="4617720"/>
            <a:ext cx="502920" cy="502920"/>
          </a:xfrm>
          <a:prstGeom prst="rect">
            <a:avLst/>
          </a:prstGeom>
        </p:spPr>
      </p:pic>
      <p:sp>
        <p:nvSpPr>
          <p:cNvPr id="17" name="Text 10"/>
          <p:cNvSpPr/>
          <p:nvPr/>
        </p:nvSpPr>
        <p:spPr>
          <a:xfrm>
            <a:off x="1234440" y="4572000"/>
            <a:ext cx="32004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Summarise before fixing</a:t>
            </a:r>
            <a:endParaRPr lang="en-US" sz="1500" dirty="0"/>
          </a:p>
        </p:txBody>
      </p:sp>
      <p:sp>
        <p:nvSpPr>
          <p:cNvPr id="18" name="Text 11"/>
          <p:cNvSpPr/>
          <p:nvPr/>
        </p:nvSpPr>
        <p:spPr>
          <a:xfrm>
            <a:off x="1234440" y="4919472"/>
            <a:ext cx="1033272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Communicate findings clearly before changing anything.</a:t>
            </a:r>
            <a:endParaRPr lang="en-US" sz="1200" dirty="0"/>
          </a:p>
        </p:txBody>
      </p:sp>
      <p:pic>
        <p:nvPicPr>
          <p:cNvPr id="19" name="Image 5" descr="preencoded.png">    </p:cNvPr>
          <p:cNvPicPr>
            <a:picLocks noChangeAspect="1"/>
          </p:cNvPicPr>
          <p:nvPr/>
        </p:nvPicPr>
        <p:blipFill>
          <a:blip r:embed="rId6"/>
          <a:stretch>
            <a:fillRect/>
          </a:stretch>
        </p:blipFill>
        <p:spPr>
          <a:xfrm>
            <a:off x="548640" y="5303520"/>
            <a:ext cx="502920" cy="502920"/>
          </a:xfrm>
          <a:prstGeom prst="rect">
            <a:avLst/>
          </a:prstGeom>
        </p:spPr>
      </p:pic>
      <p:sp>
        <p:nvSpPr>
          <p:cNvPr id="20" name="Text 12"/>
          <p:cNvSpPr/>
          <p:nvPr/>
        </p:nvSpPr>
        <p:spPr>
          <a:xfrm>
            <a:off x="1234440" y="5257800"/>
            <a:ext cx="3200400" cy="365760"/>
          </a:xfrm>
          <a:prstGeom prst="rect">
            <a:avLst/>
          </a:prstGeom>
          <a:noFill/>
          <a:ln/>
        </p:spPr>
        <p:txBody>
          <a:bodyPr wrap="square" rtlCol="0" anchor="ctr"/>
          <a:lstStyle/>
          <a:p>
            <a:pPr indent="0" marL="0">
              <a:buNone/>
            </a:pPr>
            <a:r>
              <a:rPr lang="en-US" sz="1500" b="1" dirty="0">
                <a:solidFill>
                  <a:srgbClr val="14B8A6"/>
                </a:solidFill>
                <a:latin typeface="Calibri" pitchFamily="34" charset="0"/>
                <a:ea typeface="Calibri" pitchFamily="34" charset="-122"/>
                <a:cs typeface="Calibri" pitchFamily="34" charset="-120"/>
              </a:rPr>
              <a:t>Fix, apply, verify</a:t>
            </a:r>
            <a:endParaRPr lang="en-US" sz="1500" dirty="0"/>
          </a:p>
        </p:txBody>
      </p:sp>
      <p:sp>
        <p:nvSpPr>
          <p:cNvPr id="21" name="Text 13"/>
          <p:cNvSpPr/>
          <p:nvPr/>
        </p:nvSpPr>
        <p:spPr>
          <a:xfrm>
            <a:off x="1234440" y="5605272"/>
            <a:ext cx="10332720" cy="3200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Live state verification every time. Never trust 'apply complete' alone.</a:t>
            </a:r>
            <a:endParaRPr lang="en-US" sz="1200" dirty="0"/>
          </a:p>
        </p:txBody>
      </p:sp>
      <p:sp>
        <p:nvSpPr>
          <p:cNvPr id="22" name="Text 14"/>
          <p:cNvSpPr/>
          <p:nvPr/>
        </p:nvSpPr>
        <p:spPr>
          <a:xfrm>
            <a:off x="548640" y="6035040"/>
            <a:ext cx="11064240" cy="365760"/>
          </a:xfrm>
          <a:prstGeom prst="rect">
            <a:avLst/>
          </a:prstGeom>
          <a:noFill/>
          <a:ln/>
        </p:spPr>
        <p:txBody>
          <a:bodyPr wrap="square" rtlCol="0" anchor="ctr"/>
          <a:lstStyle/>
          <a:p>
            <a:pPr algn="ctr" indent="0" marL="0">
              <a:buNone/>
            </a:pPr>
            <a:r>
              <a:rPr lang="en-US" sz="1200" i="1" dirty="0">
                <a:solidFill>
                  <a:srgbClr val="14B8A6"/>
                </a:solidFill>
                <a:latin typeface="Calibri" pitchFamily="34" charset="0"/>
                <a:ea typeface="Calibri" pitchFamily="34" charset="-122"/>
                <a:cs typeface="Calibri" pitchFamily="34" charset="-120"/>
              </a:rPr>
              <a:t>Mid-level engineers are paid to think in this order. Jump straight to 'fix' and you'll miss something.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Fix 1 &amp; 2 — Tagging, two layers</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Why not just use default_tags OR explicit tags — why both?</a:t>
            </a:r>
            <a:endParaRPr lang="en-US" sz="1600" dirty="0"/>
          </a:p>
        </p:txBody>
      </p:sp>
      <p:sp>
        <p:nvSpPr>
          <p:cNvPr id="4" name="Shape 2"/>
          <p:cNvSpPr/>
          <p:nvPr/>
        </p:nvSpPr>
        <p:spPr>
          <a:xfrm>
            <a:off x="548640" y="1828800"/>
            <a:ext cx="5349240" cy="4023360"/>
          </a:xfrm>
          <a:prstGeom prst="roundRect">
            <a:avLst>
              <a:gd name="adj" fmla="val 2273"/>
            </a:avLst>
          </a:prstGeom>
          <a:solidFill>
            <a:srgbClr val="1A2744"/>
          </a:solidFill>
          <a:ln w="12700">
            <a:solidFill>
              <a:srgbClr val="0D9488"/>
            </a:solidFill>
            <a:prstDash val="solid"/>
          </a:ln>
        </p:spPr>
      </p:sp>
      <p:sp>
        <p:nvSpPr>
          <p:cNvPr id="5" name="Text 3"/>
          <p:cNvSpPr/>
          <p:nvPr/>
        </p:nvSpPr>
        <p:spPr>
          <a:xfrm>
            <a:off x="822960" y="2011680"/>
            <a:ext cx="480060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default_tags — safety net</a:t>
            </a:r>
            <a:endParaRPr lang="en-US" sz="1600" dirty="0"/>
          </a:p>
        </p:txBody>
      </p:sp>
      <p:sp>
        <p:nvSpPr>
          <p:cNvPr id="6" name="Text 4"/>
          <p:cNvSpPr/>
          <p:nvPr/>
        </p:nvSpPr>
        <p:spPr>
          <a:xfrm>
            <a:off x="822960" y="2468880"/>
            <a:ext cx="4800600" cy="2743200"/>
          </a:xfrm>
          <a:prstGeom prst="rect">
            <a:avLst/>
          </a:prstGeom>
          <a:solidFill>
            <a:srgbClr val="0B1220"/>
          </a:solidFill>
          <a:ln/>
        </p:spPr>
        <p:txBody>
          <a:bodyPr wrap="square"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provider "aws"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region = "eu-west-2"</a:t>
            </a:r>
            <a:endParaRPr lang="en-US" sz="1100" dirty="0"/>
          </a:p>
          <a:p>
            <a:pPr indent="0" marL="0">
              <a:buNone/>
            </a:pP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default_tags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tags =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Environment = "production"</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Project     = "web-platform"</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Team        = "platform-engineering"</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CostCentre  = "CC-4521"</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ManagedBy   = "terraform"</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7" name="Text 5"/>
          <p:cNvSpPr/>
          <p:nvPr/>
        </p:nvSpPr>
        <p:spPr>
          <a:xfrm>
            <a:off x="822960" y="5303520"/>
            <a:ext cx="4800600" cy="36576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Catches resources a developer forgot to tag.</a:t>
            </a:r>
            <a:endParaRPr lang="en-US" sz="1200" dirty="0"/>
          </a:p>
        </p:txBody>
      </p:sp>
      <p:sp>
        <p:nvSpPr>
          <p:cNvPr id="8" name="Shape 6"/>
          <p:cNvSpPr/>
          <p:nvPr/>
        </p:nvSpPr>
        <p:spPr>
          <a:xfrm>
            <a:off x="6309360" y="1828800"/>
            <a:ext cx="5349240" cy="4023360"/>
          </a:xfrm>
          <a:prstGeom prst="roundRect">
            <a:avLst>
              <a:gd name="adj" fmla="val 2273"/>
            </a:avLst>
          </a:prstGeom>
          <a:solidFill>
            <a:srgbClr val="1A2744"/>
          </a:solidFill>
          <a:ln w="12700">
            <a:solidFill>
              <a:srgbClr val="0D9488"/>
            </a:solidFill>
            <a:prstDash val="solid"/>
          </a:ln>
        </p:spPr>
      </p:sp>
      <p:sp>
        <p:nvSpPr>
          <p:cNvPr id="9" name="Text 7"/>
          <p:cNvSpPr/>
          <p:nvPr/>
        </p:nvSpPr>
        <p:spPr>
          <a:xfrm>
            <a:off x="6583680" y="2011680"/>
            <a:ext cx="4800600" cy="365760"/>
          </a:xfrm>
          <a:prstGeom prst="rect">
            <a:avLst/>
          </a:prstGeom>
          <a:noFill/>
          <a:ln/>
        </p:spPr>
        <p:txBody>
          <a:bodyPr wrap="square"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tags = local.common_tags — documentation</a:t>
            </a:r>
            <a:endParaRPr lang="en-US" sz="1600" dirty="0"/>
          </a:p>
        </p:txBody>
      </p:sp>
      <p:sp>
        <p:nvSpPr>
          <p:cNvPr id="10" name="Text 8"/>
          <p:cNvSpPr/>
          <p:nvPr/>
        </p:nvSpPr>
        <p:spPr>
          <a:xfrm>
            <a:off x="6583680" y="2468880"/>
            <a:ext cx="4800600" cy="2743200"/>
          </a:xfrm>
          <a:prstGeom prst="rect">
            <a:avLst/>
          </a:prstGeom>
          <a:solidFill>
            <a:srgbClr val="0B1220"/>
          </a:solidFill>
          <a:ln/>
        </p:spPr>
        <p:txBody>
          <a:bodyPr wrap="square" rtlCol="0" anchor="t"/>
          <a:lstStyle/>
          <a:p>
            <a:pPr indent="0" marL="0">
              <a:buNone/>
            </a:pPr>
            <a:r>
              <a:rPr lang="en-US" sz="1100" dirty="0">
                <a:solidFill>
                  <a:srgbClr val="FFFFFF"/>
                </a:solidFill>
                <a:latin typeface="Consolas" pitchFamily="34" charset="0"/>
                <a:ea typeface="Consolas" pitchFamily="34" charset="-122"/>
                <a:cs typeface="Consolas" pitchFamily="34" charset="-120"/>
              </a:rPr>
              <a:t>resource "aws_vpc" "main"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cidr_block = "10.0.0.0/16"</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tags       = local.common_tags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resource "aws_s3_bucket" "app_assets"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bucket = "app-assets-${random_id.suffix.hex}"</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tags   = local.common_tags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resource "aws_sns_topic" "billing_alerts" {</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name = "billing-alerts"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tags = local.common_tags</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11" name="Text 9"/>
          <p:cNvSpPr/>
          <p:nvPr/>
        </p:nvSpPr>
        <p:spPr>
          <a:xfrm>
            <a:off x="6583680" y="5303520"/>
            <a:ext cx="4800600" cy="36576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Code reviewers see tagging intent at the resource.</a:t>
            </a:r>
            <a:endParaRPr lang="en-US" sz="1200" dirty="0"/>
          </a:p>
        </p:txBody>
      </p:sp>
      <p:sp>
        <p:nvSpPr>
          <p:cNvPr id="12" name="Text 10"/>
          <p:cNvSpPr/>
          <p:nvPr/>
        </p:nvSpPr>
        <p:spPr>
          <a:xfrm>
            <a:off x="548640" y="6126480"/>
            <a:ext cx="11064240" cy="365760"/>
          </a:xfrm>
          <a:prstGeom prst="rect">
            <a:avLst/>
          </a:prstGeom>
          <a:noFill/>
          <a:ln/>
        </p:spPr>
        <p:txBody>
          <a:bodyPr wrap="square" rtlCol="0" anchor="ctr"/>
          <a:lstStyle/>
          <a:p>
            <a:pPr algn="ctr" indent="0" marL="0">
              <a:buNone/>
            </a:pPr>
            <a:r>
              <a:rPr lang="en-US" sz="1300" b="1" i="1" dirty="0">
                <a:solidFill>
                  <a:srgbClr val="14B8A6"/>
                </a:solidFill>
                <a:latin typeface="Calibri" pitchFamily="34" charset="0"/>
                <a:ea typeface="Calibri" pitchFamily="34" charset="-122"/>
                <a:cs typeface="Calibri" pitchFamily="34" charset="-120"/>
              </a:rPr>
              <a:t>Belt AND braces. default_tags covers the mistakes; explicit tags show the intent.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tag activation trap</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The step most engineers miss — and it breaks the whole promise to finance</a:t>
            </a:r>
            <a:endParaRPr lang="en-US" sz="1600" dirty="0"/>
          </a:p>
        </p:txBody>
      </p:sp>
      <p:sp>
        <p:nvSpPr>
          <p:cNvPr id="4" name="Shape 2"/>
          <p:cNvSpPr/>
          <p:nvPr/>
        </p:nvSpPr>
        <p:spPr>
          <a:xfrm>
            <a:off x="548640" y="1828800"/>
            <a:ext cx="5349240" cy="3200400"/>
          </a:xfrm>
          <a:prstGeom prst="roundRect">
            <a:avLst>
              <a:gd name="adj" fmla="val 2857"/>
            </a:avLst>
          </a:prstGeom>
          <a:solidFill>
            <a:srgbClr val="1A2744"/>
          </a:solidFill>
          <a:ln w="25400">
            <a:solidFill>
              <a:srgbClr val="DC2626"/>
            </a:solidFill>
            <a:prstDash val="solid"/>
          </a:ln>
        </p:spPr>
      </p:sp>
      <p:sp>
        <p:nvSpPr>
          <p:cNvPr id="5" name="Text 3"/>
          <p:cNvSpPr/>
          <p:nvPr/>
        </p:nvSpPr>
        <p:spPr>
          <a:xfrm>
            <a:off x="822960" y="2011680"/>
            <a:ext cx="4800600" cy="365760"/>
          </a:xfrm>
          <a:prstGeom prst="rect">
            <a:avLst/>
          </a:prstGeom>
          <a:noFill/>
          <a:ln/>
        </p:spPr>
        <p:txBody>
          <a:bodyPr wrap="square" rtlCol="0" anchor="ctr"/>
          <a:lstStyle/>
          <a:p>
            <a:pPr indent="0" marL="0">
              <a:buNone/>
            </a:pPr>
            <a:r>
              <a:rPr lang="en-US" sz="1600" b="1" dirty="0">
                <a:solidFill>
                  <a:srgbClr val="DC2626"/>
                </a:solidFill>
                <a:latin typeface="Calibri" pitchFamily="34" charset="0"/>
                <a:ea typeface="Calibri" pitchFamily="34" charset="-122"/>
                <a:cs typeface="Calibri" pitchFamily="34" charset="-120"/>
              </a:rPr>
              <a:t>❌  What many teams stop at</a:t>
            </a:r>
            <a:endParaRPr lang="en-US" sz="1600" dirty="0"/>
          </a:p>
        </p:txBody>
      </p:sp>
      <p:sp>
        <p:nvSpPr>
          <p:cNvPr id="6" name="Text 4"/>
          <p:cNvSpPr/>
          <p:nvPr/>
        </p:nvSpPr>
        <p:spPr>
          <a:xfrm>
            <a:off x="822960" y="2560320"/>
            <a:ext cx="4800600" cy="22860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Apply Terraform with default_tags and explicit tags on every resource. Tags appear correctly on AWS resources. Check Cost Explorer next week.</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Result: Cost Explorer still shows 'untagged'.</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Finance comes back: 'did it work?'</a:t>
            </a:r>
            <a:endParaRPr lang="en-US" sz="1400" dirty="0"/>
          </a:p>
        </p:txBody>
      </p:sp>
      <p:sp>
        <p:nvSpPr>
          <p:cNvPr id="7" name="Shape 5"/>
          <p:cNvSpPr/>
          <p:nvPr/>
        </p:nvSpPr>
        <p:spPr>
          <a:xfrm>
            <a:off x="6309360" y="1828800"/>
            <a:ext cx="5349240" cy="3200400"/>
          </a:xfrm>
          <a:prstGeom prst="roundRect">
            <a:avLst>
              <a:gd name="adj" fmla="val 2857"/>
            </a:avLst>
          </a:prstGeom>
          <a:solidFill>
            <a:srgbClr val="1A2744"/>
          </a:solidFill>
          <a:ln w="25400">
            <a:solidFill>
              <a:srgbClr val="16A34A"/>
            </a:solidFill>
            <a:prstDash val="solid"/>
          </a:ln>
        </p:spPr>
      </p:sp>
      <p:sp>
        <p:nvSpPr>
          <p:cNvPr id="8" name="Text 6"/>
          <p:cNvSpPr/>
          <p:nvPr/>
        </p:nvSpPr>
        <p:spPr>
          <a:xfrm>
            <a:off x="6583680" y="2011680"/>
            <a:ext cx="4800600" cy="365760"/>
          </a:xfrm>
          <a:prstGeom prst="rect">
            <a:avLst/>
          </a:prstGeom>
          <a:noFill/>
          <a:ln/>
        </p:spPr>
        <p:txBody>
          <a:bodyPr wrap="square" rtlCol="0" anchor="ctr"/>
          <a:lstStyle/>
          <a:p>
            <a:pPr indent="0" marL="0">
              <a:buNone/>
            </a:pPr>
            <a:r>
              <a:rPr lang="en-US" sz="1600" b="1" dirty="0">
                <a:solidFill>
                  <a:srgbClr val="16A34A"/>
                </a:solidFill>
                <a:latin typeface="Calibri" pitchFamily="34" charset="0"/>
                <a:ea typeface="Calibri" pitchFamily="34" charset="-122"/>
                <a:cs typeface="Calibri" pitchFamily="34" charset="-120"/>
              </a:rPr>
              <a:t>✅  The step nobody documents</a:t>
            </a:r>
            <a:endParaRPr lang="en-US" sz="1600" dirty="0"/>
          </a:p>
        </p:txBody>
      </p:sp>
      <p:sp>
        <p:nvSpPr>
          <p:cNvPr id="9" name="Text 7"/>
          <p:cNvSpPr/>
          <p:nvPr/>
        </p:nvSpPr>
        <p:spPr>
          <a:xfrm>
            <a:off x="6583680" y="2560320"/>
            <a:ext cx="4800600" cy="22860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AWS Console → Billing → Cost allocation tags.</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Find your tags under 'User-defined cost allocation tags'. Select and click Activate.</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Wait up to 24 hours. Cost Explorer can now slice by those tags.</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Activation is NOT retroactive — only new spend.</a:t>
            </a:r>
            <a:endParaRPr lang="en-US" sz="1400" dirty="0"/>
          </a:p>
        </p:txBody>
      </p:sp>
      <p:sp>
        <p:nvSpPr>
          <p:cNvPr id="10" name="Shape 8"/>
          <p:cNvSpPr/>
          <p:nvPr/>
        </p:nvSpPr>
        <p:spPr>
          <a:xfrm>
            <a:off x="548640" y="5303520"/>
            <a:ext cx="11064240" cy="914400"/>
          </a:xfrm>
          <a:prstGeom prst="roundRect">
            <a:avLst>
              <a:gd name="adj" fmla="val 8000"/>
            </a:avLst>
          </a:prstGeom>
          <a:solidFill>
            <a:srgbClr val="0B1220"/>
          </a:solidFill>
          <a:ln w="12700">
            <a:solidFill>
              <a:srgbClr val="0D9488"/>
            </a:solidFill>
            <a:prstDash val="solid"/>
          </a:ln>
        </p:spPr>
      </p:sp>
      <p:pic>
        <p:nvPicPr>
          <p:cNvPr id="11" name="Image 0" descr="preencoded.png">    </p:cNvPr>
          <p:cNvPicPr>
            <a:picLocks noChangeAspect="1"/>
          </p:cNvPicPr>
          <p:nvPr/>
        </p:nvPicPr>
        <p:blipFill>
          <a:blip r:embed="rId1"/>
          <a:stretch>
            <a:fillRect/>
          </a:stretch>
        </p:blipFill>
        <p:spPr>
          <a:xfrm>
            <a:off x="777240" y="5440680"/>
            <a:ext cx="640080" cy="640080"/>
          </a:xfrm>
          <a:prstGeom prst="rect">
            <a:avLst/>
          </a:prstGeom>
        </p:spPr>
      </p:pic>
      <p:sp>
        <p:nvSpPr>
          <p:cNvPr id="12" name="Text 9"/>
          <p:cNvSpPr/>
          <p:nvPr/>
        </p:nvSpPr>
        <p:spPr>
          <a:xfrm>
            <a:off x="1554480" y="5349240"/>
            <a:ext cx="9966960" cy="82296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INTERVIEW GOLD: Say this in a FinOps interview and you'll stand out. 'Tagging without activation is a really common trap — resources are tagged correctly but Cost Explorer still shows untagged spend because the tags haven't been promoted to cost allocation dimensions. And activation isn't retroactive, so engineers often commit to retrospective breakdowns they can't deliver.'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Fix 3 — Budget notifications</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Progressive alerting — a budget without alerts is a number nobody sees</a:t>
            </a:r>
            <a:endParaRPr lang="en-US" sz="1600" dirty="0"/>
          </a:p>
        </p:txBody>
      </p:sp>
      <p:sp>
        <p:nvSpPr>
          <p:cNvPr id="4" name="Shape 2"/>
          <p:cNvSpPr/>
          <p:nvPr/>
        </p:nvSpPr>
        <p:spPr>
          <a:xfrm>
            <a:off x="548640" y="2011680"/>
            <a:ext cx="11064240" cy="914400"/>
          </a:xfrm>
          <a:prstGeom prst="roundRect">
            <a:avLst>
              <a:gd name="adj" fmla="val 8000"/>
            </a:avLst>
          </a:prstGeom>
          <a:solidFill>
            <a:srgbClr val="1A2744"/>
          </a:solidFill>
          <a:ln w="25400">
            <a:solidFill>
              <a:srgbClr val="16A34A"/>
            </a:solidFill>
            <a:prstDash val="solid"/>
          </a:ln>
        </p:spPr>
      </p:sp>
      <p:sp>
        <p:nvSpPr>
          <p:cNvPr id="5" name="Shape 3"/>
          <p:cNvSpPr/>
          <p:nvPr/>
        </p:nvSpPr>
        <p:spPr>
          <a:xfrm>
            <a:off x="731520" y="2148840"/>
            <a:ext cx="1188720" cy="640080"/>
          </a:xfrm>
          <a:prstGeom prst="roundRect">
            <a:avLst>
              <a:gd name="adj" fmla="val 7143"/>
            </a:avLst>
          </a:prstGeom>
          <a:solidFill>
            <a:srgbClr val="16A34A"/>
          </a:solidFill>
          <a:ln w="12700">
            <a:solidFill>
              <a:srgbClr val="16A34A"/>
            </a:solidFill>
            <a:prstDash val="solid"/>
          </a:ln>
        </p:spPr>
      </p:sp>
      <p:sp>
        <p:nvSpPr>
          <p:cNvPr id="6" name="Text 4"/>
          <p:cNvSpPr/>
          <p:nvPr/>
        </p:nvSpPr>
        <p:spPr>
          <a:xfrm>
            <a:off x="731520" y="2148840"/>
            <a:ext cx="1188720" cy="640080"/>
          </a:xfrm>
          <a:prstGeom prst="rect">
            <a:avLst/>
          </a:prstGeom>
          <a:noFill/>
          <a:ln/>
        </p:spPr>
        <p:txBody>
          <a:bodyPr wrap="square"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50%</a:t>
            </a:r>
            <a:endParaRPr lang="en-US" sz="2600" dirty="0"/>
          </a:p>
        </p:txBody>
      </p:sp>
      <p:sp>
        <p:nvSpPr>
          <p:cNvPr id="7" name="Text 5"/>
          <p:cNvSpPr/>
          <p:nvPr/>
        </p:nvSpPr>
        <p:spPr>
          <a:xfrm>
            <a:off x="2103120" y="2148840"/>
            <a:ext cx="22860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Informational</a:t>
            </a:r>
            <a:endParaRPr lang="en-US" sz="1600" dirty="0"/>
          </a:p>
        </p:txBody>
      </p:sp>
      <p:sp>
        <p:nvSpPr>
          <p:cNvPr id="8" name="Text 6"/>
          <p:cNvSpPr/>
          <p:nvPr/>
        </p:nvSpPr>
        <p:spPr>
          <a:xfrm>
            <a:off x="2103120" y="2468880"/>
            <a:ext cx="9326880" cy="4572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Early heads-up. 'We're tracking at half the budget halfway through the month.'</a:t>
            </a:r>
            <a:endParaRPr lang="en-US" sz="1300" dirty="0"/>
          </a:p>
        </p:txBody>
      </p:sp>
      <p:sp>
        <p:nvSpPr>
          <p:cNvPr id="9" name="Shape 7"/>
          <p:cNvSpPr/>
          <p:nvPr/>
        </p:nvSpPr>
        <p:spPr>
          <a:xfrm>
            <a:off x="548640" y="3154680"/>
            <a:ext cx="11064240" cy="914400"/>
          </a:xfrm>
          <a:prstGeom prst="roundRect">
            <a:avLst>
              <a:gd name="adj" fmla="val 8000"/>
            </a:avLst>
          </a:prstGeom>
          <a:solidFill>
            <a:srgbClr val="1A2744"/>
          </a:solidFill>
          <a:ln w="25400">
            <a:solidFill>
              <a:srgbClr val="EAB308"/>
            </a:solidFill>
            <a:prstDash val="solid"/>
          </a:ln>
        </p:spPr>
      </p:sp>
      <p:sp>
        <p:nvSpPr>
          <p:cNvPr id="10" name="Shape 8"/>
          <p:cNvSpPr/>
          <p:nvPr/>
        </p:nvSpPr>
        <p:spPr>
          <a:xfrm>
            <a:off x="731520" y="3291840"/>
            <a:ext cx="1188720" cy="640080"/>
          </a:xfrm>
          <a:prstGeom prst="roundRect">
            <a:avLst>
              <a:gd name="adj" fmla="val 7143"/>
            </a:avLst>
          </a:prstGeom>
          <a:solidFill>
            <a:srgbClr val="EAB308"/>
          </a:solidFill>
          <a:ln w="12700">
            <a:solidFill>
              <a:srgbClr val="EAB308"/>
            </a:solidFill>
            <a:prstDash val="solid"/>
          </a:ln>
        </p:spPr>
      </p:sp>
      <p:sp>
        <p:nvSpPr>
          <p:cNvPr id="11" name="Text 9"/>
          <p:cNvSpPr/>
          <p:nvPr/>
        </p:nvSpPr>
        <p:spPr>
          <a:xfrm>
            <a:off x="731520" y="3291840"/>
            <a:ext cx="1188720" cy="640080"/>
          </a:xfrm>
          <a:prstGeom prst="rect">
            <a:avLst/>
          </a:prstGeom>
          <a:noFill/>
          <a:ln/>
        </p:spPr>
        <p:txBody>
          <a:bodyPr wrap="square"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80%</a:t>
            </a:r>
            <a:endParaRPr lang="en-US" sz="2600" dirty="0"/>
          </a:p>
        </p:txBody>
      </p:sp>
      <p:sp>
        <p:nvSpPr>
          <p:cNvPr id="12" name="Text 10"/>
          <p:cNvSpPr/>
          <p:nvPr/>
        </p:nvSpPr>
        <p:spPr>
          <a:xfrm>
            <a:off x="2103120" y="3291840"/>
            <a:ext cx="22860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Warn</a:t>
            </a:r>
            <a:endParaRPr lang="en-US" sz="1600" dirty="0"/>
          </a:p>
        </p:txBody>
      </p:sp>
      <p:sp>
        <p:nvSpPr>
          <p:cNvPr id="13" name="Text 11"/>
          <p:cNvSpPr/>
          <p:nvPr/>
        </p:nvSpPr>
        <p:spPr>
          <a:xfrm>
            <a:off x="2103120" y="3611880"/>
            <a:ext cx="9326880" cy="4572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Time to act. Investigate what's trending high, throttle if needed.</a:t>
            </a:r>
            <a:endParaRPr lang="en-US" sz="1300" dirty="0"/>
          </a:p>
        </p:txBody>
      </p:sp>
      <p:sp>
        <p:nvSpPr>
          <p:cNvPr id="14" name="Shape 12"/>
          <p:cNvSpPr/>
          <p:nvPr/>
        </p:nvSpPr>
        <p:spPr>
          <a:xfrm>
            <a:off x="548640" y="4297680"/>
            <a:ext cx="11064240" cy="914400"/>
          </a:xfrm>
          <a:prstGeom prst="roundRect">
            <a:avLst>
              <a:gd name="adj" fmla="val 8000"/>
            </a:avLst>
          </a:prstGeom>
          <a:solidFill>
            <a:srgbClr val="1A2744"/>
          </a:solidFill>
          <a:ln w="25400">
            <a:solidFill>
              <a:srgbClr val="DC2626"/>
            </a:solidFill>
            <a:prstDash val="solid"/>
          </a:ln>
        </p:spPr>
      </p:sp>
      <p:sp>
        <p:nvSpPr>
          <p:cNvPr id="15" name="Shape 13"/>
          <p:cNvSpPr/>
          <p:nvPr/>
        </p:nvSpPr>
        <p:spPr>
          <a:xfrm>
            <a:off x="731520" y="4434840"/>
            <a:ext cx="1188720" cy="640080"/>
          </a:xfrm>
          <a:prstGeom prst="roundRect">
            <a:avLst>
              <a:gd name="adj" fmla="val 7143"/>
            </a:avLst>
          </a:prstGeom>
          <a:solidFill>
            <a:srgbClr val="DC2626"/>
          </a:solidFill>
          <a:ln w="12700">
            <a:solidFill>
              <a:srgbClr val="DC2626"/>
            </a:solidFill>
            <a:prstDash val="solid"/>
          </a:ln>
        </p:spPr>
      </p:sp>
      <p:sp>
        <p:nvSpPr>
          <p:cNvPr id="16" name="Text 14"/>
          <p:cNvSpPr/>
          <p:nvPr/>
        </p:nvSpPr>
        <p:spPr>
          <a:xfrm>
            <a:off x="731520" y="4434840"/>
            <a:ext cx="1188720" cy="640080"/>
          </a:xfrm>
          <a:prstGeom prst="rect">
            <a:avLst/>
          </a:prstGeom>
          <a:noFill/>
          <a:ln/>
        </p:spPr>
        <p:txBody>
          <a:bodyPr wrap="square"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100%</a:t>
            </a:r>
            <a:endParaRPr lang="en-US" sz="2600" dirty="0"/>
          </a:p>
        </p:txBody>
      </p:sp>
      <p:sp>
        <p:nvSpPr>
          <p:cNvPr id="17" name="Text 15"/>
          <p:cNvSpPr/>
          <p:nvPr/>
        </p:nvSpPr>
        <p:spPr>
          <a:xfrm>
            <a:off x="2103120" y="4434840"/>
            <a:ext cx="228600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Critical</a:t>
            </a:r>
            <a:endParaRPr lang="en-US" sz="1600" dirty="0"/>
          </a:p>
        </p:txBody>
      </p:sp>
      <p:sp>
        <p:nvSpPr>
          <p:cNvPr id="18" name="Text 16"/>
          <p:cNvSpPr/>
          <p:nvPr/>
        </p:nvSpPr>
        <p:spPr>
          <a:xfrm>
            <a:off x="2103120" y="4754880"/>
            <a:ext cx="9326880" cy="45720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Budget breached. Too late to prevent — you're already over.</a:t>
            </a:r>
            <a:endParaRPr lang="en-US" sz="1300" dirty="0"/>
          </a:p>
        </p:txBody>
      </p:sp>
      <p:sp>
        <p:nvSpPr>
          <p:cNvPr id="19" name="Text 17"/>
          <p:cNvSpPr/>
          <p:nvPr/>
        </p:nvSpPr>
        <p:spPr>
          <a:xfrm>
            <a:off x="548640" y="5989320"/>
            <a:ext cx="11064240" cy="411480"/>
          </a:xfrm>
          <a:prstGeom prst="rect">
            <a:avLst/>
          </a:prstGeom>
          <a:noFill/>
          <a:ln/>
        </p:spPr>
        <p:txBody>
          <a:bodyPr wrap="square" rtlCol="0" anchor="ctr"/>
          <a:lstStyle/>
          <a:p>
            <a:pPr algn="ctr" indent="0" marL="0">
              <a:buNone/>
            </a:pPr>
            <a:r>
              <a:rPr lang="en-US" sz="1300" b="1" i="1" dirty="0">
                <a:solidFill>
                  <a:srgbClr val="14B8A6"/>
                </a:solidFill>
                <a:latin typeface="Calibri" pitchFamily="34" charset="0"/>
                <a:ea typeface="Calibri" pitchFamily="34" charset="-122"/>
                <a:cs typeface="Calibri" pitchFamily="34" charset="-120"/>
              </a:rPr>
              <a:t>Alerting only at 100% is a common anti-pattern. By the time it fires, you've already blown the budget.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Bug 6 — The us-east-1 gotcha</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Why the 'firing 47 times' alarm had actually never fired once</a:t>
            </a:r>
            <a:endParaRPr lang="en-US" sz="1600" dirty="0"/>
          </a:p>
        </p:txBody>
      </p:sp>
      <p:sp>
        <p:nvSpPr>
          <p:cNvPr id="4" name="Shape 2"/>
          <p:cNvSpPr/>
          <p:nvPr/>
        </p:nvSpPr>
        <p:spPr>
          <a:xfrm>
            <a:off x="548640" y="1828800"/>
            <a:ext cx="5349240" cy="3474720"/>
          </a:xfrm>
          <a:prstGeom prst="roundRect">
            <a:avLst>
              <a:gd name="adj" fmla="val 2632"/>
            </a:avLst>
          </a:prstGeom>
          <a:solidFill>
            <a:srgbClr val="1A2744"/>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822960" y="2057400"/>
            <a:ext cx="548640" cy="548640"/>
          </a:xfrm>
          <a:prstGeom prst="rect">
            <a:avLst/>
          </a:prstGeom>
        </p:spPr>
      </p:pic>
      <p:sp>
        <p:nvSpPr>
          <p:cNvPr id="6" name="Text 3"/>
          <p:cNvSpPr/>
          <p:nvPr/>
        </p:nvSpPr>
        <p:spPr>
          <a:xfrm>
            <a:off x="1554480" y="2103120"/>
            <a:ext cx="4160520" cy="365760"/>
          </a:xfrm>
          <a:prstGeom prst="rect">
            <a:avLst/>
          </a:prstGeom>
          <a:noFill/>
          <a:ln/>
        </p:spPr>
        <p:txBody>
          <a:bodyPr wrap="square" rtlCol="0" anchor="ctr"/>
          <a:lstStyle/>
          <a:p>
            <a:pPr indent="0" marL="0">
              <a:buNone/>
            </a:pPr>
            <a:r>
              <a:rPr lang="en-US" sz="1800" b="1" dirty="0">
                <a:solidFill>
                  <a:srgbClr val="14B8A6"/>
                </a:solidFill>
                <a:latin typeface="Calibri" pitchFamily="34" charset="0"/>
                <a:ea typeface="Calibri" pitchFamily="34" charset="-122"/>
                <a:cs typeface="Calibri" pitchFamily="34" charset="-120"/>
              </a:rPr>
              <a:t>The rule</a:t>
            </a:r>
            <a:endParaRPr lang="en-US" sz="1800" dirty="0"/>
          </a:p>
        </p:txBody>
      </p:sp>
      <p:sp>
        <p:nvSpPr>
          <p:cNvPr id="7" name="Text 4"/>
          <p:cNvSpPr/>
          <p:nvPr/>
        </p:nvSpPr>
        <p:spPr>
          <a:xfrm>
            <a:off x="822960" y="2743200"/>
            <a:ext cx="4800600" cy="914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AWS/Billing metrics only publish in us-east-1 (N. Virginia). This is account-wide behaviour, regardless of where your resources live.</a:t>
            </a:r>
            <a:endParaRPr lang="en-US" sz="1400" dirty="0"/>
          </a:p>
        </p:txBody>
      </p:sp>
      <p:sp>
        <p:nvSpPr>
          <p:cNvPr id="8" name="Text 5"/>
          <p:cNvSpPr/>
          <p:nvPr/>
        </p:nvSpPr>
        <p:spPr>
          <a:xfrm>
            <a:off x="822960" y="3657600"/>
            <a:ext cx="4800600" cy="274320"/>
          </a:xfrm>
          <a:prstGeom prst="rect">
            <a:avLst/>
          </a:prstGeom>
          <a:noFill/>
          <a:ln/>
        </p:spPr>
        <p:txBody>
          <a:bodyPr wrap="square"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Also applies to:</a:t>
            </a:r>
            <a:endParaRPr lang="en-US" sz="1300" dirty="0"/>
          </a:p>
        </p:txBody>
      </p:sp>
      <p:sp>
        <p:nvSpPr>
          <p:cNvPr id="9" name="Text 6"/>
          <p:cNvSpPr/>
          <p:nvPr/>
        </p:nvSpPr>
        <p:spPr>
          <a:xfrm>
            <a:off x="822960" y="3977640"/>
            <a:ext cx="4800600" cy="12801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CloudWatch billing alarms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CloudFront / global WAF metrics</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Cost allocation tag activation</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  AWS Budgets (per-account, no region)</a:t>
            </a:r>
            <a:endParaRPr lang="en-US" sz="1300" dirty="0"/>
          </a:p>
        </p:txBody>
      </p:sp>
      <p:sp>
        <p:nvSpPr>
          <p:cNvPr id="10" name="Shape 7"/>
          <p:cNvSpPr/>
          <p:nvPr/>
        </p:nvSpPr>
        <p:spPr>
          <a:xfrm>
            <a:off x="6309360" y="1828800"/>
            <a:ext cx="5349240" cy="3474720"/>
          </a:xfrm>
          <a:prstGeom prst="roundRect">
            <a:avLst>
              <a:gd name="adj" fmla="val 2632"/>
            </a:avLst>
          </a:prstGeom>
          <a:solidFill>
            <a:srgbClr val="1A2744"/>
          </a:solidFill>
          <a:ln w="254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583680" y="2057400"/>
            <a:ext cx="548640" cy="548640"/>
          </a:xfrm>
          <a:prstGeom prst="rect">
            <a:avLst/>
          </a:prstGeom>
        </p:spPr>
      </p:pic>
      <p:sp>
        <p:nvSpPr>
          <p:cNvPr id="12" name="Text 8"/>
          <p:cNvSpPr/>
          <p:nvPr/>
        </p:nvSpPr>
        <p:spPr>
          <a:xfrm>
            <a:off x="7315200" y="2103120"/>
            <a:ext cx="4160520" cy="365760"/>
          </a:xfrm>
          <a:prstGeom prst="rect">
            <a:avLst/>
          </a:prstGeom>
          <a:noFill/>
          <a:ln/>
        </p:spPr>
        <p:txBody>
          <a:bodyPr wrap="square" rtlCol="0" anchor="ctr"/>
          <a:lstStyle/>
          <a:p>
            <a:pPr indent="0" marL="0">
              <a:buNone/>
            </a:pPr>
            <a:r>
              <a:rPr lang="en-US" sz="1800" b="1" dirty="0">
                <a:solidFill>
                  <a:srgbClr val="DC2626"/>
                </a:solidFill>
                <a:latin typeface="Calibri" pitchFamily="34" charset="0"/>
                <a:ea typeface="Calibri" pitchFamily="34" charset="-122"/>
                <a:cs typeface="Calibri" pitchFamily="34" charset="-120"/>
              </a:rPr>
              <a:t>What happened here</a:t>
            </a:r>
            <a:endParaRPr lang="en-US" sz="1800" dirty="0"/>
          </a:p>
        </p:txBody>
      </p:sp>
      <p:sp>
        <p:nvSpPr>
          <p:cNvPr id="13" name="Text 9"/>
          <p:cNvSpPr/>
          <p:nvPr/>
        </p:nvSpPr>
        <p:spPr>
          <a:xfrm>
            <a:off x="6583680" y="2743200"/>
            <a:ext cx="4800600" cy="256032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Someone created an aws_cloudwatch_metric_alarm for AWS/Billing in eu-west-2. Terraform happily created it. AWS accepted the resource. State said INSUFFICIENT_DATA.</a:t>
            </a:r>
            <a:endParaRPr lang="en-US" sz="1300" dirty="0"/>
          </a:p>
          <a:p>
            <a:pPr indent="0" marL="0">
              <a:buNone/>
            </a:pP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The alarm has literally never evaluated. It can't — the metric doesn't exist in this region. But the UI shows it as 'created' and 'running'.</a:t>
            </a:r>
            <a:endParaRPr lang="en-US" sz="1300" dirty="0"/>
          </a:p>
        </p:txBody>
      </p:sp>
      <p:sp>
        <p:nvSpPr>
          <p:cNvPr id="14" name="Shape 10"/>
          <p:cNvSpPr/>
          <p:nvPr/>
        </p:nvSpPr>
        <p:spPr>
          <a:xfrm>
            <a:off x="548640" y="5577840"/>
            <a:ext cx="11064240" cy="822960"/>
          </a:xfrm>
          <a:prstGeom prst="roundRect">
            <a:avLst>
              <a:gd name="adj" fmla="val 8889"/>
            </a:avLst>
          </a:prstGeom>
          <a:solidFill>
            <a:srgbClr val="0B1220"/>
          </a:solidFill>
          <a:ln w="12700">
            <a:solidFill>
              <a:srgbClr val="0D9488"/>
            </a:solidFill>
            <a:prstDash val="solid"/>
          </a:ln>
        </p:spPr>
      </p:sp>
      <p:sp>
        <p:nvSpPr>
          <p:cNvPr id="15" name="Text 11"/>
          <p:cNvSpPr/>
          <p:nvPr/>
        </p:nvSpPr>
        <p:spPr>
          <a:xfrm>
            <a:off x="731520" y="5623560"/>
            <a:ext cx="10698480" cy="731520"/>
          </a:xfrm>
          <a:prstGeom prst="rect">
            <a:avLst/>
          </a:prstGeom>
          <a:noFill/>
          <a:ln/>
        </p:spPr>
        <p:txBody>
          <a:bodyPr wrap="square" rtlCol="0" anchor="ctr"/>
          <a:lstStyle/>
          <a:p>
            <a:pPr algn="ctr" indent="0" marL="0">
              <a:buNone/>
            </a:pPr>
            <a:r>
              <a:rPr lang="en-US" sz="1400" b="1" i="1" dirty="0">
                <a:solidFill>
                  <a:srgbClr val="14B8A6"/>
                </a:solidFill>
                <a:latin typeface="Calibri" pitchFamily="34" charset="0"/>
                <a:ea typeface="Calibri" pitchFamily="34" charset="-122"/>
                <a:cs typeface="Calibri" pitchFamily="34" charset="-120"/>
              </a:rPr>
              <a:t>Rule of thumb: anything cost/billing-related in AWS — assume us-east-1 or global until proven otherwise.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aliased-provider saga</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 real-world Terraform gotcha — the 'correct' answer that doesn't work</a:t>
            </a:r>
            <a:endParaRPr lang="en-US" sz="1600" dirty="0"/>
          </a:p>
        </p:txBody>
      </p:sp>
      <p:sp>
        <p:nvSpPr>
          <p:cNvPr id="4" name="Shape 2"/>
          <p:cNvSpPr/>
          <p:nvPr/>
        </p:nvSpPr>
        <p:spPr>
          <a:xfrm>
            <a:off x="548640" y="1920240"/>
            <a:ext cx="411480" cy="411480"/>
          </a:xfrm>
          <a:prstGeom prst="ellipse">
            <a:avLst/>
          </a:prstGeom>
          <a:solidFill>
            <a:srgbClr val="0D9488"/>
          </a:solidFill>
          <a:ln w="12700">
            <a:solidFill>
              <a:srgbClr val="0D9488"/>
            </a:solidFill>
            <a:prstDash val="solid"/>
          </a:ln>
        </p:spPr>
      </p:sp>
      <p:sp>
        <p:nvSpPr>
          <p:cNvPr id="5" name="Text 3"/>
          <p:cNvSpPr/>
          <p:nvPr/>
        </p:nvSpPr>
        <p:spPr>
          <a:xfrm>
            <a:off x="548640" y="19202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43000" y="192024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Add a second provider with alias = "us_east_1", point alarm at it via provider = aws.us_east_1.</a:t>
            </a:r>
            <a:endParaRPr lang="en-US" sz="1200" dirty="0"/>
          </a:p>
        </p:txBody>
      </p:sp>
      <p:sp>
        <p:nvSpPr>
          <p:cNvPr id="7" name="Shape 5"/>
          <p:cNvSpPr/>
          <p:nvPr/>
        </p:nvSpPr>
        <p:spPr>
          <a:xfrm>
            <a:off x="548640" y="2468880"/>
            <a:ext cx="411480" cy="411480"/>
          </a:xfrm>
          <a:prstGeom prst="ellipse">
            <a:avLst/>
          </a:prstGeom>
          <a:solidFill>
            <a:srgbClr val="DC2626"/>
          </a:solidFill>
          <a:ln w="12700">
            <a:solidFill>
              <a:srgbClr val="DC2626"/>
            </a:solidFill>
            <a:prstDash val="solid"/>
          </a:ln>
        </p:spPr>
      </p:sp>
      <p:sp>
        <p:nvSpPr>
          <p:cNvPr id="8" name="Text 6"/>
          <p:cNvSpPr/>
          <p:nvPr/>
        </p:nvSpPr>
        <p:spPr>
          <a:xfrm>
            <a:off x="548640" y="24688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143000" y="246888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terraform apply succeeds. Tags add, threshold changes to 10000. But alarm is STILL in eu-west-2.</a:t>
            </a:r>
            <a:endParaRPr lang="en-US" sz="1200" dirty="0"/>
          </a:p>
        </p:txBody>
      </p:sp>
      <p:sp>
        <p:nvSpPr>
          <p:cNvPr id="10" name="Shape 8"/>
          <p:cNvSpPr/>
          <p:nvPr/>
        </p:nvSpPr>
        <p:spPr>
          <a:xfrm>
            <a:off x="548640" y="3017520"/>
            <a:ext cx="411480" cy="411480"/>
          </a:xfrm>
          <a:prstGeom prst="ellipse">
            <a:avLst/>
          </a:prstGeom>
          <a:solidFill>
            <a:srgbClr val="DC2626"/>
          </a:solidFill>
          <a:ln w="12700">
            <a:solidFill>
              <a:srgbClr val="DC2626"/>
            </a:solidFill>
            <a:prstDash val="solid"/>
          </a:ln>
        </p:spPr>
      </p:sp>
      <p:sp>
        <p:nvSpPr>
          <p:cNvPr id="11" name="Text 9"/>
          <p:cNvSpPr/>
          <p:nvPr/>
        </p:nvSpPr>
        <p:spPr>
          <a:xfrm>
            <a:off x="548640" y="30175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143000" y="301752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terraform state show reveals: region = "eu-west-2" persisted in state. Provider meta-argument was silently ignored.</a:t>
            </a:r>
            <a:endParaRPr lang="en-US" sz="1200" dirty="0"/>
          </a:p>
        </p:txBody>
      </p:sp>
      <p:sp>
        <p:nvSpPr>
          <p:cNvPr id="13" name="Shape 11"/>
          <p:cNvSpPr/>
          <p:nvPr/>
        </p:nvSpPr>
        <p:spPr>
          <a:xfrm>
            <a:off x="548640" y="3566160"/>
            <a:ext cx="411480" cy="411480"/>
          </a:xfrm>
          <a:prstGeom prst="ellipse">
            <a:avLst/>
          </a:prstGeom>
          <a:solidFill>
            <a:srgbClr val="DC2626"/>
          </a:solidFill>
          <a:ln w="12700">
            <a:solidFill>
              <a:srgbClr val="DC2626"/>
            </a:solidFill>
            <a:prstDash val="solid"/>
          </a:ln>
        </p:spPr>
      </p:sp>
      <p:sp>
        <p:nvSpPr>
          <p:cNvPr id="14" name="Text 12"/>
          <p:cNvSpPr/>
          <p:nvPr/>
        </p:nvSpPr>
        <p:spPr>
          <a:xfrm>
            <a:off x="548640" y="35661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143000" y="356616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Force it: terraform apply -replace="aws_cloudwatch_metric_alarm.billing". Destroy succeeds. Create fails: Invalid region eu-west-2 specified. Only us-east-1 is supported.</a:t>
            </a:r>
            <a:endParaRPr lang="en-US" sz="1200" dirty="0"/>
          </a:p>
        </p:txBody>
      </p:sp>
      <p:sp>
        <p:nvSpPr>
          <p:cNvPr id="16" name="Shape 14"/>
          <p:cNvSpPr/>
          <p:nvPr/>
        </p:nvSpPr>
        <p:spPr>
          <a:xfrm>
            <a:off x="548640" y="4114800"/>
            <a:ext cx="411480" cy="411480"/>
          </a:xfrm>
          <a:prstGeom prst="ellipse">
            <a:avLst/>
          </a:prstGeom>
          <a:solidFill>
            <a:srgbClr val="DC2626"/>
          </a:solidFill>
          <a:ln w="12700">
            <a:solidFill>
              <a:srgbClr val="DC2626"/>
            </a:solidFill>
            <a:prstDash val="solid"/>
          </a:ln>
        </p:spPr>
      </p:sp>
      <p:sp>
        <p:nvSpPr>
          <p:cNvPr id="17" name="Text 15"/>
          <p:cNvSpPr/>
          <p:nvPr/>
        </p:nvSpPr>
        <p:spPr>
          <a:xfrm>
            <a:off x="548640" y="41148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143000" y="411480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terraform init, init -upgrade, validate, providers — everything says config is fine. Still broken. Now ZERO alarms deployed.</a:t>
            </a:r>
            <a:endParaRPr lang="en-US" sz="1200" dirty="0"/>
          </a:p>
        </p:txBody>
      </p:sp>
      <p:sp>
        <p:nvSpPr>
          <p:cNvPr id="19" name="Shape 17"/>
          <p:cNvSpPr/>
          <p:nvPr/>
        </p:nvSpPr>
        <p:spPr>
          <a:xfrm>
            <a:off x="548640" y="4663440"/>
            <a:ext cx="411480" cy="411480"/>
          </a:xfrm>
          <a:prstGeom prst="ellipse">
            <a:avLst/>
          </a:prstGeom>
          <a:solidFill>
            <a:srgbClr val="EAB308"/>
          </a:solidFill>
          <a:ln w="12700">
            <a:solidFill>
              <a:srgbClr val="EAB308"/>
            </a:solidFill>
            <a:prstDash val="solid"/>
          </a:ln>
        </p:spPr>
      </p:sp>
      <p:sp>
        <p:nvSpPr>
          <p:cNvPr id="20" name="Text 18"/>
          <p:cNvSpPr/>
          <p:nvPr/>
        </p:nvSpPr>
        <p:spPr>
          <a:xfrm>
            <a:off x="548640" y="46634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143000" y="466344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It's a known bug. Open since 2016 (GitHub issues #7371, #1553). Aliased provider meta-argument unreliable for aws_cloudwatch_metric_alarm.</a:t>
            </a:r>
            <a:endParaRPr lang="en-US" sz="1200" dirty="0"/>
          </a:p>
        </p:txBody>
      </p:sp>
      <p:sp>
        <p:nvSpPr>
          <p:cNvPr id="22" name="Shape 20"/>
          <p:cNvSpPr/>
          <p:nvPr/>
        </p:nvSpPr>
        <p:spPr>
          <a:xfrm>
            <a:off x="548640" y="5212080"/>
            <a:ext cx="411480" cy="411480"/>
          </a:xfrm>
          <a:prstGeom prst="ellipse">
            <a:avLst/>
          </a:prstGeom>
          <a:solidFill>
            <a:srgbClr val="16A34A"/>
          </a:solidFill>
          <a:ln w="12700">
            <a:solidFill>
              <a:srgbClr val="16A34A"/>
            </a:solidFill>
            <a:prstDash val="solid"/>
          </a:ln>
        </p:spPr>
      </p:sp>
      <p:sp>
        <p:nvSpPr>
          <p:cNvPr id="23" name="Text 21"/>
          <p:cNvSpPr/>
          <p:nvPr/>
        </p:nvSpPr>
        <p:spPr>
          <a:xfrm>
            <a:off x="548640" y="52120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4" name="Text 22"/>
          <p:cNvSpPr/>
          <p:nvPr/>
        </p:nvSpPr>
        <p:spPr>
          <a:xfrm>
            <a:off x="1143000" y="5212080"/>
            <a:ext cx="10972800" cy="4572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Switch to AWS provider v6's per-resource region = "us-east-1" attribute. Single line change. Works immediately.</a:t>
            </a:r>
            <a:endParaRPr lang="en-US" sz="1200" dirty="0"/>
          </a:p>
        </p:txBody>
      </p:sp>
      <p:sp>
        <p:nvSpPr>
          <p:cNvPr id="25" name="Shape 23"/>
          <p:cNvSpPr/>
          <p:nvPr/>
        </p:nvSpPr>
        <p:spPr>
          <a:xfrm>
            <a:off x="548640" y="5943600"/>
            <a:ext cx="11064240" cy="502920"/>
          </a:xfrm>
          <a:prstGeom prst="roundRect">
            <a:avLst>
              <a:gd name="adj" fmla="val 14545"/>
            </a:avLst>
          </a:prstGeom>
          <a:solidFill>
            <a:srgbClr val="0B1220"/>
          </a:solidFill>
          <a:ln w="12700">
            <a:solidFill>
              <a:srgbClr val="0D9488"/>
            </a:solidFill>
            <a:prstDash val="solid"/>
          </a:ln>
        </p:spPr>
      </p:sp>
      <p:sp>
        <p:nvSpPr>
          <p:cNvPr id="26" name="Text 24"/>
          <p:cNvSpPr/>
          <p:nvPr/>
        </p:nvSpPr>
        <p:spPr>
          <a:xfrm>
            <a:off x="731520" y="5961888"/>
            <a:ext cx="10698480" cy="466344"/>
          </a:xfrm>
          <a:prstGeom prst="rect">
            <a:avLst/>
          </a:prstGeom>
          <a:noFill/>
          <a:ln/>
        </p:spPr>
        <p:txBody>
          <a:bodyPr wrap="square" rtlCol="0" anchor="ctr"/>
          <a:lstStyle/>
          <a:p>
            <a:pPr algn="ctr" indent="0" marL="0">
              <a:buNone/>
            </a:pPr>
            <a:r>
              <a:rPr lang="en-US" sz="1200" b="1" i="1" dirty="0">
                <a:solidFill>
                  <a:srgbClr val="14B8A6"/>
                </a:solidFill>
                <a:latin typeface="Calibri" pitchFamily="34" charset="0"/>
                <a:ea typeface="Calibri" pitchFamily="34" charset="-122"/>
                <a:cs typeface="Calibri" pitchFamily="34" charset="-120"/>
              </a:rPr>
              <a:t>Lesson: Terraform's 'correct' abstraction can have a leaky implementation. Knowing when to stop fighting the framework is a mid-level skill.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Fix 4 &amp; 6 — The working answer</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AWS provider v6 added per-resource region — exactly for cases like this</a:t>
            </a:r>
            <a:endParaRPr lang="en-US" sz="1600" dirty="0"/>
          </a:p>
        </p:txBody>
      </p:sp>
      <p:sp>
        <p:nvSpPr>
          <p:cNvPr id="4" name="Shape 2"/>
          <p:cNvSpPr/>
          <p:nvPr/>
        </p:nvSpPr>
        <p:spPr>
          <a:xfrm>
            <a:off x="548640" y="1828800"/>
            <a:ext cx="11064240" cy="3200400"/>
          </a:xfrm>
          <a:prstGeom prst="roundRect">
            <a:avLst>
              <a:gd name="adj" fmla="val 2857"/>
            </a:avLst>
          </a:prstGeom>
          <a:solidFill>
            <a:srgbClr val="0B1220"/>
          </a:solidFill>
          <a:ln w="12700">
            <a:solidFill>
              <a:srgbClr val="0D9488"/>
            </a:solidFill>
            <a:prstDash val="solid"/>
          </a:ln>
        </p:spPr>
      </p:sp>
      <p:sp>
        <p:nvSpPr>
          <p:cNvPr id="5" name="Text 3"/>
          <p:cNvSpPr/>
          <p:nvPr/>
        </p:nvSpPr>
        <p:spPr>
          <a:xfrm>
            <a:off x="777240" y="1965960"/>
            <a:ext cx="10607040" cy="2926080"/>
          </a:xfrm>
          <a:prstGeom prst="rect">
            <a:avLst/>
          </a:prstGeom>
          <a:noFill/>
          <a:ln/>
        </p:spPr>
        <p:txBody>
          <a:bodyPr wrap="square" rtlCol="0" anchor="t"/>
          <a:lstStyle/>
          <a:p>
            <a:pPr indent="0" marL="0">
              <a:buNone/>
            </a:pPr>
            <a:r>
              <a:rPr lang="en-US" sz="1300" dirty="0">
                <a:solidFill>
                  <a:srgbClr val="FFFFFF"/>
                </a:solidFill>
                <a:latin typeface="Consolas" pitchFamily="34" charset="0"/>
                <a:ea typeface="Consolas" pitchFamily="34" charset="-122"/>
                <a:cs typeface="Consolas" pitchFamily="34" charset="-120"/>
              </a:rPr>
              <a:t>resource "aws_cloudwatch_metric_alarm" "billing"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region = "us-east-1"        # ← the one-line fix</a:t>
            </a:r>
            <a:endParaRPr lang="en-US" sz="1300" dirty="0"/>
          </a:p>
          <a:p>
            <a:pPr indent="0" marL="0">
              <a:buNone/>
            </a:pP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alarm_name          = "monthly-billing-alarm"</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comparison_operator = "GreaterThanThreshold"</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evaluation_periods  = 1</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metric_name         = "EstimatedCharges"</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namespace           = "AWS/Billing"</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period              = 21600</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statistic           = "Maximum"</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threshold           = 10000                # ← was 0 (bug 4)</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alarm_actions       = [aws_sns_topic.billing_alerts.arn]</a:t>
            </a:r>
            <a:endParaRPr lang="en-US" sz="1300" dirty="0"/>
          </a:p>
          <a:p>
            <a:pPr indent="0" marL="0">
              <a:buNone/>
            </a:pP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  dimensions = { Currency = "USD" }</a:t>
            </a:r>
            <a:endParaRPr lang="en-US" sz="1300" dirty="0"/>
          </a:p>
          <a:p>
            <a:pPr indent="0" marL="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pic>
        <p:nvPicPr>
          <p:cNvPr id="6" name="Image 0" descr="preencoded.png">    </p:cNvPr>
          <p:cNvPicPr>
            <a:picLocks noChangeAspect="1"/>
          </p:cNvPicPr>
          <p:nvPr/>
        </p:nvPicPr>
        <p:blipFill>
          <a:blip r:embed="rId1"/>
          <a:stretch>
            <a:fillRect/>
          </a:stretch>
        </p:blipFill>
        <p:spPr>
          <a:xfrm>
            <a:off x="548640" y="5212080"/>
            <a:ext cx="457200" cy="457200"/>
          </a:xfrm>
          <a:prstGeom prst="rect">
            <a:avLst/>
          </a:prstGeom>
        </p:spPr>
      </p:pic>
      <p:sp>
        <p:nvSpPr>
          <p:cNvPr id="7" name="Text 4"/>
          <p:cNvSpPr/>
          <p:nvPr/>
        </p:nvSpPr>
        <p:spPr>
          <a:xfrm>
            <a:off x="1097280" y="5212080"/>
            <a:ext cx="3017520" cy="27432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One line, one resource</a:t>
            </a:r>
            <a:endParaRPr lang="en-US" sz="1200" dirty="0"/>
          </a:p>
        </p:txBody>
      </p:sp>
      <p:sp>
        <p:nvSpPr>
          <p:cNvPr id="8" name="Text 5"/>
          <p:cNvSpPr/>
          <p:nvPr/>
        </p:nvSpPr>
        <p:spPr>
          <a:xfrm>
            <a:off x="1097280" y="5486400"/>
            <a:ext cx="301752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No second provider block. No aliased provider. Just region = "us-east-1".</a:t>
            </a:r>
            <a:endParaRPr lang="en-US" sz="1100" dirty="0"/>
          </a:p>
        </p:txBody>
      </p:sp>
      <p:pic>
        <p:nvPicPr>
          <p:cNvPr id="9" name="Image 1" descr="preencoded.png">    </p:cNvPr>
          <p:cNvPicPr>
            <a:picLocks noChangeAspect="1"/>
          </p:cNvPicPr>
          <p:nvPr/>
        </p:nvPicPr>
        <p:blipFill>
          <a:blip r:embed="rId2"/>
          <a:stretch>
            <a:fillRect/>
          </a:stretch>
        </p:blipFill>
        <p:spPr>
          <a:xfrm>
            <a:off x="4251960" y="5212080"/>
            <a:ext cx="457200" cy="457200"/>
          </a:xfrm>
          <a:prstGeom prst="rect">
            <a:avLst/>
          </a:prstGeom>
        </p:spPr>
      </p:pic>
      <p:sp>
        <p:nvSpPr>
          <p:cNvPr id="10" name="Text 6"/>
          <p:cNvSpPr/>
          <p:nvPr/>
        </p:nvSpPr>
        <p:spPr>
          <a:xfrm>
            <a:off x="4800600" y="5212080"/>
            <a:ext cx="3017520" cy="27432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Cross-region SNS works</a:t>
            </a:r>
            <a:endParaRPr lang="en-US" sz="1200" dirty="0"/>
          </a:p>
        </p:txBody>
      </p:sp>
      <p:sp>
        <p:nvSpPr>
          <p:cNvPr id="11" name="Text 7"/>
          <p:cNvSpPr/>
          <p:nvPr/>
        </p:nvSpPr>
        <p:spPr>
          <a:xfrm>
            <a:off x="4800600" y="5486400"/>
            <a:ext cx="301752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Alarm in us-east-1 → SNS topic in eu-west-2. AWS handles delivery internally.</a:t>
            </a:r>
            <a:endParaRPr lang="en-US" sz="1100" dirty="0"/>
          </a:p>
        </p:txBody>
      </p:sp>
      <p:pic>
        <p:nvPicPr>
          <p:cNvPr id="12" name="Image 2" descr="preencoded.png">    </p:cNvPr>
          <p:cNvPicPr>
            <a:picLocks noChangeAspect="1"/>
          </p:cNvPicPr>
          <p:nvPr/>
        </p:nvPicPr>
        <p:blipFill>
          <a:blip r:embed="rId3"/>
          <a:stretch>
            <a:fillRect/>
          </a:stretch>
        </p:blipFill>
        <p:spPr>
          <a:xfrm>
            <a:off x="7955280" y="5212080"/>
            <a:ext cx="457200" cy="457200"/>
          </a:xfrm>
          <a:prstGeom prst="rect">
            <a:avLst/>
          </a:prstGeom>
        </p:spPr>
      </p:pic>
      <p:sp>
        <p:nvSpPr>
          <p:cNvPr id="13" name="Text 8"/>
          <p:cNvSpPr/>
          <p:nvPr/>
        </p:nvSpPr>
        <p:spPr>
          <a:xfrm>
            <a:off x="8503920" y="5212080"/>
            <a:ext cx="3017520" cy="27432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Also works for other gotchas</a:t>
            </a:r>
            <a:endParaRPr lang="en-US" sz="1200" dirty="0"/>
          </a:p>
        </p:txBody>
      </p:sp>
      <p:sp>
        <p:nvSpPr>
          <p:cNvPr id="14" name="Text 9"/>
          <p:cNvSpPr/>
          <p:nvPr/>
        </p:nvSpPr>
        <p:spPr>
          <a:xfrm>
            <a:off x="8503920" y="5486400"/>
            <a:ext cx="3017520" cy="91440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CloudFront + ACM certs, WAFv2 global, Route 53 health check alarms.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Never trust 'Apply complete.'</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Live state verification is what separates professionals from 'it worked on my machine'</a:t>
            </a:r>
            <a:endParaRPr lang="en-US" sz="1600" dirty="0"/>
          </a:p>
        </p:txBody>
      </p:sp>
      <p:sp>
        <p:nvSpPr>
          <p:cNvPr id="4" name="Shape 2"/>
          <p:cNvSpPr/>
          <p:nvPr/>
        </p:nvSpPr>
        <p:spPr>
          <a:xfrm>
            <a:off x="548640" y="1920240"/>
            <a:ext cx="11064240" cy="1280160"/>
          </a:xfrm>
          <a:prstGeom prst="roundRect">
            <a:avLst>
              <a:gd name="adj" fmla="val 5714"/>
            </a:avLst>
          </a:prstGeom>
          <a:solidFill>
            <a:srgbClr val="1A2744"/>
          </a:solidFill>
          <a:ln w="12700">
            <a:solidFill>
              <a:srgbClr val="0D9488"/>
            </a:solidFill>
            <a:prstDash val="solid"/>
          </a:ln>
        </p:spPr>
      </p:sp>
      <p:sp>
        <p:nvSpPr>
          <p:cNvPr id="5" name="Text 3"/>
          <p:cNvSpPr/>
          <p:nvPr/>
        </p:nvSpPr>
        <p:spPr>
          <a:xfrm>
            <a:off x="731520" y="2011680"/>
            <a:ext cx="10698480" cy="32004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Tags actually on resources?</a:t>
            </a:r>
            <a:endParaRPr lang="en-US" sz="1400" dirty="0"/>
          </a:p>
        </p:txBody>
      </p:sp>
      <p:sp>
        <p:nvSpPr>
          <p:cNvPr id="6" name="Text 4"/>
          <p:cNvSpPr/>
          <p:nvPr/>
        </p:nvSpPr>
        <p:spPr>
          <a:xfrm>
            <a:off x="731520" y="2331720"/>
            <a:ext cx="10698480" cy="502920"/>
          </a:xfrm>
          <a:prstGeom prst="rect">
            <a:avLst/>
          </a:prstGeom>
          <a:solidFill>
            <a:srgbClr val="0B1220"/>
          </a:solidFill>
          <a:ln/>
        </p:spPr>
        <p:txBody>
          <a:bodyPr wrap="square" rtlCol="0" anchor="t"/>
          <a:lstStyle/>
          <a:p>
            <a:pPr indent="0" marL="0">
              <a:buNone/>
            </a:pPr>
            <a:r>
              <a:rPr lang="en-US" sz="950" dirty="0">
                <a:solidFill>
                  <a:srgbClr val="FFFFFF"/>
                </a:solidFill>
                <a:latin typeface="Consolas" pitchFamily="34" charset="0"/>
                <a:ea typeface="Consolas" pitchFamily="34" charset="-122"/>
                <a:cs typeface="Consolas" pitchFamily="34" charset="-120"/>
              </a:rPr>
              <a:t>aws ec2 describe-vpcs --region eu-west-2 --query 'Vpcs[*].[VpcId,Tags]' --output table</a:t>
            </a:r>
            <a:endParaRPr lang="en-US" sz="950" dirty="0"/>
          </a:p>
        </p:txBody>
      </p:sp>
      <p:sp>
        <p:nvSpPr>
          <p:cNvPr id="7" name="Text 5"/>
          <p:cNvSpPr/>
          <p:nvPr/>
        </p:nvSpPr>
        <p:spPr>
          <a:xfrm>
            <a:off x="731520" y="2852928"/>
            <a:ext cx="1069848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Check: Your VPC shows 5 tags; default AWS VPC still shows None.</a:t>
            </a:r>
            <a:endParaRPr lang="en-US" sz="1100" dirty="0"/>
          </a:p>
        </p:txBody>
      </p:sp>
      <p:sp>
        <p:nvSpPr>
          <p:cNvPr id="8" name="Shape 6"/>
          <p:cNvSpPr/>
          <p:nvPr/>
        </p:nvSpPr>
        <p:spPr>
          <a:xfrm>
            <a:off x="548640" y="3337560"/>
            <a:ext cx="11064240" cy="1280160"/>
          </a:xfrm>
          <a:prstGeom prst="roundRect">
            <a:avLst>
              <a:gd name="adj" fmla="val 5714"/>
            </a:avLst>
          </a:prstGeom>
          <a:solidFill>
            <a:srgbClr val="1A2744"/>
          </a:solidFill>
          <a:ln w="12700">
            <a:solidFill>
              <a:srgbClr val="0D9488"/>
            </a:solidFill>
            <a:prstDash val="solid"/>
          </a:ln>
        </p:spPr>
      </p:sp>
      <p:sp>
        <p:nvSpPr>
          <p:cNvPr id="9" name="Text 7"/>
          <p:cNvSpPr/>
          <p:nvPr/>
        </p:nvSpPr>
        <p:spPr>
          <a:xfrm>
            <a:off x="731520" y="3429000"/>
            <a:ext cx="10698480" cy="32004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Budget notifications actually attached?</a:t>
            </a:r>
            <a:endParaRPr lang="en-US" sz="1400" dirty="0"/>
          </a:p>
        </p:txBody>
      </p:sp>
      <p:sp>
        <p:nvSpPr>
          <p:cNvPr id="10" name="Text 8"/>
          <p:cNvSpPr/>
          <p:nvPr/>
        </p:nvSpPr>
        <p:spPr>
          <a:xfrm>
            <a:off x="731520" y="3749040"/>
            <a:ext cx="10698480" cy="502920"/>
          </a:xfrm>
          <a:prstGeom prst="rect">
            <a:avLst/>
          </a:prstGeom>
          <a:solidFill>
            <a:srgbClr val="0B1220"/>
          </a:solidFill>
          <a:ln/>
        </p:spPr>
        <p:txBody>
          <a:bodyPr wrap="square" rtlCol="0" anchor="t"/>
          <a:lstStyle/>
          <a:p>
            <a:pPr indent="0" marL="0">
              <a:buNone/>
            </a:pPr>
            <a:r>
              <a:rPr lang="en-US" sz="950" dirty="0">
                <a:solidFill>
                  <a:srgbClr val="FFFFFF"/>
                </a:solidFill>
                <a:latin typeface="Consolas" pitchFamily="34" charset="0"/>
                <a:ea typeface="Consolas" pitchFamily="34" charset="-122"/>
                <a:cs typeface="Consolas" pitchFamily="34" charset="-120"/>
              </a:rPr>
              <a:t>aws budgets describe-notifications-for-budget --account-id $(aws sts get-caller-identity --query Account --output text) --budget-name monthly-account-budget --region eu-west-2</a:t>
            </a:r>
            <a:endParaRPr lang="en-US" sz="950" dirty="0"/>
          </a:p>
        </p:txBody>
      </p:sp>
      <p:sp>
        <p:nvSpPr>
          <p:cNvPr id="11" name="Text 9"/>
          <p:cNvSpPr/>
          <p:nvPr/>
        </p:nvSpPr>
        <p:spPr>
          <a:xfrm>
            <a:off x="731520" y="4270248"/>
            <a:ext cx="1069848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Check: Two notifications returned — 80 and 100.</a:t>
            </a:r>
            <a:endParaRPr lang="en-US" sz="1100" dirty="0"/>
          </a:p>
        </p:txBody>
      </p:sp>
      <p:sp>
        <p:nvSpPr>
          <p:cNvPr id="12" name="Shape 10"/>
          <p:cNvSpPr/>
          <p:nvPr/>
        </p:nvSpPr>
        <p:spPr>
          <a:xfrm>
            <a:off x="548640" y="4754880"/>
            <a:ext cx="11064240" cy="1280160"/>
          </a:xfrm>
          <a:prstGeom prst="roundRect">
            <a:avLst>
              <a:gd name="adj" fmla="val 5714"/>
            </a:avLst>
          </a:prstGeom>
          <a:solidFill>
            <a:srgbClr val="1A2744"/>
          </a:solidFill>
          <a:ln w="12700">
            <a:solidFill>
              <a:srgbClr val="0D9488"/>
            </a:solidFill>
            <a:prstDash val="solid"/>
          </a:ln>
        </p:spPr>
      </p:sp>
      <p:sp>
        <p:nvSpPr>
          <p:cNvPr id="13" name="Text 11"/>
          <p:cNvSpPr/>
          <p:nvPr/>
        </p:nvSpPr>
        <p:spPr>
          <a:xfrm>
            <a:off x="731520" y="4846320"/>
            <a:ext cx="10698480" cy="32004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Alarm actually in us-east-1 AND not in eu-west-2?</a:t>
            </a:r>
            <a:endParaRPr lang="en-US" sz="1400" dirty="0"/>
          </a:p>
        </p:txBody>
      </p:sp>
      <p:sp>
        <p:nvSpPr>
          <p:cNvPr id="14" name="Text 12"/>
          <p:cNvSpPr/>
          <p:nvPr/>
        </p:nvSpPr>
        <p:spPr>
          <a:xfrm>
            <a:off x="731520" y="5166360"/>
            <a:ext cx="10698480" cy="502920"/>
          </a:xfrm>
          <a:prstGeom prst="rect">
            <a:avLst/>
          </a:prstGeom>
          <a:solidFill>
            <a:srgbClr val="0B1220"/>
          </a:solidFill>
          <a:ln/>
        </p:spPr>
        <p:txBody>
          <a:bodyPr wrap="square" rtlCol="0" anchor="t"/>
          <a:lstStyle/>
          <a:p>
            <a:pPr indent="0" marL="0">
              <a:buNone/>
            </a:pPr>
            <a:r>
              <a:rPr lang="en-US" sz="950" dirty="0">
                <a:solidFill>
                  <a:srgbClr val="FFFFFF"/>
                </a:solidFill>
                <a:latin typeface="Consolas" pitchFamily="34" charset="0"/>
                <a:ea typeface="Consolas" pitchFamily="34" charset="-122"/>
                <a:cs typeface="Consolas" pitchFamily="34" charset="-120"/>
              </a:rPr>
              <a:t>aws cloudwatch describe-alarms --alarm-names monthly-billing-alarm --region us-east-1 ...</a:t>
            </a:r>
            <a:endParaRPr lang="en-US" sz="950" dirty="0"/>
          </a:p>
          <a:p>
            <a:pPr indent="0" marL="0">
              <a:buNone/>
            </a:pPr>
            <a:r>
              <a:rPr lang="en-US" sz="950" dirty="0">
                <a:solidFill>
                  <a:srgbClr val="FFFFFF"/>
                </a:solidFill>
                <a:latin typeface="Consolas" pitchFamily="34" charset="0"/>
                <a:ea typeface="Consolas" pitchFamily="34" charset="-122"/>
                <a:cs typeface="Consolas" pitchFamily="34" charset="-120"/>
              </a:rPr>
              <a:t>aws cloudwatch describe-alarms --alarm-names monthly-billing-alarm --region eu-west-2 ...</a:t>
            </a:r>
            <a:endParaRPr lang="en-US" sz="950" dirty="0"/>
          </a:p>
        </p:txBody>
      </p:sp>
      <p:sp>
        <p:nvSpPr>
          <p:cNvPr id="15" name="Text 13"/>
          <p:cNvSpPr/>
          <p:nvPr/>
        </p:nvSpPr>
        <p:spPr>
          <a:xfrm>
            <a:off x="731520" y="5687568"/>
            <a:ext cx="1069848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Check: First returns the alarm; second returns empty.</a:t>
            </a:r>
            <a:endParaRPr lang="en-US" sz="1100" dirty="0"/>
          </a:p>
        </p:txBody>
      </p:sp>
      <p:sp>
        <p:nvSpPr>
          <p:cNvPr id="16" name="Text 14"/>
          <p:cNvSpPr/>
          <p:nvPr/>
        </p:nvSpPr>
        <p:spPr>
          <a:xfrm>
            <a:off x="548640" y="6263640"/>
            <a:ext cx="11064240" cy="320040"/>
          </a:xfrm>
          <a:prstGeom prst="rect">
            <a:avLst/>
          </a:prstGeom>
          <a:noFill/>
          <a:ln/>
        </p:spPr>
        <p:txBody>
          <a:bodyPr wrap="square" rtlCol="0" anchor="ctr"/>
          <a:lstStyle/>
          <a:p>
            <a:pPr algn="ctr" indent="0" marL="0">
              <a:buNone/>
            </a:pPr>
            <a:r>
              <a:rPr lang="en-US" sz="1200" b="1" i="1" dirty="0">
                <a:solidFill>
                  <a:srgbClr val="14B8A6"/>
                </a:solidFill>
                <a:latin typeface="Calibri" pitchFamily="34" charset="0"/>
                <a:ea typeface="Calibri" pitchFamily="34" charset="-122"/>
                <a:cs typeface="Calibri" pitchFamily="34" charset="-120"/>
              </a:rPr>
              <a:t>Validator's [LIVE] checks catch this gap automatically — config-only checks will lie to you.</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Lab vs real life</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What this lab captures — and what a real production setup looks like</a:t>
            </a:r>
            <a:endParaRPr lang="en-US" sz="1600" dirty="0"/>
          </a:p>
        </p:txBody>
      </p:sp>
      <p:sp>
        <p:nvSpPr>
          <p:cNvPr id="4" name="Shape 2"/>
          <p:cNvSpPr/>
          <p:nvPr/>
        </p:nvSpPr>
        <p:spPr>
          <a:xfrm>
            <a:off x="548640" y="1828800"/>
            <a:ext cx="11064240" cy="365760"/>
          </a:xfrm>
          <a:prstGeom prst="rect">
            <a:avLst/>
          </a:prstGeom>
          <a:solidFill>
            <a:srgbClr val="0D9488"/>
          </a:solidFill>
          <a:ln w="12700">
            <a:solidFill>
              <a:srgbClr val="0D9488"/>
            </a:solidFill>
            <a:prstDash val="solid"/>
          </a:ln>
        </p:spPr>
      </p:sp>
      <p:sp>
        <p:nvSpPr>
          <p:cNvPr id="5" name="Text 3"/>
          <p:cNvSpPr/>
          <p:nvPr/>
        </p:nvSpPr>
        <p:spPr>
          <a:xfrm>
            <a:off x="731520" y="1828800"/>
            <a:ext cx="5166360" cy="36576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IN THIS LAB</a:t>
            </a:r>
            <a:endParaRPr lang="en-US" sz="1200" dirty="0"/>
          </a:p>
        </p:txBody>
      </p:sp>
      <p:sp>
        <p:nvSpPr>
          <p:cNvPr id="6" name="Text 4"/>
          <p:cNvSpPr/>
          <p:nvPr/>
        </p:nvSpPr>
        <p:spPr>
          <a:xfrm>
            <a:off x="6126480" y="1828800"/>
            <a:ext cx="5486400" cy="36576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IN REAL PRODUCTION</a:t>
            </a:r>
            <a:endParaRPr lang="en-US" sz="1200" dirty="0"/>
          </a:p>
        </p:txBody>
      </p:sp>
      <p:sp>
        <p:nvSpPr>
          <p:cNvPr id="7" name="Shape 5"/>
          <p:cNvSpPr/>
          <p:nvPr/>
        </p:nvSpPr>
        <p:spPr>
          <a:xfrm>
            <a:off x="548640" y="2194560"/>
            <a:ext cx="11064240" cy="475488"/>
          </a:xfrm>
          <a:prstGeom prst="rect">
            <a:avLst/>
          </a:prstGeom>
          <a:solidFill>
            <a:srgbClr val="1A2744"/>
          </a:solidFill>
          <a:ln w="12700">
            <a:solidFill>
              <a:srgbClr val="1A2744"/>
            </a:solidFill>
            <a:prstDash val="solid"/>
          </a:ln>
        </p:spPr>
      </p:sp>
      <p:sp>
        <p:nvSpPr>
          <p:cNvPr id="8" name="Text 6"/>
          <p:cNvSpPr/>
          <p:nvPr/>
        </p:nvSpPr>
        <p:spPr>
          <a:xfrm>
            <a:off x="731520" y="2194560"/>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5 tags defined in code</a:t>
            </a:r>
            <a:endParaRPr lang="en-US" sz="1200" dirty="0"/>
          </a:p>
        </p:txBody>
      </p:sp>
      <p:sp>
        <p:nvSpPr>
          <p:cNvPr id="9" name="Text 7"/>
          <p:cNvSpPr/>
          <p:nvPr/>
        </p:nvSpPr>
        <p:spPr>
          <a:xfrm>
            <a:off x="6126480" y="2194560"/>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10-20+ tags: Owner, DataClassification, PII, BusinessUnit, Compliance</a:t>
            </a:r>
            <a:endParaRPr lang="en-US" sz="1200" dirty="0"/>
          </a:p>
        </p:txBody>
      </p:sp>
      <p:sp>
        <p:nvSpPr>
          <p:cNvPr id="10" name="Text 8"/>
          <p:cNvSpPr/>
          <p:nvPr/>
        </p:nvSpPr>
        <p:spPr>
          <a:xfrm>
            <a:off x="731520" y="2670048"/>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AWS account</a:t>
            </a:r>
            <a:endParaRPr lang="en-US" sz="1200" dirty="0"/>
          </a:p>
        </p:txBody>
      </p:sp>
      <p:sp>
        <p:nvSpPr>
          <p:cNvPr id="11" name="Text 9"/>
          <p:cNvSpPr/>
          <p:nvPr/>
        </p:nvSpPr>
        <p:spPr>
          <a:xfrm>
            <a:off x="6126480" y="2670048"/>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20+ accounts under Organizations; tags enforced via SCPs and tag policies</a:t>
            </a:r>
            <a:endParaRPr lang="en-US" sz="1200" dirty="0"/>
          </a:p>
        </p:txBody>
      </p:sp>
      <p:sp>
        <p:nvSpPr>
          <p:cNvPr id="12" name="Shape 10"/>
          <p:cNvSpPr/>
          <p:nvPr/>
        </p:nvSpPr>
        <p:spPr>
          <a:xfrm>
            <a:off x="548640" y="3145536"/>
            <a:ext cx="11064240" cy="475488"/>
          </a:xfrm>
          <a:prstGeom prst="rect">
            <a:avLst/>
          </a:prstGeom>
          <a:solidFill>
            <a:srgbClr val="1A2744"/>
          </a:solidFill>
          <a:ln w="12700">
            <a:solidFill>
              <a:srgbClr val="1A2744"/>
            </a:solidFill>
            <a:prstDash val="solid"/>
          </a:ln>
        </p:spPr>
      </p:sp>
      <p:sp>
        <p:nvSpPr>
          <p:cNvPr id="13" name="Text 11"/>
          <p:cNvSpPr/>
          <p:nvPr/>
        </p:nvSpPr>
        <p:spPr>
          <a:xfrm>
            <a:off x="731520" y="3145536"/>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Tags added after the fact</a:t>
            </a:r>
            <a:endParaRPr lang="en-US" sz="1200" dirty="0"/>
          </a:p>
        </p:txBody>
      </p:sp>
      <p:sp>
        <p:nvSpPr>
          <p:cNvPr id="14" name="Text 12"/>
          <p:cNvSpPr/>
          <p:nvPr/>
        </p:nvSpPr>
        <p:spPr>
          <a:xfrm>
            <a:off x="6126480" y="3145536"/>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Tags enforced at provisioning time; untagged resources blocked or auto-remediated</a:t>
            </a:r>
            <a:endParaRPr lang="en-US" sz="1200" dirty="0"/>
          </a:p>
        </p:txBody>
      </p:sp>
      <p:sp>
        <p:nvSpPr>
          <p:cNvPr id="15" name="Text 13"/>
          <p:cNvSpPr/>
          <p:nvPr/>
        </p:nvSpPr>
        <p:spPr>
          <a:xfrm>
            <a:off x="731520" y="3621024"/>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Budget emails one address</a:t>
            </a:r>
            <a:endParaRPr lang="en-US" sz="1200" dirty="0"/>
          </a:p>
        </p:txBody>
      </p:sp>
      <p:sp>
        <p:nvSpPr>
          <p:cNvPr id="16" name="Text 14"/>
          <p:cNvSpPr/>
          <p:nvPr/>
        </p:nvSpPr>
        <p:spPr>
          <a:xfrm>
            <a:off x="6126480" y="3621024"/>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PagerDuty for critical, Slack for warnings, email for digests only</a:t>
            </a:r>
            <a:endParaRPr lang="en-US" sz="1200" dirty="0"/>
          </a:p>
        </p:txBody>
      </p:sp>
      <p:sp>
        <p:nvSpPr>
          <p:cNvPr id="17" name="Shape 15"/>
          <p:cNvSpPr/>
          <p:nvPr/>
        </p:nvSpPr>
        <p:spPr>
          <a:xfrm>
            <a:off x="548640" y="4096512"/>
            <a:ext cx="11064240" cy="475488"/>
          </a:xfrm>
          <a:prstGeom prst="rect">
            <a:avLst/>
          </a:prstGeom>
          <a:solidFill>
            <a:srgbClr val="1A2744"/>
          </a:solidFill>
          <a:ln w="12700">
            <a:solidFill>
              <a:srgbClr val="1A2744"/>
            </a:solidFill>
            <a:prstDash val="solid"/>
          </a:ln>
        </p:spPr>
      </p:sp>
      <p:sp>
        <p:nvSpPr>
          <p:cNvPr id="18" name="Text 16"/>
          <p:cNvSpPr/>
          <p:nvPr/>
        </p:nvSpPr>
        <p:spPr>
          <a:xfrm>
            <a:off x="731520" y="4096512"/>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Cost Explorer used directly</a:t>
            </a:r>
            <a:endParaRPr lang="en-US" sz="1200" dirty="0"/>
          </a:p>
        </p:txBody>
      </p:sp>
      <p:sp>
        <p:nvSpPr>
          <p:cNvPr id="19" name="Text 17"/>
          <p:cNvSpPr/>
          <p:nvPr/>
        </p:nvSpPr>
        <p:spPr>
          <a:xfrm>
            <a:off x="6126480" y="4096512"/>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FinOps tools (CloudZero, Vantage, CloudHealth) for real-time attribution</a:t>
            </a:r>
            <a:endParaRPr lang="en-US" sz="1200" dirty="0"/>
          </a:p>
        </p:txBody>
      </p:sp>
      <p:sp>
        <p:nvSpPr>
          <p:cNvPr id="20" name="Text 18"/>
          <p:cNvSpPr/>
          <p:nvPr/>
        </p:nvSpPr>
        <p:spPr>
          <a:xfrm>
            <a:off x="731520" y="4572000"/>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USD budget</a:t>
            </a:r>
            <a:endParaRPr lang="en-US" sz="1200" dirty="0"/>
          </a:p>
        </p:txBody>
      </p:sp>
      <p:sp>
        <p:nvSpPr>
          <p:cNvPr id="21" name="Text 19"/>
          <p:cNvSpPr/>
          <p:nvPr/>
        </p:nvSpPr>
        <p:spPr>
          <a:xfrm>
            <a:off x="6126480" y="4572000"/>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FX conversion pain — AWS bills USD, finance reports GBP</a:t>
            </a:r>
            <a:endParaRPr lang="en-US" sz="1200" dirty="0"/>
          </a:p>
        </p:txBody>
      </p:sp>
      <p:sp>
        <p:nvSpPr>
          <p:cNvPr id="22" name="Shape 20"/>
          <p:cNvSpPr/>
          <p:nvPr/>
        </p:nvSpPr>
        <p:spPr>
          <a:xfrm>
            <a:off x="548640" y="5047488"/>
            <a:ext cx="11064240" cy="475488"/>
          </a:xfrm>
          <a:prstGeom prst="rect">
            <a:avLst/>
          </a:prstGeom>
          <a:solidFill>
            <a:srgbClr val="1A2744"/>
          </a:solidFill>
          <a:ln w="12700">
            <a:solidFill>
              <a:srgbClr val="1A2744"/>
            </a:solidFill>
            <a:prstDash val="solid"/>
          </a:ln>
        </p:spPr>
      </p:sp>
      <p:sp>
        <p:nvSpPr>
          <p:cNvPr id="23" name="Text 21"/>
          <p:cNvSpPr/>
          <p:nvPr/>
        </p:nvSpPr>
        <p:spPr>
          <a:xfrm>
            <a:off x="731520" y="5047488"/>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Single-file Terraform</a:t>
            </a:r>
            <a:endParaRPr lang="en-US" sz="1200" dirty="0"/>
          </a:p>
        </p:txBody>
      </p:sp>
      <p:sp>
        <p:nvSpPr>
          <p:cNvPr id="24" name="Text 22"/>
          <p:cNvSpPr/>
          <p:nvPr/>
        </p:nvSpPr>
        <p:spPr>
          <a:xfrm>
            <a:off x="6126480" y="5047488"/>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Billing/cost resources live in a dedicated module with the region workaround scoped there</a:t>
            </a:r>
            <a:endParaRPr lang="en-US" sz="1200" dirty="0"/>
          </a:p>
        </p:txBody>
      </p:sp>
      <p:sp>
        <p:nvSpPr>
          <p:cNvPr id="25" name="Text 23"/>
          <p:cNvSpPr/>
          <p:nvPr/>
        </p:nvSpPr>
        <p:spPr>
          <a:xfrm>
            <a:off x="731520" y="5522976"/>
            <a:ext cx="51663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Ticket content trusted at face value</a:t>
            </a:r>
            <a:endParaRPr lang="en-US" sz="1200" dirty="0"/>
          </a:p>
        </p:txBody>
      </p:sp>
      <p:sp>
        <p:nvSpPr>
          <p:cNvPr id="26" name="Text 24"/>
          <p:cNvSpPr/>
          <p:nvPr/>
        </p:nvSpPr>
        <p:spPr>
          <a:xfrm>
            <a:off x="6126480" y="5522976"/>
            <a:ext cx="548640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Tickets are hypotheses; verify live state before acting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How to talk about this in interview</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The BA → Cloud transition angle + the stories that actually land</a:t>
            </a:r>
            <a:endParaRPr lang="en-US" sz="1600" dirty="0"/>
          </a:p>
        </p:txBody>
      </p:sp>
      <p:sp>
        <p:nvSpPr>
          <p:cNvPr id="4" name="Shape 2"/>
          <p:cNvSpPr/>
          <p:nvPr/>
        </p:nvSpPr>
        <p:spPr>
          <a:xfrm>
            <a:off x="548640" y="1828800"/>
            <a:ext cx="3675888" cy="2103120"/>
          </a:xfrm>
          <a:prstGeom prst="roundRect">
            <a:avLst>
              <a:gd name="adj" fmla="val 3478"/>
            </a:avLst>
          </a:prstGeom>
          <a:solidFill>
            <a:srgbClr val="1A2744"/>
          </a:solidFill>
          <a:ln w="1270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731520" y="2011680"/>
            <a:ext cx="548640" cy="548640"/>
          </a:xfrm>
          <a:prstGeom prst="rect">
            <a:avLst/>
          </a:prstGeom>
        </p:spPr>
      </p:pic>
      <p:sp>
        <p:nvSpPr>
          <p:cNvPr id="6" name="Text 3"/>
          <p:cNvSpPr/>
          <p:nvPr/>
        </p:nvSpPr>
        <p:spPr>
          <a:xfrm>
            <a:off x="1417320" y="2011680"/>
            <a:ext cx="2670048" cy="54864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Cost governance is BA-adjacent</a:t>
            </a:r>
            <a:endParaRPr lang="en-US" sz="1200" dirty="0"/>
          </a:p>
        </p:txBody>
      </p:sp>
      <p:sp>
        <p:nvSpPr>
          <p:cNvPr id="7" name="Text 4"/>
          <p:cNvSpPr/>
          <p:nvPr/>
        </p:nvSpPr>
        <p:spPr>
          <a:xfrm>
            <a:off x="731520" y="2651760"/>
            <a:ext cx="3310128" cy="1143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Tag policy design, chargeback models, cost allocation rules — these are requirements gathering. Position your BA background as an asset, not an apology.</a:t>
            </a:r>
            <a:endParaRPr lang="en-US" sz="1100" dirty="0"/>
          </a:p>
        </p:txBody>
      </p:sp>
      <p:sp>
        <p:nvSpPr>
          <p:cNvPr id="8" name="Shape 5"/>
          <p:cNvSpPr/>
          <p:nvPr/>
        </p:nvSpPr>
        <p:spPr>
          <a:xfrm>
            <a:off x="4361688" y="1828800"/>
            <a:ext cx="3675888" cy="2103120"/>
          </a:xfrm>
          <a:prstGeom prst="roundRect">
            <a:avLst>
              <a:gd name="adj" fmla="val 3478"/>
            </a:avLst>
          </a:prstGeom>
          <a:solidFill>
            <a:srgbClr val="1A2744"/>
          </a:solidFill>
          <a:ln w="12700">
            <a:solidFill>
              <a:srgbClr val="0D9488"/>
            </a:solidFill>
            <a:prstDash val="solid"/>
          </a:ln>
        </p:spPr>
      </p:sp>
      <p:pic>
        <p:nvPicPr>
          <p:cNvPr id="9" name="Image 1" descr="preencoded.png">    </p:cNvPr>
          <p:cNvPicPr>
            <a:picLocks noChangeAspect="1"/>
          </p:cNvPicPr>
          <p:nvPr/>
        </p:nvPicPr>
        <p:blipFill>
          <a:blip r:embed="rId2"/>
          <a:stretch>
            <a:fillRect/>
          </a:stretch>
        </p:blipFill>
        <p:spPr>
          <a:xfrm>
            <a:off x="4544568" y="2011680"/>
            <a:ext cx="548640" cy="548640"/>
          </a:xfrm>
          <a:prstGeom prst="rect">
            <a:avLst/>
          </a:prstGeom>
        </p:spPr>
      </p:pic>
      <p:sp>
        <p:nvSpPr>
          <p:cNvPr id="10" name="Text 6"/>
          <p:cNvSpPr/>
          <p:nvPr/>
        </p:nvSpPr>
        <p:spPr>
          <a:xfrm>
            <a:off x="5230368" y="2011680"/>
            <a:ext cx="2670048" cy="54864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'Tickets are hypotheses'</a:t>
            </a:r>
            <a:endParaRPr lang="en-US" sz="1200" dirty="0"/>
          </a:p>
        </p:txBody>
      </p:sp>
      <p:sp>
        <p:nvSpPr>
          <p:cNvPr id="11" name="Text 7"/>
          <p:cNvSpPr/>
          <p:nvPr/>
        </p:nvSpPr>
        <p:spPr>
          <a:xfrm>
            <a:off x="4544568" y="2651760"/>
            <a:ext cx="3310128" cy="1143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In this lab the PagerDuty ticket said the alarm was firing 47 times. Reality: it had never fired once. Tell this story — it shows investigative discipline.</a:t>
            </a:r>
            <a:endParaRPr lang="en-US" sz="1100" dirty="0"/>
          </a:p>
        </p:txBody>
      </p:sp>
      <p:sp>
        <p:nvSpPr>
          <p:cNvPr id="12" name="Shape 8"/>
          <p:cNvSpPr/>
          <p:nvPr/>
        </p:nvSpPr>
        <p:spPr>
          <a:xfrm>
            <a:off x="8174736" y="1828800"/>
            <a:ext cx="3675888" cy="2103120"/>
          </a:xfrm>
          <a:prstGeom prst="roundRect">
            <a:avLst>
              <a:gd name="adj" fmla="val 3478"/>
            </a:avLst>
          </a:prstGeom>
          <a:solidFill>
            <a:srgbClr val="1A2744"/>
          </a:solidFill>
          <a:ln w="12700">
            <a:solidFill>
              <a:srgbClr val="0D9488"/>
            </a:solidFill>
            <a:prstDash val="solid"/>
          </a:ln>
        </p:spPr>
      </p:sp>
      <p:pic>
        <p:nvPicPr>
          <p:cNvPr id="13" name="Image 2" descr="preencoded.png">    </p:cNvPr>
          <p:cNvPicPr>
            <a:picLocks noChangeAspect="1"/>
          </p:cNvPicPr>
          <p:nvPr/>
        </p:nvPicPr>
        <p:blipFill>
          <a:blip r:embed="rId3"/>
          <a:stretch>
            <a:fillRect/>
          </a:stretch>
        </p:blipFill>
        <p:spPr>
          <a:xfrm>
            <a:off x="8357616" y="2011680"/>
            <a:ext cx="548640" cy="548640"/>
          </a:xfrm>
          <a:prstGeom prst="rect">
            <a:avLst/>
          </a:prstGeom>
        </p:spPr>
      </p:pic>
      <p:sp>
        <p:nvSpPr>
          <p:cNvPr id="14" name="Text 9"/>
          <p:cNvSpPr/>
          <p:nvPr/>
        </p:nvSpPr>
        <p:spPr>
          <a:xfrm>
            <a:off x="9043416" y="2011680"/>
            <a:ext cx="2670048" cy="54864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Provider bug war story</a:t>
            </a:r>
            <a:endParaRPr lang="en-US" sz="1200" dirty="0"/>
          </a:p>
        </p:txBody>
      </p:sp>
      <p:sp>
        <p:nvSpPr>
          <p:cNvPr id="15" name="Text 10"/>
          <p:cNvSpPr/>
          <p:nvPr/>
        </p:nvSpPr>
        <p:spPr>
          <a:xfrm>
            <a:off x="8357616" y="2651760"/>
            <a:ext cx="3310128" cy="1143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aliased-provider saga is interview gold. It proves you can debug past the happy path, read the docs, and pivot when 'correct' doesn't work.</a:t>
            </a:r>
            <a:endParaRPr lang="en-US" sz="1100" dirty="0"/>
          </a:p>
        </p:txBody>
      </p:sp>
      <p:sp>
        <p:nvSpPr>
          <p:cNvPr id="16" name="Shape 11"/>
          <p:cNvSpPr/>
          <p:nvPr/>
        </p:nvSpPr>
        <p:spPr>
          <a:xfrm>
            <a:off x="548640" y="4114800"/>
            <a:ext cx="3675888" cy="2103120"/>
          </a:xfrm>
          <a:prstGeom prst="roundRect">
            <a:avLst>
              <a:gd name="adj" fmla="val 3478"/>
            </a:avLst>
          </a:prstGeom>
          <a:solidFill>
            <a:srgbClr val="1A2744"/>
          </a:solidFill>
          <a:ln w="12700">
            <a:solidFill>
              <a:srgbClr val="0D9488"/>
            </a:solidFill>
            <a:prstDash val="solid"/>
          </a:ln>
        </p:spPr>
      </p:sp>
      <p:pic>
        <p:nvPicPr>
          <p:cNvPr id="17" name="Image 3" descr="preencoded.png">    </p:cNvPr>
          <p:cNvPicPr>
            <a:picLocks noChangeAspect="1"/>
          </p:cNvPicPr>
          <p:nvPr/>
        </p:nvPicPr>
        <p:blipFill>
          <a:blip r:embed="rId4"/>
          <a:stretch>
            <a:fillRect/>
          </a:stretch>
        </p:blipFill>
        <p:spPr>
          <a:xfrm>
            <a:off x="731520" y="4297680"/>
            <a:ext cx="548640" cy="548640"/>
          </a:xfrm>
          <a:prstGeom prst="rect">
            <a:avLst/>
          </a:prstGeom>
        </p:spPr>
      </p:pic>
      <p:sp>
        <p:nvSpPr>
          <p:cNvPr id="18" name="Text 12"/>
          <p:cNvSpPr/>
          <p:nvPr/>
        </p:nvSpPr>
        <p:spPr>
          <a:xfrm>
            <a:off x="1417320" y="4297680"/>
            <a:ext cx="2670048" cy="54864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Regional gotchas</a:t>
            </a:r>
            <a:endParaRPr lang="en-US" sz="1200" dirty="0"/>
          </a:p>
        </p:txBody>
      </p:sp>
      <p:sp>
        <p:nvSpPr>
          <p:cNvPr id="19" name="Text 13"/>
          <p:cNvSpPr/>
          <p:nvPr/>
        </p:nvSpPr>
        <p:spPr>
          <a:xfrm>
            <a:off x="731520" y="4937760"/>
            <a:ext cx="3310128" cy="1143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us-east-1 for billing/global services. Interviewers love candidates who know this — it's a filter question for anyone claiming AWS depth.</a:t>
            </a:r>
            <a:endParaRPr lang="en-US" sz="1100" dirty="0"/>
          </a:p>
        </p:txBody>
      </p:sp>
      <p:sp>
        <p:nvSpPr>
          <p:cNvPr id="20" name="Shape 14"/>
          <p:cNvSpPr/>
          <p:nvPr/>
        </p:nvSpPr>
        <p:spPr>
          <a:xfrm>
            <a:off x="4361688" y="4114800"/>
            <a:ext cx="3675888" cy="2103120"/>
          </a:xfrm>
          <a:prstGeom prst="roundRect">
            <a:avLst>
              <a:gd name="adj" fmla="val 3478"/>
            </a:avLst>
          </a:prstGeom>
          <a:solidFill>
            <a:srgbClr val="1A2744"/>
          </a:solidFill>
          <a:ln w="12700">
            <a:solidFill>
              <a:srgbClr val="0D9488"/>
            </a:solidFill>
            <a:prstDash val="solid"/>
          </a:ln>
        </p:spPr>
      </p:sp>
      <p:pic>
        <p:nvPicPr>
          <p:cNvPr id="21" name="Image 4" descr="preencoded.png">    </p:cNvPr>
          <p:cNvPicPr>
            <a:picLocks noChangeAspect="1"/>
          </p:cNvPicPr>
          <p:nvPr/>
        </p:nvPicPr>
        <p:blipFill>
          <a:blip r:embed="rId5"/>
          <a:stretch>
            <a:fillRect/>
          </a:stretch>
        </p:blipFill>
        <p:spPr>
          <a:xfrm>
            <a:off x="4544568" y="4297680"/>
            <a:ext cx="548640" cy="548640"/>
          </a:xfrm>
          <a:prstGeom prst="rect">
            <a:avLst/>
          </a:prstGeom>
        </p:spPr>
      </p:pic>
      <p:sp>
        <p:nvSpPr>
          <p:cNvPr id="22" name="Text 15"/>
          <p:cNvSpPr/>
          <p:nvPr/>
        </p:nvSpPr>
        <p:spPr>
          <a:xfrm>
            <a:off x="5230368" y="4297680"/>
            <a:ext cx="2670048" cy="54864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'Tagging without activation'</a:t>
            </a:r>
            <a:endParaRPr lang="en-US" sz="1200" dirty="0"/>
          </a:p>
        </p:txBody>
      </p:sp>
      <p:sp>
        <p:nvSpPr>
          <p:cNvPr id="23" name="Text 16"/>
          <p:cNvSpPr/>
          <p:nvPr/>
        </p:nvSpPr>
        <p:spPr>
          <a:xfrm>
            <a:off x="4544568" y="4937760"/>
            <a:ext cx="3310128" cy="1143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retrospective trap. Most engineers don't know cost allocation tags need manual activation and aren't retroactive. Say this; stand out.</a:t>
            </a:r>
            <a:endParaRPr lang="en-US" sz="1100" dirty="0"/>
          </a:p>
        </p:txBody>
      </p:sp>
      <p:sp>
        <p:nvSpPr>
          <p:cNvPr id="24" name="Shape 17"/>
          <p:cNvSpPr/>
          <p:nvPr/>
        </p:nvSpPr>
        <p:spPr>
          <a:xfrm>
            <a:off x="8174736" y="4114800"/>
            <a:ext cx="3675888" cy="2103120"/>
          </a:xfrm>
          <a:prstGeom prst="roundRect">
            <a:avLst>
              <a:gd name="adj" fmla="val 3478"/>
            </a:avLst>
          </a:prstGeom>
          <a:solidFill>
            <a:srgbClr val="1A2744"/>
          </a:solidFill>
          <a:ln w="12700">
            <a:solidFill>
              <a:srgbClr val="0D9488"/>
            </a:solidFill>
            <a:prstDash val="solid"/>
          </a:ln>
        </p:spPr>
      </p:sp>
      <p:pic>
        <p:nvPicPr>
          <p:cNvPr id="25" name="Image 5" descr="preencoded.png">    </p:cNvPr>
          <p:cNvPicPr>
            <a:picLocks noChangeAspect="1"/>
          </p:cNvPicPr>
          <p:nvPr/>
        </p:nvPicPr>
        <p:blipFill>
          <a:blip r:embed="rId6"/>
          <a:stretch>
            <a:fillRect/>
          </a:stretch>
        </p:blipFill>
        <p:spPr>
          <a:xfrm>
            <a:off x="8357616" y="4297680"/>
            <a:ext cx="548640" cy="548640"/>
          </a:xfrm>
          <a:prstGeom prst="rect">
            <a:avLst/>
          </a:prstGeom>
        </p:spPr>
      </p:pic>
      <p:sp>
        <p:nvSpPr>
          <p:cNvPr id="26" name="Text 18"/>
          <p:cNvSpPr/>
          <p:nvPr/>
        </p:nvSpPr>
        <p:spPr>
          <a:xfrm>
            <a:off x="9043416" y="4297680"/>
            <a:ext cx="2670048" cy="548640"/>
          </a:xfrm>
          <a:prstGeom prst="rect">
            <a:avLst/>
          </a:prstGeom>
          <a:noFill/>
          <a:ln/>
        </p:spPr>
        <p:txBody>
          <a:bodyPr wrap="square"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Live state verification</a:t>
            </a:r>
            <a:endParaRPr lang="en-US" sz="1200" dirty="0"/>
          </a:p>
        </p:txBody>
      </p:sp>
      <p:sp>
        <p:nvSpPr>
          <p:cNvPr id="27" name="Text 19"/>
          <p:cNvSpPr/>
          <p:nvPr/>
        </p:nvSpPr>
        <p:spPr>
          <a:xfrm>
            <a:off x="8357616" y="4937760"/>
            <a:ext cx="3310128" cy="114300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'I never trust apply-complete alone.' Shows production discipline. Pair with a specific example of when blind trust bit you or someone you worked with.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to take away</a:t>
            </a:r>
            <a:endParaRPr lang="en-US" sz="3200" dirty="0"/>
          </a:p>
        </p:txBody>
      </p:sp>
      <p:sp>
        <p:nvSpPr>
          <p:cNvPr id="3" name="Text 1"/>
          <p:cNvSpPr/>
          <p:nvPr/>
        </p:nvSpPr>
        <p:spPr>
          <a:xfrm>
            <a:off x="548640" y="1005840"/>
            <a:ext cx="11064240" cy="457200"/>
          </a:xfrm>
          <a:prstGeom prst="rect">
            <a:avLst/>
          </a:prstGeom>
          <a:noFill/>
          <a:ln/>
        </p:spPr>
        <p:txBody>
          <a:bodyPr wrap="square"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Ten principles worth internalising from this lab</a:t>
            </a:r>
            <a:endParaRPr lang="en-US" sz="1600" dirty="0"/>
          </a:p>
        </p:txBody>
      </p:sp>
      <p:sp>
        <p:nvSpPr>
          <p:cNvPr id="4" name="Shape 2"/>
          <p:cNvSpPr/>
          <p:nvPr/>
        </p:nvSpPr>
        <p:spPr>
          <a:xfrm>
            <a:off x="548640" y="1901952"/>
            <a:ext cx="320040" cy="320040"/>
          </a:xfrm>
          <a:prstGeom prst="ellipse">
            <a:avLst/>
          </a:prstGeom>
          <a:solidFill>
            <a:srgbClr val="0D9488"/>
          </a:solidFill>
          <a:ln w="12700">
            <a:solidFill>
              <a:srgbClr val="0D9488"/>
            </a:solidFill>
            <a:prstDash val="solid"/>
          </a:ln>
        </p:spPr>
      </p:sp>
      <p:sp>
        <p:nvSpPr>
          <p:cNvPr id="5" name="Text 3"/>
          <p:cNvSpPr/>
          <p:nvPr/>
        </p:nvSpPr>
        <p:spPr>
          <a:xfrm>
            <a:off x="548640" y="190195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005840" y="1874520"/>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default_tags is your safety net; explicit resource tags are your documentation. Use both.</a:t>
            </a:r>
            <a:endParaRPr lang="en-US" sz="1300" dirty="0"/>
          </a:p>
        </p:txBody>
      </p:sp>
      <p:sp>
        <p:nvSpPr>
          <p:cNvPr id="7" name="Shape 5"/>
          <p:cNvSpPr/>
          <p:nvPr/>
        </p:nvSpPr>
        <p:spPr>
          <a:xfrm>
            <a:off x="548640" y="2295144"/>
            <a:ext cx="320040" cy="320040"/>
          </a:xfrm>
          <a:prstGeom prst="ellipse">
            <a:avLst/>
          </a:prstGeom>
          <a:solidFill>
            <a:srgbClr val="0D9488"/>
          </a:solidFill>
          <a:ln w="12700">
            <a:solidFill>
              <a:srgbClr val="0D9488"/>
            </a:solidFill>
            <a:prstDash val="solid"/>
          </a:ln>
        </p:spPr>
      </p:sp>
      <p:sp>
        <p:nvSpPr>
          <p:cNvPr id="8" name="Text 6"/>
          <p:cNvSpPr/>
          <p:nvPr/>
        </p:nvSpPr>
        <p:spPr>
          <a:xfrm>
            <a:off x="548640" y="2295144"/>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005840" y="2267712"/>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Cost allocation tags must be activated in the Billing console. Activation is not retroactive.</a:t>
            </a:r>
            <a:endParaRPr lang="en-US" sz="1300" dirty="0"/>
          </a:p>
        </p:txBody>
      </p:sp>
      <p:sp>
        <p:nvSpPr>
          <p:cNvPr id="10" name="Shape 8"/>
          <p:cNvSpPr/>
          <p:nvPr/>
        </p:nvSpPr>
        <p:spPr>
          <a:xfrm>
            <a:off x="548640" y="2688336"/>
            <a:ext cx="320040" cy="320040"/>
          </a:xfrm>
          <a:prstGeom prst="ellipse">
            <a:avLst/>
          </a:prstGeom>
          <a:solidFill>
            <a:srgbClr val="0D9488"/>
          </a:solidFill>
          <a:ln w="12700">
            <a:solidFill>
              <a:srgbClr val="0D9488"/>
            </a:solidFill>
            <a:prstDash val="solid"/>
          </a:ln>
        </p:spPr>
      </p:sp>
      <p:sp>
        <p:nvSpPr>
          <p:cNvPr id="11" name="Text 9"/>
          <p:cNvSpPr/>
          <p:nvPr/>
        </p:nvSpPr>
        <p:spPr>
          <a:xfrm>
            <a:off x="548640" y="2688336"/>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005840" y="2660904"/>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Progressive alerting: 50% info, 80% warn, 100% critical. Alerting only at 100% is too late.</a:t>
            </a:r>
            <a:endParaRPr lang="en-US" sz="1300" dirty="0"/>
          </a:p>
        </p:txBody>
      </p:sp>
      <p:sp>
        <p:nvSpPr>
          <p:cNvPr id="13" name="Shape 11"/>
          <p:cNvSpPr/>
          <p:nvPr/>
        </p:nvSpPr>
        <p:spPr>
          <a:xfrm>
            <a:off x="548640" y="3081528"/>
            <a:ext cx="320040" cy="320040"/>
          </a:xfrm>
          <a:prstGeom prst="ellipse">
            <a:avLst/>
          </a:prstGeom>
          <a:solidFill>
            <a:srgbClr val="0D9488"/>
          </a:solidFill>
          <a:ln w="12700">
            <a:solidFill>
              <a:srgbClr val="0D9488"/>
            </a:solidFill>
            <a:prstDash val="solid"/>
          </a:ln>
        </p:spPr>
      </p:sp>
      <p:sp>
        <p:nvSpPr>
          <p:cNvPr id="14" name="Text 12"/>
          <p:cNvSpPr/>
          <p:nvPr/>
        </p:nvSpPr>
        <p:spPr>
          <a:xfrm>
            <a:off x="548640" y="308152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005840" y="3054096"/>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Anything cost/billing-related in AWS: assume us-east-1 or global until proven otherwise.</a:t>
            </a:r>
            <a:endParaRPr lang="en-US" sz="1300" dirty="0"/>
          </a:p>
        </p:txBody>
      </p:sp>
      <p:sp>
        <p:nvSpPr>
          <p:cNvPr id="16" name="Shape 14"/>
          <p:cNvSpPr/>
          <p:nvPr/>
        </p:nvSpPr>
        <p:spPr>
          <a:xfrm>
            <a:off x="548640" y="3474720"/>
            <a:ext cx="320040" cy="320040"/>
          </a:xfrm>
          <a:prstGeom prst="ellipse">
            <a:avLst/>
          </a:prstGeom>
          <a:solidFill>
            <a:srgbClr val="0D9488"/>
          </a:solidFill>
          <a:ln w="12700">
            <a:solidFill>
              <a:srgbClr val="0D9488"/>
            </a:solidFill>
            <a:prstDash val="solid"/>
          </a:ln>
        </p:spPr>
      </p:sp>
      <p:sp>
        <p:nvSpPr>
          <p:cNvPr id="17" name="Text 15"/>
          <p:cNvSpPr/>
          <p:nvPr/>
        </p:nvSpPr>
        <p:spPr>
          <a:xfrm>
            <a:off x="548640" y="3474720"/>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1005840" y="3447288"/>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Cross-region CloudWatch → SNS is supported. No need to duplicate the SNS topic.</a:t>
            </a:r>
            <a:endParaRPr lang="en-US" sz="1300" dirty="0"/>
          </a:p>
        </p:txBody>
      </p:sp>
      <p:sp>
        <p:nvSpPr>
          <p:cNvPr id="19" name="Shape 17"/>
          <p:cNvSpPr/>
          <p:nvPr/>
        </p:nvSpPr>
        <p:spPr>
          <a:xfrm>
            <a:off x="548640" y="3867912"/>
            <a:ext cx="320040" cy="320040"/>
          </a:xfrm>
          <a:prstGeom prst="ellipse">
            <a:avLst/>
          </a:prstGeom>
          <a:solidFill>
            <a:srgbClr val="0D9488"/>
          </a:solidFill>
          <a:ln w="12700">
            <a:solidFill>
              <a:srgbClr val="0D9488"/>
            </a:solidFill>
            <a:prstDash val="solid"/>
          </a:ln>
        </p:spPr>
      </p:sp>
      <p:sp>
        <p:nvSpPr>
          <p:cNvPr id="20" name="Text 18"/>
          <p:cNvSpPr/>
          <p:nvPr/>
        </p:nvSpPr>
        <p:spPr>
          <a:xfrm>
            <a:off x="548640" y="386791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1005840" y="3840480"/>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AWS provider v6's per-resource region attribute is the reliable way to place single resources across regions.</a:t>
            </a:r>
            <a:endParaRPr lang="en-US" sz="1300" dirty="0"/>
          </a:p>
        </p:txBody>
      </p:sp>
      <p:sp>
        <p:nvSpPr>
          <p:cNvPr id="22" name="Shape 20"/>
          <p:cNvSpPr/>
          <p:nvPr/>
        </p:nvSpPr>
        <p:spPr>
          <a:xfrm>
            <a:off x="548640" y="4261104"/>
            <a:ext cx="320040" cy="320040"/>
          </a:xfrm>
          <a:prstGeom prst="ellipse">
            <a:avLst/>
          </a:prstGeom>
          <a:solidFill>
            <a:srgbClr val="0D9488"/>
          </a:solidFill>
          <a:ln w="12700">
            <a:solidFill>
              <a:srgbClr val="0D9488"/>
            </a:solidFill>
            <a:prstDash val="solid"/>
          </a:ln>
        </p:spPr>
      </p:sp>
      <p:sp>
        <p:nvSpPr>
          <p:cNvPr id="23" name="Text 21"/>
          <p:cNvSpPr/>
          <p:nvPr/>
        </p:nvSpPr>
        <p:spPr>
          <a:xfrm>
            <a:off x="548640" y="4261104"/>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p:nvPr/>
        </p:nvSpPr>
        <p:spPr>
          <a:xfrm>
            <a:off x="1005840" y="4233672"/>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Aliased providers are the textbook answer — but have known bugs for some resource types. Know the workarounds.</a:t>
            </a:r>
            <a:endParaRPr lang="en-US" sz="1300" dirty="0"/>
          </a:p>
        </p:txBody>
      </p:sp>
      <p:sp>
        <p:nvSpPr>
          <p:cNvPr id="25" name="Shape 23"/>
          <p:cNvSpPr/>
          <p:nvPr/>
        </p:nvSpPr>
        <p:spPr>
          <a:xfrm>
            <a:off x="548640" y="4654296"/>
            <a:ext cx="320040" cy="320040"/>
          </a:xfrm>
          <a:prstGeom prst="ellipse">
            <a:avLst/>
          </a:prstGeom>
          <a:solidFill>
            <a:srgbClr val="0D9488"/>
          </a:solidFill>
          <a:ln w="12700">
            <a:solidFill>
              <a:srgbClr val="0D9488"/>
            </a:solidFill>
            <a:prstDash val="solid"/>
          </a:ln>
        </p:spPr>
      </p:sp>
      <p:sp>
        <p:nvSpPr>
          <p:cNvPr id="26" name="Text 24"/>
          <p:cNvSpPr/>
          <p:nvPr/>
        </p:nvSpPr>
        <p:spPr>
          <a:xfrm>
            <a:off x="548640" y="4654296"/>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7" name="Text 25"/>
          <p:cNvSpPr/>
          <p:nvPr/>
        </p:nvSpPr>
        <p:spPr>
          <a:xfrm>
            <a:off x="1005840" y="4626864"/>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Alert fatigue is a real failure mode. A $0 threshold alarm is worse than no alarm at all.</a:t>
            </a:r>
            <a:endParaRPr lang="en-US" sz="1300" dirty="0"/>
          </a:p>
        </p:txBody>
      </p:sp>
      <p:sp>
        <p:nvSpPr>
          <p:cNvPr id="28" name="Shape 26"/>
          <p:cNvSpPr/>
          <p:nvPr/>
        </p:nvSpPr>
        <p:spPr>
          <a:xfrm>
            <a:off x="548640" y="5047488"/>
            <a:ext cx="320040" cy="320040"/>
          </a:xfrm>
          <a:prstGeom prst="ellipse">
            <a:avLst/>
          </a:prstGeom>
          <a:solidFill>
            <a:srgbClr val="0D9488"/>
          </a:solidFill>
          <a:ln w="12700">
            <a:solidFill>
              <a:srgbClr val="0D9488"/>
            </a:solidFill>
            <a:prstDash val="solid"/>
          </a:ln>
        </p:spPr>
      </p:sp>
      <p:sp>
        <p:nvSpPr>
          <p:cNvPr id="29" name="Text 27"/>
          <p:cNvSpPr/>
          <p:nvPr/>
        </p:nvSpPr>
        <p:spPr>
          <a:xfrm>
            <a:off x="548640" y="504748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0" name="Text 28"/>
          <p:cNvSpPr/>
          <p:nvPr/>
        </p:nvSpPr>
        <p:spPr>
          <a:xfrm>
            <a:off x="1005840" y="5020056"/>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Tag everything, including meta-infra: SNS, CloudWatch, KMS, IAM. If it costs anything, attribute it.</a:t>
            </a:r>
            <a:endParaRPr lang="en-US" sz="1300" dirty="0"/>
          </a:p>
        </p:txBody>
      </p:sp>
      <p:sp>
        <p:nvSpPr>
          <p:cNvPr id="31" name="Shape 29"/>
          <p:cNvSpPr/>
          <p:nvPr/>
        </p:nvSpPr>
        <p:spPr>
          <a:xfrm>
            <a:off x="548640" y="5440680"/>
            <a:ext cx="320040" cy="320040"/>
          </a:xfrm>
          <a:prstGeom prst="ellipse">
            <a:avLst/>
          </a:prstGeom>
          <a:solidFill>
            <a:srgbClr val="0D9488"/>
          </a:solidFill>
          <a:ln w="12700">
            <a:solidFill>
              <a:srgbClr val="0D9488"/>
            </a:solidFill>
            <a:prstDash val="solid"/>
          </a:ln>
        </p:spPr>
      </p:sp>
      <p:sp>
        <p:nvSpPr>
          <p:cNvPr id="32" name="Text 30"/>
          <p:cNvSpPr/>
          <p:nvPr/>
        </p:nvSpPr>
        <p:spPr>
          <a:xfrm>
            <a:off x="548640" y="5440680"/>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3" name="Text 31"/>
          <p:cNvSpPr/>
          <p:nvPr/>
        </p:nvSpPr>
        <p:spPr>
          <a:xfrm>
            <a:off x="1005840" y="5413248"/>
            <a:ext cx="10607040" cy="3931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Tickets are hypotheses. Always verify live AWS state before acting on what a ticket claims.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548640" y="548640"/>
            <a:ext cx="11064240" cy="1097280"/>
          </a:xfrm>
          <a:prstGeom prst="roundRect">
            <a:avLst>
              <a:gd name="adj" fmla="val 8333"/>
            </a:avLst>
          </a:prstGeom>
          <a:solidFill>
            <a:srgbClr val="DC2626"/>
          </a:solidFill>
          <a:ln w="12700">
            <a:solidFill>
              <a:srgbClr val="DC2626"/>
            </a:solidFill>
            <a:prstDash val="solid"/>
          </a:ln>
        </p:spPr>
      </p:sp>
      <p:pic>
        <p:nvPicPr>
          <p:cNvPr id="3" name="Image 0" descr="preencoded.png">    </p:cNvPr>
          <p:cNvPicPr>
            <a:picLocks noChangeAspect="1"/>
          </p:cNvPicPr>
          <p:nvPr/>
        </p:nvPicPr>
        <p:blipFill>
          <a:blip r:embed="rId1"/>
          <a:stretch>
            <a:fillRect/>
          </a:stretch>
        </p:blipFill>
        <p:spPr>
          <a:xfrm>
            <a:off x="822960" y="777240"/>
            <a:ext cx="640080" cy="640080"/>
          </a:xfrm>
          <a:prstGeom prst="rect">
            <a:avLst/>
          </a:prstGeom>
        </p:spPr>
      </p:pic>
      <p:sp>
        <p:nvSpPr>
          <p:cNvPr id="4" name="Text 1"/>
          <p:cNvSpPr/>
          <p:nvPr/>
        </p:nvSpPr>
        <p:spPr>
          <a:xfrm>
            <a:off x="1600200" y="548640"/>
            <a:ext cx="9966960" cy="10972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Cleanup — destroy everything</a:t>
            </a:r>
            <a:endParaRPr lang="en-US" sz="3000" dirty="0"/>
          </a:p>
        </p:txBody>
      </p:sp>
      <p:sp>
        <p:nvSpPr>
          <p:cNvPr id="5" name="Text 2"/>
          <p:cNvSpPr/>
          <p:nvPr/>
        </p:nvSpPr>
        <p:spPr>
          <a:xfrm>
            <a:off x="548640" y="1783080"/>
            <a:ext cx="11064240" cy="365760"/>
          </a:xfrm>
          <a:prstGeom prst="rect">
            <a:avLst/>
          </a:prstGeom>
          <a:noFill/>
          <a:ln/>
        </p:spPr>
        <p:txBody>
          <a:bodyPr wrap="square" rtlCol="0" anchor="ctr"/>
          <a:lstStyle/>
          <a:p>
            <a:pPr indent="0" marL="0">
              <a:buNone/>
            </a:pPr>
            <a:r>
              <a:rPr lang="en-US" sz="1400" i="1" dirty="0">
                <a:solidFill>
                  <a:srgbClr val="14B8A6"/>
                </a:solidFill>
                <a:latin typeface="Calibri" pitchFamily="34" charset="0"/>
                <a:ea typeface="Calibri" pitchFamily="34" charset="-122"/>
                <a:cs typeface="Calibri" pitchFamily="34" charset="-120"/>
              </a:rPr>
              <a:t>Leaving resources running costs money. The whole point of this lab is cost awareness.</a:t>
            </a:r>
            <a:endParaRPr lang="en-US" sz="1400" dirty="0"/>
          </a:p>
        </p:txBody>
      </p:sp>
      <p:sp>
        <p:nvSpPr>
          <p:cNvPr id="6" name="Shape 3"/>
          <p:cNvSpPr/>
          <p:nvPr/>
        </p:nvSpPr>
        <p:spPr>
          <a:xfrm>
            <a:off x="548640" y="2286000"/>
            <a:ext cx="11064240" cy="2926080"/>
          </a:xfrm>
          <a:prstGeom prst="roundRect">
            <a:avLst>
              <a:gd name="adj" fmla="val 3125"/>
            </a:avLst>
          </a:prstGeom>
          <a:solidFill>
            <a:srgbClr val="0B1220"/>
          </a:solidFill>
          <a:ln w="12700">
            <a:solidFill>
              <a:srgbClr val="0D9488"/>
            </a:solidFill>
            <a:prstDash val="solid"/>
          </a:ln>
        </p:spPr>
      </p:sp>
      <p:sp>
        <p:nvSpPr>
          <p:cNvPr id="7" name="Text 4"/>
          <p:cNvSpPr/>
          <p:nvPr/>
        </p:nvSpPr>
        <p:spPr>
          <a:xfrm>
            <a:off x="777240" y="2468880"/>
            <a:ext cx="10607040" cy="2560320"/>
          </a:xfrm>
          <a:prstGeom prst="rect">
            <a:avLst/>
          </a:prstGeom>
          <a:noFill/>
          <a:ln/>
        </p:spPr>
        <p:txBody>
          <a:bodyPr wrap="square" rtlCol="0" anchor="t"/>
          <a:lstStyle/>
          <a:p>
            <a:pPr indent="0" marL="0">
              <a:buNone/>
            </a:pPr>
            <a:r>
              <a:rPr lang="en-US" sz="1200" dirty="0">
                <a:solidFill>
                  <a:srgbClr val="FFFFFF"/>
                </a:solidFill>
                <a:latin typeface="Consolas" pitchFamily="34" charset="0"/>
                <a:ea typeface="Consolas" pitchFamily="34" charset="-122"/>
                <a:cs typeface="Consolas" pitchFamily="34" charset="-120"/>
              </a:rPr>
              <a:t># 1. Empty the S3 bucket (Terraform can't destroy a non-empty bucket)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aws s3 rm s3://$(aws s3 ls | grep app-assets | awk '{print $3}') --recursive</a:t>
            </a:r>
            <a:endParaRPr lang="en-US" sz="1200" dirty="0"/>
          </a:p>
          <a:p>
            <a:pPr indent="0" marL="0">
              <a:buNone/>
            </a:pP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2. Destroy everything — handles both regions in one operation</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terraform destroy</a:t>
            </a:r>
            <a:endParaRPr lang="en-US" sz="1200" dirty="0"/>
          </a:p>
          <a:p>
            <a:pPr indent="0" marL="0">
              <a:buNone/>
            </a:pP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3. Reset main.tf to broken state for future runs</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git checkout -- main.tf</a:t>
            </a:r>
            <a:endParaRPr lang="en-US" sz="1200" dirty="0"/>
          </a:p>
          <a:p>
            <a:pPr indent="0" marL="0">
              <a:buNone/>
            </a:pP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 4. Confirm nothing left</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aws cloudwatch describe-alarms --alarm-names monthly-billing-alarm --region us-east-1</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aws cloudwatch describe-alarms --alarm-names monthly-billing-alarm --region eu-west-2</a:t>
            </a:r>
            <a:endParaRPr lang="en-US" sz="1200" dirty="0"/>
          </a:p>
          <a:p>
            <a:pPr indent="0" marL="0">
              <a:buNone/>
            </a:pPr>
            <a:r>
              <a:rPr lang="en-US" sz="1200" dirty="0">
                <a:solidFill>
                  <a:srgbClr val="FFFFFF"/>
                </a:solidFill>
                <a:latin typeface="Consolas" pitchFamily="34" charset="0"/>
                <a:ea typeface="Consolas" pitchFamily="34" charset="-122"/>
                <a:cs typeface="Consolas" pitchFamily="34" charset="-120"/>
              </a:rPr>
              <a:t>aws ec2 describe-vpcs --region eu-west-2 --filters "Name=tag:Project,Values=web-platform"</a:t>
            </a:r>
            <a:endParaRPr lang="en-US" sz="1200" dirty="0"/>
          </a:p>
        </p:txBody>
      </p:sp>
      <p:sp>
        <p:nvSpPr>
          <p:cNvPr id="8" name="Shape 5"/>
          <p:cNvSpPr/>
          <p:nvPr/>
        </p:nvSpPr>
        <p:spPr>
          <a:xfrm>
            <a:off x="548640" y="5486400"/>
            <a:ext cx="11064240" cy="914400"/>
          </a:xfrm>
          <a:prstGeom prst="roundRect">
            <a:avLst>
              <a:gd name="adj" fmla="val 8000"/>
            </a:avLst>
          </a:prstGeom>
          <a:solidFill>
            <a:srgbClr val="1A2744"/>
          </a:solidFill>
          <a:ln w="12700">
            <a:solidFill>
              <a:srgbClr val="0D9488"/>
            </a:solidFill>
            <a:prstDash val="solid"/>
          </a:ln>
        </p:spPr>
      </p:sp>
      <p:pic>
        <p:nvPicPr>
          <p:cNvPr id="9" name="Image 1" descr="preencoded.png">    </p:cNvPr>
          <p:cNvPicPr>
            <a:picLocks noChangeAspect="1"/>
          </p:cNvPicPr>
          <p:nvPr/>
        </p:nvPicPr>
        <p:blipFill>
          <a:blip r:embed="rId2"/>
          <a:stretch>
            <a:fillRect/>
          </a:stretch>
        </p:blipFill>
        <p:spPr>
          <a:xfrm>
            <a:off x="777240" y="5577840"/>
            <a:ext cx="731520" cy="731520"/>
          </a:xfrm>
          <a:prstGeom prst="rect">
            <a:avLst/>
          </a:prstGeom>
        </p:spPr>
      </p:pic>
      <p:sp>
        <p:nvSpPr>
          <p:cNvPr id="10" name="Text 6"/>
          <p:cNvSpPr/>
          <p:nvPr/>
        </p:nvSpPr>
        <p:spPr>
          <a:xfrm>
            <a:off x="1691640" y="5532120"/>
            <a:ext cx="9784080" cy="8229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Cleanup discipline is an interview signal. 'I always have a working destroy path' means you've been on-call, you've been burned by orphaned resources, and you take cost seriously.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2026-04-24T07:09:05Z</dcterms:created>
  <dcterms:modified xsi:type="dcterms:W3CDTF">2026-04-24T07:09:05Z</dcterms:modified>
</cp:coreProperties>
</file>
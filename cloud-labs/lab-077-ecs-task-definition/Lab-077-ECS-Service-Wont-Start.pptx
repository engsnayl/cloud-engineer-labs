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4B8A6"/>
          </a:solidFill>
          <a:ln/>
        </p:spPr>
      </p:sp>
      <p:sp>
        <p:nvSpPr>
          <p:cNvPr id="3" name="Text 1"/>
          <p:cNvSpPr/>
          <p:nvPr/>
        </p:nvSpPr>
        <p:spPr>
          <a:xfrm>
            <a:off x="731520" y="1097280"/>
            <a:ext cx="10972800" cy="365760"/>
          </a:xfrm>
          <a:prstGeom prst="rect">
            <a:avLst/>
          </a:prstGeom>
          <a:noFill/>
          <a:ln/>
        </p:spPr>
        <p:txBody>
          <a:bodyPr wrap="square" lIns="0" tIns="0" rIns="0" bIns="0" rtlCol="0" anchor="ctr"/>
          <a:lstStyle/>
          <a:p>
            <a:pPr indent="0" marL="0">
              <a:buNone/>
            </a:pPr>
            <a:r>
              <a:rPr lang="en-US" sz="1400" b="1" spc="600" kern="0" dirty="0">
                <a:solidFill>
                  <a:srgbClr val="2DD4BF"/>
                </a:solidFill>
                <a:latin typeface="Calibri" pitchFamily="34" charset="0"/>
                <a:ea typeface="Calibri" pitchFamily="34" charset="-122"/>
                <a:cs typeface="Calibri" pitchFamily="34" charset="-120"/>
              </a:rPr>
              <a:t>LAB 077</a:t>
            </a:r>
            <a:endParaRPr lang="en-US" sz="1400" dirty="0"/>
          </a:p>
        </p:txBody>
      </p:sp>
      <p:sp>
        <p:nvSpPr>
          <p:cNvPr id="4" name="Text 2"/>
          <p:cNvSpPr/>
          <p:nvPr/>
        </p:nvSpPr>
        <p:spPr>
          <a:xfrm>
            <a:off x="731520" y="1508760"/>
            <a:ext cx="10972800" cy="109728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ECS Service Won't Start</a:t>
            </a:r>
            <a:endParaRPr lang="en-US" sz="5400" dirty="0"/>
          </a:p>
        </p:txBody>
      </p:sp>
      <p:sp>
        <p:nvSpPr>
          <p:cNvPr id="5" name="Text 3"/>
          <p:cNvSpPr/>
          <p:nvPr/>
        </p:nvSpPr>
        <p:spPr>
          <a:xfrm>
            <a:off x="731520" y="2606040"/>
            <a:ext cx="10972800" cy="457200"/>
          </a:xfrm>
          <a:prstGeom prst="rect">
            <a:avLst/>
          </a:prstGeom>
          <a:noFill/>
          <a:ln/>
        </p:spPr>
        <p:txBody>
          <a:bodyPr wrap="square" lIns="0" tIns="0" rIns="0" bIns="0" rtlCol="0" anchor="ctr"/>
          <a:lstStyle/>
          <a:p>
            <a:pPr indent="0" marL="0">
              <a:buNone/>
            </a:pPr>
            <a:r>
              <a:rPr lang="en-US" sz="2200" i="1" dirty="0">
                <a:solidFill>
                  <a:srgbClr val="E2E8F0"/>
                </a:solidFill>
                <a:latin typeface="Calibri" pitchFamily="34" charset="0"/>
                <a:ea typeface="Calibri" pitchFamily="34" charset="-122"/>
                <a:cs typeface="Calibri" pitchFamily="34" charset="-120"/>
              </a:rPr>
              <a:t>A three-phase incident response walkthrough</a:t>
            </a:r>
            <a:endParaRPr lang="en-US" sz="2200" dirty="0"/>
          </a:p>
        </p:txBody>
      </p:sp>
      <p:sp>
        <p:nvSpPr>
          <p:cNvPr id="6" name="Shape 4"/>
          <p:cNvSpPr/>
          <p:nvPr/>
        </p:nvSpPr>
        <p:spPr>
          <a:xfrm>
            <a:off x="731520" y="4114800"/>
            <a:ext cx="3291840" cy="914400"/>
          </a:xfrm>
          <a:prstGeom prst="rect">
            <a:avLst/>
          </a:prstGeom>
          <a:solidFill>
            <a:srgbClr val="1F3760"/>
          </a:solidFill>
          <a:ln w="12700">
            <a:solidFill>
              <a:srgbClr val="14B8A6"/>
            </a:solidFill>
            <a:prstDash val="solid"/>
          </a:ln>
        </p:spPr>
      </p:sp>
      <p:sp>
        <p:nvSpPr>
          <p:cNvPr id="7" name="Text 5"/>
          <p:cNvSpPr/>
          <p:nvPr/>
        </p:nvSpPr>
        <p:spPr>
          <a:xfrm>
            <a:off x="914400" y="4206240"/>
            <a:ext cx="2926080" cy="274320"/>
          </a:xfrm>
          <a:prstGeom prst="rect">
            <a:avLst/>
          </a:prstGeom>
          <a:noFill/>
          <a:ln/>
        </p:spPr>
        <p:txBody>
          <a:bodyPr wrap="square" lIns="0" tIns="0" rIns="0" bIns="0" rtlCol="0" anchor="ctr"/>
          <a:lstStyle/>
          <a:p>
            <a:pPr indent="0" marL="0">
              <a:buNone/>
            </a:pPr>
            <a:r>
              <a:rPr lang="en-US" sz="1000" b="1" spc="200" kern="0" dirty="0">
                <a:solidFill>
                  <a:srgbClr val="2DD4BF"/>
                </a:solidFill>
                <a:latin typeface="Calibri" pitchFamily="34" charset="0"/>
                <a:ea typeface="Calibri" pitchFamily="34" charset="-122"/>
                <a:cs typeface="Calibri" pitchFamily="34" charset="-120"/>
              </a:rPr>
              <a:t>PHASE 1</a:t>
            </a:r>
            <a:endParaRPr lang="en-US" sz="1000" dirty="0"/>
          </a:p>
        </p:txBody>
      </p:sp>
      <p:sp>
        <p:nvSpPr>
          <p:cNvPr id="8" name="Text 6"/>
          <p:cNvSpPr/>
          <p:nvPr/>
        </p:nvSpPr>
        <p:spPr>
          <a:xfrm>
            <a:off x="914400" y="4480560"/>
            <a:ext cx="292608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Task Definition</a:t>
            </a:r>
            <a:endParaRPr lang="en-US" sz="1800" dirty="0"/>
          </a:p>
        </p:txBody>
      </p:sp>
      <p:sp>
        <p:nvSpPr>
          <p:cNvPr id="9" name="Shape 7"/>
          <p:cNvSpPr/>
          <p:nvPr/>
        </p:nvSpPr>
        <p:spPr>
          <a:xfrm>
            <a:off x="4572000" y="4114800"/>
            <a:ext cx="3291840" cy="914400"/>
          </a:xfrm>
          <a:prstGeom prst="rect">
            <a:avLst/>
          </a:prstGeom>
          <a:solidFill>
            <a:srgbClr val="1F3760"/>
          </a:solidFill>
          <a:ln w="12700">
            <a:solidFill>
              <a:srgbClr val="14B8A6"/>
            </a:solidFill>
            <a:prstDash val="solid"/>
          </a:ln>
        </p:spPr>
      </p:sp>
      <p:sp>
        <p:nvSpPr>
          <p:cNvPr id="10" name="Text 8"/>
          <p:cNvSpPr/>
          <p:nvPr/>
        </p:nvSpPr>
        <p:spPr>
          <a:xfrm>
            <a:off x="4754880" y="4206240"/>
            <a:ext cx="2926080" cy="274320"/>
          </a:xfrm>
          <a:prstGeom prst="rect">
            <a:avLst/>
          </a:prstGeom>
          <a:noFill/>
          <a:ln/>
        </p:spPr>
        <p:txBody>
          <a:bodyPr wrap="square" lIns="0" tIns="0" rIns="0" bIns="0" rtlCol="0" anchor="ctr"/>
          <a:lstStyle/>
          <a:p>
            <a:pPr indent="0" marL="0">
              <a:buNone/>
            </a:pPr>
            <a:r>
              <a:rPr lang="en-US" sz="1000" b="1" spc="200" kern="0" dirty="0">
                <a:solidFill>
                  <a:srgbClr val="2DD4BF"/>
                </a:solidFill>
                <a:latin typeface="Calibri" pitchFamily="34" charset="0"/>
                <a:ea typeface="Calibri" pitchFamily="34" charset="-122"/>
                <a:cs typeface="Calibri" pitchFamily="34" charset="-120"/>
              </a:rPr>
              <a:t>PHASE 2</a:t>
            </a:r>
            <a:endParaRPr lang="en-US" sz="1000" dirty="0"/>
          </a:p>
        </p:txBody>
      </p:sp>
      <p:sp>
        <p:nvSpPr>
          <p:cNvPr id="11" name="Text 9"/>
          <p:cNvSpPr/>
          <p:nvPr/>
        </p:nvSpPr>
        <p:spPr>
          <a:xfrm>
            <a:off x="4754880" y="4480560"/>
            <a:ext cx="292608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Image &amp; Network</a:t>
            </a:r>
            <a:endParaRPr lang="en-US" sz="1800" dirty="0"/>
          </a:p>
        </p:txBody>
      </p:sp>
      <p:sp>
        <p:nvSpPr>
          <p:cNvPr id="12" name="Shape 10"/>
          <p:cNvSpPr/>
          <p:nvPr/>
        </p:nvSpPr>
        <p:spPr>
          <a:xfrm>
            <a:off x="8412480" y="4114800"/>
            <a:ext cx="3291840" cy="914400"/>
          </a:xfrm>
          <a:prstGeom prst="rect">
            <a:avLst/>
          </a:prstGeom>
          <a:solidFill>
            <a:srgbClr val="1F3760"/>
          </a:solidFill>
          <a:ln w="12700">
            <a:solidFill>
              <a:srgbClr val="14B8A6"/>
            </a:solidFill>
            <a:prstDash val="solid"/>
          </a:ln>
        </p:spPr>
      </p:sp>
      <p:sp>
        <p:nvSpPr>
          <p:cNvPr id="13" name="Text 11"/>
          <p:cNvSpPr/>
          <p:nvPr/>
        </p:nvSpPr>
        <p:spPr>
          <a:xfrm>
            <a:off x="8595360" y="4206240"/>
            <a:ext cx="2926080" cy="274320"/>
          </a:xfrm>
          <a:prstGeom prst="rect">
            <a:avLst/>
          </a:prstGeom>
          <a:noFill/>
          <a:ln/>
        </p:spPr>
        <p:txBody>
          <a:bodyPr wrap="square" lIns="0" tIns="0" rIns="0" bIns="0" rtlCol="0" anchor="ctr"/>
          <a:lstStyle/>
          <a:p>
            <a:pPr indent="0" marL="0">
              <a:buNone/>
            </a:pPr>
            <a:r>
              <a:rPr lang="en-US" sz="1000" b="1" spc="200" kern="0" dirty="0">
                <a:solidFill>
                  <a:srgbClr val="2DD4BF"/>
                </a:solidFill>
                <a:latin typeface="Calibri" pitchFamily="34" charset="0"/>
                <a:ea typeface="Calibri" pitchFamily="34" charset="-122"/>
                <a:cs typeface="Calibri" pitchFamily="34" charset="-120"/>
              </a:rPr>
              <a:t>PHASE 3</a:t>
            </a:r>
            <a:endParaRPr lang="en-US" sz="1000" dirty="0"/>
          </a:p>
        </p:txBody>
      </p:sp>
      <p:sp>
        <p:nvSpPr>
          <p:cNvPr id="14" name="Text 12"/>
          <p:cNvSpPr/>
          <p:nvPr/>
        </p:nvSpPr>
        <p:spPr>
          <a:xfrm>
            <a:off x="8595360" y="4480560"/>
            <a:ext cx="292608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Production Ready</a:t>
            </a:r>
            <a:endParaRPr lang="en-US" sz="1800" dirty="0"/>
          </a:p>
        </p:txBody>
      </p:sp>
      <p:sp>
        <p:nvSpPr>
          <p:cNvPr id="15" name="Text 13"/>
          <p:cNvSpPr/>
          <p:nvPr/>
        </p:nvSpPr>
        <p:spPr>
          <a:xfrm>
            <a:off x="731520" y="6035040"/>
            <a:ext cx="10972800" cy="365760"/>
          </a:xfrm>
          <a:prstGeom prst="rect">
            <a:avLst/>
          </a:prstGeom>
          <a:noFill/>
          <a:ln/>
        </p:spPr>
        <p:txBody>
          <a:bodyPr wrap="square" lIns="0" tIns="0" rIns="0" bIns="0" rtlCol="0" anchor="ctr"/>
          <a:lstStyle/>
          <a:p>
            <a:pPr indent="0" marL="0">
              <a:buNone/>
            </a:pPr>
            <a:r>
              <a:rPr lang="en-US" sz="1200" dirty="0">
                <a:solidFill>
                  <a:srgbClr val="94A3B8"/>
                </a:solidFill>
                <a:latin typeface="Consolas" pitchFamily="34" charset="0"/>
                <a:ea typeface="Consolas" pitchFamily="34" charset="-122"/>
                <a:cs typeface="Consolas" pitchFamily="34" charset="-120"/>
              </a:rPr>
              <a:t>INCIDENT-AWS-009  |  cluster: production  |  service: payment-api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THE INCIDENT</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You've been paged</a:t>
            </a:r>
            <a:endParaRPr lang="en-US" sz="2800" dirty="0"/>
          </a:p>
        </p:txBody>
      </p:sp>
      <p:sp>
        <p:nvSpPr>
          <p:cNvPr id="4" name="Shape 2"/>
          <p:cNvSpPr/>
          <p:nvPr/>
        </p:nvSpPr>
        <p:spPr>
          <a:xfrm>
            <a:off x="731520" y="1554480"/>
            <a:ext cx="548640" cy="548640"/>
          </a:xfrm>
          <a:prstGeom prst="ellipse">
            <a:avLst/>
          </a:prstGeom>
          <a:solidFill>
            <a:srgbClr val="EF4444"/>
          </a:solidFill>
          <a:ln w="12700">
            <a:solidFill>
              <a:srgbClr val="EF4444"/>
            </a:solidFill>
            <a:prstDash val="solid"/>
          </a:ln>
        </p:spPr>
      </p:sp>
      <p:pic>
        <p:nvPicPr>
          <p:cNvPr id="5" name="Image 0" descr="preencoded.png">    </p:cNvPr>
          <p:cNvPicPr>
            <a:picLocks noChangeAspect="1"/>
          </p:cNvPicPr>
          <p:nvPr/>
        </p:nvPicPr>
        <p:blipFill>
          <a:blip r:embed="rId1"/>
          <a:stretch>
            <a:fillRect/>
          </a:stretch>
        </p:blipFill>
        <p:spPr>
          <a:xfrm>
            <a:off x="854964" y="1677924"/>
            <a:ext cx="301752" cy="301752"/>
          </a:xfrm>
          <a:prstGeom prst="rect">
            <a:avLst/>
          </a:prstGeom>
        </p:spPr>
      </p:pic>
      <p:sp>
        <p:nvSpPr>
          <p:cNvPr id="6" name="Shape 3"/>
          <p:cNvSpPr/>
          <p:nvPr/>
        </p:nvSpPr>
        <p:spPr>
          <a:xfrm>
            <a:off x="1554480" y="1463040"/>
            <a:ext cx="10058400" cy="1463040"/>
          </a:xfrm>
          <a:prstGeom prst="rect">
            <a:avLst/>
          </a:prstGeom>
          <a:solidFill>
            <a:srgbClr val="152846"/>
          </a:solidFill>
          <a:ln w="12700">
            <a:solidFill>
              <a:srgbClr val="EF4444"/>
            </a:solidFill>
            <a:prstDash val="solid"/>
          </a:ln>
        </p:spPr>
      </p:sp>
      <p:sp>
        <p:nvSpPr>
          <p:cNvPr id="7" name="Text 4"/>
          <p:cNvSpPr/>
          <p:nvPr/>
        </p:nvSpPr>
        <p:spPr>
          <a:xfrm>
            <a:off x="1737360" y="1600200"/>
            <a:ext cx="9692640" cy="320040"/>
          </a:xfrm>
          <a:prstGeom prst="rect">
            <a:avLst/>
          </a:prstGeom>
          <a:noFill/>
          <a:ln/>
        </p:spPr>
        <p:txBody>
          <a:bodyPr wrap="square" lIns="0" tIns="0" rIns="0" bIns="0" rtlCol="0" anchor="ctr"/>
          <a:lstStyle/>
          <a:p>
            <a:pPr indent="0" marL="0">
              <a:buNone/>
            </a:pPr>
            <a:r>
              <a:rPr lang="en-US" sz="1100" b="1" spc="200" kern="0" dirty="0">
                <a:solidFill>
                  <a:srgbClr val="EF4444"/>
                </a:solidFill>
                <a:latin typeface="Consolas" pitchFamily="34" charset="0"/>
                <a:ea typeface="Consolas" pitchFamily="34" charset="-122"/>
                <a:cs typeface="Consolas" pitchFamily="34" charset="-120"/>
              </a:rPr>
              <a:t>INCIDENT-AWS-009</a:t>
            </a:r>
            <a:endParaRPr lang="en-US" sz="1100" dirty="0"/>
          </a:p>
        </p:txBody>
      </p:sp>
      <p:sp>
        <p:nvSpPr>
          <p:cNvPr id="8" name="Text 5"/>
          <p:cNvSpPr/>
          <p:nvPr/>
        </p:nvSpPr>
        <p:spPr>
          <a:xfrm>
            <a:off x="1737360" y="1920240"/>
            <a:ext cx="9692640" cy="914400"/>
          </a:xfrm>
          <a:prstGeom prst="rect">
            <a:avLst/>
          </a:prstGeom>
          <a:noFill/>
          <a:ln/>
        </p:spPr>
        <p:txBody>
          <a:bodyPr wrap="square" lIns="0" tIns="0" rIns="0" bIns="0" rtlCol="0" anchor="ctr"/>
          <a:lstStyle/>
          <a:p>
            <a:pPr indent="0" marL="0">
              <a:buNone/>
            </a:pPr>
            <a:r>
              <a:rPr lang="en-US" sz="1600" i="1" dirty="0">
                <a:solidFill>
                  <a:srgbClr val="E2E8F0"/>
                </a:solidFill>
                <a:latin typeface="Calibri" pitchFamily="34" charset="0"/>
                <a:ea typeface="Calibri" pitchFamily="34" charset="-122"/>
                <a:cs typeface="Calibri" pitchFamily="34" charset="-120"/>
              </a:rPr>
              <a:t>ECS service "payment-api" in cluster "production" stuck at 0 running tasks. Task definition was recently updated. Page the on-call engineer.</a:t>
            </a:r>
            <a:endParaRPr lang="en-US" sz="1600" dirty="0"/>
          </a:p>
        </p:txBody>
      </p:sp>
      <p:sp>
        <p:nvSpPr>
          <p:cNvPr id="9" name="Text 6"/>
          <p:cNvSpPr/>
          <p:nvPr/>
        </p:nvSpPr>
        <p:spPr>
          <a:xfrm>
            <a:off x="731520" y="3291840"/>
            <a:ext cx="10972800" cy="365760"/>
          </a:xfrm>
          <a:prstGeom prst="rect">
            <a:avLst/>
          </a:prstGeom>
          <a:noFill/>
          <a:ln/>
        </p:spPr>
        <p:txBody>
          <a:bodyPr wrap="square" lIns="0" tIns="0" rIns="0" bIns="0" rtlCol="0" anchor="ctr"/>
          <a:lstStyle/>
          <a:p>
            <a:pPr indent="0" marL="0">
              <a:buNone/>
            </a:pPr>
            <a:r>
              <a:rPr lang="en-US" sz="1400" b="1" spc="100" kern="0" dirty="0">
                <a:solidFill>
                  <a:srgbClr val="2DD4BF"/>
                </a:solidFill>
                <a:latin typeface="Calibri" pitchFamily="34" charset="0"/>
                <a:ea typeface="Calibri" pitchFamily="34" charset="-122"/>
                <a:cs typeface="Calibri" pitchFamily="34" charset="-120"/>
              </a:rPr>
              <a:t>What you DON'T know</a:t>
            </a:r>
            <a:endParaRPr lang="en-US" sz="1400" dirty="0"/>
          </a:p>
        </p:txBody>
      </p:sp>
      <p:sp>
        <p:nvSpPr>
          <p:cNvPr id="10" name="Shape 7"/>
          <p:cNvSpPr/>
          <p:nvPr/>
        </p:nvSpPr>
        <p:spPr>
          <a:xfrm>
            <a:off x="914400" y="3749040"/>
            <a:ext cx="365760" cy="365760"/>
          </a:xfrm>
          <a:prstGeom prst="ellipse">
            <a:avLst/>
          </a:prstGeom>
          <a:solidFill>
            <a:srgbClr val="1F3760"/>
          </a:solidFill>
          <a:ln w="12700">
            <a:solidFill>
              <a:srgbClr val="1F3760"/>
            </a:solidFill>
            <a:prstDash val="solid"/>
          </a:ln>
        </p:spPr>
      </p:sp>
      <p:pic>
        <p:nvPicPr>
          <p:cNvPr id="11" name="Image 1" descr="preencoded.png">    </p:cNvPr>
          <p:cNvPicPr>
            <a:picLocks noChangeAspect="1"/>
          </p:cNvPicPr>
          <p:nvPr/>
        </p:nvPicPr>
        <p:blipFill>
          <a:blip r:embed="rId2"/>
          <a:stretch>
            <a:fillRect/>
          </a:stretch>
        </p:blipFill>
        <p:spPr>
          <a:xfrm>
            <a:off x="996696" y="3831336"/>
            <a:ext cx="201168" cy="201168"/>
          </a:xfrm>
          <a:prstGeom prst="rect">
            <a:avLst/>
          </a:prstGeom>
        </p:spPr>
      </p:pic>
      <p:sp>
        <p:nvSpPr>
          <p:cNvPr id="12" name="Text 8"/>
          <p:cNvSpPr/>
          <p:nvPr/>
        </p:nvSpPr>
        <p:spPr>
          <a:xfrm>
            <a:off x="1417320" y="3794760"/>
            <a:ext cx="1005840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Who changed the task definition</a:t>
            </a:r>
            <a:endParaRPr lang="en-US" sz="1600" dirty="0"/>
          </a:p>
        </p:txBody>
      </p:sp>
      <p:sp>
        <p:nvSpPr>
          <p:cNvPr id="13" name="Shape 9"/>
          <p:cNvSpPr/>
          <p:nvPr/>
        </p:nvSpPr>
        <p:spPr>
          <a:xfrm>
            <a:off x="914400" y="4297680"/>
            <a:ext cx="365760" cy="365760"/>
          </a:xfrm>
          <a:prstGeom prst="ellipse">
            <a:avLst/>
          </a:prstGeom>
          <a:solidFill>
            <a:srgbClr val="1F3760"/>
          </a:solidFill>
          <a:ln w="12700">
            <a:solidFill>
              <a:srgbClr val="1F3760"/>
            </a:solidFill>
            <a:prstDash val="solid"/>
          </a:ln>
        </p:spPr>
      </p:sp>
      <p:pic>
        <p:nvPicPr>
          <p:cNvPr id="14" name="Image 2" descr="preencoded.png">    </p:cNvPr>
          <p:cNvPicPr>
            <a:picLocks noChangeAspect="1"/>
          </p:cNvPicPr>
          <p:nvPr/>
        </p:nvPicPr>
        <p:blipFill>
          <a:blip r:embed="rId3"/>
          <a:stretch>
            <a:fillRect/>
          </a:stretch>
        </p:blipFill>
        <p:spPr>
          <a:xfrm>
            <a:off x="996696" y="4379976"/>
            <a:ext cx="201168" cy="201168"/>
          </a:xfrm>
          <a:prstGeom prst="rect">
            <a:avLst/>
          </a:prstGeom>
        </p:spPr>
      </p:pic>
      <p:sp>
        <p:nvSpPr>
          <p:cNvPr id="15" name="Text 10"/>
          <p:cNvSpPr/>
          <p:nvPr/>
        </p:nvSpPr>
        <p:spPr>
          <a:xfrm>
            <a:off x="1417320" y="4343400"/>
            <a:ext cx="1005840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What they changed, and why</a:t>
            </a:r>
            <a:endParaRPr lang="en-US" sz="1600" dirty="0"/>
          </a:p>
        </p:txBody>
      </p:sp>
      <p:sp>
        <p:nvSpPr>
          <p:cNvPr id="16" name="Shape 11"/>
          <p:cNvSpPr/>
          <p:nvPr/>
        </p:nvSpPr>
        <p:spPr>
          <a:xfrm>
            <a:off x="914400" y="4846320"/>
            <a:ext cx="365760" cy="365760"/>
          </a:xfrm>
          <a:prstGeom prst="ellipse">
            <a:avLst/>
          </a:prstGeom>
          <a:solidFill>
            <a:srgbClr val="1F3760"/>
          </a:solidFill>
          <a:ln w="12700">
            <a:solidFill>
              <a:srgbClr val="1F3760"/>
            </a:solidFill>
            <a:prstDash val="solid"/>
          </a:ln>
        </p:spPr>
      </p:sp>
      <p:pic>
        <p:nvPicPr>
          <p:cNvPr id="17" name="Image 3" descr="preencoded.png">    </p:cNvPr>
          <p:cNvPicPr>
            <a:picLocks noChangeAspect="1"/>
          </p:cNvPicPr>
          <p:nvPr/>
        </p:nvPicPr>
        <p:blipFill>
          <a:blip r:embed="rId4"/>
          <a:stretch>
            <a:fillRect/>
          </a:stretch>
        </p:blipFill>
        <p:spPr>
          <a:xfrm>
            <a:off x="996696" y="4928616"/>
            <a:ext cx="201168" cy="201168"/>
          </a:xfrm>
          <a:prstGeom prst="rect">
            <a:avLst/>
          </a:prstGeom>
        </p:spPr>
      </p:pic>
      <p:sp>
        <p:nvSpPr>
          <p:cNvPr id="18" name="Text 12"/>
          <p:cNvSpPr/>
          <p:nvPr/>
        </p:nvSpPr>
        <p:spPr>
          <a:xfrm>
            <a:off x="1417320" y="4892040"/>
            <a:ext cx="1005840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Whether the task definition is the only issue</a:t>
            </a:r>
            <a:endParaRPr lang="en-US" sz="1600" dirty="0"/>
          </a:p>
        </p:txBody>
      </p:sp>
      <p:sp>
        <p:nvSpPr>
          <p:cNvPr id="19" name="Shape 13"/>
          <p:cNvSpPr/>
          <p:nvPr/>
        </p:nvSpPr>
        <p:spPr>
          <a:xfrm>
            <a:off x="914400" y="5394960"/>
            <a:ext cx="365760" cy="365760"/>
          </a:xfrm>
          <a:prstGeom prst="ellipse">
            <a:avLst/>
          </a:prstGeom>
          <a:solidFill>
            <a:srgbClr val="1F3760"/>
          </a:solidFill>
          <a:ln w="12700">
            <a:solidFill>
              <a:srgbClr val="1F3760"/>
            </a:solidFill>
            <a:prstDash val="solid"/>
          </a:ln>
        </p:spPr>
      </p:sp>
      <p:pic>
        <p:nvPicPr>
          <p:cNvPr id="20" name="Image 4" descr="preencoded.png">    </p:cNvPr>
          <p:cNvPicPr>
            <a:picLocks noChangeAspect="1"/>
          </p:cNvPicPr>
          <p:nvPr/>
        </p:nvPicPr>
        <p:blipFill>
          <a:blip r:embed="rId5"/>
          <a:stretch>
            <a:fillRect/>
          </a:stretch>
        </p:blipFill>
        <p:spPr>
          <a:xfrm>
            <a:off x="996696" y="5477256"/>
            <a:ext cx="201168" cy="201168"/>
          </a:xfrm>
          <a:prstGeom prst="rect">
            <a:avLst/>
          </a:prstGeom>
        </p:spPr>
      </p:pic>
      <p:sp>
        <p:nvSpPr>
          <p:cNvPr id="21" name="Text 14"/>
          <p:cNvSpPr/>
          <p:nvPr/>
        </p:nvSpPr>
        <p:spPr>
          <a:xfrm>
            <a:off x="1417320" y="5440680"/>
            <a:ext cx="1005840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How many fixes the lab actually contains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BACKGROUND</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ECS in one slide</a:t>
            </a:r>
            <a:endParaRPr lang="en-US" sz="2800" dirty="0"/>
          </a:p>
        </p:txBody>
      </p:sp>
      <p:sp>
        <p:nvSpPr>
          <p:cNvPr id="4" name="Text 2"/>
          <p:cNvSpPr/>
          <p:nvPr/>
        </p:nvSpPr>
        <p:spPr>
          <a:xfrm>
            <a:off x="731520" y="1463040"/>
            <a:ext cx="10972800" cy="365760"/>
          </a:xfrm>
          <a:prstGeom prst="rect">
            <a:avLst/>
          </a:prstGeom>
          <a:noFill/>
          <a:ln/>
        </p:spPr>
        <p:txBody>
          <a:bodyPr wrap="square" lIns="0" tIns="0" rIns="0" bIns="0" rtlCol="0" anchor="ctr"/>
          <a:lstStyle/>
          <a:p>
            <a:pPr indent="0" marL="0">
              <a:buNone/>
            </a:pPr>
            <a:r>
              <a:rPr lang="en-US" sz="1800" b="1" dirty="0">
                <a:solidFill>
                  <a:srgbClr val="2DD4BF"/>
                </a:solidFill>
                <a:latin typeface="Calibri" pitchFamily="34" charset="0"/>
                <a:ea typeface="Calibri" pitchFamily="34" charset="-122"/>
                <a:cs typeface="Calibri" pitchFamily="34" charset="-120"/>
              </a:rPr>
              <a:t>Elastic Container Service</a:t>
            </a:r>
            <a:endParaRPr lang="en-US" sz="1800" dirty="0"/>
          </a:p>
        </p:txBody>
      </p:sp>
      <p:sp>
        <p:nvSpPr>
          <p:cNvPr id="5" name="Text 3"/>
          <p:cNvSpPr/>
          <p:nvPr/>
        </p:nvSpPr>
        <p:spPr>
          <a:xfrm>
            <a:off x="731520" y="1828800"/>
            <a:ext cx="10972800" cy="640080"/>
          </a:xfrm>
          <a:prstGeom prst="rect">
            <a:avLst/>
          </a:prstGeom>
          <a:noFill/>
          <a:ln/>
        </p:spPr>
        <p:txBody>
          <a:bodyPr wrap="square" lIns="0" tIns="0" rIns="0" bIns="0" rtlCol="0" anchor="ctr"/>
          <a:lstStyle/>
          <a:p>
            <a:pPr indent="0" marL="0">
              <a:buNone/>
            </a:pPr>
            <a:r>
              <a:rPr lang="en-US" sz="1400" dirty="0">
                <a:solidFill>
                  <a:srgbClr val="E2E8F0"/>
                </a:solidFill>
                <a:latin typeface="Calibri" pitchFamily="34" charset="0"/>
                <a:ea typeface="Calibri" pitchFamily="34" charset="-122"/>
                <a:cs typeface="Calibri" pitchFamily="34" charset="-120"/>
              </a:rPr>
              <a:t>AWS's container orchestrator. Decides which containers run where, restarts them when they crash, replaces them during deployments, ties them to load balancers and auto-scaling rules.</a:t>
            </a:r>
            <a:endParaRPr lang="en-US" sz="1400" dirty="0"/>
          </a:p>
        </p:txBody>
      </p:sp>
      <p:sp>
        <p:nvSpPr>
          <p:cNvPr id="6" name="Shape 4"/>
          <p:cNvSpPr/>
          <p:nvPr/>
        </p:nvSpPr>
        <p:spPr>
          <a:xfrm>
            <a:off x="731520" y="2743200"/>
            <a:ext cx="2651760" cy="2377440"/>
          </a:xfrm>
          <a:prstGeom prst="rect">
            <a:avLst/>
          </a:prstGeom>
          <a:solidFill>
            <a:srgbClr val="152846"/>
          </a:solidFill>
          <a:ln w="12700">
            <a:solidFill>
              <a:srgbClr val="0D9488"/>
            </a:solidFill>
            <a:prstDash val="solid"/>
          </a:ln>
        </p:spPr>
      </p:sp>
      <p:sp>
        <p:nvSpPr>
          <p:cNvPr id="7" name="Shape 5"/>
          <p:cNvSpPr/>
          <p:nvPr/>
        </p:nvSpPr>
        <p:spPr>
          <a:xfrm>
            <a:off x="914400" y="2926080"/>
            <a:ext cx="457200" cy="457200"/>
          </a:xfrm>
          <a:prstGeom prst="ellipse">
            <a:avLst/>
          </a:prstGeom>
          <a:solidFill>
            <a:srgbClr val="14B8A6"/>
          </a:solidFill>
          <a:ln w="12700">
            <a:solidFill>
              <a:srgbClr val="14B8A6"/>
            </a:solidFill>
            <a:prstDash val="solid"/>
          </a:ln>
        </p:spPr>
      </p:sp>
      <p:pic>
        <p:nvPicPr>
          <p:cNvPr id="8" name="Image 0" descr="preencoded.png">    </p:cNvPr>
          <p:cNvPicPr>
            <a:picLocks noChangeAspect="1"/>
          </p:cNvPicPr>
          <p:nvPr/>
        </p:nvPicPr>
        <p:blipFill>
          <a:blip r:embed="rId1"/>
          <a:stretch>
            <a:fillRect/>
          </a:stretch>
        </p:blipFill>
        <p:spPr>
          <a:xfrm>
            <a:off x="1017270" y="3028950"/>
            <a:ext cx="251460" cy="251460"/>
          </a:xfrm>
          <a:prstGeom prst="rect">
            <a:avLst/>
          </a:prstGeom>
        </p:spPr>
      </p:pic>
      <p:sp>
        <p:nvSpPr>
          <p:cNvPr id="9" name="Text 6"/>
          <p:cNvSpPr/>
          <p:nvPr/>
        </p:nvSpPr>
        <p:spPr>
          <a:xfrm>
            <a:off x="1508760" y="2990088"/>
            <a:ext cx="1828800" cy="320040"/>
          </a:xfrm>
          <a:prstGeom prst="rect">
            <a:avLst/>
          </a:prstGeom>
          <a:noFill/>
          <a:ln/>
        </p:spPr>
        <p:txBody>
          <a:bodyPr wrap="square" lIns="0" tIns="0" rIns="0" bIns="0" rtlCol="0" anchor="ctr"/>
          <a:lstStyle/>
          <a:p>
            <a:pPr indent="0" marL="0">
              <a:buNone/>
            </a:pPr>
            <a:r>
              <a:rPr lang="en-US" sz="1200" b="1" spc="100" kern="0" dirty="0">
                <a:solidFill>
                  <a:srgbClr val="2DD4BF"/>
                </a:solidFill>
                <a:latin typeface="Calibri" pitchFamily="34" charset="0"/>
                <a:ea typeface="Calibri" pitchFamily="34" charset="-122"/>
                <a:cs typeface="Calibri" pitchFamily="34" charset="-120"/>
              </a:rPr>
              <a:t>CLUSTER</a:t>
            </a:r>
            <a:endParaRPr lang="en-US" sz="1200" dirty="0"/>
          </a:p>
        </p:txBody>
      </p:sp>
      <p:sp>
        <p:nvSpPr>
          <p:cNvPr id="10" name="Text 7"/>
          <p:cNvSpPr/>
          <p:nvPr/>
        </p:nvSpPr>
        <p:spPr>
          <a:xfrm>
            <a:off x="914400" y="3611880"/>
            <a:ext cx="2331720" cy="1417320"/>
          </a:xfrm>
          <a:prstGeom prst="rect">
            <a:avLst/>
          </a:prstGeom>
          <a:noFill/>
          <a:ln/>
        </p:spPr>
        <p:txBody>
          <a:bodyPr wrap="square" lIns="0" tIns="0" rIns="0" bIns="0" rtlCol="0" anchor="t"/>
          <a:lstStyle/>
          <a:p>
            <a:pPr indent="0" marL="0">
              <a:buNone/>
            </a:pPr>
            <a:r>
              <a:rPr lang="en-US" sz="1200" dirty="0">
                <a:solidFill>
                  <a:srgbClr val="E2E8F0"/>
                </a:solidFill>
                <a:latin typeface="Calibri" pitchFamily="34" charset="0"/>
                <a:ea typeface="Calibri" pitchFamily="34" charset="-122"/>
                <a:cs typeface="Calibri" pitchFamily="34" charset="-120"/>
              </a:rPr>
              <a:t>Logical grouping of compute. Just a name and ARN.</a:t>
            </a:r>
            <a:endParaRPr lang="en-US" sz="1200" dirty="0"/>
          </a:p>
        </p:txBody>
      </p:sp>
      <p:sp>
        <p:nvSpPr>
          <p:cNvPr id="11" name="Shape 8"/>
          <p:cNvSpPr/>
          <p:nvPr/>
        </p:nvSpPr>
        <p:spPr>
          <a:xfrm>
            <a:off x="3657600" y="2743200"/>
            <a:ext cx="2651760" cy="2377440"/>
          </a:xfrm>
          <a:prstGeom prst="rect">
            <a:avLst/>
          </a:prstGeom>
          <a:solidFill>
            <a:srgbClr val="152846"/>
          </a:solidFill>
          <a:ln w="12700">
            <a:solidFill>
              <a:srgbClr val="0D9488"/>
            </a:solidFill>
            <a:prstDash val="solid"/>
          </a:ln>
        </p:spPr>
      </p:sp>
      <p:sp>
        <p:nvSpPr>
          <p:cNvPr id="12" name="Shape 9"/>
          <p:cNvSpPr/>
          <p:nvPr/>
        </p:nvSpPr>
        <p:spPr>
          <a:xfrm>
            <a:off x="3840480" y="2926080"/>
            <a:ext cx="457200" cy="457200"/>
          </a:xfrm>
          <a:prstGeom prst="ellipse">
            <a:avLst/>
          </a:prstGeom>
          <a:solidFill>
            <a:srgbClr val="14B8A6"/>
          </a:solidFill>
          <a:ln w="12700">
            <a:solidFill>
              <a:srgbClr val="14B8A6"/>
            </a:solidFill>
            <a:prstDash val="solid"/>
          </a:ln>
        </p:spPr>
      </p:sp>
      <p:pic>
        <p:nvPicPr>
          <p:cNvPr id="13" name="Image 1" descr="preencoded.png">    </p:cNvPr>
          <p:cNvPicPr>
            <a:picLocks noChangeAspect="1"/>
          </p:cNvPicPr>
          <p:nvPr/>
        </p:nvPicPr>
        <p:blipFill>
          <a:blip r:embed="rId2"/>
          <a:stretch>
            <a:fillRect/>
          </a:stretch>
        </p:blipFill>
        <p:spPr>
          <a:xfrm>
            <a:off x="3943350" y="3028950"/>
            <a:ext cx="251460" cy="251460"/>
          </a:xfrm>
          <a:prstGeom prst="rect">
            <a:avLst/>
          </a:prstGeom>
        </p:spPr>
      </p:pic>
      <p:sp>
        <p:nvSpPr>
          <p:cNvPr id="14" name="Text 10"/>
          <p:cNvSpPr/>
          <p:nvPr/>
        </p:nvSpPr>
        <p:spPr>
          <a:xfrm>
            <a:off x="4434840" y="2990088"/>
            <a:ext cx="1828800" cy="320040"/>
          </a:xfrm>
          <a:prstGeom prst="rect">
            <a:avLst/>
          </a:prstGeom>
          <a:noFill/>
          <a:ln/>
        </p:spPr>
        <p:txBody>
          <a:bodyPr wrap="square" lIns="0" tIns="0" rIns="0" bIns="0" rtlCol="0" anchor="ctr"/>
          <a:lstStyle/>
          <a:p>
            <a:pPr indent="0" marL="0">
              <a:buNone/>
            </a:pPr>
            <a:r>
              <a:rPr lang="en-US" sz="1200" b="1" spc="100" kern="0" dirty="0">
                <a:solidFill>
                  <a:srgbClr val="2DD4BF"/>
                </a:solidFill>
                <a:latin typeface="Calibri" pitchFamily="34" charset="0"/>
                <a:ea typeface="Calibri" pitchFamily="34" charset="-122"/>
                <a:cs typeface="Calibri" pitchFamily="34" charset="-120"/>
              </a:rPr>
              <a:t>TASK DEFINITION</a:t>
            </a:r>
            <a:endParaRPr lang="en-US" sz="1200" dirty="0"/>
          </a:p>
        </p:txBody>
      </p:sp>
      <p:sp>
        <p:nvSpPr>
          <p:cNvPr id="15" name="Text 11"/>
          <p:cNvSpPr/>
          <p:nvPr/>
        </p:nvSpPr>
        <p:spPr>
          <a:xfrm>
            <a:off x="3840480" y="3611880"/>
            <a:ext cx="2331720" cy="1417320"/>
          </a:xfrm>
          <a:prstGeom prst="rect">
            <a:avLst/>
          </a:prstGeom>
          <a:noFill/>
          <a:ln/>
        </p:spPr>
        <p:txBody>
          <a:bodyPr wrap="square" lIns="0" tIns="0" rIns="0" bIns="0" rtlCol="0" anchor="t"/>
          <a:lstStyle/>
          <a:p>
            <a:pPr indent="0" marL="0">
              <a:buNone/>
            </a:pPr>
            <a:r>
              <a:rPr lang="en-US" sz="1200" dirty="0">
                <a:solidFill>
                  <a:srgbClr val="E2E8F0"/>
                </a:solidFill>
                <a:latin typeface="Calibri" pitchFamily="34" charset="0"/>
                <a:ea typeface="Calibri" pitchFamily="34" charset="-122"/>
                <a:cs typeface="Calibri" pitchFamily="34" charset="-120"/>
              </a:rPr>
              <a:t>Blueprint: image, CPU, memory, env, IAM. Immutable — new revisions, never edits.</a:t>
            </a:r>
            <a:endParaRPr lang="en-US" sz="1200" dirty="0"/>
          </a:p>
        </p:txBody>
      </p:sp>
      <p:sp>
        <p:nvSpPr>
          <p:cNvPr id="16" name="Shape 12"/>
          <p:cNvSpPr/>
          <p:nvPr/>
        </p:nvSpPr>
        <p:spPr>
          <a:xfrm>
            <a:off x="6583680" y="2743200"/>
            <a:ext cx="2651760" cy="2377440"/>
          </a:xfrm>
          <a:prstGeom prst="rect">
            <a:avLst/>
          </a:prstGeom>
          <a:solidFill>
            <a:srgbClr val="152846"/>
          </a:solidFill>
          <a:ln w="12700">
            <a:solidFill>
              <a:srgbClr val="0D9488"/>
            </a:solidFill>
            <a:prstDash val="solid"/>
          </a:ln>
        </p:spPr>
      </p:sp>
      <p:sp>
        <p:nvSpPr>
          <p:cNvPr id="17" name="Shape 13"/>
          <p:cNvSpPr/>
          <p:nvPr/>
        </p:nvSpPr>
        <p:spPr>
          <a:xfrm>
            <a:off x="6766560" y="2926080"/>
            <a:ext cx="457200" cy="457200"/>
          </a:xfrm>
          <a:prstGeom prst="ellipse">
            <a:avLst/>
          </a:prstGeom>
          <a:solidFill>
            <a:srgbClr val="14B8A6"/>
          </a:solidFill>
          <a:ln w="12700">
            <a:solidFill>
              <a:srgbClr val="14B8A6"/>
            </a:solidFill>
            <a:prstDash val="solid"/>
          </a:ln>
        </p:spPr>
      </p:sp>
      <p:pic>
        <p:nvPicPr>
          <p:cNvPr id="18" name="Image 2" descr="preencoded.png">    </p:cNvPr>
          <p:cNvPicPr>
            <a:picLocks noChangeAspect="1"/>
          </p:cNvPicPr>
          <p:nvPr/>
        </p:nvPicPr>
        <p:blipFill>
          <a:blip r:embed="rId3"/>
          <a:stretch>
            <a:fillRect/>
          </a:stretch>
        </p:blipFill>
        <p:spPr>
          <a:xfrm>
            <a:off x="6869430" y="3028950"/>
            <a:ext cx="251460" cy="251460"/>
          </a:xfrm>
          <a:prstGeom prst="rect">
            <a:avLst/>
          </a:prstGeom>
        </p:spPr>
      </p:pic>
      <p:sp>
        <p:nvSpPr>
          <p:cNvPr id="19" name="Text 14"/>
          <p:cNvSpPr/>
          <p:nvPr/>
        </p:nvSpPr>
        <p:spPr>
          <a:xfrm>
            <a:off x="7360920" y="2990088"/>
            <a:ext cx="1828800" cy="320040"/>
          </a:xfrm>
          <a:prstGeom prst="rect">
            <a:avLst/>
          </a:prstGeom>
          <a:noFill/>
          <a:ln/>
        </p:spPr>
        <p:txBody>
          <a:bodyPr wrap="square" lIns="0" tIns="0" rIns="0" bIns="0" rtlCol="0" anchor="ctr"/>
          <a:lstStyle/>
          <a:p>
            <a:pPr indent="0" marL="0">
              <a:buNone/>
            </a:pPr>
            <a:r>
              <a:rPr lang="en-US" sz="1200" b="1" spc="100" kern="0" dirty="0">
                <a:solidFill>
                  <a:srgbClr val="2DD4BF"/>
                </a:solidFill>
                <a:latin typeface="Calibri" pitchFamily="34" charset="0"/>
                <a:ea typeface="Calibri" pitchFamily="34" charset="-122"/>
                <a:cs typeface="Calibri" pitchFamily="34" charset="-120"/>
              </a:rPr>
              <a:t>TASK</a:t>
            </a:r>
            <a:endParaRPr lang="en-US" sz="1200" dirty="0"/>
          </a:p>
        </p:txBody>
      </p:sp>
      <p:sp>
        <p:nvSpPr>
          <p:cNvPr id="20" name="Text 15"/>
          <p:cNvSpPr/>
          <p:nvPr/>
        </p:nvSpPr>
        <p:spPr>
          <a:xfrm>
            <a:off x="6766560" y="3611880"/>
            <a:ext cx="2331720" cy="1417320"/>
          </a:xfrm>
          <a:prstGeom prst="rect">
            <a:avLst/>
          </a:prstGeom>
          <a:noFill/>
          <a:ln/>
        </p:spPr>
        <p:txBody>
          <a:bodyPr wrap="square" lIns="0" tIns="0" rIns="0" bIns="0" rtlCol="0" anchor="t"/>
          <a:lstStyle/>
          <a:p>
            <a:pPr indent="0" marL="0">
              <a:buNone/>
            </a:pPr>
            <a:r>
              <a:rPr lang="en-US" sz="1200" dirty="0">
                <a:solidFill>
                  <a:srgbClr val="E2E8F0"/>
                </a:solidFill>
                <a:latin typeface="Calibri" pitchFamily="34" charset="0"/>
                <a:ea typeface="Calibri" pitchFamily="34" charset="-122"/>
                <a:cs typeface="Calibri" pitchFamily="34" charset="-120"/>
              </a:rPr>
              <a:t>A running instance of a task definition. Own networking, IAM, lifecycle.</a:t>
            </a:r>
            <a:endParaRPr lang="en-US" sz="1200" dirty="0"/>
          </a:p>
        </p:txBody>
      </p:sp>
      <p:sp>
        <p:nvSpPr>
          <p:cNvPr id="21" name="Shape 16"/>
          <p:cNvSpPr/>
          <p:nvPr/>
        </p:nvSpPr>
        <p:spPr>
          <a:xfrm>
            <a:off x="9509760" y="2743200"/>
            <a:ext cx="2651760" cy="2377440"/>
          </a:xfrm>
          <a:prstGeom prst="rect">
            <a:avLst/>
          </a:prstGeom>
          <a:solidFill>
            <a:srgbClr val="152846"/>
          </a:solidFill>
          <a:ln w="12700">
            <a:solidFill>
              <a:srgbClr val="0D9488"/>
            </a:solidFill>
            <a:prstDash val="solid"/>
          </a:ln>
        </p:spPr>
      </p:sp>
      <p:sp>
        <p:nvSpPr>
          <p:cNvPr id="22" name="Shape 17"/>
          <p:cNvSpPr/>
          <p:nvPr/>
        </p:nvSpPr>
        <p:spPr>
          <a:xfrm>
            <a:off x="9692640" y="2926080"/>
            <a:ext cx="457200" cy="457200"/>
          </a:xfrm>
          <a:prstGeom prst="ellipse">
            <a:avLst/>
          </a:prstGeom>
          <a:solidFill>
            <a:srgbClr val="14B8A6"/>
          </a:solidFill>
          <a:ln w="12700">
            <a:solidFill>
              <a:srgbClr val="14B8A6"/>
            </a:solidFill>
            <a:prstDash val="solid"/>
          </a:ln>
        </p:spPr>
      </p:sp>
      <p:pic>
        <p:nvPicPr>
          <p:cNvPr id="23" name="Image 3" descr="preencoded.png">    </p:cNvPr>
          <p:cNvPicPr>
            <a:picLocks noChangeAspect="1"/>
          </p:cNvPicPr>
          <p:nvPr/>
        </p:nvPicPr>
        <p:blipFill>
          <a:blip r:embed="rId4"/>
          <a:stretch>
            <a:fillRect/>
          </a:stretch>
        </p:blipFill>
        <p:spPr>
          <a:xfrm>
            <a:off x="9795510" y="3028950"/>
            <a:ext cx="251460" cy="251460"/>
          </a:xfrm>
          <a:prstGeom prst="rect">
            <a:avLst/>
          </a:prstGeom>
        </p:spPr>
      </p:pic>
      <p:sp>
        <p:nvSpPr>
          <p:cNvPr id="24" name="Text 18"/>
          <p:cNvSpPr/>
          <p:nvPr/>
        </p:nvSpPr>
        <p:spPr>
          <a:xfrm>
            <a:off x="10287000" y="2990088"/>
            <a:ext cx="1828800" cy="320040"/>
          </a:xfrm>
          <a:prstGeom prst="rect">
            <a:avLst/>
          </a:prstGeom>
          <a:noFill/>
          <a:ln/>
        </p:spPr>
        <p:txBody>
          <a:bodyPr wrap="square" lIns="0" tIns="0" rIns="0" bIns="0" rtlCol="0" anchor="ctr"/>
          <a:lstStyle/>
          <a:p>
            <a:pPr indent="0" marL="0">
              <a:buNone/>
            </a:pPr>
            <a:r>
              <a:rPr lang="en-US" sz="1200" b="1" spc="100" kern="0" dirty="0">
                <a:solidFill>
                  <a:srgbClr val="2DD4BF"/>
                </a:solidFill>
                <a:latin typeface="Calibri" pitchFamily="34" charset="0"/>
                <a:ea typeface="Calibri" pitchFamily="34" charset="-122"/>
                <a:cs typeface="Calibri" pitchFamily="34" charset="-120"/>
              </a:rPr>
              <a:t>SERVICE</a:t>
            </a:r>
            <a:endParaRPr lang="en-US" sz="1200" dirty="0"/>
          </a:p>
        </p:txBody>
      </p:sp>
      <p:sp>
        <p:nvSpPr>
          <p:cNvPr id="25" name="Text 19"/>
          <p:cNvSpPr/>
          <p:nvPr/>
        </p:nvSpPr>
        <p:spPr>
          <a:xfrm>
            <a:off x="9692640" y="3611880"/>
            <a:ext cx="2331720" cy="1417320"/>
          </a:xfrm>
          <a:prstGeom prst="rect">
            <a:avLst/>
          </a:prstGeom>
          <a:noFill/>
          <a:ln/>
        </p:spPr>
        <p:txBody>
          <a:bodyPr wrap="square" lIns="0" tIns="0" rIns="0" bIns="0" rtlCol="0" anchor="t"/>
          <a:lstStyle/>
          <a:p>
            <a:pPr indent="0" marL="0">
              <a:buNone/>
            </a:pPr>
            <a:r>
              <a:rPr lang="en-US" sz="1200" dirty="0">
                <a:solidFill>
                  <a:srgbClr val="E2E8F0"/>
                </a:solidFill>
                <a:latin typeface="Calibri" pitchFamily="34" charset="0"/>
                <a:ea typeface="Calibri" pitchFamily="34" charset="-122"/>
                <a:cs typeface="Calibri" pitchFamily="34" charset="-120"/>
              </a:rPr>
              <a:t>Long-running controller. Keeps N tasks alive. Handles rolling deploys.</a:t>
            </a:r>
            <a:endParaRPr lang="en-US" sz="1200" dirty="0"/>
          </a:p>
        </p:txBody>
      </p:sp>
      <p:sp>
        <p:nvSpPr>
          <p:cNvPr id="26" name="Text 20"/>
          <p:cNvSpPr/>
          <p:nvPr/>
        </p:nvSpPr>
        <p:spPr>
          <a:xfrm>
            <a:off x="731520" y="5440680"/>
            <a:ext cx="10972800" cy="457200"/>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All four concepts live inside a region. Tasks run in subnets in a VPC. Services route through load balancers in front of those tasks.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BACKGROUND</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Fargate vs EC2 launch type</a:t>
            </a:r>
            <a:endParaRPr lang="en-US" sz="2800" dirty="0"/>
          </a:p>
        </p:txBody>
      </p:sp>
      <p:sp>
        <p:nvSpPr>
          <p:cNvPr id="4" name="Text 2"/>
          <p:cNvSpPr/>
          <p:nvPr/>
        </p:nvSpPr>
        <p:spPr>
          <a:xfrm>
            <a:off x="731520" y="1463040"/>
            <a:ext cx="10972800" cy="457200"/>
          </a:xfrm>
          <a:prstGeom prst="rect">
            <a:avLst/>
          </a:prstGeom>
          <a:noFill/>
          <a:ln/>
        </p:spPr>
        <p:txBody>
          <a:bodyPr wrap="square" lIns="0" tIns="0" rIns="0" bIns="0" rtlCol="0" anchor="ctr"/>
          <a:lstStyle/>
          <a:p>
            <a:pPr indent="0" marL="0">
              <a:buNone/>
            </a:pPr>
            <a:r>
              <a:rPr lang="en-US" sz="1400" i="1" dirty="0">
                <a:solidFill>
                  <a:srgbClr val="E2E8F0"/>
                </a:solidFill>
                <a:latin typeface="Calibri" pitchFamily="34" charset="0"/>
                <a:ea typeface="Calibri" pitchFamily="34" charset="-122"/>
                <a:cs typeface="Calibri" pitchFamily="34" charset="-120"/>
              </a:rPr>
              <a:t>ECS has two ways to run your containers — and the difference is the source of every bug in this lab.</a:t>
            </a:r>
            <a:endParaRPr lang="en-US" sz="1400" dirty="0"/>
          </a:p>
        </p:txBody>
      </p:sp>
      <p:sp>
        <p:nvSpPr>
          <p:cNvPr id="5" name="Shape 3"/>
          <p:cNvSpPr/>
          <p:nvPr/>
        </p:nvSpPr>
        <p:spPr>
          <a:xfrm>
            <a:off x="731520" y="2103120"/>
            <a:ext cx="5349240" cy="4297680"/>
          </a:xfrm>
          <a:prstGeom prst="rect">
            <a:avLst/>
          </a:prstGeom>
          <a:solidFill>
            <a:srgbClr val="152846"/>
          </a:solidFill>
          <a:ln w="12700">
            <a:solidFill>
              <a:srgbClr val="94A3B8"/>
            </a:solidFill>
            <a:prstDash val="solid"/>
          </a:ln>
        </p:spPr>
      </p:sp>
      <p:sp>
        <p:nvSpPr>
          <p:cNvPr id="6" name="Text 4"/>
          <p:cNvSpPr/>
          <p:nvPr/>
        </p:nvSpPr>
        <p:spPr>
          <a:xfrm>
            <a:off x="914400" y="2240280"/>
            <a:ext cx="5029200" cy="365760"/>
          </a:xfrm>
          <a:prstGeom prst="rect">
            <a:avLst/>
          </a:prstGeom>
          <a:noFill/>
          <a:ln/>
        </p:spPr>
        <p:txBody>
          <a:bodyPr wrap="square" lIns="0" tIns="0" rIns="0" bIns="0" rtlCol="0" anchor="ctr"/>
          <a:lstStyle/>
          <a:p>
            <a:pPr indent="0" marL="0">
              <a:buNone/>
            </a:pPr>
            <a:r>
              <a:rPr lang="en-US" sz="1400" b="1" spc="200" kern="0" dirty="0">
                <a:solidFill>
                  <a:srgbClr val="94A3B8"/>
                </a:solidFill>
                <a:latin typeface="Calibri" pitchFamily="34" charset="0"/>
                <a:ea typeface="Calibri" pitchFamily="34" charset="-122"/>
                <a:cs typeface="Calibri" pitchFamily="34" charset="-120"/>
              </a:rPr>
              <a:t>EC2 LAUNCH TYPE</a:t>
            </a:r>
            <a:endParaRPr lang="en-US" sz="1400" dirty="0"/>
          </a:p>
        </p:txBody>
      </p:sp>
      <p:sp>
        <p:nvSpPr>
          <p:cNvPr id="7" name="Text 5"/>
          <p:cNvSpPr/>
          <p:nvPr/>
        </p:nvSpPr>
        <p:spPr>
          <a:xfrm>
            <a:off x="914400" y="2606040"/>
            <a:ext cx="50292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You own the host</a:t>
            </a:r>
            <a:endParaRPr lang="en-US" sz="2200" dirty="0"/>
          </a:p>
        </p:txBody>
      </p:sp>
      <p:sp>
        <p:nvSpPr>
          <p:cNvPr id="8" name="Text 6"/>
          <p:cNvSpPr/>
          <p:nvPr/>
        </p:nvSpPr>
        <p:spPr>
          <a:xfrm>
            <a:off x="914400" y="3246120"/>
            <a:ext cx="5029200" cy="36576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  Provision your own EC2 instances</a:t>
            </a:r>
            <a:endParaRPr lang="en-US" sz="1300" dirty="0"/>
          </a:p>
        </p:txBody>
      </p:sp>
      <p:sp>
        <p:nvSpPr>
          <p:cNvPr id="9" name="Text 7"/>
          <p:cNvSpPr/>
          <p:nvPr/>
        </p:nvSpPr>
        <p:spPr>
          <a:xfrm>
            <a:off x="914400" y="3703320"/>
            <a:ext cx="5029200" cy="36576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  Pay for the boxes whether full or empty</a:t>
            </a:r>
            <a:endParaRPr lang="en-US" sz="1300" dirty="0"/>
          </a:p>
        </p:txBody>
      </p:sp>
      <p:sp>
        <p:nvSpPr>
          <p:cNvPr id="10" name="Text 8"/>
          <p:cNvSpPr/>
          <p:nvPr/>
        </p:nvSpPr>
        <p:spPr>
          <a:xfrm>
            <a:off x="914400" y="4160520"/>
            <a:ext cx="5029200" cy="36576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  Patch the OS, manage capacity</a:t>
            </a:r>
            <a:endParaRPr lang="en-US" sz="1300" dirty="0"/>
          </a:p>
        </p:txBody>
      </p:sp>
      <p:sp>
        <p:nvSpPr>
          <p:cNvPr id="11" name="Text 9"/>
          <p:cNvSpPr/>
          <p:nvPr/>
        </p:nvSpPr>
        <p:spPr>
          <a:xfrm>
            <a:off x="914400" y="4617720"/>
            <a:ext cx="5029200" cy="36576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  Containers can use bridge networking</a:t>
            </a:r>
            <a:endParaRPr lang="en-US" sz="1300" dirty="0"/>
          </a:p>
        </p:txBody>
      </p:sp>
      <p:sp>
        <p:nvSpPr>
          <p:cNvPr id="12" name="Text 10"/>
          <p:cNvSpPr/>
          <p:nvPr/>
        </p:nvSpPr>
        <p:spPr>
          <a:xfrm>
            <a:off x="914400" y="5074920"/>
            <a:ext cx="5029200" cy="36576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  Use the EC2 instance profile for IAM</a:t>
            </a:r>
            <a:endParaRPr lang="en-US" sz="1300" dirty="0"/>
          </a:p>
        </p:txBody>
      </p:sp>
      <p:sp>
        <p:nvSpPr>
          <p:cNvPr id="13" name="Shape 11"/>
          <p:cNvSpPr/>
          <p:nvPr/>
        </p:nvSpPr>
        <p:spPr>
          <a:xfrm>
            <a:off x="6355080" y="2103120"/>
            <a:ext cx="5349240" cy="4297680"/>
          </a:xfrm>
          <a:prstGeom prst="rect">
            <a:avLst/>
          </a:prstGeom>
          <a:solidFill>
            <a:srgbClr val="152846"/>
          </a:solidFill>
          <a:ln w="25400">
            <a:solidFill>
              <a:srgbClr val="14B8A6"/>
            </a:solidFill>
            <a:prstDash val="solid"/>
          </a:ln>
        </p:spPr>
      </p:sp>
      <p:sp>
        <p:nvSpPr>
          <p:cNvPr id="14" name="Text 12"/>
          <p:cNvSpPr/>
          <p:nvPr/>
        </p:nvSpPr>
        <p:spPr>
          <a:xfrm>
            <a:off x="6537960" y="2240280"/>
            <a:ext cx="5029200" cy="365760"/>
          </a:xfrm>
          <a:prstGeom prst="rect">
            <a:avLst/>
          </a:prstGeom>
          <a:noFill/>
          <a:ln/>
        </p:spPr>
        <p:txBody>
          <a:bodyPr wrap="square" lIns="0" tIns="0" rIns="0" bIns="0" rtlCol="0" anchor="ctr"/>
          <a:lstStyle/>
          <a:p>
            <a:pPr indent="0" marL="0">
              <a:buNone/>
            </a:pPr>
            <a:r>
              <a:rPr lang="en-US" sz="1400" b="1" spc="200" kern="0" dirty="0">
                <a:solidFill>
                  <a:srgbClr val="2DD4BF"/>
                </a:solidFill>
                <a:latin typeface="Calibri" pitchFamily="34" charset="0"/>
                <a:ea typeface="Calibri" pitchFamily="34" charset="-122"/>
                <a:cs typeface="Calibri" pitchFamily="34" charset="-120"/>
              </a:rPr>
              <a:t>FARGATE LAUNCH TYPE</a:t>
            </a:r>
            <a:endParaRPr lang="en-US" sz="1400" dirty="0"/>
          </a:p>
        </p:txBody>
      </p:sp>
      <p:sp>
        <p:nvSpPr>
          <p:cNvPr id="15" name="Text 13"/>
          <p:cNvSpPr/>
          <p:nvPr/>
        </p:nvSpPr>
        <p:spPr>
          <a:xfrm>
            <a:off x="6537960" y="2606040"/>
            <a:ext cx="50292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Serverless containers</a:t>
            </a:r>
            <a:endParaRPr lang="en-US" sz="2200" dirty="0"/>
          </a:p>
        </p:txBody>
      </p:sp>
      <p:sp>
        <p:nvSpPr>
          <p:cNvPr id="16" name="Text 14"/>
          <p:cNvSpPr/>
          <p:nvPr/>
        </p:nvSpPr>
        <p:spPr>
          <a:xfrm>
            <a:off x="6537960" y="3246120"/>
            <a:ext cx="5029200" cy="36576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  AWS manages the underlying hosts</a:t>
            </a:r>
            <a:endParaRPr lang="en-US" sz="1300" dirty="0"/>
          </a:p>
        </p:txBody>
      </p:sp>
      <p:sp>
        <p:nvSpPr>
          <p:cNvPr id="17" name="Text 15"/>
          <p:cNvSpPr/>
          <p:nvPr/>
        </p:nvSpPr>
        <p:spPr>
          <a:xfrm>
            <a:off x="6537960" y="3703320"/>
            <a:ext cx="5029200" cy="36576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  Pay per task for CPU and memory</a:t>
            </a:r>
            <a:endParaRPr lang="en-US" sz="1300" dirty="0"/>
          </a:p>
        </p:txBody>
      </p:sp>
      <p:sp>
        <p:nvSpPr>
          <p:cNvPr id="18" name="Text 16"/>
          <p:cNvSpPr/>
          <p:nvPr/>
        </p:nvSpPr>
        <p:spPr>
          <a:xfrm>
            <a:off x="6537960" y="4160520"/>
            <a:ext cx="5029200" cy="36576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  No SSH, no patching, no capacity planning</a:t>
            </a:r>
            <a:endParaRPr lang="en-US" sz="1300" dirty="0"/>
          </a:p>
        </p:txBody>
      </p:sp>
      <p:sp>
        <p:nvSpPr>
          <p:cNvPr id="19" name="Text 17"/>
          <p:cNvSpPr/>
          <p:nvPr/>
        </p:nvSpPr>
        <p:spPr>
          <a:xfrm>
            <a:off x="6537960" y="4617720"/>
            <a:ext cx="5029200" cy="36576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  Networking is awsvpc only — own ENI per task</a:t>
            </a:r>
            <a:endParaRPr lang="en-US" sz="1300" dirty="0"/>
          </a:p>
        </p:txBody>
      </p:sp>
      <p:sp>
        <p:nvSpPr>
          <p:cNvPr id="20" name="Text 18"/>
          <p:cNvSpPr/>
          <p:nvPr/>
        </p:nvSpPr>
        <p:spPr>
          <a:xfrm>
            <a:off x="6537960" y="5074920"/>
            <a:ext cx="5029200" cy="36576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  Execution role is mandatory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BACKGROUND</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Execution role vs task role</a:t>
            </a:r>
            <a:endParaRPr lang="en-US" sz="2800" dirty="0"/>
          </a:p>
        </p:txBody>
      </p:sp>
      <p:sp>
        <p:nvSpPr>
          <p:cNvPr id="4" name="Text 2"/>
          <p:cNvSpPr/>
          <p:nvPr/>
        </p:nvSpPr>
        <p:spPr>
          <a:xfrm>
            <a:off x="731520" y="1463040"/>
            <a:ext cx="10972800" cy="457200"/>
          </a:xfrm>
          <a:prstGeom prst="rect">
            <a:avLst/>
          </a:prstGeom>
          <a:noFill/>
          <a:ln/>
        </p:spPr>
        <p:txBody>
          <a:bodyPr wrap="square" lIns="0" tIns="0" rIns="0" bIns="0" rtlCol="0" anchor="ctr"/>
          <a:lstStyle/>
          <a:p>
            <a:pPr indent="0" marL="0">
              <a:buNone/>
            </a:pPr>
            <a:r>
              <a:rPr lang="en-US" sz="1400" i="1" dirty="0">
                <a:solidFill>
                  <a:srgbClr val="E2E8F0"/>
                </a:solidFill>
                <a:latin typeface="Calibri" pitchFamily="34" charset="0"/>
                <a:ea typeface="Calibri" pitchFamily="34" charset="-122"/>
                <a:cs typeface="Calibri" pitchFamily="34" charset="-120"/>
              </a:rPr>
              <a:t>The most commonly confused thing in ECS. They're separate IAM roles with different jobs.</a:t>
            </a:r>
            <a:endParaRPr lang="en-US" sz="1400" dirty="0"/>
          </a:p>
        </p:txBody>
      </p:sp>
      <p:sp>
        <p:nvSpPr>
          <p:cNvPr id="5" name="Shape 3"/>
          <p:cNvSpPr/>
          <p:nvPr/>
        </p:nvSpPr>
        <p:spPr>
          <a:xfrm>
            <a:off x="731520" y="2194560"/>
            <a:ext cx="5349240" cy="4206240"/>
          </a:xfrm>
          <a:prstGeom prst="rect">
            <a:avLst/>
          </a:prstGeom>
          <a:solidFill>
            <a:srgbClr val="152846"/>
          </a:solidFill>
          <a:ln w="12700">
            <a:solidFill>
              <a:srgbClr val="14B8A6"/>
            </a:solidFill>
            <a:prstDash val="solid"/>
          </a:ln>
        </p:spPr>
      </p:sp>
      <p:sp>
        <p:nvSpPr>
          <p:cNvPr id="6" name="Shape 4"/>
          <p:cNvSpPr/>
          <p:nvPr/>
        </p:nvSpPr>
        <p:spPr>
          <a:xfrm>
            <a:off x="914400" y="2377440"/>
            <a:ext cx="502920" cy="502920"/>
          </a:xfrm>
          <a:prstGeom prst="ellipse">
            <a:avLst/>
          </a:prstGeom>
          <a:solidFill>
            <a:srgbClr val="14B8A6"/>
          </a:solidFill>
          <a:ln w="12700">
            <a:solidFill>
              <a:srgbClr val="14B8A6"/>
            </a:solidFill>
            <a:prstDash val="solid"/>
          </a:ln>
        </p:spPr>
      </p:sp>
      <p:pic>
        <p:nvPicPr>
          <p:cNvPr id="7" name="Image 0" descr="preencoded.png">    </p:cNvPr>
          <p:cNvPicPr>
            <a:picLocks noChangeAspect="1"/>
          </p:cNvPicPr>
          <p:nvPr/>
        </p:nvPicPr>
        <p:blipFill>
          <a:blip r:embed="rId1"/>
          <a:stretch>
            <a:fillRect/>
          </a:stretch>
        </p:blipFill>
        <p:spPr>
          <a:xfrm>
            <a:off x="1027557" y="2490597"/>
            <a:ext cx="276606" cy="276606"/>
          </a:xfrm>
          <a:prstGeom prst="rect">
            <a:avLst/>
          </a:prstGeom>
        </p:spPr>
      </p:pic>
      <p:sp>
        <p:nvSpPr>
          <p:cNvPr id="8" name="Text 5"/>
          <p:cNvSpPr/>
          <p:nvPr/>
        </p:nvSpPr>
        <p:spPr>
          <a:xfrm>
            <a:off x="1554480" y="2468880"/>
            <a:ext cx="4572000" cy="320040"/>
          </a:xfrm>
          <a:prstGeom prst="rect">
            <a:avLst/>
          </a:prstGeom>
          <a:noFill/>
          <a:ln/>
        </p:spPr>
        <p:txBody>
          <a:bodyPr wrap="square" lIns="0" tIns="0" rIns="0" bIns="0" rtlCol="0" anchor="ctr"/>
          <a:lstStyle/>
          <a:p>
            <a:pPr indent="0" marL="0">
              <a:buNone/>
            </a:pPr>
            <a:r>
              <a:rPr lang="en-US" sz="1200" b="1" spc="100" kern="0" dirty="0">
                <a:solidFill>
                  <a:srgbClr val="2DD4BF"/>
                </a:solidFill>
                <a:latin typeface="Calibri" pitchFamily="34" charset="0"/>
                <a:ea typeface="Calibri" pitchFamily="34" charset="-122"/>
                <a:cs typeface="Calibri" pitchFamily="34" charset="-120"/>
              </a:rPr>
              <a:t>EXECUTION ROLE</a:t>
            </a:r>
            <a:endParaRPr lang="en-US" sz="1200" dirty="0"/>
          </a:p>
        </p:txBody>
      </p:sp>
      <p:sp>
        <p:nvSpPr>
          <p:cNvPr id="9" name="Text 6"/>
          <p:cNvSpPr/>
          <p:nvPr/>
        </p:nvSpPr>
        <p:spPr>
          <a:xfrm>
            <a:off x="914400" y="3017520"/>
            <a:ext cx="50292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 the Fargate agent</a:t>
            </a:r>
            <a:endParaRPr lang="en-US" sz="1800" dirty="0"/>
          </a:p>
        </p:txBody>
      </p:sp>
      <p:sp>
        <p:nvSpPr>
          <p:cNvPr id="10" name="Text 7"/>
          <p:cNvSpPr/>
          <p:nvPr/>
        </p:nvSpPr>
        <p:spPr>
          <a:xfrm>
            <a:off x="914400" y="3474720"/>
            <a:ext cx="5029200" cy="91440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Used by the ECS infrastructure itself, not your application code. The Fargate agent assumes this role to do AWS API work on your behalf.</a:t>
            </a:r>
            <a:endParaRPr lang="en-US" sz="1200" dirty="0"/>
          </a:p>
        </p:txBody>
      </p:sp>
      <p:sp>
        <p:nvSpPr>
          <p:cNvPr id="11" name="Text 8"/>
          <p:cNvSpPr/>
          <p:nvPr/>
        </p:nvSpPr>
        <p:spPr>
          <a:xfrm>
            <a:off x="914400" y="4434840"/>
            <a:ext cx="5029200" cy="320040"/>
          </a:xfrm>
          <a:prstGeom prst="rect">
            <a:avLst/>
          </a:prstGeom>
          <a:noFill/>
          <a:ln/>
        </p:spPr>
        <p:txBody>
          <a:bodyPr wrap="square" lIns="0" tIns="0" rIns="0" bIns="0" rtlCol="0" anchor="ctr"/>
          <a:lstStyle/>
          <a:p>
            <a:pPr indent="0" marL="0">
              <a:buNone/>
            </a:pPr>
            <a:r>
              <a:rPr lang="en-US" sz="1200" dirty="0">
                <a:solidFill>
                  <a:srgbClr val="2DD4BF"/>
                </a:solidFill>
                <a:latin typeface="Calibri" pitchFamily="34" charset="0"/>
                <a:ea typeface="Calibri" pitchFamily="34" charset="-122"/>
                <a:cs typeface="Calibri" pitchFamily="34" charset="-120"/>
              </a:rPr>
              <a:t>▸  Pull images from ECR</a:t>
            </a:r>
            <a:endParaRPr lang="en-US" sz="1200" dirty="0"/>
          </a:p>
        </p:txBody>
      </p:sp>
      <p:sp>
        <p:nvSpPr>
          <p:cNvPr id="12" name="Text 9"/>
          <p:cNvSpPr/>
          <p:nvPr/>
        </p:nvSpPr>
        <p:spPr>
          <a:xfrm>
            <a:off x="914400" y="4800600"/>
            <a:ext cx="5029200" cy="320040"/>
          </a:xfrm>
          <a:prstGeom prst="rect">
            <a:avLst/>
          </a:prstGeom>
          <a:noFill/>
          <a:ln/>
        </p:spPr>
        <p:txBody>
          <a:bodyPr wrap="square" lIns="0" tIns="0" rIns="0" bIns="0" rtlCol="0" anchor="ctr"/>
          <a:lstStyle/>
          <a:p>
            <a:pPr indent="0" marL="0">
              <a:buNone/>
            </a:pPr>
            <a:r>
              <a:rPr lang="en-US" sz="1200" dirty="0">
                <a:solidFill>
                  <a:srgbClr val="2DD4BF"/>
                </a:solidFill>
                <a:latin typeface="Calibri" pitchFamily="34" charset="0"/>
                <a:ea typeface="Calibri" pitchFamily="34" charset="-122"/>
                <a:cs typeface="Calibri" pitchFamily="34" charset="-120"/>
              </a:rPr>
              <a:t>▸  Write logs to CloudWatch</a:t>
            </a:r>
            <a:endParaRPr lang="en-US" sz="1200" dirty="0"/>
          </a:p>
        </p:txBody>
      </p:sp>
      <p:sp>
        <p:nvSpPr>
          <p:cNvPr id="13" name="Text 10"/>
          <p:cNvSpPr/>
          <p:nvPr/>
        </p:nvSpPr>
        <p:spPr>
          <a:xfrm>
            <a:off x="914400" y="5166360"/>
            <a:ext cx="5029200" cy="320040"/>
          </a:xfrm>
          <a:prstGeom prst="rect">
            <a:avLst/>
          </a:prstGeom>
          <a:noFill/>
          <a:ln/>
        </p:spPr>
        <p:txBody>
          <a:bodyPr wrap="square" lIns="0" tIns="0" rIns="0" bIns="0" rtlCol="0" anchor="ctr"/>
          <a:lstStyle/>
          <a:p>
            <a:pPr indent="0" marL="0">
              <a:buNone/>
            </a:pPr>
            <a:r>
              <a:rPr lang="en-US" sz="1200" dirty="0">
                <a:solidFill>
                  <a:srgbClr val="2DD4BF"/>
                </a:solidFill>
                <a:latin typeface="Calibri" pitchFamily="34" charset="0"/>
                <a:ea typeface="Calibri" pitchFamily="34" charset="-122"/>
                <a:cs typeface="Calibri" pitchFamily="34" charset="-120"/>
              </a:rPr>
              <a:t>▸  Fetch secrets from Secrets Manager</a:t>
            </a:r>
            <a:endParaRPr lang="en-US" sz="1200" dirty="0"/>
          </a:p>
        </p:txBody>
      </p:sp>
      <p:sp>
        <p:nvSpPr>
          <p:cNvPr id="14" name="Text 11"/>
          <p:cNvSpPr/>
          <p:nvPr/>
        </p:nvSpPr>
        <p:spPr>
          <a:xfrm>
            <a:off x="914400" y="5852160"/>
            <a:ext cx="5029200" cy="365760"/>
          </a:xfrm>
          <a:prstGeom prst="rect">
            <a:avLst/>
          </a:prstGeom>
          <a:noFill/>
          <a:ln/>
        </p:spPr>
        <p:txBody>
          <a:bodyPr wrap="square" lIns="0" tIns="0" rIns="0" bIns="0" rtlCol="0" anchor="ctr"/>
          <a:lstStyle/>
          <a:p>
            <a:pPr indent="0" marL="0">
              <a:buNone/>
            </a:pPr>
            <a:r>
              <a:rPr lang="en-US" sz="1200" i="1" dirty="0">
                <a:solidFill>
                  <a:srgbClr val="F59E0B"/>
                </a:solidFill>
                <a:latin typeface="Consolas" pitchFamily="34" charset="0"/>
                <a:ea typeface="Consolas" pitchFamily="34" charset="-122"/>
                <a:cs typeface="Consolas" pitchFamily="34" charset="-120"/>
              </a:rPr>
              <a:t>Error: "can't pull image"</a:t>
            </a:r>
            <a:endParaRPr lang="en-US" sz="1200" dirty="0"/>
          </a:p>
        </p:txBody>
      </p:sp>
      <p:sp>
        <p:nvSpPr>
          <p:cNvPr id="15" name="Shape 12"/>
          <p:cNvSpPr/>
          <p:nvPr/>
        </p:nvSpPr>
        <p:spPr>
          <a:xfrm>
            <a:off x="6355080" y="2194560"/>
            <a:ext cx="5349240" cy="4206240"/>
          </a:xfrm>
          <a:prstGeom prst="rect">
            <a:avLst/>
          </a:prstGeom>
          <a:solidFill>
            <a:srgbClr val="152846"/>
          </a:solidFill>
          <a:ln w="12700">
            <a:solidFill>
              <a:srgbClr val="14B8A6"/>
            </a:solidFill>
            <a:prstDash val="solid"/>
          </a:ln>
        </p:spPr>
      </p:sp>
      <p:sp>
        <p:nvSpPr>
          <p:cNvPr id="16" name="Shape 13"/>
          <p:cNvSpPr/>
          <p:nvPr/>
        </p:nvSpPr>
        <p:spPr>
          <a:xfrm>
            <a:off x="6537960" y="2377440"/>
            <a:ext cx="502920" cy="502920"/>
          </a:xfrm>
          <a:prstGeom prst="ellipse">
            <a:avLst/>
          </a:prstGeom>
          <a:solidFill>
            <a:srgbClr val="14B8A6"/>
          </a:solidFill>
          <a:ln w="12700">
            <a:solidFill>
              <a:srgbClr val="14B8A6"/>
            </a:solidFill>
            <a:prstDash val="solid"/>
          </a:ln>
        </p:spPr>
      </p:sp>
      <p:pic>
        <p:nvPicPr>
          <p:cNvPr id="17" name="Image 1" descr="preencoded.png">    </p:cNvPr>
          <p:cNvPicPr>
            <a:picLocks noChangeAspect="1"/>
          </p:cNvPicPr>
          <p:nvPr/>
        </p:nvPicPr>
        <p:blipFill>
          <a:blip r:embed="rId2"/>
          <a:stretch>
            <a:fillRect/>
          </a:stretch>
        </p:blipFill>
        <p:spPr>
          <a:xfrm>
            <a:off x="6651117" y="2490597"/>
            <a:ext cx="276606" cy="276606"/>
          </a:xfrm>
          <a:prstGeom prst="rect">
            <a:avLst/>
          </a:prstGeom>
        </p:spPr>
      </p:pic>
      <p:sp>
        <p:nvSpPr>
          <p:cNvPr id="18" name="Text 14"/>
          <p:cNvSpPr/>
          <p:nvPr/>
        </p:nvSpPr>
        <p:spPr>
          <a:xfrm>
            <a:off x="7178040" y="2468880"/>
            <a:ext cx="4572000" cy="320040"/>
          </a:xfrm>
          <a:prstGeom prst="rect">
            <a:avLst/>
          </a:prstGeom>
          <a:noFill/>
          <a:ln/>
        </p:spPr>
        <p:txBody>
          <a:bodyPr wrap="square" lIns="0" tIns="0" rIns="0" bIns="0" rtlCol="0" anchor="ctr"/>
          <a:lstStyle/>
          <a:p>
            <a:pPr indent="0" marL="0">
              <a:buNone/>
            </a:pPr>
            <a:r>
              <a:rPr lang="en-US" sz="1200" b="1" spc="100" kern="0" dirty="0">
                <a:solidFill>
                  <a:srgbClr val="2DD4BF"/>
                </a:solidFill>
                <a:latin typeface="Calibri" pitchFamily="34" charset="0"/>
                <a:ea typeface="Calibri" pitchFamily="34" charset="-122"/>
                <a:cs typeface="Calibri" pitchFamily="34" charset="-120"/>
              </a:rPr>
              <a:t>TASK ROLE</a:t>
            </a:r>
            <a:endParaRPr lang="en-US" sz="1200" dirty="0"/>
          </a:p>
        </p:txBody>
      </p:sp>
      <p:sp>
        <p:nvSpPr>
          <p:cNvPr id="19" name="Text 15"/>
          <p:cNvSpPr/>
          <p:nvPr/>
        </p:nvSpPr>
        <p:spPr>
          <a:xfrm>
            <a:off x="6537960" y="3017520"/>
            <a:ext cx="50292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 your application</a:t>
            </a:r>
            <a:endParaRPr lang="en-US" sz="1800" dirty="0"/>
          </a:p>
        </p:txBody>
      </p:sp>
      <p:sp>
        <p:nvSpPr>
          <p:cNvPr id="20" name="Text 16"/>
          <p:cNvSpPr/>
          <p:nvPr/>
        </p:nvSpPr>
        <p:spPr>
          <a:xfrm>
            <a:off x="6537960" y="3474720"/>
            <a:ext cx="5029200" cy="91440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Used by your code at runtime. When your app calls an AWS API from inside the container, this is the identity it uses.</a:t>
            </a:r>
            <a:endParaRPr lang="en-US" sz="1200" dirty="0"/>
          </a:p>
        </p:txBody>
      </p:sp>
      <p:sp>
        <p:nvSpPr>
          <p:cNvPr id="21" name="Text 17"/>
          <p:cNvSpPr/>
          <p:nvPr/>
        </p:nvSpPr>
        <p:spPr>
          <a:xfrm>
            <a:off x="6537960" y="4434840"/>
            <a:ext cx="5029200" cy="320040"/>
          </a:xfrm>
          <a:prstGeom prst="rect">
            <a:avLst/>
          </a:prstGeom>
          <a:noFill/>
          <a:ln/>
        </p:spPr>
        <p:txBody>
          <a:bodyPr wrap="square" lIns="0" tIns="0" rIns="0" bIns="0" rtlCol="0" anchor="ctr"/>
          <a:lstStyle/>
          <a:p>
            <a:pPr indent="0" marL="0">
              <a:buNone/>
            </a:pPr>
            <a:r>
              <a:rPr lang="en-US" sz="1200" dirty="0">
                <a:solidFill>
                  <a:srgbClr val="2DD4BF"/>
                </a:solidFill>
                <a:latin typeface="Calibri" pitchFamily="34" charset="0"/>
                <a:ea typeface="Calibri" pitchFamily="34" charset="-122"/>
                <a:cs typeface="Calibri" pitchFamily="34" charset="-120"/>
              </a:rPr>
              <a:t>▸  Read S3 objects</a:t>
            </a:r>
            <a:endParaRPr lang="en-US" sz="1200" dirty="0"/>
          </a:p>
        </p:txBody>
      </p:sp>
      <p:sp>
        <p:nvSpPr>
          <p:cNvPr id="22" name="Text 18"/>
          <p:cNvSpPr/>
          <p:nvPr/>
        </p:nvSpPr>
        <p:spPr>
          <a:xfrm>
            <a:off x="6537960" y="4800600"/>
            <a:ext cx="5029200" cy="320040"/>
          </a:xfrm>
          <a:prstGeom prst="rect">
            <a:avLst/>
          </a:prstGeom>
          <a:noFill/>
          <a:ln/>
        </p:spPr>
        <p:txBody>
          <a:bodyPr wrap="square" lIns="0" tIns="0" rIns="0" bIns="0" rtlCol="0" anchor="ctr"/>
          <a:lstStyle/>
          <a:p>
            <a:pPr indent="0" marL="0">
              <a:buNone/>
            </a:pPr>
            <a:r>
              <a:rPr lang="en-US" sz="1200" dirty="0">
                <a:solidFill>
                  <a:srgbClr val="2DD4BF"/>
                </a:solidFill>
                <a:latin typeface="Calibri" pitchFamily="34" charset="0"/>
                <a:ea typeface="Calibri" pitchFamily="34" charset="-122"/>
                <a:cs typeface="Calibri" pitchFamily="34" charset="-120"/>
              </a:rPr>
              <a:t>▸  Write to DynamoDB</a:t>
            </a:r>
            <a:endParaRPr lang="en-US" sz="1200" dirty="0"/>
          </a:p>
        </p:txBody>
      </p:sp>
      <p:sp>
        <p:nvSpPr>
          <p:cNvPr id="23" name="Text 19"/>
          <p:cNvSpPr/>
          <p:nvPr/>
        </p:nvSpPr>
        <p:spPr>
          <a:xfrm>
            <a:off x="6537960" y="5166360"/>
            <a:ext cx="5029200" cy="320040"/>
          </a:xfrm>
          <a:prstGeom prst="rect">
            <a:avLst/>
          </a:prstGeom>
          <a:noFill/>
          <a:ln/>
        </p:spPr>
        <p:txBody>
          <a:bodyPr wrap="square" lIns="0" tIns="0" rIns="0" bIns="0" rtlCol="0" anchor="ctr"/>
          <a:lstStyle/>
          <a:p>
            <a:pPr indent="0" marL="0">
              <a:buNone/>
            </a:pPr>
            <a:r>
              <a:rPr lang="en-US" sz="1200" dirty="0">
                <a:solidFill>
                  <a:srgbClr val="2DD4BF"/>
                </a:solidFill>
                <a:latin typeface="Calibri" pitchFamily="34" charset="0"/>
                <a:ea typeface="Calibri" pitchFamily="34" charset="-122"/>
                <a:cs typeface="Calibri" pitchFamily="34" charset="-120"/>
              </a:rPr>
              <a:t>▸  Publish to SNS / SQS</a:t>
            </a:r>
            <a:endParaRPr lang="en-US" sz="1200" dirty="0"/>
          </a:p>
        </p:txBody>
      </p:sp>
      <p:sp>
        <p:nvSpPr>
          <p:cNvPr id="24" name="Text 20"/>
          <p:cNvSpPr/>
          <p:nvPr/>
        </p:nvSpPr>
        <p:spPr>
          <a:xfrm>
            <a:off x="6537960" y="5852160"/>
            <a:ext cx="5029200" cy="365760"/>
          </a:xfrm>
          <a:prstGeom prst="rect">
            <a:avLst/>
          </a:prstGeom>
          <a:noFill/>
          <a:ln/>
        </p:spPr>
        <p:txBody>
          <a:bodyPr wrap="square" lIns="0" tIns="0" rIns="0" bIns="0" rtlCol="0" anchor="ctr"/>
          <a:lstStyle/>
          <a:p>
            <a:pPr indent="0" marL="0">
              <a:buNone/>
            </a:pPr>
            <a:r>
              <a:rPr lang="en-US" sz="1200" i="1" dirty="0">
                <a:solidFill>
                  <a:srgbClr val="F59E0B"/>
                </a:solidFill>
                <a:latin typeface="Consolas" pitchFamily="34" charset="0"/>
                <a:ea typeface="Consolas" pitchFamily="34" charset="-122"/>
                <a:cs typeface="Consolas" pitchFamily="34" charset="-120"/>
              </a:rPr>
              <a:t>Error: "AccessDenied calling DynamoDB"</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PHASE 1  •  STEP 1</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terraform plan tells you nothing</a:t>
            </a:r>
            <a:endParaRPr lang="en-US" sz="2800" dirty="0"/>
          </a:p>
        </p:txBody>
      </p:sp>
      <p:sp>
        <p:nvSpPr>
          <p:cNvPr id="4" name="Text 2"/>
          <p:cNvSpPr/>
          <p:nvPr/>
        </p:nvSpPr>
        <p:spPr>
          <a:xfrm>
            <a:off x="731520" y="1463040"/>
            <a:ext cx="10972800" cy="365760"/>
          </a:xfrm>
          <a:prstGeom prst="rect">
            <a:avLst/>
          </a:prstGeom>
          <a:noFill/>
          <a:ln/>
        </p:spPr>
        <p:txBody>
          <a:bodyPr wrap="square" lIns="0" tIns="0" rIns="0" bIns="0" rtlCol="0" anchor="ctr"/>
          <a:lstStyle/>
          <a:p>
            <a:pPr indent="0" marL="0">
              <a:buNone/>
            </a:pPr>
            <a:r>
              <a:rPr lang="en-US" sz="1400" i="1" dirty="0">
                <a:solidFill>
                  <a:srgbClr val="E2E8F0"/>
                </a:solidFill>
                <a:latin typeface="Calibri" pitchFamily="34" charset="0"/>
                <a:ea typeface="Calibri" pitchFamily="34" charset="-122"/>
                <a:cs typeface="Calibri" pitchFamily="34" charset="-120"/>
              </a:rPr>
              <a:t>First instinct: run plan, see what's broken.</a:t>
            </a:r>
            <a:endParaRPr lang="en-US" sz="1400" dirty="0"/>
          </a:p>
        </p:txBody>
      </p:sp>
      <p:sp>
        <p:nvSpPr>
          <p:cNvPr id="5" name="Shape 3"/>
          <p:cNvSpPr/>
          <p:nvPr/>
        </p:nvSpPr>
        <p:spPr>
          <a:xfrm>
            <a:off x="731520" y="2011680"/>
            <a:ext cx="5943600" cy="2194560"/>
          </a:xfrm>
          <a:prstGeom prst="rect">
            <a:avLst/>
          </a:prstGeom>
          <a:solidFill>
            <a:srgbClr val="0F1F3A"/>
          </a:solidFill>
          <a:ln w="6350">
            <a:solidFill>
              <a:srgbClr val="0D9488"/>
            </a:solidFill>
            <a:prstDash val="solid"/>
          </a:ln>
        </p:spPr>
      </p:sp>
      <p:sp>
        <p:nvSpPr>
          <p:cNvPr id="6" name="Text 4"/>
          <p:cNvSpPr/>
          <p:nvPr/>
        </p:nvSpPr>
        <p:spPr>
          <a:xfrm>
            <a:off x="868680" y="2103120"/>
            <a:ext cx="5669280" cy="2011680"/>
          </a:xfrm>
          <a:prstGeom prst="rect">
            <a:avLst/>
          </a:prstGeom>
          <a:noFill/>
          <a:ln/>
        </p:spPr>
        <p:txBody>
          <a:bodyPr wrap="square" lIns="0" tIns="0" rIns="0" bIns="0" rtlCol="0" anchor="t"/>
          <a:lstStyle/>
          <a:p>
            <a:pPr algn="l" indent="0" marL="0">
              <a:buNone/>
            </a:pPr>
            <a:r>
              <a:rPr lang="en-US" sz="1300" dirty="0">
                <a:solidFill>
                  <a:srgbClr val="E2E8F0"/>
                </a:solidFill>
                <a:latin typeface="Consolas" pitchFamily="34" charset="0"/>
                <a:ea typeface="Consolas" pitchFamily="34" charset="-122"/>
                <a:cs typeface="Consolas" pitchFamily="34" charset="-120"/>
              </a:rPr>
              <a:t>$ terraform init</a:t>
            </a:r>
            <a:endParaRPr lang="en-US" sz="1300" dirty="0"/>
          </a:p>
          <a:p>
            <a:pPr algn="l" indent="0" marL="0">
              <a:buNone/>
            </a:pPr>
            <a:r>
              <a:rPr lang="en-US" sz="1300" dirty="0">
                <a:solidFill>
                  <a:srgbClr val="E2E8F0"/>
                </a:solidFill>
                <a:latin typeface="Consolas" pitchFamily="34" charset="0"/>
                <a:ea typeface="Consolas" pitchFamily="34" charset="-122"/>
                <a:cs typeface="Consolas" pitchFamily="34" charset="-120"/>
              </a:rPr>
              <a:t>$ terraform plan</a:t>
            </a:r>
            <a:endParaRPr lang="en-US" sz="1300" dirty="0"/>
          </a:p>
          <a:p>
            <a:pPr algn="l" indent="0" marL="0">
              <a:buNone/>
            </a:pPr>
            <a:endParaRPr lang="en-US" sz="1300" dirty="0"/>
          </a:p>
          <a:p>
            <a:pPr algn="l" indent="0" marL="0">
              <a:buNone/>
            </a:pPr>
            <a:r>
              <a:rPr lang="en-US" sz="1300" dirty="0">
                <a:solidFill>
                  <a:srgbClr val="E2E8F0"/>
                </a:solidFill>
                <a:latin typeface="Consolas" pitchFamily="34" charset="0"/>
                <a:ea typeface="Consolas" pitchFamily="34" charset="-122"/>
                <a:cs typeface="Consolas" pitchFamily="34" charset="-120"/>
              </a:rPr>
              <a:t>Plan: 8 to add, 0 to change, 0 to destroy.</a:t>
            </a:r>
            <a:endParaRPr lang="en-US" sz="1300" dirty="0"/>
          </a:p>
          <a:p>
            <a:pPr algn="l" indent="0" marL="0">
              <a:buNone/>
            </a:pPr>
            <a:endParaRPr lang="en-US" sz="1300" dirty="0"/>
          </a:p>
          <a:p>
            <a:pPr algn="l" indent="0" marL="0">
              <a:buNone/>
            </a:pPr>
            <a:r>
              <a:rPr lang="en-US" sz="1300" dirty="0">
                <a:solidFill>
                  <a:srgbClr val="E2E8F0"/>
                </a:solidFill>
                <a:latin typeface="Consolas" pitchFamily="34" charset="0"/>
                <a:ea typeface="Consolas" pitchFamily="34" charset="-122"/>
                <a:cs typeface="Consolas" pitchFamily="34" charset="-120"/>
              </a:rPr>
              <a:t>[ no errors, no warnings ]</a:t>
            </a:r>
            <a:endParaRPr lang="en-US" sz="1300" dirty="0"/>
          </a:p>
        </p:txBody>
      </p:sp>
      <p:sp>
        <p:nvSpPr>
          <p:cNvPr id="7" name="Shape 5"/>
          <p:cNvSpPr/>
          <p:nvPr/>
        </p:nvSpPr>
        <p:spPr>
          <a:xfrm>
            <a:off x="6949440" y="2011680"/>
            <a:ext cx="4754880" cy="3657600"/>
          </a:xfrm>
          <a:prstGeom prst="rect">
            <a:avLst/>
          </a:prstGeom>
          <a:solidFill>
            <a:srgbClr val="152846"/>
          </a:solidFill>
          <a:ln w="12700">
            <a:solidFill>
              <a:srgbClr val="F59E0B"/>
            </a:solidFill>
            <a:prstDash val="solid"/>
          </a:ln>
        </p:spPr>
      </p:sp>
      <p:sp>
        <p:nvSpPr>
          <p:cNvPr id="8" name="Shape 6"/>
          <p:cNvSpPr/>
          <p:nvPr/>
        </p:nvSpPr>
        <p:spPr>
          <a:xfrm>
            <a:off x="7132320" y="2194560"/>
            <a:ext cx="502920" cy="502920"/>
          </a:xfrm>
          <a:prstGeom prst="ellipse">
            <a:avLst/>
          </a:prstGeom>
          <a:solidFill>
            <a:srgbClr val="F59E0B"/>
          </a:solidFill>
          <a:ln w="12700">
            <a:solidFill>
              <a:srgbClr val="F59E0B"/>
            </a:solidFill>
            <a:prstDash val="solid"/>
          </a:ln>
        </p:spPr>
      </p:sp>
      <p:pic>
        <p:nvPicPr>
          <p:cNvPr id="9" name="Image 0" descr="preencoded.png">    </p:cNvPr>
          <p:cNvPicPr>
            <a:picLocks noChangeAspect="1"/>
          </p:cNvPicPr>
          <p:nvPr/>
        </p:nvPicPr>
        <p:blipFill>
          <a:blip r:embed="rId1"/>
          <a:stretch>
            <a:fillRect/>
          </a:stretch>
        </p:blipFill>
        <p:spPr>
          <a:xfrm>
            <a:off x="7245477" y="2307717"/>
            <a:ext cx="276606" cy="276606"/>
          </a:xfrm>
          <a:prstGeom prst="rect">
            <a:avLst/>
          </a:prstGeom>
        </p:spPr>
      </p:pic>
      <p:sp>
        <p:nvSpPr>
          <p:cNvPr id="10" name="Text 7"/>
          <p:cNvSpPr/>
          <p:nvPr/>
        </p:nvSpPr>
        <p:spPr>
          <a:xfrm>
            <a:off x="7772400" y="2286000"/>
            <a:ext cx="4114800" cy="32004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THE LESSON</a:t>
            </a:r>
            <a:endParaRPr lang="en-US" sz="1100" dirty="0"/>
          </a:p>
        </p:txBody>
      </p:sp>
      <p:sp>
        <p:nvSpPr>
          <p:cNvPr id="11" name="Text 8"/>
          <p:cNvSpPr/>
          <p:nvPr/>
        </p:nvSpPr>
        <p:spPr>
          <a:xfrm>
            <a:off x="7132320" y="2834640"/>
            <a:ext cx="443484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Terraform plan validates schema, not semantics</a:t>
            </a:r>
            <a:endParaRPr lang="en-US" sz="1600" dirty="0"/>
          </a:p>
        </p:txBody>
      </p:sp>
      <p:sp>
        <p:nvSpPr>
          <p:cNvPr id="12" name="Text 9"/>
          <p:cNvSpPr/>
          <p:nvPr/>
        </p:nvSpPr>
        <p:spPr>
          <a:xfrm>
            <a:off x="7132320" y="3520440"/>
            <a:ext cx="4434840" cy="2011680"/>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The AWS provider does no Fargate-specific validation. It checks attribute types match the schema. It doesn't know bridge mode is incompatible with Fargate, or that execution roles are required, or that CPU and memory must be at the task level. Those constraints live in the AWS API, not the Terraform schema.</a:t>
            </a:r>
            <a:endParaRPr lang="en-US" sz="1100" dirty="0"/>
          </a:p>
        </p:txBody>
      </p:sp>
      <p:sp>
        <p:nvSpPr>
          <p:cNvPr id="13" name="Text 10"/>
          <p:cNvSpPr/>
          <p:nvPr/>
        </p:nvSpPr>
        <p:spPr>
          <a:xfrm>
            <a:off x="731520" y="6126480"/>
            <a:ext cx="10972800" cy="365760"/>
          </a:xfrm>
          <a:prstGeom prst="rect">
            <a:avLst/>
          </a:prstGeom>
          <a:noFill/>
          <a:ln/>
        </p:spPr>
        <p:txBody>
          <a:bodyPr wrap="square" lIns="0" tIns="0" rIns="0" bIns="0" rtlCol="0" anchor="ctr"/>
          <a:lstStyle/>
          <a:p>
            <a:pPr indent="0" marL="0">
              <a:buNone/>
            </a:pPr>
            <a:r>
              <a:rPr lang="en-US" sz="1300" b="1" i="1" dirty="0">
                <a:solidFill>
                  <a:srgbClr val="2DD4BF"/>
                </a:solidFill>
                <a:latin typeface="Calibri" pitchFamily="34" charset="0"/>
                <a:ea typeface="Calibri" pitchFamily="34" charset="-122"/>
                <a:cs typeface="Calibri" pitchFamily="34" charset="-120"/>
              </a:rPr>
              <a:t>Trust apply, not plan. Trust the running thing, not Terraform's opinion of it.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PHASE 1  •  STEP 2</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Apply, fail, read the error</a:t>
            </a:r>
            <a:endParaRPr lang="en-US" sz="2800" dirty="0"/>
          </a:p>
        </p:txBody>
      </p:sp>
      <p:sp>
        <p:nvSpPr>
          <p:cNvPr id="4" name="Shape 2"/>
          <p:cNvSpPr/>
          <p:nvPr/>
        </p:nvSpPr>
        <p:spPr>
          <a:xfrm>
            <a:off x="731520" y="1417320"/>
            <a:ext cx="10972800" cy="1280160"/>
          </a:xfrm>
          <a:prstGeom prst="rect">
            <a:avLst/>
          </a:prstGeom>
          <a:solidFill>
            <a:srgbClr val="0F1F3A"/>
          </a:solidFill>
          <a:ln w="6350">
            <a:solidFill>
              <a:srgbClr val="0D9488"/>
            </a:solidFill>
            <a:prstDash val="solid"/>
          </a:ln>
        </p:spPr>
      </p:sp>
      <p:sp>
        <p:nvSpPr>
          <p:cNvPr id="5" name="Text 3"/>
          <p:cNvSpPr/>
          <p:nvPr/>
        </p:nvSpPr>
        <p:spPr>
          <a:xfrm>
            <a:off x="868680" y="1508760"/>
            <a:ext cx="10698480" cy="1097280"/>
          </a:xfrm>
          <a:prstGeom prst="rect">
            <a:avLst/>
          </a:prstGeom>
          <a:noFill/>
          <a:ln/>
        </p:spPr>
        <p:txBody>
          <a:bodyPr wrap="square" lIns="0" tIns="0" rIns="0" bIns="0" rtlCol="0" anchor="t"/>
          <a:lstStyle/>
          <a:p>
            <a:pPr algn="l" indent="0" marL="0">
              <a:buNone/>
            </a:pPr>
            <a:r>
              <a:rPr lang="en-US" sz="1300" dirty="0">
                <a:solidFill>
                  <a:srgbClr val="E2E8F0"/>
                </a:solidFill>
                <a:latin typeface="Consolas" pitchFamily="34" charset="0"/>
                <a:ea typeface="Consolas" pitchFamily="34" charset="-122"/>
                <a:cs typeface="Consolas" pitchFamily="34" charset="-120"/>
              </a:rPr>
              <a:t>Error: creating ECS Task Definition (payment-api):</a:t>
            </a:r>
            <a:endParaRPr lang="en-US" sz="1300" dirty="0"/>
          </a:p>
          <a:p>
            <a:pPr algn="l" indent="0" marL="0">
              <a:buNone/>
            </a:pPr>
            <a:r>
              <a:rPr lang="en-US" sz="1300" dirty="0">
                <a:solidFill>
                  <a:srgbClr val="E2E8F0"/>
                </a:solidFill>
                <a:latin typeface="Consolas" pitchFamily="34" charset="0"/>
                <a:ea typeface="Consolas" pitchFamily="34" charset="-122"/>
                <a:cs typeface="Consolas" pitchFamily="34" charset="-120"/>
              </a:rPr>
              <a:t>ClientException: Invalid setting for container 'payment-api'.</a:t>
            </a:r>
            <a:endParaRPr lang="en-US" sz="1300" dirty="0"/>
          </a:p>
          <a:p>
            <a:pPr algn="l" indent="0" marL="0">
              <a:buNone/>
            </a:pPr>
            <a:r>
              <a:rPr lang="en-US" sz="1300" dirty="0">
                <a:solidFill>
                  <a:srgbClr val="E2E8F0"/>
                </a:solidFill>
                <a:latin typeface="Consolas" pitchFamily="34" charset="0"/>
                <a:ea typeface="Consolas" pitchFamily="34" charset="-122"/>
                <a:cs typeface="Consolas" pitchFamily="34" charset="-120"/>
              </a:rPr>
              <a:t>At least one of 'memory' or 'memoryReservation' must be specified.</a:t>
            </a:r>
            <a:endParaRPr lang="en-US" sz="1300" dirty="0"/>
          </a:p>
        </p:txBody>
      </p:sp>
      <p:sp>
        <p:nvSpPr>
          <p:cNvPr id="6" name="Text 4"/>
          <p:cNvSpPr/>
          <p:nvPr/>
        </p:nvSpPr>
        <p:spPr>
          <a:xfrm>
            <a:off x="731520" y="2880360"/>
            <a:ext cx="10972800" cy="365760"/>
          </a:xfrm>
          <a:prstGeom prst="rect">
            <a:avLst/>
          </a:prstGeom>
          <a:noFill/>
          <a:ln/>
        </p:spPr>
        <p:txBody>
          <a:bodyPr wrap="square" lIns="0" tIns="0" rIns="0" bIns="0" rtlCol="0" anchor="ctr"/>
          <a:lstStyle/>
          <a:p>
            <a:pPr indent="0" marL="0">
              <a:buNone/>
            </a:pPr>
            <a:r>
              <a:rPr lang="en-US" sz="1600" b="1" dirty="0">
                <a:solidFill>
                  <a:srgbClr val="2DD4BF"/>
                </a:solidFill>
                <a:latin typeface="Calibri" pitchFamily="34" charset="0"/>
                <a:ea typeface="Calibri" pitchFamily="34" charset="-122"/>
                <a:cs typeface="Calibri" pitchFamily="34" charset="-120"/>
              </a:rPr>
              <a:t>The junior fix vs the senior fix</a:t>
            </a:r>
            <a:endParaRPr lang="en-US" sz="1600" dirty="0"/>
          </a:p>
        </p:txBody>
      </p:sp>
      <p:sp>
        <p:nvSpPr>
          <p:cNvPr id="7" name="Shape 5"/>
          <p:cNvSpPr/>
          <p:nvPr/>
        </p:nvSpPr>
        <p:spPr>
          <a:xfrm>
            <a:off x="731520" y="3337560"/>
            <a:ext cx="5349240" cy="3108960"/>
          </a:xfrm>
          <a:prstGeom prst="rect">
            <a:avLst/>
          </a:prstGeom>
          <a:solidFill>
            <a:srgbClr val="152846"/>
          </a:solidFill>
          <a:ln w="12700">
            <a:solidFill>
              <a:srgbClr val="F59E0B"/>
            </a:solidFill>
            <a:prstDash val="solid"/>
          </a:ln>
        </p:spPr>
      </p:sp>
      <p:sp>
        <p:nvSpPr>
          <p:cNvPr id="8" name="Text 6"/>
          <p:cNvSpPr/>
          <p:nvPr/>
        </p:nvSpPr>
        <p:spPr>
          <a:xfrm>
            <a:off x="914400" y="3474720"/>
            <a:ext cx="5029200" cy="32004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JUNIOR</a:t>
            </a:r>
            <a:endParaRPr lang="en-US" sz="1100" dirty="0"/>
          </a:p>
        </p:txBody>
      </p:sp>
      <p:sp>
        <p:nvSpPr>
          <p:cNvPr id="9" name="Text 7"/>
          <p:cNvSpPr/>
          <p:nvPr/>
        </p:nvSpPr>
        <p:spPr>
          <a:xfrm>
            <a:off x="914400" y="37947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Add memory at container level</a:t>
            </a:r>
            <a:endParaRPr lang="en-US" sz="1600" dirty="0"/>
          </a:p>
        </p:txBody>
      </p:sp>
      <p:sp>
        <p:nvSpPr>
          <p:cNvPr id="10" name="Shape 8"/>
          <p:cNvSpPr/>
          <p:nvPr/>
        </p:nvSpPr>
        <p:spPr>
          <a:xfrm>
            <a:off x="914400" y="4343400"/>
            <a:ext cx="4983480" cy="1371600"/>
          </a:xfrm>
          <a:prstGeom prst="rect">
            <a:avLst/>
          </a:prstGeom>
          <a:solidFill>
            <a:srgbClr val="0F1F3A"/>
          </a:solidFill>
          <a:ln w="6350">
            <a:solidFill>
              <a:srgbClr val="0D9488"/>
            </a:solidFill>
            <a:prstDash val="solid"/>
          </a:ln>
        </p:spPr>
      </p:sp>
      <p:sp>
        <p:nvSpPr>
          <p:cNvPr id="11" name="Text 9"/>
          <p:cNvSpPr/>
          <p:nvPr/>
        </p:nvSpPr>
        <p:spPr>
          <a:xfrm>
            <a:off x="1051560" y="4434840"/>
            <a:ext cx="4709160" cy="1188720"/>
          </a:xfrm>
          <a:prstGeom prst="rect">
            <a:avLst/>
          </a:prstGeom>
          <a:noFill/>
          <a:ln/>
        </p:spPr>
        <p:txBody>
          <a:bodyPr wrap="square" lIns="0" tIns="0" rIns="0" bIns="0" rtlCol="0" anchor="t"/>
          <a:lstStyle/>
          <a:p>
            <a:pPr algn="l" indent="0" marL="0">
              <a:buNone/>
            </a:pPr>
            <a:r>
              <a:rPr lang="en-US" sz="1100" dirty="0">
                <a:solidFill>
                  <a:srgbClr val="E2E8F0"/>
                </a:solidFill>
                <a:latin typeface="Consolas" pitchFamily="34" charset="0"/>
                <a:ea typeface="Consolas" pitchFamily="34" charset="-122"/>
                <a:cs typeface="Consolas" pitchFamily="34" charset="-120"/>
              </a:rPr>
              <a:t>container_definitions = [{</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name = "payment-api"</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memory = 512  // &lt;-- here</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12" name="Text 10"/>
          <p:cNvSpPr/>
          <p:nvPr/>
        </p:nvSpPr>
        <p:spPr>
          <a:xfrm>
            <a:off x="914400" y="5897880"/>
            <a:ext cx="5029200" cy="365760"/>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Satisfies AWS. Wrong for Fargate.</a:t>
            </a:r>
            <a:endParaRPr lang="en-US" sz="1100" dirty="0"/>
          </a:p>
        </p:txBody>
      </p:sp>
      <p:sp>
        <p:nvSpPr>
          <p:cNvPr id="13" name="Shape 11"/>
          <p:cNvSpPr/>
          <p:nvPr/>
        </p:nvSpPr>
        <p:spPr>
          <a:xfrm>
            <a:off x="6355080" y="3337560"/>
            <a:ext cx="5349240" cy="3108960"/>
          </a:xfrm>
          <a:prstGeom prst="rect">
            <a:avLst/>
          </a:prstGeom>
          <a:solidFill>
            <a:srgbClr val="152846"/>
          </a:solidFill>
          <a:ln w="12700">
            <a:solidFill>
              <a:srgbClr val="14B8A6"/>
            </a:solidFill>
            <a:prstDash val="solid"/>
          </a:ln>
        </p:spPr>
      </p:sp>
      <p:sp>
        <p:nvSpPr>
          <p:cNvPr id="14" name="Text 12"/>
          <p:cNvSpPr/>
          <p:nvPr/>
        </p:nvSpPr>
        <p:spPr>
          <a:xfrm>
            <a:off x="6537960" y="3474720"/>
            <a:ext cx="5029200" cy="320040"/>
          </a:xfrm>
          <a:prstGeom prst="rect">
            <a:avLst/>
          </a:prstGeom>
          <a:noFill/>
          <a:ln/>
        </p:spPr>
        <p:txBody>
          <a:bodyPr wrap="square" lIns="0" tIns="0" rIns="0" bIns="0" rtlCol="0" anchor="ctr"/>
          <a:lstStyle/>
          <a:p>
            <a:pPr indent="0" marL="0">
              <a:buNone/>
            </a:pPr>
            <a:r>
              <a:rPr lang="en-US" sz="1100" b="1" spc="200" kern="0" dirty="0">
                <a:solidFill>
                  <a:srgbClr val="2DD4BF"/>
                </a:solidFill>
                <a:latin typeface="Calibri" pitchFamily="34" charset="0"/>
                <a:ea typeface="Calibri" pitchFamily="34" charset="-122"/>
                <a:cs typeface="Calibri" pitchFamily="34" charset="-120"/>
              </a:rPr>
              <a:t>SENIOR</a:t>
            </a:r>
            <a:endParaRPr lang="en-US" sz="1100" dirty="0"/>
          </a:p>
        </p:txBody>
      </p:sp>
      <p:sp>
        <p:nvSpPr>
          <p:cNvPr id="15" name="Text 13"/>
          <p:cNvSpPr/>
          <p:nvPr/>
        </p:nvSpPr>
        <p:spPr>
          <a:xfrm>
            <a:off x="6537960" y="379476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Set CPU and memory at task level</a:t>
            </a:r>
            <a:endParaRPr lang="en-US" sz="1600" dirty="0"/>
          </a:p>
        </p:txBody>
      </p:sp>
      <p:sp>
        <p:nvSpPr>
          <p:cNvPr id="16" name="Shape 14"/>
          <p:cNvSpPr/>
          <p:nvPr/>
        </p:nvSpPr>
        <p:spPr>
          <a:xfrm>
            <a:off x="6537960" y="4343400"/>
            <a:ext cx="4983480" cy="1371600"/>
          </a:xfrm>
          <a:prstGeom prst="rect">
            <a:avLst/>
          </a:prstGeom>
          <a:solidFill>
            <a:srgbClr val="0F1F3A"/>
          </a:solidFill>
          <a:ln w="6350">
            <a:solidFill>
              <a:srgbClr val="0D9488"/>
            </a:solidFill>
            <a:prstDash val="solid"/>
          </a:ln>
        </p:spPr>
      </p:sp>
      <p:sp>
        <p:nvSpPr>
          <p:cNvPr id="17" name="Text 15"/>
          <p:cNvSpPr/>
          <p:nvPr/>
        </p:nvSpPr>
        <p:spPr>
          <a:xfrm>
            <a:off x="6675120" y="4434840"/>
            <a:ext cx="4709160" cy="1188720"/>
          </a:xfrm>
          <a:prstGeom prst="rect">
            <a:avLst/>
          </a:prstGeom>
          <a:noFill/>
          <a:ln/>
        </p:spPr>
        <p:txBody>
          <a:bodyPr wrap="square" lIns="0" tIns="0" rIns="0" bIns="0" rtlCol="0" anchor="t"/>
          <a:lstStyle/>
          <a:p>
            <a:pPr algn="l" indent="0" marL="0">
              <a:buNone/>
            </a:pPr>
            <a:r>
              <a:rPr lang="en-US" sz="1100" dirty="0">
                <a:solidFill>
                  <a:srgbClr val="E2E8F0"/>
                </a:solidFill>
                <a:latin typeface="Consolas" pitchFamily="34" charset="0"/>
                <a:ea typeface="Consolas" pitchFamily="34" charset="-122"/>
                <a:cs typeface="Consolas" pitchFamily="34" charset="-120"/>
              </a:rPr>
              <a:t>resource "aws_ecs_task_definition" {</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cpu    = "256"</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memory = "512"</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18" name="Text 16"/>
          <p:cNvSpPr/>
          <p:nvPr/>
        </p:nvSpPr>
        <p:spPr>
          <a:xfrm>
            <a:off x="6537960" y="5897880"/>
            <a:ext cx="5029200" cy="365760"/>
          </a:xfrm>
          <a:prstGeom prst="rect">
            <a:avLst/>
          </a:prstGeom>
          <a:noFill/>
          <a:ln/>
        </p:spPr>
        <p:txBody>
          <a:bodyPr wrap="square" lIns="0" tIns="0" rIns="0" bIns="0" rtlCol="0" anchor="ctr"/>
          <a:lstStyle/>
          <a:p>
            <a:pPr indent="0" marL="0">
              <a:buNone/>
            </a:pPr>
            <a:r>
              <a:rPr lang="en-US" sz="1100" i="1" dirty="0">
                <a:solidFill>
                  <a:srgbClr val="2DD4BF"/>
                </a:solidFill>
                <a:latin typeface="Calibri" pitchFamily="34" charset="0"/>
                <a:ea typeface="Calibri" pitchFamily="34" charset="-122"/>
                <a:cs typeface="Calibri" pitchFamily="34" charset="-120"/>
              </a:rPr>
              <a:t>Strings, not ints. Fargate convention.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PHASE 1  •  STEP 3</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Re-apply. Next error. Free hint.</a:t>
            </a:r>
            <a:endParaRPr lang="en-US" sz="2800" dirty="0"/>
          </a:p>
        </p:txBody>
      </p:sp>
      <p:sp>
        <p:nvSpPr>
          <p:cNvPr id="4" name="Shape 2"/>
          <p:cNvSpPr/>
          <p:nvPr/>
        </p:nvSpPr>
        <p:spPr>
          <a:xfrm>
            <a:off x="731520" y="1417320"/>
            <a:ext cx="10972800" cy="914400"/>
          </a:xfrm>
          <a:prstGeom prst="rect">
            <a:avLst/>
          </a:prstGeom>
          <a:solidFill>
            <a:srgbClr val="0F1F3A"/>
          </a:solidFill>
          <a:ln w="6350">
            <a:solidFill>
              <a:srgbClr val="0D9488"/>
            </a:solidFill>
            <a:prstDash val="solid"/>
          </a:ln>
        </p:spPr>
      </p:sp>
      <p:sp>
        <p:nvSpPr>
          <p:cNvPr id="5" name="Text 3"/>
          <p:cNvSpPr/>
          <p:nvPr/>
        </p:nvSpPr>
        <p:spPr>
          <a:xfrm>
            <a:off x="868680" y="1508760"/>
            <a:ext cx="10698480" cy="731520"/>
          </a:xfrm>
          <a:prstGeom prst="rect">
            <a:avLst/>
          </a:prstGeom>
          <a:noFill/>
          <a:ln/>
        </p:spPr>
        <p:txBody>
          <a:bodyPr wrap="square" lIns="0" tIns="0" rIns="0" bIns="0" rtlCol="0" anchor="t"/>
          <a:lstStyle/>
          <a:p>
            <a:pPr algn="l" indent="0" marL="0">
              <a:buNone/>
            </a:pPr>
            <a:r>
              <a:rPr lang="en-US" sz="1400" dirty="0">
                <a:solidFill>
                  <a:srgbClr val="E2E8F0"/>
                </a:solidFill>
                <a:latin typeface="Consolas" pitchFamily="34" charset="0"/>
                <a:ea typeface="Consolas" pitchFamily="34" charset="-122"/>
                <a:cs typeface="Consolas" pitchFamily="34" charset="-120"/>
              </a:rPr>
              <a:t>Error: creating ECS Task Definition (payment-api):</a:t>
            </a:r>
            <a:endParaRPr lang="en-US" sz="1400" dirty="0"/>
          </a:p>
          <a:p>
            <a:pPr algn="l" indent="0" marL="0">
              <a:buNone/>
            </a:pPr>
            <a:r>
              <a:rPr lang="en-US" sz="1400" dirty="0">
                <a:solidFill>
                  <a:srgbClr val="E2E8F0"/>
                </a:solidFill>
                <a:latin typeface="Consolas" pitchFamily="34" charset="0"/>
                <a:ea typeface="Consolas" pitchFamily="34" charset="-122"/>
                <a:cs typeface="Consolas" pitchFamily="34" charset="-120"/>
              </a:rPr>
              <a:t>ClientException: Fargate only supports network mode 'awsvpc'.</a:t>
            </a:r>
            <a:endParaRPr lang="en-US" sz="1400" dirty="0"/>
          </a:p>
        </p:txBody>
      </p:sp>
      <p:sp>
        <p:nvSpPr>
          <p:cNvPr id="6" name="Shape 4"/>
          <p:cNvSpPr/>
          <p:nvPr/>
        </p:nvSpPr>
        <p:spPr>
          <a:xfrm>
            <a:off x="731520" y="2606040"/>
            <a:ext cx="5486400" cy="3840480"/>
          </a:xfrm>
          <a:prstGeom prst="rect">
            <a:avLst/>
          </a:prstGeom>
          <a:solidFill>
            <a:srgbClr val="152846"/>
          </a:solidFill>
          <a:ln w="12700">
            <a:solidFill>
              <a:srgbClr val="0D9488"/>
            </a:solidFill>
            <a:prstDash val="solid"/>
          </a:ln>
        </p:spPr>
      </p:sp>
      <p:sp>
        <p:nvSpPr>
          <p:cNvPr id="7" name="Shape 5"/>
          <p:cNvSpPr/>
          <p:nvPr/>
        </p:nvSpPr>
        <p:spPr>
          <a:xfrm>
            <a:off x="914400" y="2788920"/>
            <a:ext cx="457200" cy="457200"/>
          </a:xfrm>
          <a:prstGeom prst="ellipse">
            <a:avLst/>
          </a:prstGeom>
          <a:solidFill>
            <a:srgbClr val="14B8A6"/>
          </a:solidFill>
          <a:ln w="12700">
            <a:solidFill>
              <a:srgbClr val="14B8A6"/>
            </a:solidFill>
            <a:prstDash val="solid"/>
          </a:ln>
        </p:spPr>
      </p:sp>
      <p:pic>
        <p:nvPicPr>
          <p:cNvPr id="8" name="Image 0" descr="preencoded.png">    </p:cNvPr>
          <p:cNvPicPr>
            <a:picLocks noChangeAspect="1"/>
          </p:cNvPicPr>
          <p:nvPr/>
        </p:nvPicPr>
        <p:blipFill>
          <a:blip r:embed="rId1"/>
          <a:stretch>
            <a:fillRect/>
          </a:stretch>
        </p:blipFill>
        <p:spPr>
          <a:xfrm>
            <a:off x="1017270" y="2891790"/>
            <a:ext cx="251460" cy="251460"/>
          </a:xfrm>
          <a:prstGeom prst="rect">
            <a:avLst/>
          </a:prstGeom>
        </p:spPr>
      </p:pic>
      <p:sp>
        <p:nvSpPr>
          <p:cNvPr id="9" name="Text 6"/>
          <p:cNvSpPr/>
          <p:nvPr/>
        </p:nvSpPr>
        <p:spPr>
          <a:xfrm>
            <a:off x="1508760" y="2834640"/>
            <a:ext cx="4572000" cy="36576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ECS error messages are friendly</a:t>
            </a:r>
            <a:endParaRPr lang="en-US" sz="1400" dirty="0"/>
          </a:p>
        </p:txBody>
      </p:sp>
      <p:sp>
        <p:nvSpPr>
          <p:cNvPr id="10" name="Text 7"/>
          <p:cNvSpPr/>
          <p:nvPr/>
        </p:nvSpPr>
        <p:spPr>
          <a:xfrm>
            <a:off x="914400" y="3429000"/>
            <a:ext cx="5120640" cy="274320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Most AWS services give you opaque errors like "ValidationException: Invalid parameter". ECS tells you the correct value directly.</a:t>
            </a:r>
            <a:endParaRPr lang="en-US" sz="1300" dirty="0"/>
          </a:p>
          <a:p>
            <a:pPr indent="0" marL="0">
              <a:buNone/>
            </a:pPr>
            <a:endParaRPr lang="en-US" sz="1300" dirty="0"/>
          </a:p>
          <a:p>
            <a:pPr indent="0" marL="0">
              <a:buNone/>
            </a:pPr>
            <a:r>
              <a:rPr lang="en-US" sz="1300" dirty="0">
                <a:solidFill>
                  <a:srgbClr val="E2E8F0"/>
                </a:solidFill>
                <a:latin typeface="Calibri" pitchFamily="34" charset="0"/>
                <a:ea typeface="Calibri" pitchFamily="34" charset="-122"/>
                <a:cs typeface="Calibri" pitchFamily="34" charset="-120"/>
              </a:rPr>
              <a:t>When you see "X only supports Y" — just apply Y and move on. Don't overthink it.</a:t>
            </a:r>
            <a:endParaRPr lang="en-US" sz="1300" dirty="0"/>
          </a:p>
        </p:txBody>
      </p:sp>
      <p:sp>
        <p:nvSpPr>
          <p:cNvPr id="11" name="Shape 8"/>
          <p:cNvSpPr/>
          <p:nvPr/>
        </p:nvSpPr>
        <p:spPr>
          <a:xfrm>
            <a:off x="6492240" y="2606040"/>
            <a:ext cx="5212080" cy="3840480"/>
          </a:xfrm>
          <a:prstGeom prst="rect">
            <a:avLst/>
          </a:prstGeom>
          <a:solidFill>
            <a:srgbClr val="152846"/>
          </a:solidFill>
          <a:ln w="12700">
            <a:solidFill>
              <a:srgbClr val="0D9488"/>
            </a:solidFill>
            <a:prstDash val="solid"/>
          </a:ln>
        </p:spPr>
      </p:sp>
      <p:sp>
        <p:nvSpPr>
          <p:cNvPr id="12" name="Shape 9"/>
          <p:cNvSpPr/>
          <p:nvPr/>
        </p:nvSpPr>
        <p:spPr>
          <a:xfrm>
            <a:off x="6675120" y="2788920"/>
            <a:ext cx="457200" cy="457200"/>
          </a:xfrm>
          <a:prstGeom prst="ellipse">
            <a:avLst/>
          </a:prstGeom>
          <a:solidFill>
            <a:srgbClr val="14B8A6"/>
          </a:solidFill>
          <a:ln w="12700">
            <a:solidFill>
              <a:srgbClr val="14B8A6"/>
            </a:solidFill>
            <a:prstDash val="solid"/>
          </a:ln>
        </p:spPr>
      </p:sp>
      <p:pic>
        <p:nvPicPr>
          <p:cNvPr id="13" name="Image 1" descr="preencoded.png">    </p:cNvPr>
          <p:cNvPicPr>
            <a:picLocks noChangeAspect="1"/>
          </p:cNvPicPr>
          <p:nvPr/>
        </p:nvPicPr>
        <p:blipFill>
          <a:blip r:embed="rId2"/>
          <a:stretch>
            <a:fillRect/>
          </a:stretch>
        </p:blipFill>
        <p:spPr>
          <a:xfrm>
            <a:off x="6777990" y="2891790"/>
            <a:ext cx="251460" cy="251460"/>
          </a:xfrm>
          <a:prstGeom prst="rect">
            <a:avLst/>
          </a:prstGeom>
        </p:spPr>
      </p:pic>
      <p:sp>
        <p:nvSpPr>
          <p:cNvPr id="14" name="Text 10"/>
          <p:cNvSpPr/>
          <p:nvPr/>
        </p:nvSpPr>
        <p:spPr>
          <a:xfrm>
            <a:off x="7269480" y="2834640"/>
            <a:ext cx="4572000" cy="36576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Why bridge can't work</a:t>
            </a:r>
            <a:endParaRPr lang="en-US" sz="1400" dirty="0"/>
          </a:p>
        </p:txBody>
      </p:sp>
      <p:sp>
        <p:nvSpPr>
          <p:cNvPr id="15" name="Text 11"/>
          <p:cNvSpPr/>
          <p:nvPr/>
        </p:nvSpPr>
        <p:spPr>
          <a:xfrm>
            <a:off x="6675120" y="3429000"/>
            <a:ext cx="4937760" cy="274320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bridge mode shares the host's network stack — fine on EC2 launch type where you own the host.</a:t>
            </a:r>
            <a:endParaRPr lang="en-US" sz="1300" dirty="0"/>
          </a:p>
          <a:p>
            <a:pPr indent="0" marL="0">
              <a:buNone/>
            </a:pPr>
            <a:endParaRPr lang="en-US" sz="1300" dirty="0"/>
          </a:p>
          <a:p>
            <a:pPr indent="0" marL="0">
              <a:buNone/>
            </a:pPr>
            <a:r>
              <a:rPr lang="en-US" sz="1300" dirty="0">
                <a:solidFill>
                  <a:srgbClr val="E2E8F0"/>
                </a:solidFill>
                <a:latin typeface="Calibri" pitchFamily="34" charset="0"/>
                <a:ea typeface="Calibri" pitchFamily="34" charset="-122"/>
                <a:cs typeface="Calibri" pitchFamily="34" charset="-120"/>
              </a:rPr>
              <a:t>On Fargate there is no host you control. awsvpc gives each task its own ENI attached directly to your VPC, with its own private IP. More powerful, more isolated.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PHASE 1  •  STEP 4</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Apply complete! ...but</a:t>
            </a:r>
            <a:endParaRPr lang="en-US" sz="2800" dirty="0"/>
          </a:p>
        </p:txBody>
      </p:sp>
      <p:sp>
        <p:nvSpPr>
          <p:cNvPr id="4" name="Shape 2"/>
          <p:cNvSpPr/>
          <p:nvPr/>
        </p:nvSpPr>
        <p:spPr>
          <a:xfrm>
            <a:off x="731520" y="1417320"/>
            <a:ext cx="7315200" cy="1828800"/>
          </a:xfrm>
          <a:prstGeom prst="rect">
            <a:avLst/>
          </a:prstGeom>
          <a:solidFill>
            <a:srgbClr val="0F1F3A"/>
          </a:solidFill>
          <a:ln w="6350">
            <a:solidFill>
              <a:srgbClr val="0D9488"/>
            </a:solidFill>
            <a:prstDash val="solid"/>
          </a:ln>
        </p:spPr>
      </p:sp>
      <p:sp>
        <p:nvSpPr>
          <p:cNvPr id="5" name="Text 3"/>
          <p:cNvSpPr/>
          <p:nvPr/>
        </p:nvSpPr>
        <p:spPr>
          <a:xfrm>
            <a:off x="868680" y="1508760"/>
            <a:ext cx="7040880" cy="1645920"/>
          </a:xfrm>
          <a:prstGeom prst="rect">
            <a:avLst/>
          </a:prstGeom>
          <a:noFill/>
          <a:ln/>
        </p:spPr>
        <p:txBody>
          <a:bodyPr wrap="square" lIns="0" tIns="0" rIns="0" bIns="0" rtlCol="0" anchor="t"/>
          <a:lstStyle/>
          <a:p>
            <a:pPr algn="l" indent="0" marL="0">
              <a:buNone/>
            </a:pPr>
            <a:r>
              <a:rPr lang="en-US" sz="1300" dirty="0">
                <a:solidFill>
                  <a:srgbClr val="E2E8F0"/>
                </a:solidFill>
                <a:latin typeface="Consolas" pitchFamily="34" charset="0"/>
                <a:ea typeface="Consolas" pitchFamily="34" charset="-122"/>
                <a:cs typeface="Consolas" pitchFamily="34" charset="-120"/>
              </a:rPr>
              <a:t>$ terraform apply</a:t>
            </a:r>
            <a:endParaRPr lang="en-US" sz="1300" dirty="0"/>
          </a:p>
          <a:p>
            <a:pPr algn="l" indent="0" marL="0">
              <a:buNone/>
            </a:pPr>
            <a:endParaRPr lang="en-US" sz="1300" dirty="0"/>
          </a:p>
          <a:p>
            <a:pPr algn="l" indent="0" marL="0">
              <a:buNone/>
            </a:pPr>
            <a:r>
              <a:rPr lang="en-US" sz="1300" dirty="0">
                <a:solidFill>
                  <a:srgbClr val="E2E8F0"/>
                </a:solidFill>
                <a:latin typeface="Consolas" pitchFamily="34" charset="0"/>
                <a:ea typeface="Consolas" pitchFamily="34" charset="-122"/>
                <a:cs typeface="Consolas" pitchFamily="34" charset="-120"/>
              </a:rPr>
              <a:t>aws_ecs_service.payment_api: Creation complete after 1s</a:t>
            </a:r>
            <a:endParaRPr lang="en-US" sz="1300" dirty="0"/>
          </a:p>
          <a:p>
            <a:pPr algn="l" indent="0" marL="0">
              <a:buNone/>
            </a:pPr>
            <a:endParaRPr lang="en-US" sz="1300" dirty="0"/>
          </a:p>
          <a:p>
            <a:pPr algn="l" indent="0" marL="0">
              <a:buNone/>
            </a:pPr>
            <a:r>
              <a:rPr lang="en-US" sz="1300" dirty="0">
                <a:solidFill>
                  <a:srgbClr val="E2E8F0"/>
                </a:solidFill>
                <a:latin typeface="Consolas" pitchFamily="34" charset="0"/>
                <a:ea typeface="Consolas" pitchFamily="34" charset="-122"/>
                <a:cs typeface="Consolas" pitchFamily="34" charset="-120"/>
              </a:rPr>
              <a:t>Apply complete! Resources: 2 added, 0 changed, 0 destroyed.</a:t>
            </a:r>
            <a:endParaRPr lang="en-US" sz="1300" dirty="0"/>
          </a:p>
        </p:txBody>
      </p:sp>
      <p:sp>
        <p:nvSpPr>
          <p:cNvPr id="6" name="Shape 4"/>
          <p:cNvSpPr/>
          <p:nvPr/>
        </p:nvSpPr>
        <p:spPr>
          <a:xfrm>
            <a:off x="8595360" y="1554480"/>
            <a:ext cx="502920" cy="502920"/>
          </a:xfrm>
          <a:prstGeom prst="ellipse">
            <a:avLst/>
          </a:prstGeom>
          <a:solidFill>
            <a:srgbClr val="EF4444"/>
          </a:solidFill>
          <a:ln w="12700">
            <a:solidFill>
              <a:srgbClr val="EF4444"/>
            </a:solidFill>
            <a:prstDash val="solid"/>
          </a:ln>
        </p:spPr>
      </p:sp>
      <p:pic>
        <p:nvPicPr>
          <p:cNvPr id="7" name="Image 0" descr="preencoded.png">    </p:cNvPr>
          <p:cNvPicPr>
            <a:picLocks noChangeAspect="1"/>
          </p:cNvPicPr>
          <p:nvPr/>
        </p:nvPicPr>
        <p:blipFill>
          <a:blip r:embed="rId1"/>
          <a:stretch>
            <a:fillRect/>
          </a:stretch>
        </p:blipFill>
        <p:spPr>
          <a:xfrm>
            <a:off x="8708517" y="1667637"/>
            <a:ext cx="276606" cy="276606"/>
          </a:xfrm>
          <a:prstGeom prst="rect">
            <a:avLst/>
          </a:prstGeom>
        </p:spPr>
      </p:pic>
      <p:sp>
        <p:nvSpPr>
          <p:cNvPr id="8" name="Text 5"/>
          <p:cNvSpPr/>
          <p:nvPr/>
        </p:nvSpPr>
        <p:spPr>
          <a:xfrm>
            <a:off x="9235440" y="1645920"/>
            <a:ext cx="2286000" cy="365760"/>
          </a:xfrm>
          <a:prstGeom prst="rect">
            <a:avLst/>
          </a:prstGeom>
          <a:noFill/>
          <a:ln/>
        </p:spPr>
        <p:txBody>
          <a:bodyPr wrap="square" lIns="0" tIns="0" rIns="0" bIns="0" rtlCol="0" anchor="ctr"/>
          <a:lstStyle/>
          <a:p>
            <a:pPr indent="0" marL="0">
              <a:buNone/>
            </a:pPr>
            <a:r>
              <a:rPr lang="en-US" sz="1300" b="1" spc="200" kern="0" dirty="0">
                <a:solidFill>
                  <a:srgbClr val="EF4444"/>
                </a:solidFill>
                <a:latin typeface="Calibri" pitchFamily="34" charset="0"/>
                <a:ea typeface="Calibri" pitchFamily="34" charset="-122"/>
                <a:cs typeface="Calibri" pitchFamily="34" charset="-120"/>
              </a:rPr>
              <a:t>STOP</a:t>
            </a:r>
            <a:endParaRPr lang="en-US" sz="1300" dirty="0"/>
          </a:p>
        </p:txBody>
      </p:sp>
      <p:sp>
        <p:nvSpPr>
          <p:cNvPr id="9" name="Text 6"/>
          <p:cNvSpPr/>
          <p:nvPr/>
        </p:nvSpPr>
        <p:spPr>
          <a:xfrm>
            <a:off x="9235440" y="1965960"/>
            <a:ext cx="22860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Don't close the ticket</a:t>
            </a:r>
            <a:endParaRPr lang="en-US" sz="1600" dirty="0"/>
          </a:p>
        </p:txBody>
      </p:sp>
      <p:sp>
        <p:nvSpPr>
          <p:cNvPr id="10" name="Text 7"/>
          <p:cNvSpPr/>
          <p:nvPr/>
        </p:nvSpPr>
        <p:spPr>
          <a:xfrm>
            <a:off x="8595360" y="2423160"/>
            <a:ext cx="3108960" cy="914400"/>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"Apply complete" only proves Terraform's state matches your code. It says nothing about whether the workload is running.</a:t>
            </a:r>
            <a:endParaRPr lang="en-US" sz="1100" dirty="0"/>
          </a:p>
        </p:txBody>
      </p:sp>
      <p:sp>
        <p:nvSpPr>
          <p:cNvPr id="11" name="Shape 8"/>
          <p:cNvSpPr/>
          <p:nvPr/>
        </p:nvSpPr>
        <p:spPr>
          <a:xfrm>
            <a:off x="731520" y="3657600"/>
            <a:ext cx="10972800" cy="2743200"/>
          </a:xfrm>
          <a:prstGeom prst="rect">
            <a:avLst/>
          </a:prstGeom>
          <a:solidFill>
            <a:srgbClr val="152846"/>
          </a:solidFill>
          <a:ln w="12700">
            <a:solidFill>
              <a:srgbClr val="14B8A6"/>
            </a:solidFill>
            <a:prstDash val="solid"/>
          </a:ln>
        </p:spPr>
      </p:sp>
      <p:sp>
        <p:nvSpPr>
          <p:cNvPr id="12" name="Shape 9"/>
          <p:cNvSpPr/>
          <p:nvPr/>
        </p:nvSpPr>
        <p:spPr>
          <a:xfrm>
            <a:off x="914400" y="3840480"/>
            <a:ext cx="502920" cy="502920"/>
          </a:xfrm>
          <a:prstGeom prst="ellipse">
            <a:avLst/>
          </a:prstGeom>
          <a:solidFill>
            <a:srgbClr val="14B8A6"/>
          </a:solidFill>
          <a:ln w="12700">
            <a:solidFill>
              <a:srgbClr val="14B8A6"/>
            </a:solidFill>
            <a:prstDash val="solid"/>
          </a:ln>
        </p:spPr>
      </p:sp>
      <p:pic>
        <p:nvPicPr>
          <p:cNvPr id="13" name="Image 1" descr="preencoded.png">    </p:cNvPr>
          <p:cNvPicPr>
            <a:picLocks noChangeAspect="1"/>
          </p:cNvPicPr>
          <p:nvPr/>
        </p:nvPicPr>
        <p:blipFill>
          <a:blip r:embed="rId2"/>
          <a:stretch>
            <a:fillRect/>
          </a:stretch>
        </p:blipFill>
        <p:spPr>
          <a:xfrm>
            <a:off x="1027557" y="3953637"/>
            <a:ext cx="276606" cy="276606"/>
          </a:xfrm>
          <a:prstGeom prst="rect">
            <a:avLst/>
          </a:prstGeom>
        </p:spPr>
      </p:pic>
      <p:sp>
        <p:nvSpPr>
          <p:cNvPr id="14" name="Text 10"/>
          <p:cNvSpPr/>
          <p:nvPr/>
        </p:nvSpPr>
        <p:spPr>
          <a:xfrm>
            <a:off x="1554480" y="3931920"/>
            <a:ext cx="10058400" cy="365760"/>
          </a:xfrm>
          <a:prstGeom prst="rect">
            <a:avLst/>
          </a:prstGeom>
          <a:noFill/>
          <a:ln/>
        </p:spPr>
        <p:txBody>
          <a:bodyPr wrap="square" lIns="0" tIns="0" rIns="0" bIns="0" rtlCol="0" anchor="ctr"/>
          <a:lstStyle/>
          <a:p>
            <a:pPr indent="0" marL="0">
              <a:buNone/>
            </a:pPr>
            <a:r>
              <a:rPr lang="en-US" sz="1600" b="1" dirty="0">
                <a:solidFill>
                  <a:srgbClr val="2DD4BF"/>
                </a:solidFill>
                <a:latin typeface="Calibri" pitchFamily="34" charset="0"/>
                <a:ea typeface="Calibri" pitchFamily="34" charset="-122"/>
                <a:cs typeface="Calibri" pitchFamily="34" charset="-120"/>
              </a:rPr>
              <a:t>Check the symptom from the ticket</a:t>
            </a:r>
            <a:endParaRPr lang="en-US" sz="1600" dirty="0"/>
          </a:p>
        </p:txBody>
      </p:sp>
      <p:sp>
        <p:nvSpPr>
          <p:cNvPr id="15" name="Shape 11"/>
          <p:cNvSpPr/>
          <p:nvPr/>
        </p:nvSpPr>
        <p:spPr>
          <a:xfrm>
            <a:off x="914400" y="4434840"/>
            <a:ext cx="10607040" cy="1783080"/>
          </a:xfrm>
          <a:prstGeom prst="rect">
            <a:avLst/>
          </a:prstGeom>
          <a:solidFill>
            <a:srgbClr val="0F1F3A"/>
          </a:solidFill>
          <a:ln w="6350">
            <a:solidFill>
              <a:srgbClr val="0D9488"/>
            </a:solidFill>
            <a:prstDash val="solid"/>
          </a:ln>
        </p:spPr>
      </p:sp>
      <p:sp>
        <p:nvSpPr>
          <p:cNvPr id="16" name="Text 12"/>
          <p:cNvSpPr/>
          <p:nvPr/>
        </p:nvSpPr>
        <p:spPr>
          <a:xfrm>
            <a:off x="1051560" y="4526280"/>
            <a:ext cx="10332720" cy="1600200"/>
          </a:xfrm>
          <a:prstGeom prst="rect">
            <a:avLst/>
          </a:prstGeom>
          <a:noFill/>
          <a:ln/>
        </p:spPr>
        <p:txBody>
          <a:bodyPr wrap="square" lIns="0" tIns="0" rIns="0" bIns="0" rtlCol="0" anchor="t"/>
          <a:lstStyle/>
          <a:p>
            <a:pPr algn="l" indent="0" marL="0">
              <a:buNone/>
            </a:pPr>
            <a:r>
              <a:rPr lang="en-US" sz="1200" dirty="0">
                <a:solidFill>
                  <a:srgbClr val="E2E8F0"/>
                </a:solidFill>
                <a:latin typeface="Consolas" pitchFamily="34" charset="0"/>
                <a:ea typeface="Consolas" pitchFamily="34" charset="-122"/>
                <a:cs typeface="Consolas" pitchFamily="34" charset="-120"/>
              </a:rPr>
              <a:t>$ aws ecs describe-services --cluster production --services payment-api \</a:t>
            </a: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    --query 'services[0].{Desired:desiredCount,Running:runningCount,Pending:pendingCount}'</a:t>
            </a:r>
            <a:endParaRPr lang="en-US" sz="1200" dirty="0"/>
          </a:p>
          <a:p>
            <a:pPr algn="l" indent="0" marL="0">
              <a:buNone/>
            </a:pP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 "Desired": 2, "Running": 0, "Pending": 1 }</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PHASE 2  •  CORE SKILL</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ECS diagnostic onion</a:t>
            </a:r>
            <a:endParaRPr lang="en-US" sz="2800" dirty="0"/>
          </a:p>
        </p:txBody>
      </p:sp>
      <p:sp>
        <p:nvSpPr>
          <p:cNvPr id="4" name="Text 2"/>
          <p:cNvSpPr/>
          <p:nvPr/>
        </p:nvSpPr>
        <p:spPr>
          <a:xfrm>
            <a:off x="731520" y="1463040"/>
            <a:ext cx="10972800" cy="457200"/>
          </a:xfrm>
          <a:prstGeom prst="rect">
            <a:avLst/>
          </a:prstGeom>
          <a:noFill/>
          <a:ln/>
        </p:spPr>
        <p:txBody>
          <a:bodyPr wrap="square" lIns="0" tIns="0" rIns="0" bIns="0" rtlCol="0" anchor="ctr"/>
          <a:lstStyle/>
          <a:p>
            <a:pPr indent="0" marL="0">
              <a:buNone/>
            </a:pPr>
            <a:r>
              <a:rPr lang="en-US" sz="1400" i="1" dirty="0">
                <a:solidFill>
                  <a:srgbClr val="E2E8F0"/>
                </a:solidFill>
                <a:latin typeface="Calibri" pitchFamily="34" charset="0"/>
                <a:ea typeface="Calibri" pitchFamily="34" charset="-122"/>
                <a:cs typeface="Calibri" pitchFamily="34" charset="-120"/>
              </a:rPr>
              <a:t>Real ECS troubleshooting is layered. Each layer has its own command and its own error vocabulary. Walk top-down.</a:t>
            </a:r>
            <a:endParaRPr lang="en-US" sz="1400" dirty="0"/>
          </a:p>
        </p:txBody>
      </p:sp>
      <p:sp>
        <p:nvSpPr>
          <p:cNvPr id="5" name="Shape 3"/>
          <p:cNvSpPr/>
          <p:nvPr/>
        </p:nvSpPr>
        <p:spPr>
          <a:xfrm>
            <a:off x="731520" y="2103120"/>
            <a:ext cx="548640" cy="548640"/>
          </a:xfrm>
          <a:prstGeom prst="ellipse">
            <a:avLst/>
          </a:prstGeom>
          <a:solidFill>
            <a:srgbClr val="14B8A6"/>
          </a:solidFill>
          <a:ln w="12700">
            <a:solidFill>
              <a:srgbClr val="14B8A6"/>
            </a:solidFill>
            <a:prstDash val="solid"/>
          </a:ln>
        </p:spPr>
      </p:sp>
      <p:sp>
        <p:nvSpPr>
          <p:cNvPr id="6" name="Text 4"/>
          <p:cNvSpPr/>
          <p:nvPr/>
        </p:nvSpPr>
        <p:spPr>
          <a:xfrm>
            <a:off x="731520"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463040" y="2103120"/>
            <a:ext cx="2286000" cy="320040"/>
          </a:xfrm>
          <a:prstGeom prst="rect">
            <a:avLst/>
          </a:prstGeom>
          <a:noFill/>
          <a:ln/>
        </p:spPr>
        <p:txBody>
          <a:bodyPr wrap="square" lIns="0" tIns="0" rIns="0" bIns="0" rtlCol="0" anchor="ctr"/>
          <a:lstStyle/>
          <a:p>
            <a:pPr indent="0" marL="0">
              <a:buNone/>
            </a:pPr>
            <a:r>
              <a:rPr lang="en-US" sz="1400" b="1" spc="100" kern="0" dirty="0">
                <a:solidFill>
                  <a:srgbClr val="2DD4BF"/>
                </a:solidFill>
                <a:latin typeface="Calibri" pitchFamily="34" charset="0"/>
                <a:ea typeface="Calibri" pitchFamily="34" charset="-122"/>
                <a:cs typeface="Calibri" pitchFamily="34" charset="-120"/>
              </a:rPr>
              <a:t>SERVICE</a:t>
            </a:r>
            <a:endParaRPr lang="en-US" sz="1400" dirty="0"/>
          </a:p>
        </p:txBody>
      </p:sp>
      <p:sp>
        <p:nvSpPr>
          <p:cNvPr id="8" name="Text 6"/>
          <p:cNvSpPr/>
          <p:nvPr/>
        </p:nvSpPr>
        <p:spPr>
          <a:xfrm>
            <a:off x="1463040" y="2395728"/>
            <a:ext cx="6858000" cy="32004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Does the orchestrator know what to do? Are tasks pending or failing to place?</a:t>
            </a:r>
            <a:endParaRPr lang="en-US" sz="1200" dirty="0"/>
          </a:p>
        </p:txBody>
      </p:sp>
      <p:sp>
        <p:nvSpPr>
          <p:cNvPr id="9" name="Text 7"/>
          <p:cNvSpPr/>
          <p:nvPr/>
        </p:nvSpPr>
        <p:spPr>
          <a:xfrm>
            <a:off x="8412480" y="2240280"/>
            <a:ext cx="3383280" cy="365760"/>
          </a:xfrm>
          <a:prstGeom prst="rect">
            <a:avLst/>
          </a:prstGeom>
          <a:noFill/>
          <a:ln/>
        </p:spPr>
        <p:txBody>
          <a:bodyPr wrap="square" lIns="0" tIns="0" rIns="0" bIns="0" rtlCol="0" anchor="ctr"/>
          <a:lstStyle/>
          <a:p>
            <a:pPr indent="0" marL="0">
              <a:buNone/>
            </a:pPr>
            <a:r>
              <a:rPr lang="en-US" sz="1100" dirty="0">
                <a:solidFill>
                  <a:srgbClr val="F59E0B"/>
                </a:solidFill>
                <a:latin typeface="Consolas" pitchFamily="34" charset="0"/>
                <a:ea typeface="Consolas" pitchFamily="34" charset="-122"/>
                <a:cs typeface="Consolas" pitchFamily="34" charset="-120"/>
              </a:rPr>
              <a:t>aws ecs describe-services</a:t>
            </a:r>
            <a:endParaRPr lang="en-US" sz="1100" dirty="0"/>
          </a:p>
        </p:txBody>
      </p:sp>
      <p:sp>
        <p:nvSpPr>
          <p:cNvPr id="10" name="Shape 8"/>
          <p:cNvSpPr/>
          <p:nvPr/>
        </p:nvSpPr>
        <p:spPr>
          <a:xfrm>
            <a:off x="731520" y="2971800"/>
            <a:ext cx="548640" cy="548640"/>
          </a:xfrm>
          <a:prstGeom prst="ellipse">
            <a:avLst/>
          </a:prstGeom>
          <a:solidFill>
            <a:srgbClr val="14B8A6"/>
          </a:solidFill>
          <a:ln w="12700">
            <a:solidFill>
              <a:srgbClr val="14B8A6"/>
            </a:solidFill>
            <a:prstDash val="solid"/>
          </a:ln>
        </p:spPr>
      </p:sp>
      <p:sp>
        <p:nvSpPr>
          <p:cNvPr id="11" name="Text 9"/>
          <p:cNvSpPr/>
          <p:nvPr/>
        </p:nvSpPr>
        <p:spPr>
          <a:xfrm>
            <a:off x="731520" y="29718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463040" y="2971800"/>
            <a:ext cx="2286000" cy="320040"/>
          </a:xfrm>
          <a:prstGeom prst="rect">
            <a:avLst/>
          </a:prstGeom>
          <a:noFill/>
          <a:ln/>
        </p:spPr>
        <p:txBody>
          <a:bodyPr wrap="square" lIns="0" tIns="0" rIns="0" bIns="0" rtlCol="0" anchor="ctr"/>
          <a:lstStyle/>
          <a:p>
            <a:pPr indent="0" marL="0">
              <a:buNone/>
            </a:pPr>
            <a:r>
              <a:rPr lang="en-US" sz="1400" b="1" spc="100" kern="0" dirty="0">
                <a:solidFill>
                  <a:srgbClr val="2DD4BF"/>
                </a:solidFill>
                <a:latin typeface="Calibri" pitchFamily="34" charset="0"/>
                <a:ea typeface="Calibri" pitchFamily="34" charset="-122"/>
                <a:cs typeface="Calibri" pitchFamily="34" charset="-120"/>
              </a:rPr>
              <a:t>TASK</a:t>
            </a:r>
            <a:endParaRPr lang="en-US" sz="1400" dirty="0"/>
          </a:p>
        </p:txBody>
      </p:sp>
      <p:sp>
        <p:nvSpPr>
          <p:cNvPr id="13" name="Text 11"/>
          <p:cNvSpPr/>
          <p:nvPr/>
        </p:nvSpPr>
        <p:spPr>
          <a:xfrm>
            <a:off x="1463040" y="3264408"/>
            <a:ext cx="6858000" cy="32004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Did a task launch? What's its lifecycle status? Why did it stop?</a:t>
            </a:r>
            <a:endParaRPr lang="en-US" sz="1200" dirty="0"/>
          </a:p>
        </p:txBody>
      </p:sp>
      <p:sp>
        <p:nvSpPr>
          <p:cNvPr id="14" name="Text 12"/>
          <p:cNvSpPr/>
          <p:nvPr/>
        </p:nvSpPr>
        <p:spPr>
          <a:xfrm>
            <a:off x="8412480" y="3108960"/>
            <a:ext cx="3383280" cy="365760"/>
          </a:xfrm>
          <a:prstGeom prst="rect">
            <a:avLst/>
          </a:prstGeom>
          <a:noFill/>
          <a:ln/>
        </p:spPr>
        <p:txBody>
          <a:bodyPr wrap="square" lIns="0" tIns="0" rIns="0" bIns="0" rtlCol="0" anchor="ctr"/>
          <a:lstStyle/>
          <a:p>
            <a:pPr indent="0" marL="0">
              <a:buNone/>
            </a:pPr>
            <a:r>
              <a:rPr lang="en-US" sz="1100" dirty="0">
                <a:solidFill>
                  <a:srgbClr val="F59E0B"/>
                </a:solidFill>
                <a:latin typeface="Consolas" pitchFamily="34" charset="0"/>
                <a:ea typeface="Consolas" pitchFamily="34" charset="-122"/>
                <a:cs typeface="Consolas" pitchFamily="34" charset="-120"/>
              </a:rPr>
              <a:t>aws ecs describe-tasks</a:t>
            </a:r>
            <a:endParaRPr lang="en-US" sz="1100" dirty="0"/>
          </a:p>
        </p:txBody>
      </p:sp>
      <p:sp>
        <p:nvSpPr>
          <p:cNvPr id="15" name="Shape 13"/>
          <p:cNvSpPr/>
          <p:nvPr/>
        </p:nvSpPr>
        <p:spPr>
          <a:xfrm>
            <a:off x="731520" y="3840480"/>
            <a:ext cx="548640" cy="548640"/>
          </a:xfrm>
          <a:prstGeom prst="ellipse">
            <a:avLst/>
          </a:prstGeom>
          <a:solidFill>
            <a:srgbClr val="14B8A6"/>
          </a:solidFill>
          <a:ln w="12700">
            <a:solidFill>
              <a:srgbClr val="14B8A6"/>
            </a:solidFill>
            <a:prstDash val="solid"/>
          </a:ln>
        </p:spPr>
      </p:sp>
      <p:sp>
        <p:nvSpPr>
          <p:cNvPr id="16" name="Text 14"/>
          <p:cNvSpPr/>
          <p:nvPr/>
        </p:nvSpPr>
        <p:spPr>
          <a:xfrm>
            <a:off x="731520" y="38404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3840480"/>
            <a:ext cx="2286000" cy="320040"/>
          </a:xfrm>
          <a:prstGeom prst="rect">
            <a:avLst/>
          </a:prstGeom>
          <a:noFill/>
          <a:ln/>
        </p:spPr>
        <p:txBody>
          <a:bodyPr wrap="square" lIns="0" tIns="0" rIns="0" bIns="0" rtlCol="0" anchor="ctr"/>
          <a:lstStyle/>
          <a:p>
            <a:pPr indent="0" marL="0">
              <a:buNone/>
            </a:pPr>
            <a:r>
              <a:rPr lang="en-US" sz="1400" b="1" spc="100" kern="0" dirty="0">
                <a:solidFill>
                  <a:srgbClr val="2DD4BF"/>
                </a:solidFill>
                <a:latin typeface="Calibri" pitchFamily="34" charset="0"/>
                <a:ea typeface="Calibri" pitchFamily="34" charset="-122"/>
                <a:cs typeface="Calibri" pitchFamily="34" charset="-120"/>
              </a:rPr>
              <a:t>CONTAINER</a:t>
            </a:r>
            <a:endParaRPr lang="en-US" sz="1400" dirty="0"/>
          </a:p>
        </p:txBody>
      </p:sp>
      <p:sp>
        <p:nvSpPr>
          <p:cNvPr id="18" name="Text 16"/>
          <p:cNvSpPr/>
          <p:nvPr/>
        </p:nvSpPr>
        <p:spPr>
          <a:xfrm>
            <a:off x="1463040" y="4133088"/>
            <a:ext cx="6858000" cy="32004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Did the container start? What's the per-container reason?</a:t>
            </a:r>
            <a:endParaRPr lang="en-US" sz="1200" dirty="0"/>
          </a:p>
        </p:txBody>
      </p:sp>
      <p:sp>
        <p:nvSpPr>
          <p:cNvPr id="19" name="Text 17"/>
          <p:cNvSpPr/>
          <p:nvPr/>
        </p:nvSpPr>
        <p:spPr>
          <a:xfrm>
            <a:off x="8412480" y="3977640"/>
            <a:ext cx="3383280" cy="365760"/>
          </a:xfrm>
          <a:prstGeom prst="rect">
            <a:avLst/>
          </a:prstGeom>
          <a:noFill/>
          <a:ln/>
        </p:spPr>
        <p:txBody>
          <a:bodyPr wrap="square" lIns="0" tIns="0" rIns="0" bIns="0" rtlCol="0" anchor="ctr"/>
          <a:lstStyle/>
          <a:p>
            <a:pPr indent="0" marL="0">
              <a:buNone/>
            </a:pPr>
            <a:r>
              <a:rPr lang="en-US" sz="1100" dirty="0">
                <a:solidFill>
                  <a:srgbClr val="F59E0B"/>
                </a:solidFill>
                <a:latin typeface="Consolas" pitchFamily="34" charset="0"/>
                <a:ea typeface="Consolas" pitchFamily="34" charset="-122"/>
                <a:cs typeface="Consolas" pitchFamily="34" charset="-120"/>
              </a:rPr>
              <a:t>containers[].reason</a:t>
            </a:r>
            <a:endParaRPr lang="en-US" sz="1100" dirty="0"/>
          </a:p>
        </p:txBody>
      </p:sp>
      <p:sp>
        <p:nvSpPr>
          <p:cNvPr id="20" name="Shape 18"/>
          <p:cNvSpPr/>
          <p:nvPr/>
        </p:nvSpPr>
        <p:spPr>
          <a:xfrm>
            <a:off x="731520" y="4709160"/>
            <a:ext cx="548640" cy="548640"/>
          </a:xfrm>
          <a:prstGeom prst="ellipse">
            <a:avLst/>
          </a:prstGeom>
          <a:solidFill>
            <a:srgbClr val="14B8A6"/>
          </a:solidFill>
          <a:ln w="12700">
            <a:solidFill>
              <a:srgbClr val="14B8A6"/>
            </a:solidFill>
            <a:prstDash val="solid"/>
          </a:ln>
        </p:spPr>
      </p:sp>
      <p:sp>
        <p:nvSpPr>
          <p:cNvPr id="21" name="Text 19"/>
          <p:cNvSpPr/>
          <p:nvPr/>
        </p:nvSpPr>
        <p:spPr>
          <a:xfrm>
            <a:off x="731520" y="47091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1463040" y="4709160"/>
            <a:ext cx="2286000" cy="320040"/>
          </a:xfrm>
          <a:prstGeom prst="rect">
            <a:avLst/>
          </a:prstGeom>
          <a:noFill/>
          <a:ln/>
        </p:spPr>
        <p:txBody>
          <a:bodyPr wrap="square" lIns="0" tIns="0" rIns="0" bIns="0" rtlCol="0" anchor="ctr"/>
          <a:lstStyle/>
          <a:p>
            <a:pPr indent="0" marL="0">
              <a:buNone/>
            </a:pPr>
            <a:r>
              <a:rPr lang="en-US" sz="1400" b="1" spc="100" kern="0" dirty="0">
                <a:solidFill>
                  <a:srgbClr val="2DD4BF"/>
                </a:solidFill>
                <a:latin typeface="Calibri" pitchFamily="34" charset="0"/>
                <a:ea typeface="Calibri" pitchFamily="34" charset="-122"/>
                <a:cs typeface="Calibri" pitchFamily="34" charset="-120"/>
              </a:rPr>
              <a:t>IMAGE PULL</a:t>
            </a:r>
            <a:endParaRPr lang="en-US" sz="1400" dirty="0"/>
          </a:p>
        </p:txBody>
      </p:sp>
      <p:sp>
        <p:nvSpPr>
          <p:cNvPr id="23" name="Text 21"/>
          <p:cNvSpPr/>
          <p:nvPr/>
        </p:nvSpPr>
        <p:spPr>
          <a:xfrm>
            <a:off x="1463040" y="5001768"/>
            <a:ext cx="6858000" cy="32004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Did Fargate manage to pull the image? Did it time out?</a:t>
            </a:r>
            <a:endParaRPr lang="en-US" sz="1200" dirty="0"/>
          </a:p>
        </p:txBody>
      </p:sp>
      <p:sp>
        <p:nvSpPr>
          <p:cNvPr id="24" name="Text 22"/>
          <p:cNvSpPr/>
          <p:nvPr/>
        </p:nvSpPr>
        <p:spPr>
          <a:xfrm>
            <a:off x="8412480" y="4846320"/>
            <a:ext cx="3383280" cy="365760"/>
          </a:xfrm>
          <a:prstGeom prst="rect">
            <a:avLst/>
          </a:prstGeom>
          <a:noFill/>
          <a:ln/>
        </p:spPr>
        <p:txBody>
          <a:bodyPr wrap="square" lIns="0" tIns="0" rIns="0" bIns="0" rtlCol="0" anchor="ctr"/>
          <a:lstStyle/>
          <a:p>
            <a:pPr indent="0" marL="0">
              <a:buNone/>
            </a:pPr>
            <a:r>
              <a:rPr lang="en-US" sz="1100" dirty="0">
                <a:solidFill>
                  <a:srgbClr val="F59E0B"/>
                </a:solidFill>
                <a:latin typeface="Consolas" pitchFamily="34" charset="0"/>
                <a:ea typeface="Consolas" pitchFamily="34" charset="-122"/>
                <a:cs typeface="Consolas" pitchFamily="34" charset="-120"/>
              </a:rPr>
              <a:t>pullStartedAt / pullStoppedAt</a:t>
            </a:r>
            <a:endParaRPr lang="en-US" sz="1100" dirty="0"/>
          </a:p>
        </p:txBody>
      </p:sp>
      <p:sp>
        <p:nvSpPr>
          <p:cNvPr id="25" name="Shape 23"/>
          <p:cNvSpPr/>
          <p:nvPr/>
        </p:nvSpPr>
        <p:spPr>
          <a:xfrm>
            <a:off x="731520" y="5577840"/>
            <a:ext cx="548640" cy="548640"/>
          </a:xfrm>
          <a:prstGeom prst="ellipse">
            <a:avLst/>
          </a:prstGeom>
          <a:solidFill>
            <a:srgbClr val="14B8A6"/>
          </a:solidFill>
          <a:ln w="12700">
            <a:solidFill>
              <a:srgbClr val="14B8A6"/>
            </a:solidFill>
            <a:prstDash val="solid"/>
          </a:ln>
        </p:spPr>
      </p:sp>
      <p:sp>
        <p:nvSpPr>
          <p:cNvPr id="26" name="Text 24"/>
          <p:cNvSpPr/>
          <p:nvPr/>
        </p:nvSpPr>
        <p:spPr>
          <a:xfrm>
            <a:off x="731520" y="5577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7" name="Text 25"/>
          <p:cNvSpPr/>
          <p:nvPr/>
        </p:nvSpPr>
        <p:spPr>
          <a:xfrm>
            <a:off x="1463040" y="5577840"/>
            <a:ext cx="2286000" cy="320040"/>
          </a:xfrm>
          <a:prstGeom prst="rect">
            <a:avLst/>
          </a:prstGeom>
          <a:noFill/>
          <a:ln/>
        </p:spPr>
        <p:txBody>
          <a:bodyPr wrap="square" lIns="0" tIns="0" rIns="0" bIns="0" rtlCol="0" anchor="ctr"/>
          <a:lstStyle/>
          <a:p>
            <a:pPr indent="0" marL="0">
              <a:buNone/>
            </a:pPr>
            <a:r>
              <a:rPr lang="en-US" sz="1400" b="1" spc="100" kern="0" dirty="0">
                <a:solidFill>
                  <a:srgbClr val="2DD4BF"/>
                </a:solidFill>
                <a:latin typeface="Calibri" pitchFamily="34" charset="0"/>
                <a:ea typeface="Calibri" pitchFamily="34" charset="-122"/>
                <a:cs typeface="Calibri" pitchFamily="34" charset="-120"/>
              </a:rPr>
              <a:t>NETWORK</a:t>
            </a:r>
            <a:endParaRPr lang="en-US" sz="1400" dirty="0"/>
          </a:p>
        </p:txBody>
      </p:sp>
      <p:sp>
        <p:nvSpPr>
          <p:cNvPr id="28" name="Text 26"/>
          <p:cNvSpPr/>
          <p:nvPr/>
        </p:nvSpPr>
        <p:spPr>
          <a:xfrm>
            <a:off x="1463040" y="5870448"/>
            <a:ext cx="6858000" cy="32004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Can the task reach the registry, the database, the load balancer?</a:t>
            </a:r>
            <a:endParaRPr lang="en-US" sz="1200" dirty="0"/>
          </a:p>
        </p:txBody>
      </p:sp>
      <p:sp>
        <p:nvSpPr>
          <p:cNvPr id="29" name="Text 27"/>
          <p:cNvSpPr/>
          <p:nvPr/>
        </p:nvSpPr>
        <p:spPr>
          <a:xfrm>
            <a:off x="8412480" y="5715000"/>
            <a:ext cx="3383280" cy="365760"/>
          </a:xfrm>
          <a:prstGeom prst="rect">
            <a:avLst/>
          </a:prstGeom>
          <a:noFill/>
          <a:ln/>
        </p:spPr>
        <p:txBody>
          <a:bodyPr wrap="square" lIns="0" tIns="0" rIns="0" bIns="0" rtlCol="0" anchor="ctr"/>
          <a:lstStyle/>
          <a:p>
            <a:pPr indent="0" marL="0">
              <a:buNone/>
            </a:pPr>
            <a:r>
              <a:rPr lang="en-US" sz="1100" dirty="0">
                <a:solidFill>
                  <a:srgbClr val="F59E0B"/>
                </a:solidFill>
                <a:latin typeface="Consolas" pitchFamily="34" charset="0"/>
                <a:ea typeface="Consolas" pitchFamily="34" charset="-122"/>
                <a:cs typeface="Consolas" pitchFamily="34" charset="-120"/>
              </a:rPr>
              <a:t>ENI / route tables / security groups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PHASE 2  •  STEP 1</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Service events are gold</a:t>
            </a:r>
            <a:endParaRPr lang="en-US" sz="2800" dirty="0"/>
          </a:p>
        </p:txBody>
      </p:sp>
      <p:sp>
        <p:nvSpPr>
          <p:cNvPr id="4" name="Text 2"/>
          <p:cNvSpPr/>
          <p:nvPr/>
        </p:nvSpPr>
        <p:spPr>
          <a:xfrm>
            <a:off x="731520" y="1463040"/>
            <a:ext cx="10972800" cy="457200"/>
          </a:xfrm>
          <a:prstGeom prst="rect">
            <a:avLst/>
          </a:prstGeom>
          <a:noFill/>
          <a:ln/>
        </p:spPr>
        <p:txBody>
          <a:bodyPr wrap="square" lIns="0" tIns="0" rIns="0" bIns="0" rtlCol="0" anchor="ctr"/>
          <a:lstStyle/>
          <a:p>
            <a:pPr indent="0" marL="0">
              <a:buNone/>
            </a:pPr>
            <a:r>
              <a:rPr lang="en-US" sz="1400" i="1" dirty="0">
                <a:solidFill>
                  <a:srgbClr val="E2E8F0"/>
                </a:solidFill>
                <a:latin typeface="Calibri" pitchFamily="34" charset="0"/>
                <a:ea typeface="Calibri" pitchFamily="34" charset="-122"/>
                <a:cs typeface="Calibri" pitchFamily="34" charset="-120"/>
              </a:rPr>
              <a:t>ECS records every placement attempt and failure in a rolling event log on the service. Most learners never discover this.</a:t>
            </a:r>
            <a:endParaRPr lang="en-US" sz="1400" dirty="0"/>
          </a:p>
        </p:txBody>
      </p:sp>
      <p:sp>
        <p:nvSpPr>
          <p:cNvPr id="5" name="Shape 3"/>
          <p:cNvSpPr/>
          <p:nvPr/>
        </p:nvSpPr>
        <p:spPr>
          <a:xfrm>
            <a:off x="731520" y="2011680"/>
            <a:ext cx="10972800" cy="914400"/>
          </a:xfrm>
          <a:prstGeom prst="rect">
            <a:avLst/>
          </a:prstGeom>
          <a:solidFill>
            <a:srgbClr val="0F1F3A"/>
          </a:solidFill>
          <a:ln w="6350">
            <a:solidFill>
              <a:srgbClr val="0D9488"/>
            </a:solidFill>
            <a:prstDash val="solid"/>
          </a:ln>
        </p:spPr>
      </p:sp>
      <p:sp>
        <p:nvSpPr>
          <p:cNvPr id="6" name="Text 4"/>
          <p:cNvSpPr/>
          <p:nvPr/>
        </p:nvSpPr>
        <p:spPr>
          <a:xfrm>
            <a:off x="868680" y="2103120"/>
            <a:ext cx="10698480" cy="731520"/>
          </a:xfrm>
          <a:prstGeom prst="rect">
            <a:avLst/>
          </a:prstGeom>
          <a:noFill/>
          <a:ln/>
        </p:spPr>
        <p:txBody>
          <a:bodyPr wrap="square" lIns="0" tIns="0" rIns="0" bIns="0" rtlCol="0" anchor="t"/>
          <a:lstStyle/>
          <a:p>
            <a:pPr algn="l" indent="0" marL="0">
              <a:buNone/>
            </a:pPr>
            <a:r>
              <a:rPr lang="en-US" sz="1200" dirty="0">
                <a:solidFill>
                  <a:srgbClr val="E2E8F0"/>
                </a:solidFill>
                <a:latin typeface="Consolas" pitchFamily="34" charset="0"/>
                <a:ea typeface="Consolas" pitchFamily="34" charset="-122"/>
                <a:cs typeface="Consolas" pitchFamily="34" charset="-120"/>
              </a:rPr>
              <a:t>$ aws ecs describe-services --cluster production --services payment-api \</a:t>
            </a: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    --query 'services[0].events[0:10]'</a:t>
            </a:r>
            <a:endParaRPr lang="en-US" sz="1200" dirty="0"/>
          </a:p>
        </p:txBody>
      </p:sp>
      <p:sp>
        <p:nvSpPr>
          <p:cNvPr id="7" name="Shape 5"/>
          <p:cNvSpPr/>
          <p:nvPr/>
        </p:nvSpPr>
        <p:spPr>
          <a:xfrm>
            <a:off x="731520" y="3108960"/>
            <a:ext cx="10972800" cy="3108960"/>
          </a:xfrm>
          <a:prstGeom prst="rect">
            <a:avLst/>
          </a:prstGeom>
          <a:solidFill>
            <a:srgbClr val="0F1F3A"/>
          </a:solidFill>
          <a:ln w="6350">
            <a:solidFill>
              <a:srgbClr val="0D9488"/>
            </a:solidFill>
            <a:prstDash val="solid"/>
          </a:ln>
        </p:spPr>
      </p:sp>
      <p:sp>
        <p:nvSpPr>
          <p:cNvPr id="8" name="Text 6"/>
          <p:cNvSpPr/>
          <p:nvPr/>
        </p:nvSpPr>
        <p:spPr>
          <a:xfrm>
            <a:off x="868680" y="3200400"/>
            <a:ext cx="10698480" cy="2926080"/>
          </a:xfrm>
          <a:prstGeom prst="rect">
            <a:avLst/>
          </a:prstGeom>
          <a:noFill/>
          <a:ln/>
        </p:spPr>
        <p:txBody>
          <a:bodyPr wrap="square" lIns="0" tIns="0" rIns="0" bIns="0" rtlCol="0" anchor="t"/>
          <a:lstStyle/>
          <a:p>
            <a:pPr algn="l"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"createdAt": "...",</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"message": "(service payment-api) was unable to place a task. Reason:</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CannotPullContainerError: pull image manifest has been retried 7 time(s):</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failed to resolve ref docker.io/library/payment-api:latest:</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failed to do request: Head https://registry-1.docker.io/...:</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dial tcp 44.210.47.137:443: i/o timeout."</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9" name="Text 7"/>
          <p:cNvSpPr/>
          <p:nvPr/>
        </p:nvSpPr>
        <p:spPr>
          <a:xfrm>
            <a:off x="731520" y="6355080"/>
            <a:ext cx="10972800" cy="365760"/>
          </a:xfrm>
          <a:prstGeom prst="rect">
            <a:avLst/>
          </a:prstGeom>
          <a:noFill/>
          <a:ln/>
        </p:spPr>
        <p:txBody>
          <a:bodyPr wrap="square" lIns="0" tIns="0" rIns="0" bIns="0" rtlCol="0" anchor="ctr"/>
          <a:lstStyle/>
          <a:p>
            <a:pPr indent="0" marL="0">
              <a:buNone/>
            </a:pPr>
            <a:r>
              <a:rPr lang="en-US" sz="1300" b="1" i="1" dirty="0">
                <a:solidFill>
                  <a:srgbClr val="2DD4BF"/>
                </a:solidFill>
                <a:latin typeface="Calibri" pitchFamily="34" charset="0"/>
                <a:ea typeface="Calibri" pitchFamily="34" charset="-122"/>
                <a:cs typeface="Calibri" pitchFamily="34" charset="-120"/>
              </a:rPr>
              <a:t>Two errors layered into one message. Read carefully.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PHASE 2  •  STEP 2</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Two bugs in one error message</a:t>
            </a:r>
            <a:endParaRPr lang="en-US" sz="2800" dirty="0"/>
          </a:p>
        </p:txBody>
      </p:sp>
      <p:sp>
        <p:nvSpPr>
          <p:cNvPr id="4" name="Shape 2"/>
          <p:cNvSpPr/>
          <p:nvPr/>
        </p:nvSpPr>
        <p:spPr>
          <a:xfrm>
            <a:off x="731520" y="1371600"/>
            <a:ext cx="5440680" cy="5029200"/>
          </a:xfrm>
          <a:prstGeom prst="rect">
            <a:avLst/>
          </a:prstGeom>
          <a:solidFill>
            <a:srgbClr val="152846"/>
          </a:solidFill>
          <a:ln w="12700">
            <a:solidFill>
              <a:srgbClr val="EF4444"/>
            </a:solidFill>
            <a:prstDash val="solid"/>
          </a:ln>
        </p:spPr>
      </p:sp>
      <p:sp>
        <p:nvSpPr>
          <p:cNvPr id="5" name="Shape 3"/>
          <p:cNvSpPr/>
          <p:nvPr/>
        </p:nvSpPr>
        <p:spPr>
          <a:xfrm>
            <a:off x="914400" y="1554480"/>
            <a:ext cx="502920" cy="502920"/>
          </a:xfrm>
          <a:prstGeom prst="ellipse">
            <a:avLst/>
          </a:prstGeom>
          <a:solidFill>
            <a:srgbClr val="EF4444"/>
          </a:solidFill>
          <a:ln w="12700">
            <a:solidFill>
              <a:srgbClr val="EF4444"/>
            </a:solidFill>
            <a:prstDash val="solid"/>
          </a:ln>
        </p:spPr>
      </p:sp>
      <p:pic>
        <p:nvPicPr>
          <p:cNvPr id="6" name="Image 0" descr="preencoded.png">    </p:cNvPr>
          <p:cNvPicPr>
            <a:picLocks noChangeAspect="1"/>
          </p:cNvPicPr>
          <p:nvPr/>
        </p:nvPicPr>
        <p:blipFill>
          <a:blip r:embed="rId1"/>
          <a:stretch>
            <a:fillRect/>
          </a:stretch>
        </p:blipFill>
        <p:spPr>
          <a:xfrm>
            <a:off x="1027557" y="1667637"/>
            <a:ext cx="276606" cy="276606"/>
          </a:xfrm>
          <a:prstGeom prst="rect">
            <a:avLst/>
          </a:prstGeom>
        </p:spPr>
      </p:pic>
      <p:sp>
        <p:nvSpPr>
          <p:cNvPr id="7" name="Text 4"/>
          <p:cNvSpPr/>
          <p:nvPr/>
        </p:nvSpPr>
        <p:spPr>
          <a:xfrm>
            <a:off x="1554480" y="1645920"/>
            <a:ext cx="4572000" cy="320040"/>
          </a:xfrm>
          <a:prstGeom prst="rect">
            <a:avLst/>
          </a:prstGeom>
          <a:noFill/>
          <a:ln/>
        </p:spPr>
        <p:txBody>
          <a:bodyPr wrap="square" lIns="0" tIns="0" rIns="0" bIns="0" rtlCol="0" anchor="ctr"/>
          <a:lstStyle/>
          <a:p>
            <a:pPr indent="0" marL="0">
              <a:buNone/>
            </a:pPr>
            <a:r>
              <a:rPr lang="en-US" sz="1100" b="1" spc="200" kern="0" dirty="0">
                <a:solidFill>
                  <a:srgbClr val="EF4444"/>
                </a:solidFill>
                <a:latin typeface="Calibri" pitchFamily="34" charset="0"/>
                <a:ea typeface="Calibri" pitchFamily="34" charset="-122"/>
                <a:cs typeface="Calibri" pitchFamily="34" charset="-120"/>
              </a:rPr>
              <a:t>BUG A</a:t>
            </a:r>
            <a:endParaRPr lang="en-US" sz="1100" dirty="0"/>
          </a:p>
        </p:txBody>
      </p:sp>
      <p:sp>
        <p:nvSpPr>
          <p:cNvPr id="8" name="Text 5"/>
          <p:cNvSpPr/>
          <p:nvPr/>
        </p:nvSpPr>
        <p:spPr>
          <a:xfrm>
            <a:off x="914400" y="2194560"/>
            <a:ext cx="521208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Image doesn't exist</a:t>
            </a:r>
            <a:endParaRPr lang="en-US" sz="1800" dirty="0"/>
          </a:p>
        </p:txBody>
      </p:sp>
      <p:sp>
        <p:nvSpPr>
          <p:cNvPr id="9" name="Shape 6"/>
          <p:cNvSpPr/>
          <p:nvPr/>
        </p:nvSpPr>
        <p:spPr>
          <a:xfrm>
            <a:off x="914400" y="2743200"/>
            <a:ext cx="5212080" cy="548640"/>
          </a:xfrm>
          <a:prstGeom prst="rect">
            <a:avLst/>
          </a:prstGeom>
          <a:solidFill>
            <a:srgbClr val="0F1F3A"/>
          </a:solidFill>
          <a:ln w="6350">
            <a:solidFill>
              <a:srgbClr val="0D9488"/>
            </a:solidFill>
            <a:prstDash val="solid"/>
          </a:ln>
        </p:spPr>
      </p:sp>
      <p:sp>
        <p:nvSpPr>
          <p:cNvPr id="10" name="Text 7"/>
          <p:cNvSpPr/>
          <p:nvPr/>
        </p:nvSpPr>
        <p:spPr>
          <a:xfrm>
            <a:off x="1051560" y="2834640"/>
            <a:ext cx="4937760" cy="365760"/>
          </a:xfrm>
          <a:prstGeom prst="rect">
            <a:avLst/>
          </a:prstGeom>
          <a:noFill/>
          <a:ln/>
        </p:spPr>
        <p:txBody>
          <a:bodyPr wrap="square" lIns="0" tIns="0" rIns="0" bIns="0" rtlCol="0" anchor="t"/>
          <a:lstStyle/>
          <a:p>
            <a:pPr algn="l" indent="0" marL="0">
              <a:buNone/>
            </a:pPr>
            <a:r>
              <a:rPr lang="en-US" sz="1100" dirty="0">
                <a:solidFill>
                  <a:srgbClr val="E2E8F0"/>
                </a:solidFill>
                <a:latin typeface="Consolas" pitchFamily="34" charset="0"/>
                <a:ea typeface="Consolas" pitchFamily="34" charset="-122"/>
                <a:cs typeface="Consolas" pitchFamily="34" charset="-120"/>
              </a:rPr>
              <a:t>image = "payment-api:latest"</a:t>
            </a:r>
            <a:endParaRPr lang="en-US" sz="1100" dirty="0"/>
          </a:p>
        </p:txBody>
      </p:sp>
      <p:sp>
        <p:nvSpPr>
          <p:cNvPr id="11" name="Text 8"/>
          <p:cNvSpPr/>
          <p:nvPr/>
        </p:nvSpPr>
        <p:spPr>
          <a:xfrm>
            <a:off x="914400" y="3474720"/>
            <a:ext cx="5212080" cy="164592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Fargate resolves bare references to docker.io/library/&lt;name&gt;. There is no official Docker library image called payment-api. The reference is a placeholder that means nothing in any registry.</a:t>
            </a:r>
            <a:endParaRPr lang="en-US" sz="1200" dirty="0"/>
          </a:p>
        </p:txBody>
      </p:sp>
      <p:sp>
        <p:nvSpPr>
          <p:cNvPr id="12" name="Text 9"/>
          <p:cNvSpPr/>
          <p:nvPr/>
        </p:nvSpPr>
        <p:spPr>
          <a:xfrm>
            <a:off x="914400" y="5212080"/>
            <a:ext cx="5212080" cy="274320"/>
          </a:xfrm>
          <a:prstGeom prst="rect">
            <a:avLst/>
          </a:prstGeom>
          <a:noFill/>
          <a:ln/>
        </p:spPr>
        <p:txBody>
          <a:bodyPr wrap="square" lIns="0" tIns="0" rIns="0" bIns="0" rtlCol="0" anchor="ctr"/>
          <a:lstStyle/>
          <a:p>
            <a:pPr indent="0" marL="0">
              <a:buNone/>
            </a:pPr>
            <a:r>
              <a:rPr lang="en-US" sz="1000" b="1" spc="100" kern="0" dirty="0">
                <a:solidFill>
                  <a:srgbClr val="2DD4BF"/>
                </a:solidFill>
                <a:latin typeface="Calibri" pitchFamily="34" charset="0"/>
                <a:ea typeface="Calibri" pitchFamily="34" charset="-122"/>
                <a:cs typeface="Calibri" pitchFamily="34" charset="-120"/>
              </a:rPr>
              <a:t>FIX</a:t>
            </a:r>
            <a:endParaRPr lang="en-US" sz="1000" dirty="0"/>
          </a:p>
        </p:txBody>
      </p:sp>
      <p:sp>
        <p:nvSpPr>
          <p:cNvPr id="13" name="Shape 10"/>
          <p:cNvSpPr/>
          <p:nvPr/>
        </p:nvSpPr>
        <p:spPr>
          <a:xfrm>
            <a:off x="914400" y="5486400"/>
            <a:ext cx="5212080" cy="868680"/>
          </a:xfrm>
          <a:prstGeom prst="rect">
            <a:avLst/>
          </a:prstGeom>
          <a:solidFill>
            <a:srgbClr val="0F1F3A"/>
          </a:solidFill>
          <a:ln w="6350">
            <a:solidFill>
              <a:srgbClr val="0D9488"/>
            </a:solidFill>
            <a:prstDash val="solid"/>
          </a:ln>
        </p:spPr>
      </p:sp>
      <p:sp>
        <p:nvSpPr>
          <p:cNvPr id="14" name="Text 11"/>
          <p:cNvSpPr/>
          <p:nvPr/>
        </p:nvSpPr>
        <p:spPr>
          <a:xfrm>
            <a:off x="1051560" y="5577840"/>
            <a:ext cx="4937760" cy="685800"/>
          </a:xfrm>
          <a:prstGeom prst="rect">
            <a:avLst/>
          </a:prstGeom>
          <a:noFill/>
          <a:ln/>
        </p:spPr>
        <p:txBody>
          <a:bodyPr wrap="square" lIns="0" tIns="0" rIns="0" bIns="0" rtlCol="0" anchor="t"/>
          <a:lstStyle/>
          <a:p>
            <a:pPr algn="l" indent="0" marL="0">
              <a:buNone/>
            </a:pPr>
            <a:r>
              <a:rPr lang="en-US" sz="1000" dirty="0">
                <a:solidFill>
                  <a:srgbClr val="E2E8F0"/>
                </a:solidFill>
                <a:latin typeface="Consolas" pitchFamily="34" charset="0"/>
                <a:ea typeface="Consolas" pitchFamily="34" charset="-122"/>
                <a:cs typeface="Consolas" pitchFamily="34" charset="-120"/>
              </a:rPr>
              <a:t>image =</a:t>
            </a:r>
            <a:endParaRPr lang="en-US" sz="1000" dirty="0"/>
          </a:p>
          <a:p>
            <a:pPr algn="l" indent="0" marL="0">
              <a:buNone/>
            </a:pPr>
            <a:r>
              <a:rPr lang="en-US" sz="1000" dirty="0">
                <a:solidFill>
                  <a:srgbClr val="E2E8F0"/>
                </a:solidFill>
                <a:latin typeface="Consolas" pitchFamily="34" charset="0"/>
                <a:ea typeface="Consolas" pitchFamily="34" charset="-122"/>
                <a:cs typeface="Consolas" pitchFamily="34" charset="-120"/>
              </a:rPr>
              <a:t>  "public.ecr.aws/docker/</a:t>
            </a:r>
            <a:endParaRPr lang="en-US" sz="1000" dirty="0"/>
          </a:p>
          <a:p>
            <a:pPr algn="l" indent="0" marL="0">
              <a:buNone/>
            </a:pPr>
            <a:r>
              <a:rPr lang="en-US" sz="1000" dirty="0">
                <a:solidFill>
                  <a:srgbClr val="E2E8F0"/>
                </a:solidFill>
                <a:latin typeface="Consolas" pitchFamily="34" charset="0"/>
                <a:ea typeface="Consolas" pitchFamily="34" charset="-122"/>
                <a:cs typeface="Consolas" pitchFamily="34" charset="-120"/>
              </a:rPr>
              <a:t>  library/nginx:latest"</a:t>
            </a:r>
            <a:endParaRPr lang="en-US" sz="1000" dirty="0"/>
          </a:p>
        </p:txBody>
      </p:sp>
      <p:sp>
        <p:nvSpPr>
          <p:cNvPr id="15" name="Shape 12"/>
          <p:cNvSpPr/>
          <p:nvPr/>
        </p:nvSpPr>
        <p:spPr>
          <a:xfrm>
            <a:off x="6263640" y="1371600"/>
            <a:ext cx="5440680" cy="5029200"/>
          </a:xfrm>
          <a:prstGeom prst="rect">
            <a:avLst/>
          </a:prstGeom>
          <a:solidFill>
            <a:srgbClr val="152846"/>
          </a:solidFill>
          <a:ln w="12700">
            <a:solidFill>
              <a:srgbClr val="EF4444"/>
            </a:solidFill>
            <a:prstDash val="solid"/>
          </a:ln>
        </p:spPr>
      </p:sp>
      <p:sp>
        <p:nvSpPr>
          <p:cNvPr id="16" name="Shape 13"/>
          <p:cNvSpPr/>
          <p:nvPr/>
        </p:nvSpPr>
        <p:spPr>
          <a:xfrm>
            <a:off x="6446520" y="1554480"/>
            <a:ext cx="502920" cy="502920"/>
          </a:xfrm>
          <a:prstGeom prst="ellipse">
            <a:avLst/>
          </a:prstGeom>
          <a:solidFill>
            <a:srgbClr val="EF4444"/>
          </a:solidFill>
          <a:ln w="12700">
            <a:solidFill>
              <a:srgbClr val="EF4444"/>
            </a:solidFill>
            <a:prstDash val="solid"/>
          </a:ln>
        </p:spPr>
      </p:sp>
      <p:pic>
        <p:nvPicPr>
          <p:cNvPr id="17" name="Image 1" descr="preencoded.png">    </p:cNvPr>
          <p:cNvPicPr>
            <a:picLocks noChangeAspect="1"/>
          </p:cNvPicPr>
          <p:nvPr/>
        </p:nvPicPr>
        <p:blipFill>
          <a:blip r:embed="rId2"/>
          <a:stretch>
            <a:fillRect/>
          </a:stretch>
        </p:blipFill>
        <p:spPr>
          <a:xfrm>
            <a:off x="6559677" y="1667637"/>
            <a:ext cx="276606" cy="276606"/>
          </a:xfrm>
          <a:prstGeom prst="rect">
            <a:avLst/>
          </a:prstGeom>
        </p:spPr>
      </p:pic>
      <p:sp>
        <p:nvSpPr>
          <p:cNvPr id="18" name="Text 14"/>
          <p:cNvSpPr/>
          <p:nvPr/>
        </p:nvSpPr>
        <p:spPr>
          <a:xfrm>
            <a:off x="7086600" y="1645920"/>
            <a:ext cx="4572000" cy="320040"/>
          </a:xfrm>
          <a:prstGeom prst="rect">
            <a:avLst/>
          </a:prstGeom>
          <a:noFill/>
          <a:ln/>
        </p:spPr>
        <p:txBody>
          <a:bodyPr wrap="square" lIns="0" tIns="0" rIns="0" bIns="0" rtlCol="0" anchor="ctr"/>
          <a:lstStyle/>
          <a:p>
            <a:pPr indent="0" marL="0">
              <a:buNone/>
            </a:pPr>
            <a:r>
              <a:rPr lang="en-US" sz="1100" b="1" spc="200" kern="0" dirty="0">
                <a:solidFill>
                  <a:srgbClr val="EF4444"/>
                </a:solidFill>
                <a:latin typeface="Calibri" pitchFamily="34" charset="0"/>
                <a:ea typeface="Calibri" pitchFamily="34" charset="-122"/>
                <a:cs typeface="Calibri" pitchFamily="34" charset="-120"/>
              </a:rPr>
              <a:t>BUG B</a:t>
            </a:r>
            <a:endParaRPr lang="en-US" sz="1100" dirty="0"/>
          </a:p>
        </p:txBody>
      </p:sp>
      <p:sp>
        <p:nvSpPr>
          <p:cNvPr id="19" name="Text 15"/>
          <p:cNvSpPr/>
          <p:nvPr/>
        </p:nvSpPr>
        <p:spPr>
          <a:xfrm>
            <a:off x="6446520" y="2194560"/>
            <a:ext cx="521208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No route to internet</a:t>
            </a:r>
            <a:endParaRPr lang="en-US" sz="1800" dirty="0"/>
          </a:p>
        </p:txBody>
      </p:sp>
      <p:sp>
        <p:nvSpPr>
          <p:cNvPr id="20" name="Shape 16"/>
          <p:cNvSpPr/>
          <p:nvPr/>
        </p:nvSpPr>
        <p:spPr>
          <a:xfrm>
            <a:off x="6446520" y="2743200"/>
            <a:ext cx="5212080" cy="548640"/>
          </a:xfrm>
          <a:prstGeom prst="rect">
            <a:avLst/>
          </a:prstGeom>
          <a:solidFill>
            <a:srgbClr val="0F1F3A"/>
          </a:solidFill>
          <a:ln w="6350">
            <a:solidFill>
              <a:srgbClr val="0D9488"/>
            </a:solidFill>
            <a:prstDash val="solid"/>
          </a:ln>
        </p:spPr>
      </p:sp>
      <p:sp>
        <p:nvSpPr>
          <p:cNvPr id="21" name="Text 17"/>
          <p:cNvSpPr/>
          <p:nvPr/>
        </p:nvSpPr>
        <p:spPr>
          <a:xfrm>
            <a:off x="6583680" y="2834640"/>
            <a:ext cx="4937760" cy="365760"/>
          </a:xfrm>
          <a:prstGeom prst="rect">
            <a:avLst/>
          </a:prstGeom>
          <a:noFill/>
          <a:ln/>
        </p:spPr>
        <p:txBody>
          <a:bodyPr wrap="square" lIns="0" tIns="0" rIns="0" bIns="0" rtlCol="0" anchor="t"/>
          <a:lstStyle/>
          <a:p>
            <a:pPr algn="l" indent="0" marL="0">
              <a:buNone/>
            </a:pPr>
            <a:r>
              <a:rPr lang="en-US" sz="1100" dirty="0">
                <a:solidFill>
                  <a:srgbClr val="E2E8F0"/>
                </a:solidFill>
                <a:latin typeface="Consolas" pitchFamily="34" charset="0"/>
                <a:ea typeface="Consolas" pitchFamily="34" charset="-122"/>
                <a:cs typeface="Consolas" pitchFamily="34" charset="-120"/>
              </a:rPr>
              <a:t>dial tcp ...: i/o timeout</a:t>
            </a:r>
            <a:endParaRPr lang="en-US" sz="1100" dirty="0"/>
          </a:p>
        </p:txBody>
      </p:sp>
      <p:sp>
        <p:nvSpPr>
          <p:cNvPr id="22" name="Text 18"/>
          <p:cNvSpPr/>
          <p:nvPr/>
        </p:nvSpPr>
        <p:spPr>
          <a:xfrm>
            <a:off x="6446520" y="3474720"/>
            <a:ext cx="5212080" cy="164592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Even if the image existed, the task is in a private subnet with no Internet Gateway and no NAT. There is no path from the task to any registry on the public internet.</a:t>
            </a:r>
            <a:endParaRPr lang="en-US" sz="1200" dirty="0"/>
          </a:p>
        </p:txBody>
      </p:sp>
      <p:sp>
        <p:nvSpPr>
          <p:cNvPr id="23" name="Text 19"/>
          <p:cNvSpPr/>
          <p:nvPr/>
        </p:nvSpPr>
        <p:spPr>
          <a:xfrm>
            <a:off x="6446520" y="5212080"/>
            <a:ext cx="5212080" cy="274320"/>
          </a:xfrm>
          <a:prstGeom prst="rect">
            <a:avLst/>
          </a:prstGeom>
          <a:noFill/>
          <a:ln/>
        </p:spPr>
        <p:txBody>
          <a:bodyPr wrap="square" lIns="0" tIns="0" rIns="0" bIns="0" rtlCol="0" anchor="ctr"/>
          <a:lstStyle/>
          <a:p>
            <a:pPr indent="0" marL="0">
              <a:buNone/>
            </a:pPr>
            <a:r>
              <a:rPr lang="en-US" sz="1000" b="1" spc="100" kern="0" dirty="0">
                <a:solidFill>
                  <a:srgbClr val="2DD4BF"/>
                </a:solidFill>
                <a:latin typeface="Calibri" pitchFamily="34" charset="0"/>
                <a:ea typeface="Calibri" pitchFamily="34" charset="-122"/>
                <a:cs typeface="Calibri" pitchFamily="34" charset="-120"/>
              </a:rPr>
              <a:t>FIX</a:t>
            </a:r>
            <a:endParaRPr lang="en-US" sz="1000" dirty="0"/>
          </a:p>
        </p:txBody>
      </p:sp>
      <p:sp>
        <p:nvSpPr>
          <p:cNvPr id="24" name="Text 20"/>
          <p:cNvSpPr/>
          <p:nvPr/>
        </p:nvSpPr>
        <p:spPr>
          <a:xfrm>
            <a:off x="6446520" y="5486400"/>
            <a:ext cx="5212080" cy="868680"/>
          </a:xfrm>
          <a:prstGeom prst="rect">
            <a:avLst/>
          </a:prstGeom>
          <a:noFill/>
          <a:ln/>
        </p:spPr>
        <p:txBody>
          <a:bodyPr wrap="square" lIns="0" tIns="0" rIns="0" bIns="0" rtlCol="0" anchor="ctr"/>
          <a:lstStyle/>
          <a:p>
            <a:pPr indent="0" marL="0">
              <a:buNone/>
            </a:pPr>
            <a:r>
              <a:rPr lang="en-US" sz="1300" dirty="0">
                <a:solidFill>
                  <a:srgbClr val="2DD4BF"/>
                </a:solidFill>
                <a:latin typeface="Calibri" pitchFamily="34" charset="0"/>
                <a:ea typeface="Calibri" pitchFamily="34" charset="-122"/>
                <a:cs typeface="Calibri" pitchFamily="34" charset="-120"/>
              </a:rPr>
              <a:t>IGW + public subnet + NAT gateway</a:t>
            </a:r>
            <a:endParaRPr lang="en-US" sz="1300" dirty="0"/>
          </a:p>
          <a:p>
            <a:pPr indent="0" marL="0">
              <a:buNone/>
            </a:pPr>
            <a:r>
              <a:rPr lang="en-US" sz="1300" dirty="0">
                <a:solidFill>
                  <a:srgbClr val="2DD4BF"/>
                </a:solidFill>
                <a:latin typeface="Calibri" pitchFamily="34" charset="0"/>
                <a:ea typeface="Calibri" pitchFamily="34" charset="-122"/>
                <a:cs typeface="Calibri" pitchFamily="34" charset="-120"/>
              </a:rPr>
              <a:t>+ route tables (next slide)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PHASE 2  •  STEP 3</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Standard private-with-egress pattern</a:t>
            </a:r>
            <a:endParaRPr lang="en-US" sz="2800" dirty="0"/>
          </a:p>
        </p:txBody>
      </p:sp>
      <p:sp>
        <p:nvSpPr>
          <p:cNvPr id="4" name="Text 2"/>
          <p:cNvSpPr/>
          <p:nvPr/>
        </p:nvSpPr>
        <p:spPr>
          <a:xfrm>
            <a:off x="731520" y="1463040"/>
            <a:ext cx="10972800" cy="457200"/>
          </a:xfrm>
          <a:prstGeom prst="rect">
            <a:avLst/>
          </a:prstGeom>
          <a:noFill/>
          <a:ln/>
        </p:spPr>
        <p:txBody>
          <a:bodyPr wrap="square" lIns="0" tIns="0" rIns="0" bIns="0" rtlCol="0" anchor="ctr"/>
          <a:lstStyle/>
          <a:p>
            <a:pPr indent="0" marL="0">
              <a:buNone/>
            </a:pPr>
            <a:r>
              <a:rPr lang="en-US" sz="1300" i="1" dirty="0">
                <a:solidFill>
                  <a:srgbClr val="E2E8F0"/>
                </a:solidFill>
                <a:latin typeface="Calibri" pitchFamily="34" charset="0"/>
                <a:ea typeface="Calibri" pitchFamily="34" charset="-122"/>
                <a:cs typeface="Calibri" pitchFamily="34" charset="-120"/>
              </a:rPr>
              <a:t>The architecture interview answer for "how do I give private workloads outbound internet without making them inbound-reachable?"</a:t>
            </a:r>
            <a:endParaRPr lang="en-US" sz="1300" dirty="0"/>
          </a:p>
        </p:txBody>
      </p:sp>
      <p:sp>
        <p:nvSpPr>
          <p:cNvPr id="5" name="Shape 3"/>
          <p:cNvSpPr/>
          <p:nvPr/>
        </p:nvSpPr>
        <p:spPr>
          <a:xfrm>
            <a:off x="5623560" y="2194560"/>
            <a:ext cx="640080" cy="640080"/>
          </a:xfrm>
          <a:prstGeom prst="ellipse">
            <a:avLst/>
          </a:prstGeom>
          <a:solidFill>
            <a:srgbClr val="14B8A6"/>
          </a:solidFill>
          <a:ln w="12700">
            <a:solidFill>
              <a:srgbClr val="14B8A6"/>
            </a:solidFill>
            <a:prstDash val="solid"/>
          </a:ln>
        </p:spPr>
      </p:sp>
      <p:pic>
        <p:nvPicPr>
          <p:cNvPr id="6" name="Image 0" descr="preencoded.png">    </p:cNvPr>
          <p:cNvPicPr>
            <a:picLocks noChangeAspect="1"/>
          </p:cNvPicPr>
          <p:nvPr/>
        </p:nvPicPr>
        <p:blipFill>
          <a:blip r:embed="rId1"/>
          <a:stretch>
            <a:fillRect/>
          </a:stretch>
        </p:blipFill>
        <p:spPr>
          <a:xfrm>
            <a:off x="5767578" y="2338578"/>
            <a:ext cx="352044" cy="352044"/>
          </a:xfrm>
          <a:prstGeom prst="rect">
            <a:avLst/>
          </a:prstGeom>
        </p:spPr>
      </p:pic>
      <p:sp>
        <p:nvSpPr>
          <p:cNvPr id="7" name="Text 4"/>
          <p:cNvSpPr/>
          <p:nvPr/>
        </p:nvSpPr>
        <p:spPr>
          <a:xfrm>
            <a:off x="4937760" y="2880360"/>
            <a:ext cx="2103120" cy="274320"/>
          </a:xfrm>
          <a:prstGeom prst="rect">
            <a:avLst/>
          </a:prstGeom>
          <a:noFill/>
          <a:ln/>
        </p:spPr>
        <p:txBody>
          <a:bodyPr wrap="square" lIns="0" tIns="0" rIns="0" bIns="0" rtlCol="0" anchor="ctr"/>
          <a:lstStyle/>
          <a:p>
            <a:pPr algn="ctr" indent="0" marL="0">
              <a:buNone/>
            </a:pPr>
            <a:r>
              <a:rPr lang="en-US" sz="1000" b="1" spc="200" kern="0" dirty="0">
                <a:solidFill>
                  <a:srgbClr val="2DD4BF"/>
                </a:solidFill>
                <a:latin typeface="Calibri" pitchFamily="34" charset="0"/>
                <a:ea typeface="Calibri" pitchFamily="34" charset="-122"/>
                <a:cs typeface="Calibri" pitchFamily="34" charset="-120"/>
              </a:rPr>
              <a:t>INTERNET</a:t>
            </a:r>
            <a:endParaRPr lang="en-US" sz="1000" dirty="0"/>
          </a:p>
        </p:txBody>
      </p:sp>
      <p:sp>
        <p:nvSpPr>
          <p:cNvPr id="8" name="Shape 5"/>
          <p:cNvSpPr/>
          <p:nvPr/>
        </p:nvSpPr>
        <p:spPr>
          <a:xfrm>
            <a:off x="914400" y="3383280"/>
            <a:ext cx="10332720" cy="3108960"/>
          </a:xfrm>
          <a:prstGeom prst="rect">
            <a:avLst/>
          </a:prstGeom>
          <a:solidFill>
            <a:srgbClr val="152846"/>
          </a:solidFill>
          <a:ln w="12700">
            <a:solidFill>
              <a:srgbClr val="0D9488"/>
            </a:solidFill>
            <a:prstDash val="solid"/>
          </a:ln>
        </p:spPr>
      </p:sp>
      <p:sp>
        <p:nvSpPr>
          <p:cNvPr id="9" name="Text 6"/>
          <p:cNvSpPr/>
          <p:nvPr/>
        </p:nvSpPr>
        <p:spPr>
          <a:xfrm>
            <a:off x="1097280" y="3474720"/>
            <a:ext cx="4572000" cy="274320"/>
          </a:xfrm>
          <a:prstGeom prst="rect">
            <a:avLst/>
          </a:prstGeom>
          <a:noFill/>
          <a:ln/>
        </p:spPr>
        <p:txBody>
          <a:bodyPr wrap="square" lIns="0" tIns="0" rIns="0" bIns="0" rtlCol="0" anchor="ctr"/>
          <a:lstStyle/>
          <a:p>
            <a:pPr indent="0" marL="0">
              <a:buNone/>
            </a:pPr>
            <a:r>
              <a:rPr lang="en-US" sz="1000" b="1" spc="100" kern="0" dirty="0">
                <a:solidFill>
                  <a:srgbClr val="94A3B8"/>
                </a:solidFill>
                <a:latin typeface="Calibri" pitchFamily="34" charset="0"/>
                <a:ea typeface="Calibri" pitchFamily="34" charset="-122"/>
                <a:cs typeface="Calibri" pitchFamily="34" charset="-120"/>
              </a:rPr>
              <a:t>VPC  10.0.0.0/16</a:t>
            </a:r>
            <a:endParaRPr lang="en-US" sz="1000" dirty="0"/>
          </a:p>
        </p:txBody>
      </p:sp>
      <p:sp>
        <p:nvSpPr>
          <p:cNvPr id="10" name="Shape 7"/>
          <p:cNvSpPr/>
          <p:nvPr/>
        </p:nvSpPr>
        <p:spPr>
          <a:xfrm>
            <a:off x="1280160" y="3840480"/>
            <a:ext cx="4389120" cy="2468880"/>
          </a:xfrm>
          <a:prstGeom prst="rect">
            <a:avLst/>
          </a:prstGeom>
          <a:solidFill>
            <a:srgbClr val="1F3760"/>
          </a:solidFill>
          <a:ln w="12700">
            <a:solidFill>
              <a:srgbClr val="14B8A6"/>
            </a:solidFill>
            <a:prstDash val="solid"/>
          </a:ln>
        </p:spPr>
      </p:sp>
      <p:sp>
        <p:nvSpPr>
          <p:cNvPr id="11" name="Text 8"/>
          <p:cNvSpPr/>
          <p:nvPr/>
        </p:nvSpPr>
        <p:spPr>
          <a:xfrm>
            <a:off x="1417320" y="3931920"/>
            <a:ext cx="4206240" cy="274320"/>
          </a:xfrm>
          <a:prstGeom prst="rect">
            <a:avLst/>
          </a:prstGeom>
          <a:noFill/>
          <a:ln/>
        </p:spPr>
        <p:txBody>
          <a:bodyPr wrap="square" lIns="0" tIns="0" rIns="0" bIns="0" rtlCol="0" anchor="ctr"/>
          <a:lstStyle/>
          <a:p>
            <a:pPr indent="0" marL="0">
              <a:buNone/>
            </a:pPr>
            <a:r>
              <a:rPr lang="en-US" sz="900" b="1" spc="100" kern="0" dirty="0">
                <a:solidFill>
                  <a:srgbClr val="2DD4BF"/>
                </a:solidFill>
                <a:latin typeface="Calibri" pitchFamily="34" charset="0"/>
                <a:ea typeface="Calibri" pitchFamily="34" charset="-122"/>
                <a:cs typeface="Calibri" pitchFamily="34" charset="-120"/>
              </a:rPr>
              <a:t>PUBLIC SUBNET  10.0.0.0/24</a:t>
            </a:r>
            <a:endParaRPr lang="en-US" sz="900" dirty="0"/>
          </a:p>
        </p:txBody>
      </p:sp>
      <p:sp>
        <p:nvSpPr>
          <p:cNvPr id="12" name="Shape 9"/>
          <p:cNvSpPr/>
          <p:nvPr/>
        </p:nvSpPr>
        <p:spPr>
          <a:xfrm>
            <a:off x="1463040" y="4297680"/>
            <a:ext cx="1828800" cy="640080"/>
          </a:xfrm>
          <a:prstGeom prst="rect">
            <a:avLst/>
          </a:prstGeom>
          <a:solidFill>
            <a:srgbClr val="0A1628"/>
          </a:solidFill>
          <a:ln w="12700">
            <a:solidFill>
              <a:srgbClr val="2DD4BF"/>
            </a:solidFill>
            <a:prstDash val="solid"/>
          </a:ln>
        </p:spPr>
      </p:sp>
      <p:sp>
        <p:nvSpPr>
          <p:cNvPr id="13" name="Text 10"/>
          <p:cNvSpPr/>
          <p:nvPr/>
        </p:nvSpPr>
        <p:spPr>
          <a:xfrm>
            <a:off x="1463040" y="4297680"/>
            <a:ext cx="1828800" cy="640080"/>
          </a:xfrm>
          <a:prstGeom prst="rect">
            <a:avLst/>
          </a:prstGeom>
          <a:noFill/>
          <a:ln/>
        </p:spPr>
        <p:txBody>
          <a:bodyPr wrap="square" lIns="0" tIns="0" rIns="0" bIns="0" rtlCol="0" anchor="ctr"/>
          <a:lstStyle/>
          <a:p>
            <a:pPr algn="ctr" indent="0" marL="0">
              <a:buNone/>
            </a:pPr>
            <a:r>
              <a:rPr lang="en-US" sz="1200" b="1" dirty="0">
                <a:solidFill>
                  <a:srgbClr val="2DD4BF"/>
                </a:solidFill>
                <a:latin typeface="Calibri" pitchFamily="34" charset="0"/>
                <a:ea typeface="Calibri" pitchFamily="34" charset="-122"/>
                <a:cs typeface="Calibri" pitchFamily="34" charset="-120"/>
              </a:rPr>
              <a:t>IGW</a:t>
            </a:r>
            <a:endParaRPr lang="en-US" sz="1200" dirty="0"/>
          </a:p>
        </p:txBody>
      </p:sp>
      <p:sp>
        <p:nvSpPr>
          <p:cNvPr id="14" name="Shape 11"/>
          <p:cNvSpPr/>
          <p:nvPr/>
        </p:nvSpPr>
        <p:spPr>
          <a:xfrm>
            <a:off x="3566160" y="4297680"/>
            <a:ext cx="1828800" cy="640080"/>
          </a:xfrm>
          <a:prstGeom prst="rect">
            <a:avLst/>
          </a:prstGeom>
          <a:solidFill>
            <a:srgbClr val="0A1628"/>
          </a:solidFill>
          <a:ln w="12700">
            <a:solidFill>
              <a:srgbClr val="2DD4BF"/>
            </a:solidFill>
            <a:prstDash val="solid"/>
          </a:ln>
        </p:spPr>
      </p:sp>
      <p:sp>
        <p:nvSpPr>
          <p:cNvPr id="15" name="Text 12"/>
          <p:cNvSpPr/>
          <p:nvPr/>
        </p:nvSpPr>
        <p:spPr>
          <a:xfrm>
            <a:off x="3566160" y="4297680"/>
            <a:ext cx="1828800" cy="640080"/>
          </a:xfrm>
          <a:prstGeom prst="rect">
            <a:avLst/>
          </a:prstGeom>
          <a:noFill/>
          <a:ln/>
        </p:spPr>
        <p:txBody>
          <a:bodyPr wrap="square" lIns="0" tIns="0" rIns="0" bIns="0" rtlCol="0" anchor="ctr"/>
          <a:lstStyle/>
          <a:p>
            <a:pPr algn="ctr" indent="0" marL="0">
              <a:buNone/>
            </a:pPr>
            <a:r>
              <a:rPr lang="en-US" sz="1200" b="1" dirty="0">
                <a:solidFill>
                  <a:srgbClr val="2DD4BF"/>
                </a:solidFill>
                <a:latin typeface="Calibri" pitchFamily="34" charset="0"/>
                <a:ea typeface="Calibri" pitchFamily="34" charset="-122"/>
                <a:cs typeface="Calibri" pitchFamily="34" charset="-120"/>
              </a:rPr>
              <a:t>NAT GW</a:t>
            </a:r>
            <a:endParaRPr lang="en-US" sz="1200" dirty="0"/>
          </a:p>
        </p:txBody>
      </p:sp>
      <p:sp>
        <p:nvSpPr>
          <p:cNvPr id="16" name="Text 13"/>
          <p:cNvSpPr/>
          <p:nvPr/>
        </p:nvSpPr>
        <p:spPr>
          <a:xfrm>
            <a:off x="1463040" y="5486400"/>
            <a:ext cx="4023360" cy="365760"/>
          </a:xfrm>
          <a:prstGeom prst="rect">
            <a:avLst/>
          </a:prstGeom>
          <a:noFill/>
          <a:ln/>
        </p:spPr>
        <p:txBody>
          <a:bodyPr wrap="square" lIns="0" tIns="0" rIns="0" bIns="0" rtlCol="0" anchor="ctr"/>
          <a:lstStyle/>
          <a:p>
            <a:pPr indent="0" marL="0">
              <a:buNone/>
            </a:pPr>
            <a:r>
              <a:rPr lang="en-US" sz="1000" dirty="0">
                <a:solidFill>
                  <a:srgbClr val="E2E8F0"/>
                </a:solidFill>
                <a:latin typeface="Consolas" pitchFamily="34" charset="0"/>
                <a:ea typeface="Consolas" pitchFamily="34" charset="-122"/>
                <a:cs typeface="Consolas" pitchFamily="34" charset="-120"/>
              </a:rPr>
              <a:t>rt: 0.0.0.0/0 → IGW</a:t>
            </a:r>
            <a:endParaRPr lang="en-US" sz="1000" dirty="0"/>
          </a:p>
        </p:txBody>
      </p:sp>
      <p:sp>
        <p:nvSpPr>
          <p:cNvPr id="17" name="Shape 14"/>
          <p:cNvSpPr/>
          <p:nvPr/>
        </p:nvSpPr>
        <p:spPr>
          <a:xfrm>
            <a:off x="6035040" y="3840480"/>
            <a:ext cx="5029200" cy="2468880"/>
          </a:xfrm>
          <a:prstGeom prst="rect">
            <a:avLst/>
          </a:prstGeom>
          <a:solidFill>
            <a:srgbClr val="1F3760"/>
          </a:solidFill>
          <a:ln w="12700">
            <a:solidFill>
              <a:srgbClr val="14B8A6"/>
            </a:solidFill>
            <a:prstDash val="solid"/>
          </a:ln>
        </p:spPr>
      </p:sp>
      <p:sp>
        <p:nvSpPr>
          <p:cNvPr id="18" name="Text 15"/>
          <p:cNvSpPr/>
          <p:nvPr/>
        </p:nvSpPr>
        <p:spPr>
          <a:xfrm>
            <a:off x="6172200" y="3931920"/>
            <a:ext cx="4846320" cy="274320"/>
          </a:xfrm>
          <a:prstGeom prst="rect">
            <a:avLst/>
          </a:prstGeom>
          <a:noFill/>
          <a:ln/>
        </p:spPr>
        <p:txBody>
          <a:bodyPr wrap="square" lIns="0" tIns="0" rIns="0" bIns="0" rtlCol="0" anchor="ctr"/>
          <a:lstStyle/>
          <a:p>
            <a:pPr indent="0" marL="0">
              <a:buNone/>
            </a:pPr>
            <a:r>
              <a:rPr lang="en-US" sz="900" b="1" spc="100" kern="0" dirty="0">
                <a:solidFill>
                  <a:srgbClr val="2DD4BF"/>
                </a:solidFill>
                <a:latin typeface="Calibri" pitchFamily="34" charset="0"/>
                <a:ea typeface="Calibri" pitchFamily="34" charset="-122"/>
                <a:cs typeface="Calibri" pitchFamily="34" charset="-120"/>
              </a:rPr>
              <a:t>PRIVATE SUBNET  10.0.1.0/24</a:t>
            </a:r>
            <a:endParaRPr lang="en-US" sz="900" dirty="0"/>
          </a:p>
        </p:txBody>
      </p:sp>
      <p:sp>
        <p:nvSpPr>
          <p:cNvPr id="19" name="Shape 16"/>
          <p:cNvSpPr/>
          <p:nvPr/>
        </p:nvSpPr>
        <p:spPr>
          <a:xfrm>
            <a:off x="6263640" y="4297680"/>
            <a:ext cx="4572000" cy="868680"/>
          </a:xfrm>
          <a:prstGeom prst="rect">
            <a:avLst/>
          </a:prstGeom>
          <a:solidFill>
            <a:srgbClr val="0A1628"/>
          </a:solidFill>
          <a:ln w="12700">
            <a:solidFill>
              <a:srgbClr val="2DD4BF"/>
            </a:solidFill>
            <a:prstDash val="solid"/>
          </a:ln>
        </p:spPr>
      </p:sp>
      <p:sp>
        <p:nvSpPr>
          <p:cNvPr id="20" name="Shape 17"/>
          <p:cNvSpPr/>
          <p:nvPr/>
        </p:nvSpPr>
        <p:spPr>
          <a:xfrm>
            <a:off x="6355080" y="4434840"/>
            <a:ext cx="548640" cy="548640"/>
          </a:xfrm>
          <a:prstGeom prst="ellipse">
            <a:avLst/>
          </a:prstGeom>
          <a:solidFill>
            <a:srgbClr val="14B8A6"/>
          </a:solidFill>
          <a:ln w="12700">
            <a:solidFill>
              <a:srgbClr val="14B8A6"/>
            </a:solidFill>
            <a:prstDash val="solid"/>
          </a:ln>
        </p:spPr>
      </p:sp>
      <p:pic>
        <p:nvPicPr>
          <p:cNvPr id="21" name="Image 1" descr="preencoded.png">    </p:cNvPr>
          <p:cNvPicPr>
            <a:picLocks noChangeAspect="1"/>
          </p:cNvPicPr>
          <p:nvPr/>
        </p:nvPicPr>
        <p:blipFill>
          <a:blip r:embed="rId2"/>
          <a:stretch>
            <a:fillRect/>
          </a:stretch>
        </p:blipFill>
        <p:spPr>
          <a:xfrm>
            <a:off x="6478524" y="4558284"/>
            <a:ext cx="301752" cy="301752"/>
          </a:xfrm>
          <a:prstGeom prst="rect">
            <a:avLst/>
          </a:prstGeom>
        </p:spPr>
      </p:pic>
      <p:sp>
        <p:nvSpPr>
          <p:cNvPr id="22" name="Text 18"/>
          <p:cNvSpPr/>
          <p:nvPr/>
        </p:nvSpPr>
        <p:spPr>
          <a:xfrm>
            <a:off x="6995160" y="4434840"/>
            <a:ext cx="3657600" cy="274320"/>
          </a:xfrm>
          <a:prstGeom prst="rect">
            <a:avLst/>
          </a:prstGeom>
          <a:noFill/>
          <a:ln/>
        </p:spPr>
        <p:txBody>
          <a:bodyPr wrap="square" lIns="0" tIns="0" rIns="0" bIns="0" rtlCol="0" anchor="ctr"/>
          <a:lstStyle/>
          <a:p>
            <a:pPr indent="0" marL="0">
              <a:buNone/>
            </a:pPr>
            <a:r>
              <a:rPr lang="en-US" sz="1000" b="1" spc="100" kern="0" dirty="0">
                <a:solidFill>
                  <a:srgbClr val="2DD4BF"/>
                </a:solidFill>
                <a:latin typeface="Calibri" pitchFamily="34" charset="0"/>
                <a:ea typeface="Calibri" pitchFamily="34" charset="-122"/>
                <a:cs typeface="Calibri" pitchFamily="34" charset="-120"/>
              </a:rPr>
              <a:t>FARGATE TASK</a:t>
            </a:r>
            <a:endParaRPr lang="en-US" sz="1000" dirty="0"/>
          </a:p>
        </p:txBody>
      </p:sp>
      <p:sp>
        <p:nvSpPr>
          <p:cNvPr id="23" name="Text 19"/>
          <p:cNvSpPr/>
          <p:nvPr/>
        </p:nvSpPr>
        <p:spPr>
          <a:xfrm>
            <a:off x="6995160" y="4709160"/>
            <a:ext cx="3657600" cy="320040"/>
          </a:xfrm>
          <a:prstGeom prst="rect">
            <a:avLst/>
          </a:prstGeom>
          <a:noFill/>
          <a:ln/>
        </p:spPr>
        <p:txBody>
          <a:bodyPr wrap="square" lIns="0" tIns="0" rIns="0" bIns="0" rtlCol="0" anchor="ctr"/>
          <a:lstStyle/>
          <a:p>
            <a:pPr indent="0" marL="0">
              <a:buNone/>
            </a:pPr>
            <a:r>
              <a:rPr lang="en-US" sz="1100" dirty="0">
                <a:solidFill>
                  <a:srgbClr val="E2E8F0"/>
                </a:solidFill>
                <a:latin typeface="Consolas" pitchFamily="34" charset="0"/>
                <a:ea typeface="Consolas" pitchFamily="34" charset="-122"/>
                <a:cs typeface="Consolas" pitchFamily="34" charset="-120"/>
              </a:rPr>
              <a:t>payment-api  •  10.0.1.x</a:t>
            </a:r>
            <a:endParaRPr lang="en-US" sz="1100" dirty="0"/>
          </a:p>
        </p:txBody>
      </p:sp>
      <p:sp>
        <p:nvSpPr>
          <p:cNvPr id="24" name="Text 20"/>
          <p:cNvSpPr/>
          <p:nvPr/>
        </p:nvSpPr>
        <p:spPr>
          <a:xfrm>
            <a:off x="6263640" y="5486400"/>
            <a:ext cx="4572000" cy="365760"/>
          </a:xfrm>
          <a:prstGeom prst="rect">
            <a:avLst/>
          </a:prstGeom>
          <a:noFill/>
          <a:ln/>
        </p:spPr>
        <p:txBody>
          <a:bodyPr wrap="square" lIns="0" tIns="0" rIns="0" bIns="0" rtlCol="0" anchor="ctr"/>
          <a:lstStyle/>
          <a:p>
            <a:pPr indent="0" marL="0">
              <a:buNone/>
            </a:pPr>
            <a:r>
              <a:rPr lang="en-US" sz="1000" dirty="0">
                <a:solidFill>
                  <a:srgbClr val="E2E8F0"/>
                </a:solidFill>
                <a:latin typeface="Consolas" pitchFamily="34" charset="0"/>
                <a:ea typeface="Consolas" pitchFamily="34" charset="-122"/>
                <a:cs typeface="Consolas" pitchFamily="34" charset="-120"/>
              </a:rPr>
              <a:t>rt: 0.0.0.0/0 → NAT GW</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PHASE 2  •  TRUTH BOMB</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Public ECR myth</a:t>
            </a:r>
            <a:endParaRPr lang="en-US" sz="2800" dirty="0"/>
          </a:p>
        </p:txBody>
      </p:sp>
      <p:sp>
        <p:nvSpPr>
          <p:cNvPr id="4" name="Shape 2"/>
          <p:cNvSpPr/>
          <p:nvPr/>
        </p:nvSpPr>
        <p:spPr>
          <a:xfrm>
            <a:off x="731520" y="1463040"/>
            <a:ext cx="10972800" cy="1371600"/>
          </a:xfrm>
          <a:prstGeom prst="rect">
            <a:avLst/>
          </a:prstGeom>
          <a:solidFill>
            <a:srgbClr val="152846"/>
          </a:solidFill>
          <a:ln w="12700">
            <a:solidFill>
              <a:srgbClr val="F59E0B"/>
            </a:solidFill>
            <a:prstDash val="solid"/>
          </a:ln>
        </p:spPr>
      </p:sp>
      <p:sp>
        <p:nvSpPr>
          <p:cNvPr id="5" name="Text 3"/>
          <p:cNvSpPr/>
          <p:nvPr/>
        </p:nvSpPr>
        <p:spPr>
          <a:xfrm>
            <a:off x="914400" y="1600200"/>
            <a:ext cx="10972800" cy="320040"/>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MYTH</a:t>
            </a:r>
            <a:endParaRPr lang="en-US" sz="1100" dirty="0"/>
          </a:p>
        </p:txBody>
      </p:sp>
      <p:sp>
        <p:nvSpPr>
          <p:cNvPr id="6" name="Text 4"/>
          <p:cNvSpPr/>
          <p:nvPr/>
        </p:nvSpPr>
        <p:spPr>
          <a:xfrm>
            <a:off x="914400" y="1920240"/>
            <a:ext cx="10607040" cy="777240"/>
          </a:xfrm>
          <a:prstGeom prst="rect">
            <a:avLst/>
          </a:prstGeom>
          <a:noFill/>
          <a:ln/>
        </p:spPr>
        <p:txBody>
          <a:bodyPr wrap="square" lIns="0" tIns="0" rIns="0" bIns="0" rtlCol="0" anchor="ctr"/>
          <a:lstStyle/>
          <a:p>
            <a:pPr indent="0" marL="0">
              <a:buNone/>
            </a:pPr>
            <a:r>
              <a:rPr lang="en-US" sz="1800" b="1" i="1" dirty="0">
                <a:solidFill>
                  <a:srgbClr val="FFFFFF"/>
                </a:solidFill>
                <a:latin typeface="Calibri" pitchFamily="34" charset="0"/>
                <a:ea typeface="Calibri" pitchFamily="34" charset="-122"/>
                <a:cs typeface="Calibri" pitchFamily="34" charset="-120"/>
              </a:rPr>
              <a:t>"Public ECR is reachable from Fargate without NAT because it's an AWS service"</a:t>
            </a:r>
            <a:endParaRPr lang="en-US" sz="1800" dirty="0"/>
          </a:p>
        </p:txBody>
      </p:sp>
      <p:sp>
        <p:nvSpPr>
          <p:cNvPr id="7" name="Shape 5"/>
          <p:cNvSpPr/>
          <p:nvPr/>
        </p:nvSpPr>
        <p:spPr>
          <a:xfrm>
            <a:off x="731520" y="3017520"/>
            <a:ext cx="10972800" cy="1371600"/>
          </a:xfrm>
          <a:prstGeom prst="rect">
            <a:avLst/>
          </a:prstGeom>
          <a:solidFill>
            <a:srgbClr val="152846"/>
          </a:solidFill>
          <a:ln w="12700">
            <a:solidFill>
              <a:srgbClr val="14B8A6"/>
            </a:solidFill>
            <a:prstDash val="solid"/>
          </a:ln>
        </p:spPr>
      </p:sp>
      <p:sp>
        <p:nvSpPr>
          <p:cNvPr id="8" name="Text 6"/>
          <p:cNvSpPr/>
          <p:nvPr/>
        </p:nvSpPr>
        <p:spPr>
          <a:xfrm>
            <a:off x="914400" y="3154680"/>
            <a:ext cx="10972800" cy="320040"/>
          </a:xfrm>
          <a:prstGeom prst="rect">
            <a:avLst/>
          </a:prstGeom>
          <a:noFill/>
          <a:ln/>
        </p:spPr>
        <p:txBody>
          <a:bodyPr wrap="square" lIns="0" tIns="0" rIns="0" bIns="0" rtlCol="0" anchor="ctr"/>
          <a:lstStyle/>
          <a:p>
            <a:pPr indent="0" marL="0">
              <a:buNone/>
            </a:pPr>
            <a:r>
              <a:rPr lang="en-US" sz="1100" b="1" spc="200" kern="0" dirty="0">
                <a:solidFill>
                  <a:srgbClr val="2DD4BF"/>
                </a:solidFill>
                <a:latin typeface="Calibri" pitchFamily="34" charset="0"/>
                <a:ea typeface="Calibri" pitchFamily="34" charset="-122"/>
                <a:cs typeface="Calibri" pitchFamily="34" charset="-120"/>
              </a:rPr>
              <a:t>TRUTH</a:t>
            </a:r>
            <a:endParaRPr lang="en-US" sz="1100" dirty="0"/>
          </a:p>
        </p:txBody>
      </p:sp>
      <p:sp>
        <p:nvSpPr>
          <p:cNvPr id="9" name="Text 7"/>
          <p:cNvSpPr/>
          <p:nvPr/>
        </p:nvSpPr>
        <p:spPr>
          <a:xfrm>
            <a:off x="914400" y="3474720"/>
            <a:ext cx="10607040" cy="7772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It isn't. public.ecr.aws is a public address — it needs NAT or VPC endpoints same as Docker Hub.</a:t>
            </a:r>
            <a:endParaRPr lang="en-US" sz="1600" dirty="0"/>
          </a:p>
        </p:txBody>
      </p:sp>
      <p:sp>
        <p:nvSpPr>
          <p:cNvPr id="10" name="Text 8"/>
          <p:cNvSpPr/>
          <p:nvPr/>
        </p:nvSpPr>
        <p:spPr>
          <a:xfrm>
            <a:off x="731520" y="4617720"/>
            <a:ext cx="10972800" cy="36576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What actually works without NAT</a:t>
            </a:r>
            <a:endParaRPr lang="en-US" sz="1400" dirty="0"/>
          </a:p>
        </p:txBody>
      </p:sp>
      <p:sp>
        <p:nvSpPr>
          <p:cNvPr id="11" name="Text 9"/>
          <p:cNvSpPr/>
          <p:nvPr/>
        </p:nvSpPr>
        <p:spPr>
          <a:xfrm>
            <a:off x="731520" y="4983480"/>
            <a:ext cx="10972800" cy="137160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VPC endpoints — but only for private ECR (your own images).</a:t>
            </a:r>
            <a:endParaRPr lang="en-US" sz="1300" dirty="0"/>
          </a:p>
          <a:p>
            <a:pPr indent="0" marL="0">
              <a:buNone/>
            </a:pPr>
            <a:r>
              <a:rPr lang="en-US" sz="1300" dirty="0">
                <a:solidFill>
                  <a:srgbClr val="E2E8F0"/>
                </a:solidFill>
                <a:latin typeface="Calibri" pitchFamily="34" charset="0"/>
                <a:ea typeface="Calibri" pitchFamily="34" charset="-122"/>
                <a:cs typeface="Calibri" pitchFamily="34" charset="-120"/>
              </a:rPr>
              <a:t>Three endpoints needed: ecr.api, ecr.dkr, and S3 gateway endpoint (because ECR layers live in S3).</a:t>
            </a:r>
            <a:endParaRPr lang="en-US" sz="1300" dirty="0"/>
          </a:p>
          <a:p>
            <a:pPr indent="0" marL="0">
              <a:buNone/>
            </a:pPr>
            <a:r>
              <a:rPr lang="en-US" sz="1300" dirty="0">
                <a:solidFill>
                  <a:srgbClr val="E2E8F0"/>
                </a:solidFill>
                <a:latin typeface="Calibri" pitchFamily="34" charset="0"/>
                <a:ea typeface="Calibri" pitchFamily="34" charset="-122"/>
                <a:cs typeface="Calibri" pitchFamily="34" charset="-120"/>
              </a:rPr>
              <a:t>This pattern doesn't work for Public ECR or Docker Hub. Mirror what you need into your private ECR first.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PHASE 2  •  RESOLUTION</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Steady state</a:t>
            </a:r>
            <a:endParaRPr lang="en-US" sz="2800" dirty="0"/>
          </a:p>
        </p:txBody>
      </p:sp>
      <p:sp>
        <p:nvSpPr>
          <p:cNvPr id="4" name="Shape 2"/>
          <p:cNvSpPr/>
          <p:nvPr/>
        </p:nvSpPr>
        <p:spPr>
          <a:xfrm>
            <a:off x="731520" y="1463040"/>
            <a:ext cx="10972800" cy="640080"/>
          </a:xfrm>
          <a:prstGeom prst="rect">
            <a:avLst/>
          </a:prstGeom>
          <a:solidFill>
            <a:srgbClr val="0F1F3A"/>
          </a:solidFill>
          <a:ln w="6350">
            <a:solidFill>
              <a:srgbClr val="0D9488"/>
            </a:solidFill>
            <a:prstDash val="solid"/>
          </a:ln>
        </p:spPr>
      </p:sp>
      <p:sp>
        <p:nvSpPr>
          <p:cNvPr id="5" name="Text 3"/>
          <p:cNvSpPr/>
          <p:nvPr/>
        </p:nvSpPr>
        <p:spPr>
          <a:xfrm>
            <a:off x="868680" y="1554480"/>
            <a:ext cx="10698480" cy="457200"/>
          </a:xfrm>
          <a:prstGeom prst="rect">
            <a:avLst/>
          </a:prstGeom>
          <a:noFill/>
          <a:ln/>
        </p:spPr>
        <p:txBody>
          <a:bodyPr wrap="square" lIns="0" tIns="0" rIns="0" bIns="0" rtlCol="0" anchor="t"/>
          <a:lstStyle/>
          <a:p>
            <a:pPr algn="l" indent="0" marL="0">
              <a:buNone/>
            </a:pPr>
            <a:r>
              <a:rPr lang="en-US" sz="1600" dirty="0">
                <a:solidFill>
                  <a:srgbClr val="E2E8F0"/>
                </a:solidFill>
                <a:latin typeface="Consolas" pitchFamily="34" charset="0"/>
                <a:ea typeface="Consolas" pitchFamily="34" charset="-122"/>
                <a:cs typeface="Consolas" pitchFamily="34" charset="-120"/>
              </a:rPr>
              <a:t>{ "Desired": 2, "Running": 2, "Pending": 0 }</a:t>
            </a:r>
            <a:endParaRPr lang="en-US" sz="1600" dirty="0"/>
          </a:p>
        </p:txBody>
      </p:sp>
      <p:sp>
        <p:nvSpPr>
          <p:cNvPr id="6" name="Shape 4"/>
          <p:cNvSpPr/>
          <p:nvPr/>
        </p:nvSpPr>
        <p:spPr>
          <a:xfrm>
            <a:off x="731520" y="2331720"/>
            <a:ext cx="7772400" cy="2926080"/>
          </a:xfrm>
          <a:prstGeom prst="rect">
            <a:avLst/>
          </a:prstGeom>
          <a:solidFill>
            <a:srgbClr val="0F1F3A"/>
          </a:solidFill>
          <a:ln w="6350">
            <a:solidFill>
              <a:srgbClr val="0D9488"/>
            </a:solidFill>
            <a:prstDash val="solid"/>
          </a:ln>
        </p:spPr>
      </p:sp>
      <p:sp>
        <p:nvSpPr>
          <p:cNvPr id="7" name="Text 5"/>
          <p:cNvSpPr/>
          <p:nvPr/>
        </p:nvSpPr>
        <p:spPr>
          <a:xfrm>
            <a:off x="868680" y="2423160"/>
            <a:ext cx="7498080" cy="2743200"/>
          </a:xfrm>
          <a:prstGeom prst="rect">
            <a:avLst/>
          </a:prstGeom>
          <a:noFill/>
          <a:ln/>
        </p:spPr>
        <p:txBody>
          <a:bodyPr wrap="square" lIns="0" tIns="0" rIns="0" bIns="0" rtlCol="0" anchor="t"/>
          <a:lstStyle/>
          <a:p>
            <a:pPr algn="l" indent="0" marL="0">
              <a:buNone/>
            </a:pPr>
            <a:r>
              <a:rPr lang="en-US" sz="1200" dirty="0">
                <a:solidFill>
                  <a:srgbClr val="E2E8F0"/>
                </a:solidFill>
                <a:latin typeface="Consolas" pitchFamily="34" charset="0"/>
                <a:ea typeface="Consolas" pitchFamily="34" charset="-122"/>
                <a:cs typeface="Consolas" pitchFamily="34" charset="-120"/>
              </a:rPr>
              <a:t>[</a:t>
            </a: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    "createdAt": "08:41:10",</a:t>
            </a: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    "message": "(service payment-api) has reached a steady state."</a:t>
            </a: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    "createdAt": "08:41:10",</a:t>
            </a: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    "message": "(service payment-api) deployment completed."</a:t>
            </a: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  }</a:t>
            </a:r>
            <a:endParaRPr lang="en-US" sz="1200" dirty="0"/>
          </a:p>
          <a:p>
            <a:pPr algn="l" indent="0" marL="0">
              <a:buNone/>
            </a:pPr>
            <a:r>
              <a:rPr lang="en-US" sz="1200" dirty="0">
                <a:solidFill>
                  <a:srgbClr val="E2E8F0"/>
                </a:solidFill>
                <a:latin typeface="Consolas" pitchFamily="34" charset="0"/>
                <a:ea typeface="Consolas" pitchFamily="34" charset="-122"/>
                <a:cs typeface="Consolas" pitchFamily="34" charset="-120"/>
              </a:rPr>
              <a:t>]</a:t>
            </a:r>
            <a:endParaRPr lang="en-US" sz="1200" dirty="0"/>
          </a:p>
        </p:txBody>
      </p:sp>
      <p:sp>
        <p:nvSpPr>
          <p:cNvPr id="8" name="Shape 6"/>
          <p:cNvSpPr/>
          <p:nvPr/>
        </p:nvSpPr>
        <p:spPr>
          <a:xfrm>
            <a:off x="8778240" y="2331720"/>
            <a:ext cx="2926080" cy="2926080"/>
          </a:xfrm>
          <a:prstGeom prst="rect">
            <a:avLst/>
          </a:prstGeom>
          <a:solidFill>
            <a:srgbClr val="152846"/>
          </a:solidFill>
          <a:ln w="12700">
            <a:solidFill>
              <a:srgbClr val="10B981"/>
            </a:solidFill>
            <a:prstDash val="solid"/>
          </a:ln>
        </p:spPr>
      </p:sp>
      <p:sp>
        <p:nvSpPr>
          <p:cNvPr id="9" name="Shape 7"/>
          <p:cNvSpPr/>
          <p:nvPr/>
        </p:nvSpPr>
        <p:spPr>
          <a:xfrm>
            <a:off x="8961120" y="2514600"/>
            <a:ext cx="548640" cy="548640"/>
          </a:xfrm>
          <a:prstGeom prst="ellipse">
            <a:avLst/>
          </a:prstGeom>
          <a:solidFill>
            <a:srgbClr val="10B981"/>
          </a:solidFill>
          <a:ln w="12700">
            <a:solidFill>
              <a:srgbClr val="10B981"/>
            </a:solidFill>
            <a:prstDash val="solid"/>
          </a:ln>
        </p:spPr>
      </p:sp>
      <p:pic>
        <p:nvPicPr>
          <p:cNvPr id="10" name="Image 0" descr="preencoded.png">    </p:cNvPr>
          <p:cNvPicPr>
            <a:picLocks noChangeAspect="1"/>
          </p:cNvPicPr>
          <p:nvPr/>
        </p:nvPicPr>
        <p:blipFill>
          <a:blip r:embed="rId1"/>
          <a:stretch>
            <a:fillRect/>
          </a:stretch>
        </p:blipFill>
        <p:spPr>
          <a:xfrm>
            <a:off x="9084564" y="2638044"/>
            <a:ext cx="301752" cy="301752"/>
          </a:xfrm>
          <a:prstGeom prst="rect">
            <a:avLst/>
          </a:prstGeom>
        </p:spPr>
      </p:pic>
      <p:sp>
        <p:nvSpPr>
          <p:cNvPr id="11" name="Text 8"/>
          <p:cNvSpPr/>
          <p:nvPr/>
        </p:nvSpPr>
        <p:spPr>
          <a:xfrm>
            <a:off x="8961120" y="3154680"/>
            <a:ext cx="2651760" cy="320040"/>
          </a:xfrm>
          <a:prstGeom prst="rect">
            <a:avLst/>
          </a:prstGeom>
          <a:noFill/>
          <a:ln/>
        </p:spPr>
        <p:txBody>
          <a:bodyPr wrap="square" lIns="0" tIns="0" rIns="0" bIns="0" rtlCol="0" anchor="ctr"/>
          <a:lstStyle/>
          <a:p>
            <a:pPr indent="0" marL="0">
              <a:buNone/>
            </a:pPr>
            <a:r>
              <a:rPr lang="en-US" sz="1100" b="1" spc="100" kern="0" dirty="0">
                <a:solidFill>
                  <a:srgbClr val="10B981"/>
                </a:solidFill>
                <a:latin typeface="Calibri" pitchFamily="34" charset="0"/>
                <a:ea typeface="Calibri" pitchFamily="34" charset="-122"/>
                <a:cs typeface="Calibri" pitchFamily="34" charset="-120"/>
              </a:rPr>
              <a:t>INCIDENT RESOLVED</a:t>
            </a:r>
            <a:endParaRPr lang="en-US" sz="1100" dirty="0"/>
          </a:p>
        </p:txBody>
      </p:sp>
      <p:sp>
        <p:nvSpPr>
          <p:cNvPr id="12" name="Text 9"/>
          <p:cNvSpPr/>
          <p:nvPr/>
        </p:nvSpPr>
        <p:spPr>
          <a:xfrm>
            <a:off x="8961120" y="3520440"/>
            <a:ext cx="2651760" cy="164592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Both tasks running. Pager goes silent. Ticket can be closed.</a:t>
            </a:r>
            <a:endParaRPr lang="en-US" sz="1200" dirty="0"/>
          </a:p>
        </p:txBody>
      </p:sp>
      <p:sp>
        <p:nvSpPr>
          <p:cNvPr id="13" name="Text 10"/>
          <p:cNvSpPr/>
          <p:nvPr/>
        </p:nvSpPr>
        <p:spPr>
          <a:xfrm>
            <a:off x="731520" y="5577840"/>
            <a:ext cx="10972800" cy="365760"/>
          </a:xfrm>
          <a:prstGeom prst="rect">
            <a:avLst/>
          </a:prstGeom>
          <a:noFill/>
          <a:ln/>
        </p:spPr>
        <p:txBody>
          <a:bodyPr wrap="square" lIns="0" tIns="0" rIns="0" bIns="0" rtlCol="0" anchor="ctr"/>
          <a:lstStyle/>
          <a:p>
            <a:pPr indent="0" marL="0">
              <a:buNone/>
            </a:pPr>
            <a:r>
              <a:rPr lang="en-US" sz="1300" b="1" i="1" dirty="0">
                <a:solidFill>
                  <a:srgbClr val="2DD4BF"/>
                </a:solidFill>
                <a:latin typeface="Calibri" pitchFamily="34" charset="0"/>
                <a:ea typeface="Calibri" pitchFamily="34" charset="-122"/>
                <a:cs typeface="Calibri" pitchFamily="34" charset="-120"/>
              </a:rPr>
              <a:t>"reached a steady state" is ECS-speak for "I have what you asked for and I'm happy"</a:t>
            </a:r>
            <a:endParaRPr lang="en-US" sz="1300" dirty="0"/>
          </a:p>
        </p:txBody>
      </p:sp>
      <p:sp>
        <p:nvSpPr>
          <p:cNvPr id="14" name="Text 11"/>
          <p:cNvSpPr/>
          <p:nvPr/>
        </p:nvSpPr>
        <p:spPr>
          <a:xfrm>
            <a:off x="731520" y="5989320"/>
            <a:ext cx="10972800" cy="365760"/>
          </a:xfrm>
          <a:prstGeom prst="rect">
            <a:avLst/>
          </a:prstGeom>
          <a:noFill/>
          <a:ln/>
        </p:spPr>
        <p:txBody>
          <a:bodyPr wrap="square" lIns="0" tIns="0" rIns="0" bIns="0" rtlCol="0" anchor="ctr"/>
          <a:lstStyle/>
          <a:p>
            <a:pPr indent="0" marL="0">
              <a:buNone/>
            </a:pPr>
            <a:r>
              <a:rPr lang="en-US" sz="1300" b="1" i="1" dirty="0">
                <a:solidFill>
                  <a:srgbClr val="F59E0B"/>
                </a:solidFill>
                <a:latin typeface="Calibri" pitchFamily="34" charset="0"/>
                <a:ea typeface="Calibri" pitchFamily="34" charset="-122"/>
                <a:cs typeface="Calibri" pitchFamily="34" charset="-120"/>
              </a:rPr>
              <a:t>...except a senior engineer doesn't stop here.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PHASE 3</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things AWS doesn't catch</a:t>
            </a:r>
            <a:endParaRPr lang="en-US" sz="2800" dirty="0"/>
          </a:p>
        </p:txBody>
      </p:sp>
      <p:sp>
        <p:nvSpPr>
          <p:cNvPr id="4" name="Text 2"/>
          <p:cNvSpPr/>
          <p:nvPr/>
        </p:nvSpPr>
        <p:spPr>
          <a:xfrm>
            <a:off x="731520" y="1463040"/>
            <a:ext cx="10972800" cy="457200"/>
          </a:xfrm>
          <a:prstGeom prst="rect">
            <a:avLst/>
          </a:prstGeom>
          <a:noFill/>
          <a:ln/>
        </p:spPr>
        <p:txBody>
          <a:bodyPr wrap="square" lIns="0" tIns="0" rIns="0" bIns="0" rtlCol="0" anchor="ctr"/>
          <a:lstStyle/>
          <a:p>
            <a:pPr indent="0" marL="0">
              <a:buNone/>
            </a:pPr>
            <a:r>
              <a:rPr lang="en-US" sz="1400" i="1" dirty="0">
                <a:solidFill>
                  <a:srgbClr val="E2E8F0"/>
                </a:solidFill>
                <a:latin typeface="Calibri" pitchFamily="34" charset="0"/>
                <a:ea typeface="Calibri" pitchFamily="34" charset="-122"/>
                <a:cs typeface="Calibri" pitchFamily="34" charset="-120"/>
              </a:rPr>
              <a:t>Two things are still missing that nothing in AWS will complain about — but a code reviewer with production eyes will spot immediately.</a:t>
            </a:r>
            <a:endParaRPr lang="en-US" sz="1400" dirty="0"/>
          </a:p>
        </p:txBody>
      </p:sp>
      <p:sp>
        <p:nvSpPr>
          <p:cNvPr id="5" name="Shape 3"/>
          <p:cNvSpPr/>
          <p:nvPr/>
        </p:nvSpPr>
        <p:spPr>
          <a:xfrm>
            <a:off x="731520" y="2194560"/>
            <a:ext cx="5440680" cy="4114800"/>
          </a:xfrm>
          <a:prstGeom prst="rect">
            <a:avLst/>
          </a:prstGeom>
          <a:solidFill>
            <a:srgbClr val="152846"/>
          </a:solidFill>
          <a:ln w="12700">
            <a:solidFill>
              <a:srgbClr val="14B8A6"/>
            </a:solidFill>
            <a:prstDash val="solid"/>
          </a:ln>
        </p:spPr>
      </p:sp>
      <p:sp>
        <p:nvSpPr>
          <p:cNvPr id="6" name="Shape 4"/>
          <p:cNvSpPr/>
          <p:nvPr/>
        </p:nvSpPr>
        <p:spPr>
          <a:xfrm>
            <a:off x="914400" y="2377440"/>
            <a:ext cx="502920" cy="502920"/>
          </a:xfrm>
          <a:prstGeom prst="ellipse">
            <a:avLst/>
          </a:prstGeom>
          <a:solidFill>
            <a:srgbClr val="14B8A6"/>
          </a:solidFill>
          <a:ln w="12700">
            <a:solidFill>
              <a:srgbClr val="14B8A6"/>
            </a:solidFill>
            <a:prstDash val="solid"/>
          </a:ln>
        </p:spPr>
      </p:sp>
      <p:pic>
        <p:nvPicPr>
          <p:cNvPr id="7" name="Image 0" descr="preencoded.png">    </p:cNvPr>
          <p:cNvPicPr>
            <a:picLocks noChangeAspect="1"/>
          </p:cNvPicPr>
          <p:nvPr/>
        </p:nvPicPr>
        <p:blipFill>
          <a:blip r:embed="rId1"/>
          <a:stretch>
            <a:fillRect/>
          </a:stretch>
        </p:blipFill>
        <p:spPr>
          <a:xfrm>
            <a:off x="1027557" y="2490597"/>
            <a:ext cx="276606" cy="276606"/>
          </a:xfrm>
          <a:prstGeom prst="rect">
            <a:avLst/>
          </a:prstGeom>
        </p:spPr>
      </p:pic>
      <p:sp>
        <p:nvSpPr>
          <p:cNvPr id="8" name="Text 5"/>
          <p:cNvSpPr/>
          <p:nvPr/>
        </p:nvSpPr>
        <p:spPr>
          <a:xfrm>
            <a:off x="1554480" y="2468880"/>
            <a:ext cx="4572000" cy="320040"/>
          </a:xfrm>
          <a:prstGeom prst="rect">
            <a:avLst/>
          </a:prstGeom>
          <a:noFill/>
          <a:ln/>
        </p:spPr>
        <p:txBody>
          <a:bodyPr wrap="square" lIns="0" tIns="0" rIns="0" bIns="0" rtlCol="0" anchor="ctr"/>
          <a:lstStyle/>
          <a:p>
            <a:pPr indent="0" marL="0">
              <a:buNone/>
            </a:pPr>
            <a:r>
              <a:rPr lang="en-US" sz="1100" b="1" spc="100" kern="0" dirty="0">
                <a:solidFill>
                  <a:srgbClr val="2DD4BF"/>
                </a:solidFill>
                <a:latin typeface="Calibri" pitchFamily="34" charset="0"/>
                <a:ea typeface="Calibri" pitchFamily="34" charset="-122"/>
                <a:cs typeface="Calibri" pitchFamily="34" charset="-120"/>
              </a:rPr>
              <a:t>PORT MAPPINGS</a:t>
            </a:r>
            <a:endParaRPr lang="en-US" sz="1100" dirty="0"/>
          </a:p>
        </p:txBody>
      </p:sp>
      <p:sp>
        <p:nvSpPr>
          <p:cNvPr id="9" name="Text 6"/>
          <p:cNvSpPr/>
          <p:nvPr/>
        </p:nvSpPr>
        <p:spPr>
          <a:xfrm>
            <a:off x="914400" y="2971800"/>
            <a:ext cx="521208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How does anyone reach this thing?</a:t>
            </a:r>
            <a:endParaRPr lang="en-US" sz="1600" dirty="0"/>
          </a:p>
        </p:txBody>
      </p:sp>
      <p:sp>
        <p:nvSpPr>
          <p:cNvPr id="10" name="Text 7"/>
          <p:cNvSpPr/>
          <p:nvPr/>
        </p:nvSpPr>
        <p:spPr>
          <a:xfrm>
            <a:off x="914400" y="3520440"/>
            <a:ext cx="5212080" cy="155448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Without portMappings, ECS doesn't know which port the container listens on. Load balancers can't register the task as a target. Other services in the VPC can't reach it. The container is invisible to everything.</a:t>
            </a:r>
            <a:endParaRPr lang="en-US" sz="1200" dirty="0"/>
          </a:p>
        </p:txBody>
      </p:sp>
      <p:sp>
        <p:nvSpPr>
          <p:cNvPr id="11" name="Shape 8"/>
          <p:cNvSpPr/>
          <p:nvPr/>
        </p:nvSpPr>
        <p:spPr>
          <a:xfrm>
            <a:off x="914400" y="5120640"/>
            <a:ext cx="5212080" cy="1097280"/>
          </a:xfrm>
          <a:prstGeom prst="rect">
            <a:avLst/>
          </a:prstGeom>
          <a:solidFill>
            <a:srgbClr val="0F1F3A"/>
          </a:solidFill>
          <a:ln w="6350">
            <a:solidFill>
              <a:srgbClr val="0D9488"/>
            </a:solidFill>
            <a:prstDash val="solid"/>
          </a:ln>
        </p:spPr>
      </p:sp>
      <p:sp>
        <p:nvSpPr>
          <p:cNvPr id="12" name="Text 9"/>
          <p:cNvSpPr/>
          <p:nvPr/>
        </p:nvSpPr>
        <p:spPr>
          <a:xfrm>
            <a:off x="1051560" y="5212080"/>
            <a:ext cx="4937760" cy="914400"/>
          </a:xfrm>
          <a:prstGeom prst="rect">
            <a:avLst/>
          </a:prstGeom>
          <a:noFill/>
          <a:ln/>
        </p:spPr>
        <p:txBody>
          <a:bodyPr wrap="square" lIns="0" tIns="0" rIns="0" bIns="0" rtlCol="0" anchor="t"/>
          <a:lstStyle/>
          <a:p>
            <a:pPr algn="l" indent="0" marL="0">
              <a:buNone/>
            </a:pPr>
            <a:r>
              <a:rPr lang="en-US" sz="1100" dirty="0">
                <a:solidFill>
                  <a:srgbClr val="E2E8F0"/>
                </a:solidFill>
                <a:latin typeface="Consolas" pitchFamily="34" charset="0"/>
                <a:ea typeface="Consolas" pitchFamily="34" charset="-122"/>
                <a:cs typeface="Consolas" pitchFamily="34" charset="-120"/>
              </a:rPr>
              <a:t>portMappings = [{</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containerPort = 80</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protocol      = "tcp"</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13" name="Shape 10"/>
          <p:cNvSpPr/>
          <p:nvPr/>
        </p:nvSpPr>
        <p:spPr>
          <a:xfrm>
            <a:off x="6263640" y="2194560"/>
            <a:ext cx="5440680" cy="4114800"/>
          </a:xfrm>
          <a:prstGeom prst="rect">
            <a:avLst/>
          </a:prstGeom>
          <a:solidFill>
            <a:srgbClr val="152846"/>
          </a:solidFill>
          <a:ln w="12700">
            <a:solidFill>
              <a:srgbClr val="14B8A6"/>
            </a:solidFill>
            <a:prstDash val="solid"/>
          </a:ln>
        </p:spPr>
      </p:sp>
      <p:sp>
        <p:nvSpPr>
          <p:cNvPr id="14" name="Shape 11"/>
          <p:cNvSpPr/>
          <p:nvPr/>
        </p:nvSpPr>
        <p:spPr>
          <a:xfrm>
            <a:off x="6446520" y="2377440"/>
            <a:ext cx="502920" cy="502920"/>
          </a:xfrm>
          <a:prstGeom prst="ellipse">
            <a:avLst/>
          </a:prstGeom>
          <a:solidFill>
            <a:srgbClr val="14B8A6"/>
          </a:solidFill>
          <a:ln w="12700">
            <a:solidFill>
              <a:srgbClr val="14B8A6"/>
            </a:solidFill>
            <a:prstDash val="solid"/>
          </a:ln>
        </p:spPr>
      </p:sp>
      <p:pic>
        <p:nvPicPr>
          <p:cNvPr id="15" name="Image 1" descr="preencoded.png">    </p:cNvPr>
          <p:cNvPicPr>
            <a:picLocks noChangeAspect="1"/>
          </p:cNvPicPr>
          <p:nvPr/>
        </p:nvPicPr>
        <p:blipFill>
          <a:blip r:embed="rId2"/>
          <a:stretch>
            <a:fillRect/>
          </a:stretch>
        </p:blipFill>
        <p:spPr>
          <a:xfrm>
            <a:off x="6559677" y="2490597"/>
            <a:ext cx="276606" cy="276606"/>
          </a:xfrm>
          <a:prstGeom prst="rect">
            <a:avLst/>
          </a:prstGeom>
        </p:spPr>
      </p:pic>
      <p:sp>
        <p:nvSpPr>
          <p:cNvPr id="16" name="Text 12"/>
          <p:cNvSpPr/>
          <p:nvPr/>
        </p:nvSpPr>
        <p:spPr>
          <a:xfrm>
            <a:off x="7086600" y="2468880"/>
            <a:ext cx="4572000" cy="320040"/>
          </a:xfrm>
          <a:prstGeom prst="rect">
            <a:avLst/>
          </a:prstGeom>
          <a:noFill/>
          <a:ln/>
        </p:spPr>
        <p:txBody>
          <a:bodyPr wrap="square" lIns="0" tIns="0" rIns="0" bIns="0" rtlCol="0" anchor="ctr"/>
          <a:lstStyle/>
          <a:p>
            <a:pPr indent="0" marL="0">
              <a:buNone/>
            </a:pPr>
            <a:r>
              <a:rPr lang="en-US" sz="1100" b="1" spc="100" kern="0" dirty="0">
                <a:solidFill>
                  <a:srgbClr val="2DD4BF"/>
                </a:solidFill>
                <a:latin typeface="Calibri" pitchFamily="34" charset="0"/>
                <a:ea typeface="Calibri" pitchFamily="34" charset="-122"/>
                <a:cs typeface="Calibri" pitchFamily="34" charset="-120"/>
              </a:rPr>
              <a:t>LOG CONFIGURATION</a:t>
            </a:r>
            <a:endParaRPr lang="en-US" sz="1100" dirty="0"/>
          </a:p>
        </p:txBody>
      </p:sp>
      <p:sp>
        <p:nvSpPr>
          <p:cNvPr id="17" name="Text 13"/>
          <p:cNvSpPr/>
          <p:nvPr/>
        </p:nvSpPr>
        <p:spPr>
          <a:xfrm>
            <a:off x="6446520" y="2971800"/>
            <a:ext cx="521208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How do I debug this at 3am?</a:t>
            </a:r>
            <a:endParaRPr lang="en-US" sz="1600" dirty="0"/>
          </a:p>
        </p:txBody>
      </p:sp>
      <p:sp>
        <p:nvSpPr>
          <p:cNvPr id="18" name="Text 14"/>
          <p:cNvSpPr/>
          <p:nvPr/>
        </p:nvSpPr>
        <p:spPr>
          <a:xfrm>
            <a:off x="6446520" y="3520440"/>
            <a:ext cx="5212080" cy="155448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Without logConfiguration, container stdout/stderr goes to /dev/null. When the on-call engineer is paged because payments are failing, they have no logs to look at. The container is invisible.</a:t>
            </a:r>
            <a:endParaRPr lang="en-US" sz="1200" dirty="0"/>
          </a:p>
        </p:txBody>
      </p:sp>
      <p:sp>
        <p:nvSpPr>
          <p:cNvPr id="19" name="Shape 15"/>
          <p:cNvSpPr/>
          <p:nvPr/>
        </p:nvSpPr>
        <p:spPr>
          <a:xfrm>
            <a:off x="6446520" y="5120640"/>
            <a:ext cx="5212080" cy="1097280"/>
          </a:xfrm>
          <a:prstGeom prst="rect">
            <a:avLst/>
          </a:prstGeom>
          <a:solidFill>
            <a:srgbClr val="0F1F3A"/>
          </a:solidFill>
          <a:ln w="6350">
            <a:solidFill>
              <a:srgbClr val="0D9488"/>
            </a:solidFill>
            <a:prstDash val="solid"/>
          </a:ln>
        </p:spPr>
      </p:sp>
      <p:sp>
        <p:nvSpPr>
          <p:cNvPr id="20" name="Text 16"/>
          <p:cNvSpPr/>
          <p:nvPr/>
        </p:nvSpPr>
        <p:spPr>
          <a:xfrm>
            <a:off x="6583680" y="5212080"/>
            <a:ext cx="4937760" cy="914400"/>
          </a:xfrm>
          <a:prstGeom prst="rect">
            <a:avLst/>
          </a:prstGeom>
          <a:noFill/>
          <a:ln/>
        </p:spPr>
        <p:txBody>
          <a:bodyPr wrap="square" lIns="0" tIns="0" rIns="0" bIns="0" rtlCol="0" anchor="t"/>
          <a:lstStyle/>
          <a:p>
            <a:pPr algn="l" indent="0" marL="0">
              <a:buNone/>
            </a:pPr>
            <a:r>
              <a:rPr lang="en-US" sz="1100" dirty="0">
                <a:solidFill>
                  <a:srgbClr val="E2E8F0"/>
                </a:solidFill>
                <a:latin typeface="Consolas" pitchFamily="34" charset="0"/>
                <a:ea typeface="Consolas" pitchFamily="34" charset="-122"/>
                <a:cs typeface="Consolas" pitchFamily="34" charset="-120"/>
              </a:rPr>
              <a:t>logConfiguration = {</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logDriver = "awslogs"</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  options   = { ... }</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PHASE 3  •  PROOF</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Logs flowing into CloudWatch</a:t>
            </a:r>
            <a:endParaRPr lang="en-US" sz="2800" dirty="0"/>
          </a:p>
        </p:txBody>
      </p:sp>
      <p:sp>
        <p:nvSpPr>
          <p:cNvPr id="4" name="Shape 2"/>
          <p:cNvSpPr/>
          <p:nvPr/>
        </p:nvSpPr>
        <p:spPr>
          <a:xfrm>
            <a:off x="731520" y="1417320"/>
            <a:ext cx="10972800" cy="3657600"/>
          </a:xfrm>
          <a:prstGeom prst="rect">
            <a:avLst/>
          </a:prstGeom>
          <a:solidFill>
            <a:srgbClr val="0F1F3A"/>
          </a:solidFill>
          <a:ln w="6350">
            <a:solidFill>
              <a:srgbClr val="0D9488"/>
            </a:solidFill>
            <a:prstDash val="solid"/>
          </a:ln>
        </p:spPr>
      </p:sp>
      <p:sp>
        <p:nvSpPr>
          <p:cNvPr id="5" name="Text 3"/>
          <p:cNvSpPr/>
          <p:nvPr/>
        </p:nvSpPr>
        <p:spPr>
          <a:xfrm>
            <a:off x="868680" y="1508760"/>
            <a:ext cx="10698480" cy="3474720"/>
          </a:xfrm>
          <a:prstGeom prst="rect">
            <a:avLst/>
          </a:prstGeom>
          <a:noFill/>
          <a:ln/>
        </p:spPr>
        <p:txBody>
          <a:bodyPr wrap="square" lIns="0" tIns="0" rIns="0" bIns="0" rtlCol="0" anchor="t"/>
          <a:lstStyle/>
          <a:p>
            <a:pPr algn="l" indent="0" marL="0">
              <a:buNone/>
            </a:pPr>
            <a:r>
              <a:rPr lang="en-US" sz="1100" dirty="0">
                <a:solidFill>
                  <a:srgbClr val="E2E8F0"/>
                </a:solidFill>
                <a:latin typeface="Consolas" pitchFamily="34" charset="0"/>
                <a:ea typeface="Consolas" pitchFamily="34" charset="-122"/>
                <a:cs typeface="Consolas" pitchFamily="34" charset="-120"/>
              </a:rPr>
              <a:t>$ aws logs tail /ecs/payment-api --since 10m</a:t>
            </a:r>
            <a:endParaRPr lang="en-US" sz="1100" dirty="0"/>
          </a:p>
          <a:p>
            <a:pPr algn="l" indent="0" marL="0">
              <a:buNone/>
            </a:pP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ecs/payment-api/d4e722e6...  /docker-entrypoint.sh: Configuration complete; ready for start up</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ecs/payment-api/d4e722e6...  [notice] 1#1: nginx/1.29.8</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ecs/payment-api/d4e722e6...  [notice] 1#1: OS: Linux 5.10.252 amzn2.x86_64</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ecs/payment-api/d4e722e6...  [notice] 1#1: start worker process 29</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ecs/payment-api/d4e722e6...  [notice] 1#1: start worker process 30</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ecs/payment-api/11e0f39c...  /docker-entrypoint.sh: Configuration complete; ready for start up</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ecs/payment-api/11e0f39c...  [notice] 1#1: nginx/1.29.8</a:t>
            </a:r>
            <a:endParaRPr lang="en-US" sz="1100" dirty="0"/>
          </a:p>
          <a:p>
            <a:pPr algn="l" indent="0" marL="0">
              <a:buNone/>
            </a:pPr>
            <a:r>
              <a:rPr lang="en-US" sz="1100" dirty="0">
                <a:solidFill>
                  <a:srgbClr val="E2E8F0"/>
                </a:solidFill>
                <a:latin typeface="Consolas" pitchFamily="34" charset="0"/>
                <a:ea typeface="Consolas" pitchFamily="34" charset="-122"/>
                <a:cs typeface="Consolas" pitchFamily="34" charset="-120"/>
              </a:rPr>
              <a:t>ecs/payment-api/11e0f39c...  [notice] 1#1: start worker process 29</a:t>
            </a:r>
            <a:endParaRPr lang="en-US" sz="1100" dirty="0"/>
          </a:p>
        </p:txBody>
      </p:sp>
      <p:sp>
        <p:nvSpPr>
          <p:cNvPr id="6" name="Shape 4"/>
          <p:cNvSpPr/>
          <p:nvPr/>
        </p:nvSpPr>
        <p:spPr>
          <a:xfrm>
            <a:off x="731520" y="5303520"/>
            <a:ext cx="10972800" cy="1188720"/>
          </a:xfrm>
          <a:prstGeom prst="rect">
            <a:avLst/>
          </a:prstGeom>
          <a:solidFill>
            <a:srgbClr val="152846"/>
          </a:solidFill>
          <a:ln w="12700">
            <a:solidFill>
              <a:srgbClr val="2DD4BF"/>
            </a:solidFill>
            <a:prstDash val="solid"/>
          </a:ln>
        </p:spPr>
      </p:sp>
      <p:sp>
        <p:nvSpPr>
          <p:cNvPr id="7" name="Shape 5"/>
          <p:cNvSpPr/>
          <p:nvPr/>
        </p:nvSpPr>
        <p:spPr>
          <a:xfrm>
            <a:off x="914400" y="5486400"/>
            <a:ext cx="502920" cy="502920"/>
          </a:xfrm>
          <a:prstGeom prst="ellipse">
            <a:avLst/>
          </a:prstGeom>
          <a:solidFill>
            <a:srgbClr val="14B8A6"/>
          </a:solidFill>
          <a:ln w="12700">
            <a:solidFill>
              <a:srgbClr val="14B8A6"/>
            </a:solidFill>
            <a:prstDash val="solid"/>
          </a:ln>
        </p:spPr>
      </p:sp>
      <p:pic>
        <p:nvPicPr>
          <p:cNvPr id="8" name="Image 0" descr="preencoded.png">    </p:cNvPr>
          <p:cNvPicPr>
            <a:picLocks noChangeAspect="1"/>
          </p:cNvPicPr>
          <p:nvPr/>
        </p:nvPicPr>
        <p:blipFill>
          <a:blip r:embed="rId1"/>
          <a:stretch>
            <a:fillRect/>
          </a:stretch>
        </p:blipFill>
        <p:spPr>
          <a:xfrm>
            <a:off x="1027557" y="5599557"/>
            <a:ext cx="276606" cy="276606"/>
          </a:xfrm>
          <a:prstGeom prst="rect">
            <a:avLst/>
          </a:prstGeom>
        </p:spPr>
      </p:pic>
      <p:sp>
        <p:nvSpPr>
          <p:cNvPr id="9" name="Text 6"/>
          <p:cNvSpPr/>
          <p:nvPr/>
        </p:nvSpPr>
        <p:spPr>
          <a:xfrm>
            <a:off x="1554480" y="5532120"/>
            <a:ext cx="10058400" cy="36576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Easter egg</a:t>
            </a:r>
            <a:endParaRPr lang="en-US" sz="1400" dirty="0"/>
          </a:p>
        </p:txBody>
      </p:sp>
      <p:sp>
        <p:nvSpPr>
          <p:cNvPr id="10" name="Text 7"/>
          <p:cNvSpPr/>
          <p:nvPr/>
        </p:nvSpPr>
        <p:spPr>
          <a:xfrm>
            <a:off x="1554480" y="5852160"/>
            <a:ext cx="10058400" cy="640080"/>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"OS: Linux 5.10.252 amzn2.x86_64" — that's Amazon Linux 2 underneath your Fargate container. A glimpse of the AWS-managed host you're never supposed to see. Useful for the "what is Fargate actually" interview question.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CLEANUP</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Always destroy before logging off</a:t>
            </a:r>
            <a:endParaRPr lang="en-US" sz="2800" dirty="0"/>
          </a:p>
        </p:txBody>
      </p:sp>
      <p:sp>
        <p:nvSpPr>
          <p:cNvPr id="4" name="Shape 2"/>
          <p:cNvSpPr/>
          <p:nvPr/>
        </p:nvSpPr>
        <p:spPr>
          <a:xfrm>
            <a:off x="731520" y="1463040"/>
            <a:ext cx="10972800" cy="1371600"/>
          </a:xfrm>
          <a:prstGeom prst="rect">
            <a:avLst/>
          </a:prstGeom>
          <a:solidFill>
            <a:srgbClr val="152846"/>
          </a:solidFill>
          <a:ln w="12700">
            <a:solidFill>
              <a:srgbClr val="EF4444"/>
            </a:solidFill>
            <a:prstDash val="solid"/>
          </a:ln>
        </p:spPr>
      </p:sp>
      <p:sp>
        <p:nvSpPr>
          <p:cNvPr id="5" name="Shape 3"/>
          <p:cNvSpPr/>
          <p:nvPr/>
        </p:nvSpPr>
        <p:spPr>
          <a:xfrm>
            <a:off x="914400" y="1783080"/>
            <a:ext cx="640080" cy="640080"/>
          </a:xfrm>
          <a:prstGeom prst="ellipse">
            <a:avLst/>
          </a:prstGeom>
          <a:solidFill>
            <a:srgbClr val="EF4444"/>
          </a:solidFill>
          <a:ln w="12700">
            <a:solidFill>
              <a:srgbClr val="EF4444"/>
            </a:solidFill>
            <a:prstDash val="solid"/>
          </a:ln>
        </p:spPr>
      </p:sp>
      <p:pic>
        <p:nvPicPr>
          <p:cNvPr id="6" name="Image 0" descr="preencoded.png">    </p:cNvPr>
          <p:cNvPicPr>
            <a:picLocks noChangeAspect="1"/>
          </p:cNvPicPr>
          <p:nvPr/>
        </p:nvPicPr>
        <p:blipFill>
          <a:blip r:embed="rId1"/>
          <a:stretch>
            <a:fillRect/>
          </a:stretch>
        </p:blipFill>
        <p:spPr>
          <a:xfrm>
            <a:off x="1058418" y="1927098"/>
            <a:ext cx="352044" cy="352044"/>
          </a:xfrm>
          <a:prstGeom prst="rect">
            <a:avLst/>
          </a:prstGeom>
        </p:spPr>
      </p:pic>
      <p:sp>
        <p:nvSpPr>
          <p:cNvPr id="7" name="Text 4"/>
          <p:cNvSpPr/>
          <p:nvPr/>
        </p:nvSpPr>
        <p:spPr>
          <a:xfrm>
            <a:off x="1828800" y="1783080"/>
            <a:ext cx="960120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This lab costs real money while running</a:t>
            </a:r>
            <a:endParaRPr lang="en-US" sz="1800" dirty="0"/>
          </a:p>
        </p:txBody>
      </p:sp>
      <p:sp>
        <p:nvSpPr>
          <p:cNvPr id="8" name="Text 5"/>
          <p:cNvSpPr/>
          <p:nvPr/>
        </p:nvSpPr>
        <p:spPr>
          <a:xfrm>
            <a:off x="1828800" y="2240280"/>
            <a:ext cx="9601200" cy="457200"/>
          </a:xfrm>
          <a:prstGeom prst="rect">
            <a:avLst/>
          </a:prstGeom>
          <a:noFill/>
          <a:ln/>
        </p:spPr>
        <p:txBody>
          <a:bodyPr wrap="square" lIns="0" tIns="0" rIns="0" bIns="0" rtlCol="0" anchor="ctr"/>
          <a:lstStyle/>
          <a:p>
            <a:pPr indent="0" marL="0">
              <a:buNone/>
            </a:pPr>
            <a:r>
              <a:rPr lang="en-US" sz="1300" dirty="0">
                <a:solidFill>
                  <a:srgbClr val="E2E8F0"/>
                </a:solidFill>
                <a:latin typeface="Calibri" pitchFamily="34" charset="0"/>
                <a:ea typeface="Calibri" pitchFamily="34" charset="-122"/>
                <a:cs typeface="Calibri" pitchFamily="34" charset="-120"/>
              </a:rPr>
              <a:t>NAT gateway: ~£0.04/hour  •  Elastic IP: ~£0.005/hour  •  Total per session: &lt; £0.20 if cleaned up promptly</a:t>
            </a:r>
            <a:endParaRPr lang="en-US" sz="1300" dirty="0"/>
          </a:p>
        </p:txBody>
      </p:sp>
      <p:sp>
        <p:nvSpPr>
          <p:cNvPr id="9" name="Shape 6"/>
          <p:cNvSpPr/>
          <p:nvPr/>
        </p:nvSpPr>
        <p:spPr>
          <a:xfrm>
            <a:off x="731520" y="3108960"/>
            <a:ext cx="10972800" cy="1280160"/>
          </a:xfrm>
          <a:prstGeom prst="rect">
            <a:avLst/>
          </a:prstGeom>
          <a:solidFill>
            <a:srgbClr val="0F1F3A"/>
          </a:solidFill>
          <a:ln w="6350">
            <a:solidFill>
              <a:srgbClr val="0D9488"/>
            </a:solidFill>
            <a:prstDash val="solid"/>
          </a:ln>
        </p:spPr>
      </p:sp>
      <p:sp>
        <p:nvSpPr>
          <p:cNvPr id="10" name="Text 7"/>
          <p:cNvSpPr/>
          <p:nvPr/>
        </p:nvSpPr>
        <p:spPr>
          <a:xfrm>
            <a:off x="868680" y="3200400"/>
            <a:ext cx="10698480" cy="1097280"/>
          </a:xfrm>
          <a:prstGeom prst="rect">
            <a:avLst/>
          </a:prstGeom>
          <a:noFill/>
          <a:ln/>
        </p:spPr>
        <p:txBody>
          <a:bodyPr wrap="square" lIns="0" tIns="0" rIns="0" bIns="0" rtlCol="0" anchor="t"/>
          <a:lstStyle/>
          <a:p>
            <a:pPr algn="l" indent="0" marL="0">
              <a:buNone/>
            </a:pPr>
            <a:r>
              <a:rPr lang="en-US" sz="1400" dirty="0">
                <a:solidFill>
                  <a:srgbClr val="E2E8F0"/>
                </a:solidFill>
                <a:latin typeface="Consolas" pitchFamily="34" charset="0"/>
                <a:ea typeface="Consolas" pitchFamily="34" charset="-122"/>
                <a:cs typeface="Consolas" pitchFamily="34" charset="-120"/>
              </a:rPr>
              <a:t>$ terraform destroy</a:t>
            </a:r>
            <a:endParaRPr lang="en-US" sz="1400" dirty="0"/>
          </a:p>
          <a:p>
            <a:pPr algn="l" indent="0" marL="0">
              <a:buNone/>
            </a:pPr>
            <a:endParaRPr lang="en-US" sz="1400" dirty="0"/>
          </a:p>
          <a:p>
            <a:pPr algn="l" indent="0" marL="0">
              <a:buNone/>
            </a:pPr>
            <a:r>
              <a:rPr lang="en-US" sz="1400" dirty="0">
                <a:solidFill>
                  <a:srgbClr val="E2E8F0"/>
                </a:solidFill>
                <a:latin typeface="Consolas" pitchFamily="34" charset="0"/>
                <a:ea typeface="Consolas" pitchFamily="34" charset="-122"/>
                <a:cs typeface="Consolas" pitchFamily="34" charset="-120"/>
              </a:rPr>
              <a:t>Destroy complete! Resources: 17 destroyed.</a:t>
            </a:r>
            <a:endParaRPr lang="en-US" sz="1400" dirty="0"/>
          </a:p>
        </p:txBody>
      </p:sp>
      <p:sp>
        <p:nvSpPr>
          <p:cNvPr id="11" name="Shape 8"/>
          <p:cNvSpPr/>
          <p:nvPr/>
        </p:nvSpPr>
        <p:spPr>
          <a:xfrm>
            <a:off x="731520" y="4572000"/>
            <a:ext cx="10972800" cy="1828800"/>
          </a:xfrm>
          <a:prstGeom prst="rect">
            <a:avLst/>
          </a:prstGeom>
          <a:solidFill>
            <a:srgbClr val="152846"/>
          </a:solidFill>
          <a:ln w="12700">
            <a:solidFill>
              <a:srgbClr val="14B8A6"/>
            </a:solidFill>
            <a:prstDash val="solid"/>
          </a:ln>
        </p:spPr>
      </p:sp>
      <p:sp>
        <p:nvSpPr>
          <p:cNvPr id="12" name="Shape 9"/>
          <p:cNvSpPr/>
          <p:nvPr/>
        </p:nvSpPr>
        <p:spPr>
          <a:xfrm>
            <a:off x="914400" y="4754880"/>
            <a:ext cx="502920" cy="502920"/>
          </a:xfrm>
          <a:prstGeom prst="ellipse">
            <a:avLst/>
          </a:prstGeom>
          <a:solidFill>
            <a:srgbClr val="14B8A6"/>
          </a:solidFill>
          <a:ln w="12700">
            <a:solidFill>
              <a:srgbClr val="14B8A6"/>
            </a:solidFill>
            <a:prstDash val="solid"/>
          </a:ln>
        </p:spPr>
      </p:sp>
      <p:pic>
        <p:nvPicPr>
          <p:cNvPr id="13" name="Image 1" descr="preencoded.png">    </p:cNvPr>
          <p:cNvPicPr>
            <a:picLocks noChangeAspect="1"/>
          </p:cNvPicPr>
          <p:nvPr/>
        </p:nvPicPr>
        <p:blipFill>
          <a:blip r:embed="rId2"/>
          <a:stretch>
            <a:fillRect/>
          </a:stretch>
        </p:blipFill>
        <p:spPr>
          <a:xfrm>
            <a:off x="1027557" y="4868037"/>
            <a:ext cx="276606" cy="276606"/>
          </a:xfrm>
          <a:prstGeom prst="rect">
            <a:avLst/>
          </a:prstGeom>
        </p:spPr>
      </p:pic>
      <p:sp>
        <p:nvSpPr>
          <p:cNvPr id="14" name="Text 10"/>
          <p:cNvSpPr/>
          <p:nvPr/>
        </p:nvSpPr>
        <p:spPr>
          <a:xfrm>
            <a:off x="1554480" y="4800600"/>
            <a:ext cx="10058400" cy="36576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Destroy timing</a:t>
            </a:r>
            <a:endParaRPr lang="en-US" sz="1400" dirty="0"/>
          </a:p>
        </p:txBody>
      </p:sp>
      <p:sp>
        <p:nvSpPr>
          <p:cNvPr id="15" name="Text 11"/>
          <p:cNvSpPr/>
          <p:nvPr/>
        </p:nvSpPr>
        <p:spPr>
          <a:xfrm>
            <a:off x="1554480" y="5166360"/>
            <a:ext cx="10058400" cy="36576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Service drain: ~30s  •  NAT gateway destroy: 60-90s (the slow one)  •  Everything else: seconds  •  Total: 3-5 minutes</a:t>
            </a:r>
            <a:endParaRPr lang="en-US" sz="1200" dirty="0"/>
          </a:p>
        </p:txBody>
      </p:sp>
      <p:sp>
        <p:nvSpPr>
          <p:cNvPr id="16" name="Text 12"/>
          <p:cNvSpPr/>
          <p:nvPr/>
        </p:nvSpPr>
        <p:spPr>
          <a:xfrm>
            <a:off x="1554480" y="5532120"/>
            <a:ext cx="10058400" cy="45720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Don't Ctrl+C during NAT gateway operations — it leaves the resource in a weird state that needs manual cleanup. Just be patient.</a:t>
            </a:r>
            <a:endParaRPr lang="en-US" sz="1200" dirty="0"/>
          </a:p>
        </p:txBody>
      </p:sp>
      <p:sp>
        <p:nvSpPr>
          <p:cNvPr id="17" name="Text 13"/>
          <p:cNvSpPr/>
          <p:nvPr/>
        </p:nvSpPr>
        <p:spPr>
          <a:xfrm>
            <a:off x="1554480" y="5943600"/>
            <a:ext cx="10058400" cy="457200"/>
          </a:xfrm>
          <a:prstGeom prst="rect">
            <a:avLst/>
          </a:prstGeom>
          <a:noFill/>
          <a:ln/>
        </p:spPr>
        <p:txBody>
          <a:bodyPr wrap="square" lIns="0" tIns="0" rIns="0" bIns="0" rtlCol="0" anchor="ctr"/>
          <a:lstStyle/>
          <a:p>
            <a:pPr indent="0" marL="0">
              <a:buNone/>
            </a:pPr>
            <a:r>
              <a:rPr lang="en-US" sz="1200" i="1" dirty="0">
                <a:solidFill>
                  <a:srgbClr val="F59E0B"/>
                </a:solidFill>
                <a:latin typeface="Calibri" pitchFamily="34" charset="0"/>
                <a:ea typeface="Calibri" pitchFamily="34" charset="-122"/>
                <a:cs typeface="Calibri" pitchFamily="34" charset="-120"/>
              </a:rPr>
              <a:t>If you ever see "Still destroying..." on a subnet for &gt;2 minutes, scale the ECS service to 0 first — running tasks keep ENIs attached.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TAKEAWAYS</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this lab teaches</a:t>
            </a:r>
            <a:endParaRPr lang="en-US" sz="2800" dirty="0"/>
          </a:p>
        </p:txBody>
      </p:sp>
      <p:sp>
        <p:nvSpPr>
          <p:cNvPr id="4" name="Shape 2"/>
          <p:cNvSpPr/>
          <p:nvPr/>
        </p:nvSpPr>
        <p:spPr>
          <a:xfrm>
            <a:off x="731520" y="1417320"/>
            <a:ext cx="5486400" cy="1508760"/>
          </a:xfrm>
          <a:prstGeom prst="rect">
            <a:avLst/>
          </a:prstGeom>
          <a:solidFill>
            <a:srgbClr val="152846"/>
          </a:solidFill>
          <a:ln w="12700">
            <a:solidFill>
              <a:srgbClr val="0D9488"/>
            </a:solidFill>
            <a:prstDash val="solid"/>
          </a:ln>
        </p:spPr>
      </p:sp>
      <p:sp>
        <p:nvSpPr>
          <p:cNvPr id="5" name="Shape 3"/>
          <p:cNvSpPr/>
          <p:nvPr/>
        </p:nvSpPr>
        <p:spPr>
          <a:xfrm>
            <a:off x="914400" y="1600200"/>
            <a:ext cx="457200" cy="457200"/>
          </a:xfrm>
          <a:prstGeom prst="ellipse">
            <a:avLst/>
          </a:prstGeom>
          <a:solidFill>
            <a:srgbClr val="14B8A6"/>
          </a:solidFill>
          <a:ln w="12700">
            <a:solidFill>
              <a:srgbClr val="14B8A6"/>
            </a:solidFill>
            <a:prstDash val="solid"/>
          </a:ln>
        </p:spPr>
      </p:sp>
      <p:pic>
        <p:nvPicPr>
          <p:cNvPr id="6" name="Image 0" descr="preencoded.png">    </p:cNvPr>
          <p:cNvPicPr>
            <a:picLocks noChangeAspect="1"/>
          </p:cNvPicPr>
          <p:nvPr/>
        </p:nvPicPr>
        <p:blipFill>
          <a:blip r:embed="rId1"/>
          <a:stretch>
            <a:fillRect/>
          </a:stretch>
        </p:blipFill>
        <p:spPr>
          <a:xfrm>
            <a:off x="1017270" y="1703070"/>
            <a:ext cx="251460" cy="251460"/>
          </a:xfrm>
          <a:prstGeom prst="rect">
            <a:avLst/>
          </a:prstGeom>
        </p:spPr>
      </p:pic>
      <p:sp>
        <p:nvSpPr>
          <p:cNvPr id="7" name="Text 4"/>
          <p:cNvSpPr/>
          <p:nvPr/>
        </p:nvSpPr>
        <p:spPr>
          <a:xfrm>
            <a:off x="1508760" y="1600200"/>
            <a:ext cx="4572000" cy="36576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Trust apply, not plan</a:t>
            </a:r>
            <a:endParaRPr lang="en-US" sz="1400" dirty="0"/>
          </a:p>
        </p:txBody>
      </p:sp>
      <p:sp>
        <p:nvSpPr>
          <p:cNvPr id="8" name="Text 5"/>
          <p:cNvSpPr/>
          <p:nvPr/>
        </p:nvSpPr>
        <p:spPr>
          <a:xfrm>
            <a:off x="914400" y="2103120"/>
            <a:ext cx="5212080" cy="777240"/>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terraform plan validates schema, not Fargate semantics. Every Phase 1 error surfaced only at apply time.</a:t>
            </a:r>
            <a:endParaRPr lang="en-US" sz="1100" dirty="0"/>
          </a:p>
        </p:txBody>
      </p:sp>
      <p:sp>
        <p:nvSpPr>
          <p:cNvPr id="9" name="Shape 6"/>
          <p:cNvSpPr/>
          <p:nvPr/>
        </p:nvSpPr>
        <p:spPr>
          <a:xfrm>
            <a:off x="6355080" y="1417320"/>
            <a:ext cx="5486400" cy="1508760"/>
          </a:xfrm>
          <a:prstGeom prst="rect">
            <a:avLst/>
          </a:prstGeom>
          <a:solidFill>
            <a:srgbClr val="152846"/>
          </a:solidFill>
          <a:ln w="12700">
            <a:solidFill>
              <a:srgbClr val="0D9488"/>
            </a:solidFill>
            <a:prstDash val="solid"/>
          </a:ln>
        </p:spPr>
      </p:sp>
      <p:sp>
        <p:nvSpPr>
          <p:cNvPr id="10" name="Shape 7"/>
          <p:cNvSpPr/>
          <p:nvPr/>
        </p:nvSpPr>
        <p:spPr>
          <a:xfrm>
            <a:off x="6537960" y="1600200"/>
            <a:ext cx="457200" cy="457200"/>
          </a:xfrm>
          <a:prstGeom prst="ellipse">
            <a:avLst/>
          </a:prstGeom>
          <a:solidFill>
            <a:srgbClr val="14B8A6"/>
          </a:solidFill>
          <a:ln w="12700">
            <a:solidFill>
              <a:srgbClr val="14B8A6"/>
            </a:solidFill>
            <a:prstDash val="solid"/>
          </a:ln>
        </p:spPr>
      </p:sp>
      <p:pic>
        <p:nvPicPr>
          <p:cNvPr id="11" name="Image 1" descr="preencoded.png">    </p:cNvPr>
          <p:cNvPicPr>
            <a:picLocks noChangeAspect="1"/>
          </p:cNvPicPr>
          <p:nvPr/>
        </p:nvPicPr>
        <p:blipFill>
          <a:blip r:embed="rId2"/>
          <a:stretch>
            <a:fillRect/>
          </a:stretch>
        </p:blipFill>
        <p:spPr>
          <a:xfrm>
            <a:off x="6640830" y="1703070"/>
            <a:ext cx="251460" cy="251460"/>
          </a:xfrm>
          <a:prstGeom prst="rect">
            <a:avLst/>
          </a:prstGeom>
        </p:spPr>
      </p:pic>
      <p:sp>
        <p:nvSpPr>
          <p:cNvPr id="12" name="Text 8"/>
          <p:cNvSpPr/>
          <p:nvPr/>
        </p:nvSpPr>
        <p:spPr>
          <a:xfrm>
            <a:off x="7132320" y="1600200"/>
            <a:ext cx="4572000" cy="36576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Diagnose top-down</a:t>
            </a:r>
            <a:endParaRPr lang="en-US" sz="1400" dirty="0"/>
          </a:p>
        </p:txBody>
      </p:sp>
      <p:sp>
        <p:nvSpPr>
          <p:cNvPr id="13" name="Text 9"/>
          <p:cNvSpPr/>
          <p:nvPr/>
        </p:nvSpPr>
        <p:spPr>
          <a:xfrm>
            <a:off x="6537960" y="2103120"/>
            <a:ext cx="5212080" cy="777240"/>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Service → task → container → image pull → network. Each layer has its own command and its own error vocabulary.</a:t>
            </a:r>
            <a:endParaRPr lang="en-US" sz="1100" dirty="0"/>
          </a:p>
        </p:txBody>
      </p:sp>
      <p:sp>
        <p:nvSpPr>
          <p:cNvPr id="14" name="Shape 10"/>
          <p:cNvSpPr/>
          <p:nvPr/>
        </p:nvSpPr>
        <p:spPr>
          <a:xfrm>
            <a:off x="731520" y="3108960"/>
            <a:ext cx="5486400" cy="1508760"/>
          </a:xfrm>
          <a:prstGeom prst="rect">
            <a:avLst/>
          </a:prstGeom>
          <a:solidFill>
            <a:srgbClr val="152846"/>
          </a:solidFill>
          <a:ln w="12700">
            <a:solidFill>
              <a:srgbClr val="0D9488"/>
            </a:solidFill>
            <a:prstDash val="solid"/>
          </a:ln>
        </p:spPr>
      </p:sp>
      <p:sp>
        <p:nvSpPr>
          <p:cNvPr id="15" name="Shape 11"/>
          <p:cNvSpPr/>
          <p:nvPr/>
        </p:nvSpPr>
        <p:spPr>
          <a:xfrm>
            <a:off x="914400" y="3291840"/>
            <a:ext cx="457200" cy="457200"/>
          </a:xfrm>
          <a:prstGeom prst="ellipse">
            <a:avLst/>
          </a:prstGeom>
          <a:solidFill>
            <a:srgbClr val="14B8A6"/>
          </a:solidFill>
          <a:ln w="12700">
            <a:solidFill>
              <a:srgbClr val="14B8A6"/>
            </a:solidFill>
            <a:prstDash val="solid"/>
          </a:ln>
        </p:spPr>
      </p:sp>
      <p:pic>
        <p:nvPicPr>
          <p:cNvPr id="16" name="Image 2" descr="preencoded.png">    </p:cNvPr>
          <p:cNvPicPr>
            <a:picLocks noChangeAspect="1"/>
          </p:cNvPicPr>
          <p:nvPr/>
        </p:nvPicPr>
        <p:blipFill>
          <a:blip r:embed="rId3"/>
          <a:stretch>
            <a:fillRect/>
          </a:stretch>
        </p:blipFill>
        <p:spPr>
          <a:xfrm>
            <a:off x="1017270" y="3394710"/>
            <a:ext cx="251460" cy="251460"/>
          </a:xfrm>
          <a:prstGeom prst="rect">
            <a:avLst/>
          </a:prstGeom>
        </p:spPr>
      </p:pic>
      <p:sp>
        <p:nvSpPr>
          <p:cNvPr id="17" name="Text 12"/>
          <p:cNvSpPr/>
          <p:nvPr/>
        </p:nvSpPr>
        <p:spPr>
          <a:xfrm>
            <a:off x="1508760" y="3291840"/>
            <a:ext cx="4572000" cy="36576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Service events are gold</a:t>
            </a:r>
            <a:endParaRPr lang="en-US" sz="1400" dirty="0"/>
          </a:p>
        </p:txBody>
      </p:sp>
      <p:sp>
        <p:nvSpPr>
          <p:cNvPr id="18" name="Text 13"/>
          <p:cNvSpPr/>
          <p:nvPr/>
        </p:nvSpPr>
        <p:spPr>
          <a:xfrm>
            <a:off x="914400" y="3794760"/>
            <a:ext cx="5212080" cy="777240"/>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ECS records every placement attempt and failure. It's the most useful diagnostic in ECS troubleshooting.</a:t>
            </a:r>
            <a:endParaRPr lang="en-US" sz="1100" dirty="0"/>
          </a:p>
        </p:txBody>
      </p:sp>
      <p:sp>
        <p:nvSpPr>
          <p:cNvPr id="19" name="Shape 14"/>
          <p:cNvSpPr/>
          <p:nvPr/>
        </p:nvSpPr>
        <p:spPr>
          <a:xfrm>
            <a:off x="6355080" y="3108960"/>
            <a:ext cx="5486400" cy="1508760"/>
          </a:xfrm>
          <a:prstGeom prst="rect">
            <a:avLst/>
          </a:prstGeom>
          <a:solidFill>
            <a:srgbClr val="152846"/>
          </a:solidFill>
          <a:ln w="12700">
            <a:solidFill>
              <a:srgbClr val="0D9488"/>
            </a:solidFill>
            <a:prstDash val="solid"/>
          </a:ln>
        </p:spPr>
      </p:sp>
      <p:sp>
        <p:nvSpPr>
          <p:cNvPr id="20" name="Shape 15"/>
          <p:cNvSpPr/>
          <p:nvPr/>
        </p:nvSpPr>
        <p:spPr>
          <a:xfrm>
            <a:off x="6537960" y="3291840"/>
            <a:ext cx="457200" cy="457200"/>
          </a:xfrm>
          <a:prstGeom prst="ellipse">
            <a:avLst/>
          </a:prstGeom>
          <a:solidFill>
            <a:srgbClr val="14B8A6"/>
          </a:solidFill>
          <a:ln w="12700">
            <a:solidFill>
              <a:srgbClr val="14B8A6"/>
            </a:solidFill>
            <a:prstDash val="solid"/>
          </a:ln>
        </p:spPr>
      </p:sp>
      <p:pic>
        <p:nvPicPr>
          <p:cNvPr id="21" name="Image 3" descr="preencoded.png">    </p:cNvPr>
          <p:cNvPicPr>
            <a:picLocks noChangeAspect="1"/>
          </p:cNvPicPr>
          <p:nvPr/>
        </p:nvPicPr>
        <p:blipFill>
          <a:blip r:embed="rId4"/>
          <a:stretch>
            <a:fillRect/>
          </a:stretch>
        </p:blipFill>
        <p:spPr>
          <a:xfrm>
            <a:off x="6640830" y="3394710"/>
            <a:ext cx="251460" cy="251460"/>
          </a:xfrm>
          <a:prstGeom prst="rect">
            <a:avLst/>
          </a:prstGeom>
        </p:spPr>
      </p:pic>
      <p:sp>
        <p:nvSpPr>
          <p:cNvPr id="22" name="Text 16"/>
          <p:cNvSpPr/>
          <p:nvPr/>
        </p:nvSpPr>
        <p:spPr>
          <a:xfrm>
            <a:off x="7132320" y="3291840"/>
            <a:ext cx="4572000" cy="36576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Read errors for intent</a:t>
            </a:r>
            <a:endParaRPr lang="en-US" sz="1400" dirty="0"/>
          </a:p>
        </p:txBody>
      </p:sp>
      <p:sp>
        <p:nvSpPr>
          <p:cNvPr id="23" name="Text 17"/>
          <p:cNvSpPr/>
          <p:nvPr/>
        </p:nvSpPr>
        <p:spPr>
          <a:xfrm>
            <a:off x="6537960" y="3794760"/>
            <a:ext cx="5212080" cy="777240"/>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AWS told us "container needs memory". The right fix was task-level cpu+memory. Read past the literal message.</a:t>
            </a:r>
            <a:endParaRPr lang="en-US" sz="1100" dirty="0"/>
          </a:p>
        </p:txBody>
      </p:sp>
      <p:sp>
        <p:nvSpPr>
          <p:cNvPr id="24" name="Shape 18"/>
          <p:cNvSpPr/>
          <p:nvPr/>
        </p:nvSpPr>
        <p:spPr>
          <a:xfrm>
            <a:off x="731520" y="4800600"/>
            <a:ext cx="5486400" cy="1508760"/>
          </a:xfrm>
          <a:prstGeom prst="rect">
            <a:avLst/>
          </a:prstGeom>
          <a:solidFill>
            <a:srgbClr val="152846"/>
          </a:solidFill>
          <a:ln w="12700">
            <a:solidFill>
              <a:srgbClr val="0D9488"/>
            </a:solidFill>
            <a:prstDash val="solid"/>
          </a:ln>
        </p:spPr>
      </p:sp>
      <p:sp>
        <p:nvSpPr>
          <p:cNvPr id="25" name="Shape 19"/>
          <p:cNvSpPr/>
          <p:nvPr/>
        </p:nvSpPr>
        <p:spPr>
          <a:xfrm>
            <a:off x="914400" y="4983480"/>
            <a:ext cx="457200" cy="457200"/>
          </a:xfrm>
          <a:prstGeom prst="ellipse">
            <a:avLst/>
          </a:prstGeom>
          <a:solidFill>
            <a:srgbClr val="14B8A6"/>
          </a:solidFill>
          <a:ln w="12700">
            <a:solidFill>
              <a:srgbClr val="14B8A6"/>
            </a:solidFill>
            <a:prstDash val="solid"/>
          </a:ln>
        </p:spPr>
      </p:sp>
      <p:pic>
        <p:nvPicPr>
          <p:cNvPr id="26" name="Image 4" descr="preencoded.png">    </p:cNvPr>
          <p:cNvPicPr>
            <a:picLocks noChangeAspect="1"/>
          </p:cNvPicPr>
          <p:nvPr/>
        </p:nvPicPr>
        <p:blipFill>
          <a:blip r:embed="rId5"/>
          <a:stretch>
            <a:fillRect/>
          </a:stretch>
        </p:blipFill>
        <p:spPr>
          <a:xfrm>
            <a:off x="1017270" y="5086350"/>
            <a:ext cx="251460" cy="251460"/>
          </a:xfrm>
          <a:prstGeom prst="rect">
            <a:avLst/>
          </a:prstGeom>
        </p:spPr>
      </p:pic>
      <p:sp>
        <p:nvSpPr>
          <p:cNvPr id="27" name="Text 20"/>
          <p:cNvSpPr/>
          <p:nvPr/>
        </p:nvSpPr>
        <p:spPr>
          <a:xfrm>
            <a:off x="1508760" y="4983480"/>
            <a:ext cx="4572000" cy="36576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Public ECR is not magic</a:t>
            </a:r>
            <a:endParaRPr lang="en-US" sz="1400" dirty="0"/>
          </a:p>
        </p:txBody>
      </p:sp>
      <p:sp>
        <p:nvSpPr>
          <p:cNvPr id="28" name="Text 21"/>
          <p:cNvSpPr/>
          <p:nvPr/>
        </p:nvSpPr>
        <p:spPr>
          <a:xfrm>
            <a:off x="914400" y="5486400"/>
            <a:ext cx="5212080" cy="777240"/>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Lives on the public internet, needs NAT same as Docker Hub. The "AWS service so it just works" assumption is wrong.</a:t>
            </a:r>
            <a:endParaRPr lang="en-US" sz="1100" dirty="0"/>
          </a:p>
        </p:txBody>
      </p:sp>
      <p:sp>
        <p:nvSpPr>
          <p:cNvPr id="29" name="Shape 22"/>
          <p:cNvSpPr/>
          <p:nvPr/>
        </p:nvSpPr>
        <p:spPr>
          <a:xfrm>
            <a:off x="6355080" y="4800600"/>
            <a:ext cx="5486400" cy="1508760"/>
          </a:xfrm>
          <a:prstGeom prst="rect">
            <a:avLst/>
          </a:prstGeom>
          <a:solidFill>
            <a:srgbClr val="152846"/>
          </a:solidFill>
          <a:ln w="12700">
            <a:solidFill>
              <a:srgbClr val="0D9488"/>
            </a:solidFill>
            <a:prstDash val="solid"/>
          </a:ln>
        </p:spPr>
      </p:sp>
      <p:sp>
        <p:nvSpPr>
          <p:cNvPr id="30" name="Shape 23"/>
          <p:cNvSpPr/>
          <p:nvPr/>
        </p:nvSpPr>
        <p:spPr>
          <a:xfrm>
            <a:off x="6537960" y="4983480"/>
            <a:ext cx="457200" cy="457200"/>
          </a:xfrm>
          <a:prstGeom prst="ellipse">
            <a:avLst/>
          </a:prstGeom>
          <a:solidFill>
            <a:srgbClr val="14B8A6"/>
          </a:solidFill>
          <a:ln w="12700">
            <a:solidFill>
              <a:srgbClr val="14B8A6"/>
            </a:solidFill>
            <a:prstDash val="solid"/>
          </a:ln>
        </p:spPr>
      </p:sp>
      <p:pic>
        <p:nvPicPr>
          <p:cNvPr id="31" name="Image 5" descr="preencoded.png">    </p:cNvPr>
          <p:cNvPicPr>
            <a:picLocks noChangeAspect="1"/>
          </p:cNvPicPr>
          <p:nvPr/>
        </p:nvPicPr>
        <p:blipFill>
          <a:blip r:embed="rId6"/>
          <a:stretch>
            <a:fillRect/>
          </a:stretch>
        </p:blipFill>
        <p:spPr>
          <a:xfrm>
            <a:off x="6640830" y="5086350"/>
            <a:ext cx="251460" cy="251460"/>
          </a:xfrm>
          <a:prstGeom prst="rect">
            <a:avLst/>
          </a:prstGeom>
        </p:spPr>
      </p:pic>
      <p:sp>
        <p:nvSpPr>
          <p:cNvPr id="32" name="Text 24"/>
          <p:cNvSpPr/>
          <p:nvPr/>
        </p:nvSpPr>
        <p:spPr>
          <a:xfrm>
            <a:off x="7132320" y="4983480"/>
            <a:ext cx="4572000" cy="36576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Apply complete ≠ working</a:t>
            </a:r>
            <a:endParaRPr lang="en-US" sz="1400" dirty="0"/>
          </a:p>
        </p:txBody>
      </p:sp>
      <p:sp>
        <p:nvSpPr>
          <p:cNvPr id="33" name="Text 25"/>
          <p:cNvSpPr/>
          <p:nvPr/>
        </p:nvSpPr>
        <p:spPr>
          <a:xfrm>
            <a:off x="6537960" y="5486400"/>
            <a:ext cx="5212080" cy="777240"/>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Terraform's view of the world is not the running workload. Always verify the symptom from the ticket directly.</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320040"/>
            <a:ext cx="8229600" cy="274320"/>
          </a:xfrm>
          <a:prstGeom prst="rect">
            <a:avLst/>
          </a:prstGeom>
          <a:noFill/>
          <a:ln/>
        </p:spPr>
        <p:txBody>
          <a:bodyPr wrap="square" lIns="0" tIns="0" rIns="0" bIns="0" rtlCol="0" anchor="ctr"/>
          <a:lstStyle/>
          <a:p>
            <a:pPr indent="0" marL="0">
              <a:buNone/>
            </a:pPr>
            <a:r>
              <a:rPr lang="en-US" sz="1100" b="1" spc="300" kern="0" dirty="0">
                <a:solidFill>
                  <a:srgbClr val="2DD4BF"/>
                </a:solidFill>
                <a:latin typeface="Calibri" pitchFamily="34" charset="0"/>
                <a:ea typeface="Calibri" pitchFamily="34" charset="-122"/>
                <a:cs typeface="Calibri" pitchFamily="34" charset="-120"/>
              </a:rPr>
              <a:t>INTERVIEW PREP</a:t>
            </a:r>
            <a:endParaRPr lang="en-US" sz="1100" dirty="0"/>
          </a:p>
        </p:txBody>
      </p:sp>
      <p:sp>
        <p:nvSpPr>
          <p:cNvPr id="3" name="Text 1"/>
          <p:cNvSpPr/>
          <p:nvPr/>
        </p:nvSpPr>
        <p:spPr>
          <a:xfrm>
            <a:off x="457200" y="54864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Questions this lab prepares you for</a:t>
            </a:r>
            <a:endParaRPr lang="en-US" sz="2800" dirty="0"/>
          </a:p>
        </p:txBody>
      </p:sp>
      <p:sp>
        <p:nvSpPr>
          <p:cNvPr id="4" name="Shape 2"/>
          <p:cNvSpPr/>
          <p:nvPr/>
        </p:nvSpPr>
        <p:spPr>
          <a:xfrm>
            <a:off x="731520" y="1417320"/>
            <a:ext cx="10972800" cy="1188720"/>
          </a:xfrm>
          <a:prstGeom prst="rect">
            <a:avLst/>
          </a:prstGeom>
          <a:solidFill>
            <a:srgbClr val="152846"/>
          </a:solidFill>
          <a:ln w="12700">
            <a:solidFill>
              <a:srgbClr val="0D9488"/>
            </a:solidFill>
            <a:prstDash val="solid"/>
          </a:ln>
        </p:spPr>
      </p:sp>
      <p:sp>
        <p:nvSpPr>
          <p:cNvPr id="5" name="Text 3"/>
          <p:cNvSpPr/>
          <p:nvPr/>
        </p:nvSpPr>
        <p:spPr>
          <a:xfrm>
            <a:off x="868680" y="1508760"/>
            <a:ext cx="365760" cy="36576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Q</a:t>
            </a:r>
            <a:endParaRPr lang="en-US" sz="1400" dirty="0"/>
          </a:p>
        </p:txBody>
      </p:sp>
      <p:sp>
        <p:nvSpPr>
          <p:cNvPr id="6" name="Text 4"/>
          <p:cNvSpPr/>
          <p:nvPr/>
        </p:nvSpPr>
        <p:spPr>
          <a:xfrm>
            <a:off x="1280160" y="1508760"/>
            <a:ext cx="1033272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Why does Fargate require awsvpc networking?</a:t>
            </a:r>
            <a:endParaRPr lang="en-US" sz="1300" dirty="0"/>
          </a:p>
        </p:txBody>
      </p:sp>
      <p:sp>
        <p:nvSpPr>
          <p:cNvPr id="7" name="Text 5"/>
          <p:cNvSpPr/>
          <p:nvPr/>
        </p:nvSpPr>
        <p:spPr>
          <a:xfrm>
            <a:off x="868680" y="1920240"/>
            <a:ext cx="365760" cy="36576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A</a:t>
            </a:r>
            <a:endParaRPr lang="en-US" sz="1400" dirty="0"/>
          </a:p>
        </p:txBody>
      </p:sp>
      <p:sp>
        <p:nvSpPr>
          <p:cNvPr id="8" name="Text 6"/>
          <p:cNvSpPr/>
          <p:nvPr/>
        </p:nvSpPr>
        <p:spPr>
          <a:xfrm>
            <a:off x="1280160" y="1920240"/>
            <a:ext cx="10332720" cy="64008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bridge mode shares the host's network stack. On Fargate there is no host you control. awsvpc gives each task its own ENI in your VPC.</a:t>
            </a:r>
            <a:endParaRPr lang="en-US" sz="1200" dirty="0"/>
          </a:p>
        </p:txBody>
      </p:sp>
      <p:sp>
        <p:nvSpPr>
          <p:cNvPr id="9" name="Shape 7"/>
          <p:cNvSpPr/>
          <p:nvPr/>
        </p:nvSpPr>
        <p:spPr>
          <a:xfrm>
            <a:off x="731520" y="2743200"/>
            <a:ext cx="10972800" cy="1188720"/>
          </a:xfrm>
          <a:prstGeom prst="rect">
            <a:avLst/>
          </a:prstGeom>
          <a:solidFill>
            <a:srgbClr val="152846"/>
          </a:solidFill>
          <a:ln w="12700">
            <a:solidFill>
              <a:srgbClr val="0D9488"/>
            </a:solidFill>
            <a:prstDash val="solid"/>
          </a:ln>
        </p:spPr>
      </p:sp>
      <p:sp>
        <p:nvSpPr>
          <p:cNvPr id="10" name="Text 8"/>
          <p:cNvSpPr/>
          <p:nvPr/>
        </p:nvSpPr>
        <p:spPr>
          <a:xfrm>
            <a:off x="868680" y="2834640"/>
            <a:ext cx="365760" cy="36576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Q</a:t>
            </a:r>
            <a:endParaRPr lang="en-US" sz="1400" dirty="0"/>
          </a:p>
        </p:txBody>
      </p:sp>
      <p:sp>
        <p:nvSpPr>
          <p:cNvPr id="11" name="Text 9"/>
          <p:cNvSpPr/>
          <p:nvPr/>
        </p:nvSpPr>
        <p:spPr>
          <a:xfrm>
            <a:off x="1280160" y="2834640"/>
            <a:ext cx="1033272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What's the difference between execution role and task role?</a:t>
            </a:r>
            <a:endParaRPr lang="en-US" sz="1300" dirty="0"/>
          </a:p>
        </p:txBody>
      </p:sp>
      <p:sp>
        <p:nvSpPr>
          <p:cNvPr id="12" name="Text 10"/>
          <p:cNvSpPr/>
          <p:nvPr/>
        </p:nvSpPr>
        <p:spPr>
          <a:xfrm>
            <a:off x="868680" y="3246120"/>
            <a:ext cx="365760" cy="36576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A</a:t>
            </a:r>
            <a:endParaRPr lang="en-US" sz="1400" dirty="0"/>
          </a:p>
        </p:txBody>
      </p:sp>
      <p:sp>
        <p:nvSpPr>
          <p:cNvPr id="13" name="Text 11"/>
          <p:cNvSpPr/>
          <p:nvPr/>
        </p:nvSpPr>
        <p:spPr>
          <a:xfrm>
            <a:off x="1280160" y="3246120"/>
            <a:ext cx="10332720" cy="64008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Execution role is for the Fargate agent (pulls images, writes logs). Task role is for your application code at runtime (S3, DynamoDB, etc.).</a:t>
            </a:r>
            <a:endParaRPr lang="en-US" sz="1200" dirty="0"/>
          </a:p>
        </p:txBody>
      </p:sp>
      <p:sp>
        <p:nvSpPr>
          <p:cNvPr id="14" name="Shape 12"/>
          <p:cNvSpPr/>
          <p:nvPr/>
        </p:nvSpPr>
        <p:spPr>
          <a:xfrm>
            <a:off x="731520" y="4069080"/>
            <a:ext cx="10972800" cy="1188720"/>
          </a:xfrm>
          <a:prstGeom prst="rect">
            <a:avLst/>
          </a:prstGeom>
          <a:solidFill>
            <a:srgbClr val="152846"/>
          </a:solidFill>
          <a:ln w="12700">
            <a:solidFill>
              <a:srgbClr val="0D9488"/>
            </a:solidFill>
            <a:prstDash val="solid"/>
          </a:ln>
        </p:spPr>
      </p:sp>
      <p:sp>
        <p:nvSpPr>
          <p:cNvPr id="15" name="Text 13"/>
          <p:cNvSpPr/>
          <p:nvPr/>
        </p:nvSpPr>
        <p:spPr>
          <a:xfrm>
            <a:off x="868680" y="4160520"/>
            <a:ext cx="365760" cy="36576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Q</a:t>
            </a:r>
            <a:endParaRPr lang="en-US" sz="1400" dirty="0"/>
          </a:p>
        </p:txBody>
      </p:sp>
      <p:sp>
        <p:nvSpPr>
          <p:cNvPr id="16" name="Text 14"/>
          <p:cNvSpPr/>
          <p:nvPr/>
        </p:nvSpPr>
        <p:spPr>
          <a:xfrm>
            <a:off x="1280160" y="4160520"/>
            <a:ext cx="1033272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How do you give a private ECS service outbound internet?</a:t>
            </a:r>
            <a:endParaRPr lang="en-US" sz="1300" dirty="0"/>
          </a:p>
        </p:txBody>
      </p:sp>
      <p:sp>
        <p:nvSpPr>
          <p:cNvPr id="17" name="Text 15"/>
          <p:cNvSpPr/>
          <p:nvPr/>
        </p:nvSpPr>
        <p:spPr>
          <a:xfrm>
            <a:off x="868680" y="4572000"/>
            <a:ext cx="365760" cy="36576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A</a:t>
            </a:r>
            <a:endParaRPr lang="en-US" sz="1400" dirty="0"/>
          </a:p>
        </p:txBody>
      </p:sp>
      <p:sp>
        <p:nvSpPr>
          <p:cNvPr id="18" name="Text 16"/>
          <p:cNvSpPr/>
          <p:nvPr/>
        </p:nvSpPr>
        <p:spPr>
          <a:xfrm>
            <a:off x="1280160" y="4572000"/>
            <a:ext cx="10332720" cy="64008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Internet Gateway + public subnet + NAT Gateway in public + private route table sending 0.0.0.0/0 to the NAT. Standard pattern.</a:t>
            </a:r>
            <a:endParaRPr lang="en-US" sz="1200" dirty="0"/>
          </a:p>
        </p:txBody>
      </p:sp>
      <p:sp>
        <p:nvSpPr>
          <p:cNvPr id="19" name="Shape 17"/>
          <p:cNvSpPr/>
          <p:nvPr/>
        </p:nvSpPr>
        <p:spPr>
          <a:xfrm>
            <a:off x="731520" y="5394960"/>
            <a:ext cx="10972800" cy="1188720"/>
          </a:xfrm>
          <a:prstGeom prst="rect">
            <a:avLst/>
          </a:prstGeom>
          <a:solidFill>
            <a:srgbClr val="152846"/>
          </a:solidFill>
          <a:ln w="12700">
            <a:solidFill>
              <a:srgbClr val="0D9488"/>
            </a:solidFill>
            <a:prstDash val="solid"/>
          </a:ln>
        </p:spPr>
      </p:sp>
      <p:sp>
        <p:nvSpPr>
          <p:cNvPr id="20" name="Text 18"/>
          <p:cNvSpPr/>
          <p:nvPr/>
        </p:nvSpPr>
        <p:spPr>
          <a:xfrm>
            <a:off x="868680" y="5486400"/>
            <a:ext cx="365760" cy="365760"/>
          </a:xfrm>
          <a:prstGeom prst="rect">
            <a:avLst/>
          </a:prstGeom>
          <a:noFill/>
          <a:ln/>
        </p:spPr>
        <p:txBody>
          <a:bodyPr wrap="square" lIns="0" tIns="0" rIns="0" bIns="0" rtlCol="0" anchor="ctr"/>
          <a:lstStyle/>
          <a:p>
            <a:pPr indent="0" marL="0">
              <a:buNone/>
            </a:pPr>
            <a:r>
              <a:rPr lang="en-US" sz="1400" b="1" dirty="0">
                <a:solidFill>
                  <a:srgbClr val="2DD4BF"/>
                </a:solidFill>
                <a:latin typeface="Calibri" pitchFamily="34" charset="0"/>
                <a:ea typeface="Calibri" pitchFamily="34" charset="-122"/>
                <a:cs typeface="Calibri" pitchFamily="34" charset="-120"/>
              </a:rPr>
              <a:t>Q</a:t>
            </a:r>
            <a:endParaRPr lang="en-US" sz="1400" dirty="0"/>
          </a:p>
        </p:txBody>
      </p:sp>
      <p:sp>
        <p:nvSpPr>
          <p:cNvPr id="21" name="Text 19"/>
          <p:cNvSpPr/>
          <p:nvPr/>
        </p:nvSpPr>
        <p:spPr>
          <a:xfrm>
            <a:off x="1280160" y="5486400"/>
            <a:ext cx="1033272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 ECS service has 0 running tasks. How do you diagnose?</a:t>
            </a:r>
            <a:endParaRPr lang="en-US" sz="1300" dirty="0"/>
          </a:p>
        </p:txBody>
      </p:sp>
      <p:sp>
        <p:nvSpPr>
          <p:cNvPr id="22" name="Text 20"/>
          <p:cNvSpPr/>
          <p:nvPr/>
        </p:nvSpPr>
        <p:spPr>
          <a:xfrm>
            <a:off x="868680" y="5897880"/>
            <a:ext cx="365760" cy="36576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A</a:t>
            </a:r>
            <a:endParaRPr lang="en-US" sz="1400" dirty="0"/>
          </a:p>
        </p:txBody>
      </p:sp>
      <p:sp>
        <p:nvSpPr>
          <p:cNvPr id="23" name="Text 21"/>
          <p:cNvSpPr/>
          <p:nvPr/>
        </p:nvSpPr>
        <p:spPr>
          <a:xfrm>
            <a:off x="1280160" y="5897880"/>
            <a:ext cx="10332720" cy="64008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describe-services for the count and events. describe-tasks for stoppedReason. Walk top-down through service → task → container → image → network.</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4B8A6"/>
          </a:solidFill>
          <a:ln/>
        </p:spPr>
      </p:sp>
      <p:sp>
        <p:nvSpPr>
          <p:cNvPr id="3" name="Text 1"/>
          <p:cNvSpPr/>
          <p:nvPr/>
        </p:nvSpPr>
        <p:spPr>
          <a:xfrm>
            <a:off x="731520" y="1371600"/>
            <a:ext cx="10972800" cy="365760"/>
          </a:xfrm>
          <a:prstGeom prst="rect">
            <a:avLst/>
          </a:prstGeom>
          <a:noFill/>
          <a:ln/>
        </p:spPr>
        <p:txBody>
          <a:bodyPr wrap="square" lIns="0" tIns="0" rIns="0" bIns="0" rtlCol="0" anchor="ctr"/>
          <a:lstStyle/>
          <a:p>
            <a:pPr indent="0" marL="0">
              <a:buNone/>
            </a:pPr>
            <a:r>
              <a:rPr lang="en-US" sz="1400" b="1" spc="600" kern="0" dirty="0">
                <a:solidFill>
                  <a:srgbClr val="2DD4BF"/>
                </a:solidFill>
                <a:latin typeface="Calibri" pitchFamily="34" charset="0"/>
                <a:ea typeface="Calibri" pitchFamily="34" charset="-122"/>
                <a:cs typeface="Calibri" pitchFamily="34" charset="-120"/>
              </a:rPr>
              <a:t>LAB 077 COMPLETE</a:t>
            </a:r>
            <a:endParaRPr lang="en-US" sz="1400" dirty="0"/>
          </a:p>
        </p:txBody>
      </p:sp>
      <p:sp>
        <p:nvSpPr>
          <p:cNvPr id="4" name="Text 2"/>
          <p:cNvSpPr/>
          <p:nvPr/>
        </p:nvSpPr>
        <p:spPr>
          <a:xfrm>
            <a:off x="731520" y="1828800"/>
            <a:ext cx="1097280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Real incident, real resolution</a:t>
            </a:r>
            <a:endParaRPr lang="en-US" sz="4400" dirty="0"/>
          </a:p>
        </p:txBody>
      </p:sp>
      <p:sp>
        <p:nvSpPr>
          <p:cNvPr id="5" name="Shape 3"/>
          <p:cNvSpPr/>
          <p:nvPr/>
        </p:nvSpPr>
        <p:spPr>
          <a:xfrm>
            <a:off x="731520" y="3657600"/>
            <a:ext cx="2697480" cy="1463040"/>
          </a:xfrm>
          <a:prstGeom prst="rect">
            <a:avLst/>
          </a:prstGeom>
          <a:solidFill>
            <a:srgbClr val="152846"/>
          </a:solidFill>
          <a:ln w="12700">
            <a:solidFill>
              <a:srgbClr val="14B8A6"/>
            </a:solidFill>
            <a:prstDash val="solid"/>
          </a:ln>
        </p:spPr>
      </p:sp>
      <p:sp>
        <p:nvSpPr>
          <p:cNvPr id="6" name="Text 4"/>
          <p:cNvSpPr/>
          <p:nvPr/>
        </p:nvSpPr>
        <p:spPr>
          <a:xfrm>
            <a:off x="731520" y="3703320"/>
            <a:ext cx="2697480" cy="777240"/>
          </a:xfrm>
          <a:prstGeom prst="rect">
            <a:avLst/>
          </a:prstGeom>
          <a:noFill/>
          <a:ln/>
        </p:spPr>
        <p:txBody>
          <a:bodyPr wrap="square" lIns="0" tIns="0" rIns="0" bIns="0" rtlCol="0" anchor="ctr"/>
          <a:lstStyle/>
          <a:p>
            <a:pPr algn="ctr" indent="0" marL="0">
              <a:buNone/>
            </a:pPr>
            <a:r>
              <a:rPr lang="en-US" sz="4800" b="1" dirty="0">
                <a:solidFill>
                  <a:srgbClr val="2DD4BF"/>
                </a:solidFill>
                <a:latin typeface="Calibri" pitchFamily="34" charset="0"/>
                <a:ea typeface="Calibri" pitchFamily="34" charset="-122"/>
                <a:cs typeface="Calibri" pitchFamily="34" charset="-120"/>
              </a:rPr>
              <a:t>5</a:t>
            </a:r>
            <a:endParaRPr lang="en-US" sz="4800" dirty="0"/>
          </a:p>
        </p:txBody>
      </p:sp>
      <p:sp>
        <p:nvSpPr>
          <p:cNvPr id="7" name="Text 5"/>
          <p:cNvSpPr/>
          <p:nvPr/>
        </p:nvSpPr>
        <p:spPr>
          <a:xfrm>
            <a:off x="822960" y="4526280"/>
            <a:ext cx="2514600" cy="548640"/>
          </a:xfrm>
          <a:prstGeom prst="rect">
            <a:avLst/>
          </a:prstGeom>
          <a:noFill/>
          <a:ln/>
        </p:spPr>
        <p:txBody>
          <a:bodyPr wrap="square" lIns="0" tIns="0" rIns="0" bIns="0" rtlCol="0" anchor="ctr"/>
          <a:lstStyle/>
          <a:p>
            <a:pPr algn="ctr" indent="0" marL="0">
              <a:buNone/>
            </a:pPr>
            <a:r>
              <a:rPr lang="en-US" sz="900" b="1" spc="100" kern="0" dirty="0">
                <a:solidFill>
                  <a:srgbClr val="E2E8F0"/>
                </a:solidFill>
                <a:latin typeface="Calibri" pitchFamily="34" charset="0"/>
                <a:ea typeface="Calibri" pitchFamily="34" charset="-122"/>
                <a:cs typeface="Calibri" pitchFamily="34" charset="-120"/>
              </a:rPr>
              <a:t>TASK DEFINITION FIXES</a:t>
            </a:r>
            <a:endParaRPr lang="en-US" sz="900" dirty="0"/>
          </a:p>
        </p:txBody>
      </p:sp>
      <p:sp>
        <p:nvSpPr>
          <p:cNvPr id="8" name="Shape 6"/>
          <p:cNvSpPr/>
          <p:nvPr/>
        </p:nvSpPr>
        <p:spPr>
          <a:xfrm>
            <a:off x="3611880" y="3657600"/>
            <a:ext cx="2697480" cy="1463040"/>
          </a:xfrm>
          <a:prstGeom prst="rect">
            <a:avLst/>
          </a:prstGeom>
          <a:solidFill>
            <a:srgbClr val="152846"/>
          </a:solidFill>
          <a:ln w="12700">
            <a:solidFill>
              <a:srgbClr val="14B8A6"/>
            </a:solidFill>
            <a:prstDash val="solid"/>
          </a:ln>
        </p:spPr>
      </p:sp>
      <p:sp>
        <p:nvSpPr>
          <p:cNvPr id="9" name="Text 7"/>
          <p:cNvSpPr/>
          <p:nvPr/>
        </p:nvSpPr>
        <p:spPr>
          <a:xfrm>
            <a:off x="3611880" y="3703320"/>
            <a:ext cx="2697480" cy="777240"/>
          </a:xfrm>
          <a:prstGeom prst="rect">
            <a:avLst/>
          </a:prstGeom>
          <a:noFill/>
          <a:ln/>
        </p:spPr>
        <p:txBody>
          <a:bodyPr wrap="square" lIns="0" tIns="0" rIns="0" bIns="0" rtlCol="0" anchor="ctr"/>
          <a:lstStyle/>
          <a:p>
            <a:pPr algn="ctr" indent="0" marL="0">
              <a:buNone/>
            </a:pPr>
            <a:r>
              <a:rPr lang="en-US" sz="4800" b="1" dirty="0">
                <a:solidFill>
                  <a:srgbClr val="2DD4BF"/>
                </a:solidFill>
                <a:latin typeface="Calibri" pitchFamily="34" charset="0"/>
                <a:ea typeface="Calibri" pitchFamily="34" charset="-122"/>
                <a:cs typeface="Calibri" pitchFamily="34" charset="-120"/>
              </a:rPr>
              <a:t>9</a:t>
            </a:r>
            <a:endParaRPr lang="en-US" sz="4800" dirty="0"/>
          </a:p>
        </p:txBody>
      </p:sp>
      <p:sp>
        <p:nvSpPr>
          <p:cNvPr id="10" name="Text 8"/>
          <p:cNvSpPr/>
          <p:nvPr/>
        </p:nvSpPr>
        <p:spPr>
          <a:xfrm>
            <a:off x="3703320" y="4526280"/>
            <a:ext cx="2514600" cy="548640"/>
          </a:xfrm>
          <a:prstGeom prst="rect">
            <a:avLst/>
          </a:prstGeom>
          <a:noFill/>
          <a:ln/>
        </p:spPr>
        <p:txBody>
          <a:bodyPr wrap="square" lIns="0" tIns="0" rIns="0" bIns="0" rtlCol="0" anchor="ctr"/>
          <a:lstStyle/>
          <a:p>
            <a:pPr algn="ctr" indent="0" marL="0">
              <a:buNone/>
            </a:pPr>
            <a:r>
              <a:rPr lang="en-US" sz="900" b="1" spc="100" kern="0" dirty="0">
                <a:solidFill>
                  <a:srgbClr val="E2E8F0"/>
                </a:solidFill>
                <a:latin typeface="Calibri" pitchFamily="34" charset="0"/>
                <a:ea typeface="Calibri" pitchFamily="34" charset="-122"/>
                <a:cs typeface="Calibri" pitchFamily="34" charset="-120"/>
              </a:rPr>
              <a:t>NETWORKING RESOURCES ADDED</a:t>
            </a:r>
            <a:endParaRPr lang="en-US" sz="900" dirty="0"/>
          </a:p>
        </p:txBody>
      </p:sp>
      <p:sp>
        <p:nvSpPr>
          <p:cNvPr id="11" name="Shape 9"/>
          <p:cNvSpPr/>
          <p:nvPr/>
        </p:nvSpPr>
        <p:spPr>
          <a:xfrm>
            <a:off x="6492240" y="3657600"/>
            <a:ext cx="2697480" cy="1463040"/>
          </a:xfrm>
          <a:prstGeom prst="rect">
            <a:avLst/>
          </a:prstGeom>
          <a:solidFill>
            <a:srgbClr val="152846"/>
          </a:solidFill>
          <a:ln w="12700">
            <a:solidFill>
              <a:srgbClr val="14B8A6"/>
            </a:solidFill>
            <a:prstDash val="solid"/>
          </a:ln>
        </p:spPr>
      </p:sp>
      <p:sp>
        <p:nvSpPr>
          <p:cNvPr id="12" name="Text 10"/>
          <p:cNvSpPr/>
          <p:nvPr/>
        </p:nvSpPr>
        <p:spPr>
          <a:xfrm>
            <a:off x="6492240" y="3703320"/>
            <a:ext cx="2697480" cy="777240"/>
          </a:xfrm>
          <a:prstGeom prst="rect">
            <a:avLst/>
          </a:prstGeom>
          <a:noFill/>
          <a:ln/>
        </p:spPr>
        <p:txBody>
          <a:bodyPr wrap="square" lIns="0" tIns="0" rIns="0" bIns="0" rtlCol="0" anchor="ctr"/>
          <a:lstStyle/>
          <a:p>
            <a:pPr algn="ctr" indent="0" marL="0">
              <a:buNone/>
            </a:pPr>
            <a:r>
              <a:rPr lang="en-US" sz="4800" b="1" dirty="0">
                <a:solidFill>
                  <a:srgbClr val="2DD4BF"/>
                </a:solidFill>
                <a:latin typeface="Calibri" pitchFamily="34" charset="0"/>
                <a:ea typeface="Calibri" pitchFamily="34" charset="-122"/>
                <a:cs typeface="Calibri" pitchFamily="34" charset="-120"/>
              </a:rPr>
              <a:t>17</a:t>
            </a:r>
            <a:endParaRPr lang="en-US" sz="4800" dirty="0"/>
          </a:p>
        </p:txBody>
      </p:sp>
      <p:sp>
        <p:nvSpPr>
          <p:cNvPr id="13" name="Text 11"/>
          <p:cNvSpPr/>
          <p:nvPr/>
        </p:nvSpPr>
        <p:spPr>
          <a:xfrm>
            <a:off x="6583680" y="4526280"/>
            <a:ext cx="2514600" cy="548640"/>
          </a:xfrm>
          <a:prstGeom prst="rect">
            <a:avLst/>
          </a:prstGeom>
          <a:noFill/>
          <a:ln/>
        </p:spPr>
        <p:txBody>
          <a:bodyPr wrap="square" lIns="0" tIns="0" rIns="0" bIns="0" rtlCol="0" anchor="ctr"/>
          <a:lstStyle/>
          <a:p>
            <a:pPr algn="ctr" indent="0" marL="0">
              <a:buNone/>
            </a:pPr>
            <a:r>
              <a:rPr lang="en-US" sz="900" b="1" spc="100" kern="0" dirty="0">
                <a:solidFill>
                  <a:srgbClr val="E2E8F0"/>
                </a:solidFill>
                <a:latin typeface="Calibri" pitchFamily="34" charset="0"/>
                <a:ea typeface="Calibri" pitchFamily="34" charset="-122"/>
                <a:cs typeface="Calibri" pitchFamily="34" charset="-120"/>
              </a:rPr>
              <a:t>RESOURCES DESTROYED CLEANLY</a:t>
            </a:r>
            <a:endParaRPr lang="en-US" sz="900" dirty="0"/>
          </a:p>
        </p:txBody>
      </p:sp>
      <p:sp>
        <p:nvSpPr>
          <p:cNvPr id="14" name="Shape 12"/>
          <p:cNvSpPr/>
          <p:nvPr/>
        </p:nvSpPr>
        <p:spPr>
          <a:xfrm>
            <a:off x="9372600" y="3657600"/>
            <a:ext cx="2697480" cy="1463040"/>
          </a:xfrm>
          <a:prstGeom prst="rect">
            <a:avLst/>
          </a:prstGeom>
          <a:solidFill>
            <a:srgbClr val="152846"/>
          </a:solidFill>
          <a:ln w="12700">
            <a:solidFill>
              <a:srgbClr val="14B8A6"/>
            </a:solidFill>
            <a:prstDash val="solid"/>
          </a:ln>
        </p:spPr>
      </p:sp>
      <p:sp>
        <p:nvSpPr>
          <p:cNvPr id="15" name="Text 13"/>
          <p:cNvSpPr/>
          <p:nvPr/>
        </p:nvSpPr>
        <p:spPr>
          <a:xfrm>
            <a:off x="9372600" y="3703320"/>
            <a:ext cx="2697480" cy="777240"/>
          </a:xfrm>
          <a:prstGeom prst="rect">
            <a:avLst/>
          </a:prstGeom>
          <a:noFill/>
          <a:ln/>
        </p:spPr>
        <p:txBody>
          <a:bodyPr wrap="square" lIns="0" tIns="0" rIns="0" bIns="0" rtlCol="0" anchor="ctr"/>
          <a:lstStyle/>
          <a:p>
            <a:pPr algn="ctr" indent="0" marL="0">
              <a:buNone/>
            </a:pPr>
            <a:r>
              <a:rPr lang="en-US" sz="4800" b="1" dirty="0">
                <a:solidFill>
                  <a:srgbClr val="2DD4BF"/>
                </a:solidFill>
                <a:latin typeface="Calibri" pitchFamily="34" charset="0"/>
                <a:ea typeface="Calibri" pitchFamily="34" charset="-122"/>
                <a:cs typeface="Calibri" pitchFamily="34" charset="-120"/>
              </a:rPr>
              <a:t>3</a:t>
            </a:r>
            <a:endParaRPr lang="en-US" sz="4800" dirty="0"/>
          </a:p>
        </p:txBody>
      </p:sp>
      <p:sp>
        <p:nvSpPr>
          <p:cNvPr id="16" name="Text 14"/>
          <p:cNvSpPr/>
          <p:nvPr/>
        </p:nvSpPr>
        <p:spPr>
          <a:xfrm>
            <a:off x="9464040" y="4526280"/>
            <a:ext cx="2514600" cy="548640"/>
          </a:xfrm>
          <a:prstGeom prst="rect">
            <a:avLst/>
          </a:prstGeom>
          <a:noFill/>
          <a:ln/>
        </p:spPr>
        <p:txBody>
          <a:bodyPr wrap="square" lIns="0" tIns="0" rIns="0" bIns="0" rtlCol="0" anchor="ctr"/>
          <a:lstStyle/>
          <a:p>
            <a:pPr algn="ctr" indent="0" marL="0">
              <a:buNone/>
            </a:pPr>
            <a:r>
              <a:rPr lang="en-US" sz="900" b="1" spc="100" kern="0" dirty="0">
                <a:solidFill>
                  <a:srgbClr val="E2E8F0"/>
                </a:solidFill>
                <a:latin typeface="Calibri" pitchFamily="34" charset="0"/>
                <a:ea typeface="Calibri" pitchFamily="34" charset="-122"/>
                <a:cs typeface="Calibri" pitchFamily="34" charset="-120"/>
              </a:rPr>
              <a:t>PHASES FROM TICKET TO STEADY STATE</a:t>
            </a:r>
            <a:endParaRPr lang="en-US" sz="900" dirty="0"/>
          </a:p>
        </p:txBody>
      </p:sp>
      <p:sp>
        <p:nvSpPr>
          <p:cNvPr id="17" name="Text 15"/>
          <p:cNvSpPr/>
          <p:nvPr/>
        </p:nvSpPr>
        <p:spPr>
          <a:xfrm>
            <a:off x="731520" y="5852160"/>
            <a:ext cx="10972800" cy="365760"/>
          </a:xfrm>
          <a:prstGeom prst="rect">
            <a:avLst/>
          </a:prstGeom>
          <a:noFill/>
          <a:ln/>
        </p:spPr>
        <p:txBody>
          <a:bodyPr wrap="square" lIns="0" tIns="0" rIns="0" bIns="0" rtlCol="0" anchor="ctr"/>
          <a:lstStyle/>
          <a:p>
            <a:pPr indent="0" marL="0">
              <a:buNone/>
            </a:pPr>
            <a:r>
              <a:rPr lang="en-US" sz="1400" b="1" spc="200" kern="0" dirty="0">
                <a:solidFill>
                  <a:srgbClr val="2DD4BF"/>
                </a:solidFill>
                <a:latin typeface="Calibri" pitchFamily="34" charset="0"/>
                <a:ea typeface="Calibri" pitchFamily="34" charset="-122"/>
                <a:cs typeface="Calibri" pitchFamily="34" charset="-120"/>
              </a:rPr>
              <a:t>Next: Lab 078</a:t>
            </a:r>
            <a:endParaRPr lang="en-US" sz="1400" dirty="0"/>
          </a:p>
        </p:txBody>
      </p:sp>
      <p:sp>
        <p:nvSpPr>
          <p:cNvPr id="18" name="Text 16"/>
          <p:cNvSpPr/>
          <p:nvPr/>
        </p:nvSpPr>
        <p:spPr>
          <a:xfrm>
            <a:off x="731520" y="6263640"/>
            <a:ext cx="10972800" cy="274320"/>
          </a:xfrm>
          <a:prstGeom prst="rect">
            <a:avLst/>
          </a:prstGeom>
          <a:noFill/>
          <a:ln/>
        </p:spPr>
        <p:txBody>
          <a:bodyPr wrap="square" lIns="0" tIns="0" rIns="0" bIns="0" rtlCol="0" anchor="ctr"/>
          <a:lstStyle/>
          <a:p>
            <a:pPr indent="0" marL="0">
              <a:buNone/>
            </a:pPr>
            <a:r>
              <a:rPr lang="en-US" sz="1100" dirty="0">
                <a:solidFill>
                  <a:srgbClr val="94A3B8"/>
                </a:solidFill>
                <a:latin typeface="Consolas" pitchFamily="34" charset="0"/>
                <a:ea typeface="Consolas" pitchFamily="34" charset="-122"/>
                <a:cs typeface="Consolas" pitchFamily="34" charset="-120"/>
              </a:rPr>
              <a:t>cloud-engineer-labs  •  Stephen Naylor  •  github.com/engsnayl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077 — ECS Service Won't Start</dc:title>
  <dc:subject>PptxGenJS Presentation</dc:subject>
  <dc:creator>Stephen Naylor</dc:creator>
  <cp:lastModifiedBy>Stephen Naylor</cp:lastModifiedBy>
  <cp:revision>1</cp:revision>
  <dcterms:created xsi:type="dcterms:W3CDTF">2026-04-14T08:07:58Z</dcterms:created>
  <dcterms:modified xsi:type="dcterms:W3CDTF">2026-04-14T08:07:58Z</dcterms:modified>
</cp:coreProperties>
</file>
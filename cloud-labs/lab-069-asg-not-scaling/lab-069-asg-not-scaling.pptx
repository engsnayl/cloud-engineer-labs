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F24"/>
        </a:solidFill>
      </p:bgPr>
    </p:bg>
    <p:spTree>
      <p:nvGrpSpPr>
        <p:cNvPr id="1" name=""/>
        <p:cNvGrpSpPr/>
        <p:nvPr/>
      </p:nvGrpSpPr>
      <p:grpSpPr>
        <a:xfrm>
          <a:off x="0" y="0"/>
          <a:ext cx="0" cy="0"/>
          <a:chOff x="0" y="0"/>
          <a:chExt cx="0" cy="0"/>
        </a:xfrm>
      </p:grpSpPr>
      <p:sp>
        <p:nvSpPr>
          <p:cNvPr id="2" name="Shape 0"/>
          <p:cNvSpPr/>
          <p:nvPr/>
        </p:nvSpPr>
        <p:spPr>
          <a:xfrm>
            <a:off x="0" y="2926080"/>
            <a:ext cx="12188952" cy="45720"/>
          </a:xfrm>
          <a:prstGeom prst="rect">
            <a:avLst/>
          </a:prstGeom>
          <a:solidFill>
            <a:srgbClr val="14B8A6"/>
          </a:solidFill>
          <a:ln w="12700">
            <a:solidFill>
              <a:srgbClr val="14B8A6"/>
            </a:solidFill>
            <a:prstDash val="solid"/>
          </a:ln>
        </p:spPr>
      </p:sp>
      <p:sp>
        <p:nvSpPr>
          <p:cNvPr id="3" name="Text 1"/>
          <p:cNvSpPr/>
          <p:nvPr/>
        </p:nvSpPr>
        <p:spPr>
          <a:xfrm>
            <a:off x="548640" y="2103120"/>
            <a:ext cx="10972800" cy="457200"/>
          </a:xfrm>
          <a:prstGeom prst="rect">
            <a:avLst/>
          </a:prstGeom>
          <a:noFill/>
          <a:ln/>
        </p:spPr>
        <p:txBody>
          <a:bodyPr wrap="square" rtlCol="0" anchor="ctr"/>
          <a:lstStyle/>
          <a:p>
            <a:pPr indent="0" marL="0">
              <a:buNone/>
            </a:pPr>
            <a:r>
              <a:rPr lang="en-US" sz="1600" b="1" spc="400" kern="0" dirty="0">
                <a:solidFill>
                  <a:srgbClr val="14B8A6"/>
                </a:solidFill>
                <a:latin typeface="Calibri" pitchFamily="34" charset="0"/>
                <a:ea typeface="Calibri" pitchFamily="34" charset="-122"/>
                <a:cs typeface="Calibri" pitchFamily="34" charset="-120"/>
              </a:rPr>
              <a:t>LAB 069</a:t>
            </a:r>
            <a:endParaRPr lang="en-US" sz="1600" dirty="0"/>
          </a:p>
        </p:txBody>
      </p:sp>
      <p:sp>
        <p:nvSpPr>
          <p:cNvPr id="4" name="Text 2"/>
          <p:cNvSpPr/>
          <p:nvPr/>
        </p:nvSpPr>
        <p:spPr>
          <a:xfrm>
            <a:off x="548640" y="2514600"/>
            <a:ext cx="10972800" cy="73152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ASG Not Scaling</a:t>
            </a:r>
            <a:endParaRPr lang="en-US" sz="4800" dirty="0"/>
          </a:p>
        </p:txBody>
      </p:sp>
      <p:sp>
        <p:nvSpPr>
          <p:cNvPr id="5" name="Text 3"/>
          <p:cNvSpPr/>
          <p:nvPr/>
        </p:nvSpPr>
        <p:spPr>
          <a:xfrm>
            <a:off x="548640" y="3154680"/>
            <a:ext cx="10972800" cy="457200"/>
          </a:xfrm>
          <a:prstGeom prst="rect">
            <a:avLst/>
          </a:prstGeom>
          <a:noFill/>
          <a:ln/>
        </p:spPr>
        <p:txBody>
          <a:bodyPr wrap="square" rtlCol="0" anchor="ctr"/>
          <a:lstStyle/>
          <a:p>
            <a:pPr indent="0" marL="0">
              <a:buNone/>
            </a:pPr>
            <a:r>
              <a:rPr lang="en-US" sz="1800" i="1" dirty="0">
                <a:solidFill>
                  <a:srgbClr val="8B9DC3"/>
                </a:solidFill>
                <a:latin typeface="Calibri" pitchFamily="34" charset="0"/>
                <a:ea typeface="Calibri" pitchFamily="34" charset="-122"/>
                <a:cs typeface="Calibri" pitchFamily="34" charset="-120"/>
              </a:rPr>
              <a:t>A diagnostic walkthrough</a:t>
            </a:r>
            <a:endParaRPr lang="en-US" sz="1800" dirty="0"/>
          </a:p>
        </p:txBody>
      </p:sp>
      <p:sp>
        <p:nvSpPr>
          <p:cNvPr id="6" name="Text 4"/>
          <p:cNvSpPr/>
          <p:nvPr/>
        </p:nvSpPr>
        <p:spPr>
          <a:xfrm>
            <a:off x="548640" y="6126480"/>
            <a:ext cx="10972800" cy="365760"/>
          </a:xfrm>
          <a:prstGeom prst="rect">
            <a:avLst/>
          </a:prstGeom>
          <a:noFill/>
          <a:ln/>
        </p:spPr>
        <p:txBody>
          <a:bodyPr wrap="square" rtlCol="0" anchor="ctr"/>
          <a:lstStyle/>
          <a:p>
            <a:pPr indent="0" marL="0">
              <a:buNone/>
            </a:pPr>
            <a:r>
              <a:rPr lang="en-US" sz="1200" dirty="0">
                <a:solidFill>
                  <a:srgbClr val="8B9DC3"/>
                </a:solidFill>
                <a:latin typeface="Calibri" pitchFamily="34" charset="0"/>
                <a:ea typeface="Calibri" pitchFamily="34" charset="-122"/>
                <a:cs typeface="Calibri" pitchFamily="34" charset="-120"/>
              </a:rPr>
              <a:t>Cloud Engineer Labs  |  Terraform / AWS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3A"/>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60F24"/>
          </a:solidFill>
          <a:ln w="12700">
            <a:solidFill>
              <a:srgbClr val="060F24"/>
            </a:solidFill>
            <a:prstDash val="solid"/>
          </a:ln>
        </p:spPr>
      </p:sp>
      <p:sp>
        <p:nvSpPr>
          <p:cNvPr id="3" name="Shape 1"/>
          <p:cNvSpPr/>
          <p:nvPr/>
        </p:nvSpPr>
        <p:spPr>
          <a:xfrm>
            <a:off x="0" y="822960"/>
            <a:ext cx="228600" cy="6035040"/>
          </a:xfrm>
          <a:prstGeom prst="rect">
            <a:avLst/>
          </a:prstGeom>
          <a:solidFill>
            <a:srgbClr val="14B8A6"/>
          </a:solidFill>
          <a:ln w="12700">
            <a:solidFill>
              <a:srgbClr val="14B8A6"/>
            </a:solidFill>
            <a:prstDash val="solid"/>
          </a:ln>
        </p:spPr>
      </p:sp>
      <p:sp>
        <p:nvSpPr>
          <p:cNvPr id="4" name="Text 2"/>
          <p:cNvSpPr/>
          <p:nvPr/>
        </p:nvSpPr>
        <p:spPr>
          <a:xfrm>
            <a:off x="457200" y="137160"/>
            <a:ext cx="109728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Ticket Arrives</a:t>
            </a:r>
            <a:endParaRPr lang="en-US" sz="2600" dirty="0"/>
          </a:p>
        </p:txBody>
      </p:sp>
      <p:sp>
        <p:nvSpPr>
          <p:cNvPr id="5" name="Text 3"/>
          <p:cNvSpPr/>
          <p:nvPr/>
        </p:nvSpPr>
        <p:spPr>
          <a:xfrm>
            <a:off x="10789920" y="228600"/>
            <a:ext cx="1188720" cy="365760"/>
          </a:xfrm>
          <a:prstGeom prst="rect">
            <a:avLst/>
          </a:prstGeom>
          <a:noFill/>
          <a:ln/>
        </p:spPr>
        <p:txBody>
          <a:bodyPr wrap="square" rtlCol="0" anchor="ctr"/>
          <a:lstStyle/>
          <a:p>
            <a:pPr algn="r" indent="0" marL="0">
              <a:buNone/>
            </a:pPr>
            <a:r>
              <a:rPr lang="en-US" sz="1200" dirty="0">
                <a:solidFill>
                  <a:srgbClr val="14B8A6"/>
                </a:solidFill>
                <a:latin typeface="Calibri" pitchFamily="34" charset="0"/>
                <a:ea typeface="Calibri" pitchFamily="34" charset="-122"/>
                <a:cs typeface="Calibri" pitchFamily="34" charset="-120"/>
              </a:rPr>
              <a:t>Lab 069</a:t>
            </a:r>
            <a:endParaRPr lang="en-US" sz="1200" dirty="0"/>
          </a:p>
        </p:txBody>
      </p:sp>
      <p:sp>
        <p:nvSpPr>
          <p:cNvPr id="6" name="Shape 4"/>
          <p:cNvSpPr/>
          <p:nvPr/>
        </p:nvSpPr>
        <p:spPr>
          <a:xfrm>
            <a:off x="731520" y="1280160"/>
            <a:ext cx="10698480" cy="2377440"/>
          </a:xfrm>
          <a:prstGeom prst="roundRect">
            <a:avLst>
              <a:gd name="adj" fmla="val 3846"/>
            </a:avLst>
          </a:prstGeom>
          <a:solidFill>
            <a:srgbClr val="0A1429"/>
          </a:solidFill>
          <a:ln w="12700">
            <a:solidFill>
              <a:srgbClr val="14B8A6"/>
            </a:solidFill>
            <a:prstDash val="solid"/>
          </a:ln>
        </p:spPr>
      </p:sp>
      <p:sp>
        <p:nvSpPr>
          <p:cNvPr id="7" name="Text 5"/>
          <p:cNvSpPr/>
          <p:nvPr/>
        </p:nvSpPr>
        <p:spPr>
          <a:xfrm>
            <a:off x="1005840" y="1417320"/>
            <a:ext cx="2743200" cy="365760"/>
          </a:xfrm>
          <a:prstGeom prst="rect">
            <a:avLst/>
          </a:prstGeom>
          <a:noFill/>
          <a:ln/>
        </p:spPr>
        <p:txBody>
          <a:bodyPr wrap="square" rtlCol="0" anchor="ctr"/>
          <a:lstStyle/>
          <a:p>
            <a:pPr indent="0" marL="0">
              <a:buNone/>
            </a:pPr>
            <a:r>
              <a:rPr lang="en-US" sz="1400" b="1" dirty="0">
                <a:solidFill>
                  <a:srgbClr val="14B8A6"/>
                </a:solidFill>
                <a:latin typeface="Consolas" pitchFamily="34" charset="0"/>
                <a:ea typeface="Consolas" pitchFamily="34" charset="-122"/>
                <a:cs typeface="Consolas" pitchFamily="34" charset="-120"/>
              </a:rPr>
              <a:t>INC-2047</a:t>
            </a:r>
            <a:endParaRPr lang="en-US" sz="1400" dirty="0"/>
          </a:p>
        </p:txBody>
      </p:sp>
      <p:sp>
        <p:nvSpPr>
          <p:cNvPr id="8" name="Text 6"/>
          <p:cNvSpPr/>
          <p:nvPr/>
        </p:nvSpPr>
        <p:spPr>
          <a:xfrm>
            <a:off x="1005840" y="1828800"/>
            <a:ext cx="10149840" cy="1645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Production ASG app-asg not scaling under load. CPU sustained above 90% for the last hour. CloudWatch alarm app-high-cpu is in ALARM state. Still only 1 instance running. Please investigate and resolve.</a:t>
            </a:r>
            <a:endParaRPr lang="en-US" sz="1600" dirty="0"/>
          </a:p>
        </p:txBody>
      </p:sp>
      <p:sp>
        <p:nvSpPr>
          <p:cNvPr id="9" name="Text 7"/>
          <p:cNvSpPr/>
          <p:nvPr/>
        </p:nvSpPr>
        <p:spPr>
          <a:xfrm>
            <a:off x="731520" y="4023360"/>
            <a:ext cx="10698480" cy="457200"/>
          </a:xfrm>
          <a:prstGeom prst="rect">
            <a:avLst/>
          </a:prstGeom>
          <a:noFill/>
          <a:ln/>
        </p:spPr>
        <p:txBody>
          <a:bodyPr wrap="square" rtlCol="0" anchor="ctr"/>
          <a:lstStyle/>
          <a:p>
            <a:pPr indent="0" marL="0">
              <a:buNone/>
            </a:pPr>
            <a:r>
              <a:rPr lang="en-US" sz="1600" i="1" dirty="0">
                <a:solidFill>
                  <a:srgbClr val="8B9DC3"/>
                </a:solidFill>
                <a:latin typeface="Calibri" pitchFamily="34" charset="0"/>
                <a:ea typeface="Calibri" pitchFamily="34" charset="-122"/>
                <a:cs typeface="Calibri" pitchFamily="34" charset="-120"/>
              </a:rPr>
              <a:t>You arrive cold. No one has told you what's broken. You are the engineer on call.</a:t>
            </a:r>
            <a:endParaRPr lang="en-US" sz="1600" dirty="0"/>
          </a:p>
        </p:txBody>
      </p:sp>
      <p:sp>
        <p:nvSpPr>
          <p:cNvPr id="10" name="Shape 8"/>
          <p:cNvSpPr/>
          <p:nvPr/>
        </p:nvSpPr>
        <p:spPr>
          <a:xfrm>
            <a:off x="731520" y="4846320"/>
            <a:ext cx="548640" cy="548640"/>
          </a:xfrm>
          <a:prstGeom prst="ellipse">
            <a:avLst/>
          </a:prstGeom>
          <a:solidFill>
            <a:srgbClr val="14B8A6"/>
          </a:solidFill>
          <a:ln w="12700">
            <a:solidFill>
              <a:srgbClr val="14B8A6"/>
            </a:solidFill>
            <a:prstDash val="solid"/>
          </a:ln>
        </p:spPr>
      </p:sp>
      <p:sp>
        <p:nvSpPr>
          <p:cNvPr id="11" name="Text 9"/>
          <p:cNvSpPr/>
          <p:nvPr/>
        </p:nvSpPr>
        <p:spPr>
          <a:xfrm>
            <a:off x="731520" y="48463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1463040" y="4846320"/>
            <a:ext cx="9144000" cy="54864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Where do you even start?</a:t>
            </a:r>
            <a:endParaRPr lang="en-US" sz="2200" dirty="0"/>
          </a:p>
        </p:txBody>
      </p:sp>
      <p:sp>
        <p:nvSpPr>
          <p:cNvPr id="13" name="Text 11"/>
          <p:cNvSpPr/>
          <p:nvPr/>
        </p:nvSpPr>
        <p:spPr>
          <a:xfrm>
            <a:off x="1463040" y="5349240"/>
            <a:ext cx="10058400" cy="548640"/>
          </a:xfrm>
          <a:prstGeom prst="rect">
            <a:avLst/>
          </a:prstGeom>
          <a:noFill/>
          <a:ln/>
        </p:spPr>
        <p:txBody>
          <a:bodyPr wrap="square" rtlCol="0" anchor="ctr"/>
          <a:lstStyle/>
          <a:p>
            <a:pPr indent="0" marL="0">
              <a:buNone/>
            </a:pPr>
            <a:r>
              <a:rPr lang="en-US" sz="1400" dirty="0">
                <a:solidFill>
                  <a:srgbClr val="8B9DC3"/>
                </a:solidFill>
                <a:latin typeface="Calibri" pitchFamily="34" charset="0"/>
                <a:ea typeface="Calibri" pitchFamily="34" charset="-122"/>
                <a:cs typeface="Calibri" pitchFamily="34" charset="-120"/>
              </a:rPr>
              <a:t>Not in the Terraform. Start with the AWS API — confirm the facts in the ticket before trusting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3A"/>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60F24"/>
          </a:solidFill>
          <a:ln w="12700">
            <a:solidFill>
              <a:srgbClr val="060F24"/>
            </a:solidFill>
            <a:prstDash val="solid"/>
          </a:ln>
        </p:spPr>
      </p:sp>
      <p:sp>
        <p:nvSpPr>
          <p:cNvPr id="3" name="Shape 1"/>
          <p:cNvSpPr/>
          <p:nvPr/>
        </p:nvSpPr>
        <p:spPr>
          <a:xfrm>
            <a:off x="0" y="822960"/>
            <a:ext cx="228600" cy="6035040"/>
          </a:xfrm>
          <a:prstGeom prst="rect">
            <a:avLst/>
          </a:prstGeom>
          <a:solidFill>
            <a:srgbClr val="14B8A6"/>
          </a:solidFill>
          <a:ln w="12700">
            <a:solidFill>
              <a:srgbClr val="14B8A6"/>
            </a:solidFill>
            <a:prstDash val="solid"/>
          </a:ln>
        </p:spPr>
      </p:sp>
      <p:sp>
        <p:nvSpPr>
          <p:cNvPr id="4" name="Text 2"/>
          <p:cNvSpPr/>
          <p:nvPr/>
        </p:nvSpPr>
        <p:spPr>
          <a:xfrm>
            <a:off x="457200" y="137160"/>
            <a:ext cx="109728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Step 1 — Trust the API, Not the Ticket</a:t>
            </a:r>
            <a:endParaRPr lang="en-US" sz="2600" dirty="0"/>
          </a:p>
        </p:txBody>
      </p:sp>
      <p:sp>
        <p:nvSpPr>
          <p:cNvPr id="5" name="Text 3"/>
          <p:cNvSpPr/>
          <p:nvPr/>
        </p:nvSpPr>
        <p:spPr>
          <a:xfrm>
            <a:off x="10789920" y="228600"/>
            <a:ext cx="1188720" cy="365760"/>
          </a:xfrm>
          <a:prstGeom prst="rect">
            <a:avLst/>
          </a:prstGeom>
          <a:noFill/>
          <a:ln/>
        </p:spPr>
        <p:txBody>
          <a:bodyPr wrap="square" rtlCol="0" anchor="ctr"/>
          <a:lstStyle/>
          <a:p>
            <a:pPr algn="r" indent="0" marL="0">
              <a:buNone/>
            </a:pPr>
            <a:r>
              <a:rPr lang="en-US" sz="1200" dirty="0">
                <a:solidFill>
                  <a:srgbClr val="14B8A6"/>
                </a:solidFill>
                <a:latin typeface="Calibri" pitchFamily="34" charset="0"/>
                <a:ea typeface="Calibri" pitchFamily="34" charset="-122"/>
                <a:cs typeface="Calibri" pitchFamily="34" charset="-120"/>
              </a:rPr>
              <a:t>Lab 069</a:t>
            </a:r>
            <a:endParaRPr lang="en-US" sz="1200" dirty="0"/>
          </a:p>
        </p:txBody>
      </p:sp>
      <p:sp>
        <p:nvSpPr>
          <p:cNvPr id="6" name="Text 4"/>
          <p:cNvSpPr/>
          <p:nvPr/>
        </p:nvSpPr>
        <p:spPr>
          <a:xfrm>
            <a:off x="731520" y="1005840"/>
            <a:ext cx="10972800" cy="365760"/>
          </a:xfrm>
          <a:prstGeom prst="rect">
            <a:avLst/>
          </a:prstGeom>
          <a:noFill/>
          <a:ln/>
        </p:spPr>
        <p:txBody>
          <a:bodyPr wrap="square" rtlCol="0" anchor="ctr"/>
          <a:lstStyle/>
          <a:p>
            <a:pPr indent="0" marL="0">
              <a:buNone/>
            </a:pPr>
            <a:r>
              <a:rPr lang="en-US" sz="1500" i="1" dirty="0">
                <a:solidFill>
                  <a:srgbClr val="8B9DC3"/>
                </a:solidFill>
                <a:latin typeface="Calibri" pitchFamily="34" charset="0"/>
                <a:ea typeface="Calibri" pitchFamily="34" charset="-122"/>
                <a:cs typeface="Calibri" pitchFamily="34" charset="-120"/>
              </a:rPr>
              <a:t>Before opening any code, confirm what AWS actually reports.</a:t>
            </a:r>
            <a:endParaRPr lang="en-US" sz="1500" dirty="0"/>
          </a:p>
        </p:txBody>
      </p:sp>
      <p:sp>
        <p:nvSpPr>
          <p:cNvPr id="7" name="Shape 5"/>
          <p:cNvSpPr/>
          <p:nvPr/>
        </p:nvSpPr>
        <p:spPr>
          <a:xfrm>
            <a:off x="731520" y="1463040"/>
            <a:ext cx="10698480" cy="1280160"/>
          </a:xfrm>
          <a:prstGeom prst="roundRect">
            <a:avLst>
              <a:gd name="adj" fmla="val 5714"/>
            </a:avLst>
          </a:prstGeom>
          <a:solidFill>
            <a:srgbClr val="0A1429"/>
          </a:solidFill>
          <a:ln w="12700">
            <a:solidFill>
              <a:srgbClr val="14B8A6"/>
            </a:solidFill>
            <a:prstDash val="solid"/>
          </a:ln>
        </p:spPr>
      </p:sp>
      <p:sp>
        <p:nvSpPr>
          <p:cNvPr id="8" name="Text 6"/>
          <p:cNvSpPr/>
          <p:nvPr/>
        </p:nvSpPr>
        <p:spPr>
          <a:xfrm>
            <a:off x="914400" y="1554480"/>
            <a:ext cx="10332720" cy="1097280"/>
          </a:xfrm>
          <a:prstGeom prst="rect">
            <a:avLst/>
          </a:prstGeom>
          <a:noFill/>
          <a:ln/>
        </p:spPr>
        <p:txBody>
          <a:bodyPr wrap="square" rtlCol="0" anchor="ctr"/>
          <a:lstStyle/>
          <a:p>
            <a:pPr indent="0" marL="0">
              <a:buNone/>
            </a:pPr>
            <a:r>
              <a:rPr lang="en-US" sz="1400" dirty="0">
                <a:solidFill>
                  <a:srgbClr val="14B8A6"/>
                </a:solidFill>
                <a:latin typeface="Consolas" pitchFamily="34" charset="0"/>
                <a:ea typeface="Consolas" pitchFamily="34" charset="-122"/>
                <a:cs typeface="Consolas" pitchFamily="34" charset="-120"/>
              </a:rPr>
              <a:t>$ aws cloudwatch describe-alarms --alarm-names app-high-cpu</a:t>
            </a:r>
            <a:endParaRPr lang="en-US" sz="1400" dirty="0"/>
          </a:p>
          <a:p>
            <a:pPr indent="0" marL="0">
              <a:buNone/>
            </a:pPr>
            <a:r>
              <a:rPr lang="en-US" sz="1400" dirty="0">
                <a:solidFill>
                  <a:srgbClr val="14B8A6"/>
                </a:solidFill>
                <a:latin typeface="Consolas" pitchFamily="34" charset="0"/>
                <a:ea typeface="Consolas" pitchFamily="34" charset="-122"/>
                <a:cs typeface="Consolas" pitchFamily="34" charset="-120"/>
              </a:rPr>
              <a:t>$ aws autoscaling describe-auto-scaling-groups --auto-scaling-group-names app-asg</a:t>
            </a:r>
            <a:endParaRPr lang="en-US" sz="1400" dirty="0"/>
          </a:p>
          <a:p>
            <a:pPr indent="0" marL="0">
              <a:buNone/>
            </a:pPr>
            <a:r>
              <a:rPr lang="en-US" sz="1400" dirty="0">
                <a:solidFill>
                  <a:srgbClr val="14B8A6"/>
                </a:solidFill>
                <a:latin typeface="Consolas" pitchFamily="34" charset="0"/>
                <a:ea typeface="Consolas" pitchFamily="34" charset="-122"/>
                <a:cs typeface="Consolas" pitchFamily="34" charset="-120"/>
              </a:rPr>
              <a:t>$ aws autoscaling describe-policies --auto-scaling-group-name app-asg</a:t>
            </a:r>
            <a:endParaRPr lang="en-US" sz="1400" dirty="0"/>
          </a:p>
        </p:txBody>
      </p:sp>
      <p:sp>
        <p:nvSpPr>
          <p:cNvPr id="9" name="Text 7"/>
          <p:cNvSpPr/>
          <p:nvPr/>
        </p:nvSpPr>
        <p:spPr>
          <a:xfrm>
            <a:off x="731520" y="2926080"/>
            <a:ext cx="109728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What you're looking for in each:</a:t>
            </a:r>
            <a:endParaRPr lang="en-US" sz="1500" dirty="0"/>
          </a:p>
        </p:txBody>
      </p:sp>
      <p:sp>
        <p:nvSpPr>
          <p:cNvPr id="10" name="Shape 8"/>
          <p:cNvSpPr/>
          <p:nvPr/>
        </p:nvSpPr>
        <p:spPr>
          <a:xfrm>
            <a:off x="731520" y="3383280"/>
            <a:ext cx="548640" cy="548640"/>
          </a:xfrm>
          <a:prstGeom prst="ellipse">
            <a:avLst/>
          </a:prstGeom>
          <a:solidFill>
            <a:srgbClr val="14B8A6"/>
          </a:solidFill>
          <a:ln w="12700">
            <a:solidFill>
              <a:srgbClr val="14B8A6"/>
            </a:solidFill>
            <a:prstDash val="solid"/>
          </a:ln>
        </p:spPr>
      </p:sp>
      <p:sp>
        <p:nvSpPr>
          <p:cNvPr id="11" name="Text 9"/>
          <p:cNvSpPr/>
          <p:nvPr/>
        </p:nvSpPr>
        <p:spPr>
          <a:xfrm>
            <a:off x="731520" y="338328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Text 10"/>
          <p:cNvSpPr/>
          <p:nvPr/>
        </p:nvSpPr>
        <p:spPr>
          <a:xfrm>
            <a:off x="1463040" y="3383280"/>
            <a:ext cx="3657600" cy="320040"/>
          </a:xfrm>
          <a:prstGeom prst="rect">
            <a:avLst/>
          </a:prstGeom>
          <a:noFill/>
          <a:ln/>
        </p:spPr>
        <p:txBody>
          <a:bodyPr wrap="square" rtlCol="0" anchor="ctr"/>
          <a:lstStyle/>
          <a:p>
            <a:pPr indent="0" marL="0">
              <a:buNone/>
            </a:pPr>
            <a:r>
              <a:rPr lang="en-US" sz="1300" b="1" dirty="0">
                <a:solidFill>
                  <a:srgbClr val="14B8A6"/>
                </a:solidFill>
                <a:latin typeface="Consolas" pitchFamily="34" charset="0"/>
                <a:ea typeface="Consolas" pitchFamily="34" charset="-122"/>
                <a:cs typeface="Consolas" pitchFamily="34" charset="-120"/>
              </a:rPr>
              <a:t>describe-alarms</a:t>
            </a:r>
            <a:endParaRPr lang="en-US" sz="1300" dirty="0"/>
          </a:p>
        </p:txBody>
      </p:sp>
      <p:sp>
        <p:nvSpPr>
          <p:cNvPr id="13" name="Text 11"/>
          <p:cNvSpPr/>
          <p:nvPr/>
        </p:nvSpPr>
        <p:spPr>
          <a:xfrm>
            <a:off x="1463040" y="3703320"/>
            <a:ext cx="1005840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Is StateValue actually ALARM? Confirm the ticket is accurate.</a:t>
            </a:r>
            <a:endParaRPr lang="en-US" sz="1300" dirty="0"/>
          </a:p>
        </p:txBody>
      </p:sp>
      <p:sp>
        <p:nvSpPr>
          <p:cNvPr id="14" name="Shape 12"/>
          <p:cNvSpPr/>
          <p:nvPr/>
        </p:nvSpPr>
        <p:spPr>
          <a:xfrm>
            <a:off x="731520" y="4343400"/>
            <a:ext cx="548640" cy="548640"/>
          </a:xfrm>
          <a:prstGeom prst="ellipse">
            <a:avLst/>
          </a:prstGeom>
          <a:solidFill>
            <a:srgbClr val="14B8A6"/>
          </a:solidFill>
          <a:ln w="12700">
            <a:solidFill>
              <a:srgbClr val="14B8A6"/>
            </a:solidFill>
            <a:prstDash val="solid"/>
          </a:ln>
        </p:spPr>
      </p:sp>
      <p:sp>
        <p:nvSpPr>
          <p:cNvPr id="15" name="Text 13"/>
          <p:cNvSpPr/>
          <p:nvPr/>
        </p:nvSpPr>
        <p:spPr>
          <a:xfrm>
            <a:off x="731520" y="43434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1463040" y="4343400"/>
            <a:ext cx="3657600" cy="320040"/>
          </a:xfrm>
          <a:prstGeom prst="rect">
            <a:avLst/>
          </a:prstGeom>
          <a:noFill/>
          <a:ln/>
        </p:spPr>
        <p:txBody>
          <a:bodyPr wrap="square" rtlCol="0" anchor="ctr"/>
          <a:lstStyle/>
          <a:p>
            <a:pPr indent="0" marL="0">
              <a:buNone/>
            </a:pPr>
            <a:r>
              <a:rPr lang="en-US" sz="1300" b="1" dirty="0">
                <a:solidFill>
                  <a:srgbClr val="14B8A6"/>
                </a:solidFill>
                <a:latin typeface="Consolas" pitchFamily="34" charset="0"/>
                <a:ea typeface="Consolas" pitchFamily="34" charset="-122"/>
                <a:cs typeface="Consolas" pitchFamily="34" charset="-120"/>
              </a:rPr>
              <a:t>describe-auto-scaling-groups</a:t>
            </a:r>
            <a:endParaRPr lang="en-US" sz="1300" dirty="0"/>
          </a:p>
        </p:txBody>
      </p:sp>
      <p:sp>
        <p:nvSpPr>
          <p:cNvPr id="17" name="Text 15"/>
          <p:cNvSpPr/>
          <p:nvPr/>
        </p:nvSpPr>
        <p:spPr>
          <a:xfrm>
            <a:off x="1463040" y="4663440"/>
            <a:ext cx="1005840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MinSize, MaxSize, DesiredCapacity. If max == desired, stop — you found bug one.</a:t>
            </a:r>
            <a:endParaRPr lang="en-US" sz="1300" dirty="0"/>
          </a:p>
        </p:txBody>
      </p:sp>
      <p:sp>
        <p:nvSpPr>
          <p:cNvPr id="18" name="Shape 16"/>
          <p:cNvSpPr/>
          <p:nvPr/>
        </p:nvSpPr>
        <p:spPr>
          <a:xfrm>
            <a:off x="731520" y="5303520"/>
            <a:ext cx="548640" cy="548640"/>
          </a:xfrm>
          <a:prstGeom prst="ellipse">
            <a:avLst/>
          </a:prstGeom>
          <a:solidFill>
            <a:srgbClr val="14B8A6"/>
          </a:solidFill>
          <a:ln w="12700">
            <a:solidFill>
              <a:srgbClr val="14B8A6"/>
            </a:solidFill>
            <a:prstDash val="solid"/>
          </a:ln>
        </p:spPr>
      </p:sp>
      <p:sp>
        <p:nvSpPr>
          <p:cNvPr id="19" name="Text 17"/>
          <p:cNvSpPr/>
          <p:nvPr/>
        </p:nvSpPr>
        <p:spPr>
          <a:xfrm>
            <a:off x="731520" y="53035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1463040" y="5303520"/>
            <a:ext cx="3657600" cy="320040"/>
          </a:xfrm>
          <a:prstGeom prst="rect">
            <a:avLst/>
          </a:prstGeom>
          <a:noFill/>
          <a:ln/>
        </p:spPr>
        <p:txBody>
          <a:bodyPr wrap="square" rtlCol="0" anchor="ctr"/>
          <a:lstStyle/>
          <a:p>
            <a:pPr indent="0" marL="0">
              <a:buNone/>
            </a:pPr>
            <a:r>
              <a:rPr lang="en-US" sz="1300" b="1" dirty="0">
                <a:solidFill>
                  <a:srgbClr val="14B8A6"/>
                </a:solidFill>
                <a:latin typeface="Consolas" pitchFamily="34" charset="0"/>
                <a:ea typeface="Consolas" pitchFamily="34" charset="-122"/>
                <a:cs typeface="Consolas" pitchFamily="34" charset="-120"/>
              </a:rPr>
              <a:t>describe-policies</a:t>
            </a:r>
            <a:endParaRPr lang="en-US" sz="1300" dirty="0"/>
          </a:p>
        </p:txBody>
      </p:sp>
      <p:sp>
        <p:nvSpPr>
          <p:cNvPr id="21" name="Text 19"/>
          <p:cNvSpPr/>
          <p:nvPr/>
        </p:nvSpPr>
        <p:spPr>
          <a:xfrm>
            <a:off x="1463040" y="5623560"/>
            <a:ext cx="1005840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AdjustmentType and ScalingAdjustment. ExactCapacity with a small number is almost always wrong for scale-up.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3A"/>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60F24"/>
          </a:solidFill>
          <a:ln w="12700">
            <a:solidFill>
              <a:srgbClr val="060F24"/>
            </a:solidFill>
            <a:prstDash val="solid"/>
          </a:ln>
        </p:spPr>
      </p:sp>
      <p:sp>
        <p:nvSpPr>
          <p:cNvPr id="3" name="Shape 1"/>
          <p:cNvSpPr/>
          <p:nvPr/>
        </p:nvSpPr>
        <p:spPr>
          <a:xfrm>
            <a:off x="0" y="822960"/>
            <a:ext cx="228600" cy="6035040"/>
          </a:xfrm>
          <a:prstGeom prst="rect">
            <a:avLst/>
          </a:prstGeom>
          <a:solidFill>
            <a:srgbClr val="14B8A6"/>
          </a:solidFill>
          <a:ln w="12700">
            <a:solidFill>
              <a:srgbClr val="14B8A6"/>
            </a:solidFill>
            <a:prstDash val="solid"/>
          </a:ln>
        </p:spPr>
      </p:sp>
      <p:sp>
        <p:nvSpPr>
          <p:cNvPr id="4" name="Text 2"/>
          <p:cNvSpPr/>
          <p:nvPr/>
        </p:nvSpPr>
        <p:spPr>
          <a:xfrm>
            <a:off x="457200" y="137160"/>
            <a:ext cx="109728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Bug 1 — The Ceiling and the Floor Are the Same</a:t>
            </a:r>
            <a:endParaRPr lang="en-US" sz="2600" dirty="0"/>
          </a:p>
        </p:txBody>
      </p:sp>
      <p:sp>
        <p:nvSpPr>
          <p:cNvPr id="5" name="Text 3"/>
          <p:cNvSpPr/>
          <p:nvPr/>
        </p:nvSpPr>
        <p:spPr>
          <a:xfrm>
            <a:off x="10789920" y="228600"/>
            <a:ext cx="1188720" cy="365760"/>
          </a:xfrm>
          <a:prstGeom prst="rect">
            <a:avLst/>
          </a:prstGeom>
          <a:noFill/>
          <a:ln/>
        </p:spPr>
        <p:txBody>
          <a:bodyPr wrap="square" rtlCol="0" anchor="ctr"/>
          <a:lstStyle/>
          <a:p>
            <a:pPr algn="r" indent="0" marL="0">
              <a:buNone/>
            </a:pPr>
            <a:r>
              <a:rPr lang="en-US" sz="1200" dirty="0">
                <a:solidFill>
                  <a:srgbClr val="14B8A6"/>
                </a:solidFill>
                <a:latin typeface="Calibri" pitchFamily="34" charset="0"/>
                <a:ea typeface="Calibri" pitchFamily="34" charset="-122"/>
                <a:cs typeface="Calibri" pitchFamily="34" charset="-120"/>
              </a:rPr>
              <a:t>Lab 069</a:t>
            </a:r>
            <a:endParaRPr lang="en-US" sz="1200" dirty="0"/>
          </a:p>
        </p:txBody>
      </p:sp>
      <p:sp>
        <p:nvSpPr>
          <p:cNvPr id="6" name="Text 4"/>
          <p:cNvSpPr/>
          <p:nvPr/>
        </p:nvSpPr>
        <p:spPr>
          <a:xfrm>
            <a:off x="731520" y="1051560"/>
            <a:ext cx="10972800" cy="365760"/>
          </a:xfrm>
          <a:prstGeom prst="rect">
            <a:avLst/>
          </a:prstGeom>
          <a:noFill/>
          <a:ln/>
        </p:spPr>
        <p:txBody>
          <a:bodyPr wrap="square" rtlCol="0" anchor="ctr"/>
          <a:lstStyle/>
          <a:p>
            <a:pPr indent="0" marL="0">
              <a:buNone/>
            </a:pPr>
            <a:r>
              <a:rPr lang="en-US" sz="1600" i="1" dirty="0">
                <a:solidFill>
                  <a:srgbClr val="14B8A6"/>
                </a:solidFill>
                <a:latin typeface="Consolas" pitchFamily="34" charset="0"/>
                <a:ea typeface="Consolas" pitchFamily="34" charset="-122"/>
                <a:cs typeface="Consolas" pitchFamily="34" charset="-120"/>
              </a:rPr>
              <a:t>min_size = 1, max_size = 1, desired_capacity = 1</a:t>
            </a:r>
            <a:endParaRPr lang="en-US" sz="1600" dirty="0"/>
          </a:p>
        </p:txBody>
      </p:sp>
      <p:sp>
        <p:nvSpPr>
          <p:cNvPr id="7" name="Shape 5"/>
          <p:cNvSpPr/>
          <p:nvPr/>
        </p:nvSpPr>
        <p:spPr>
          <a:xfrm>
            <a:off x="731520" y="1600200"/>
            <a:ext cx="5349240" cy="4114800"/>
          </a:xfrm>
          <a:prstGeom prst="roundRect">
            <a:avLst>
              <a:gd name="adj" fmla="val 1778"/>
            </a:avLst>
          </a:prstGeom>
          <a:solidFill>
            <a:srgbClr val="0A1429"/>
          </a:solidFill>
          <a:ln w="19050">
            <a:solidFill>
              <a:srgbClr val="7F1D1D"/>
            </a:solidFill>
            <a:prstDash val="solid"/>
          </a:ln>
        </p:spPr>
      </p:sp>
      <p:sp>
        <p:nvSpPr>
          <p:cNvPr id="8" name="Text 6"/>
          <p:cNvSpPr/>
          <p:nvPr/>
        </p:nvSpPr>
        <p:spPr>
          <a:xfrm>
            <a:off x="914400" y="1691640"/>
            <a:ext cx="5029200" cy="320040"/>
          </a:xfrm>
          <a:prstGeom prst="rect">
            <a:avLst/>
          </a:prstGeom>
          <a:noFill/>
          <a:ln/>
        </p:spPr>
        <p:txBody>
          <a:bodyPr wrap="square"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 BROKEN</a:t>
            </a:r>
            <a:endParaRPr lang="en-US" sz="1300" dirty="0"/>
          </a:p>
        </p:txBody>
      </p:sp>
      <p:sp>
        <p:nvSpPr>
          <p:cNvPr id="9" name="Text 7"/>
          <p:cNvSpPr/>
          <p:nvPr/>
        </p:nvSpPr>
        <p:spPr>
          <a:xfrm>
            <a:off x="914400" y="2011680"/>
            <a:ext cx="5029200" cy="365760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resource "aws_autoscaling_group" "app"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min_size         = 1</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max_size         = 1</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desired_capacity = 1</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0" name="Shape 8"/>
          <p:cNvSpPr/>
          <p:nvPr/>
        </p:nvSpPr>
        <p:spPr>
          <a:xfrm>
            <a:off x="6263640" y="1600200"/>
            <a:ext cx="5349240" cy="4114800"/>
          </a:xfrm>
          <a:prstGeom prst="roundRect">
            <a:avLst>
              <a:gd name="adj" fmla="val 1778"/>
            </a:avLst>
          </a:prstGeom>
          <a:solidFill>
            <a:srgbClr val="0A1429"/>
          </a:solidFill>
          <a:ln w="19050">
            <a:solidFill>
              <a:srgbClr val="14B8A6"/>
            </a:solidFill>
            <a:prstDash val="solid"/>
          </a:ln>
        </p:spPr>
      </p:sp>
      <p:sp>
        <p:nvSpPr>
          <p:cNvPr id="11" name="Text 9"/>
          <p:cNvSpPr/>
          <p:nvPr/>
        </p:nvSpPr>
        <p:spPr>
          <a:xfrm>
            <a:off x="6446520" y="1691640"/>
            <a:ext cx="5029200" cy="32004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 FIXED</a:t>
            </a:r>
            <a:endParaRPr lang="en-US" sz="1300" dirty="0"/>
          </a:p>
        </p:txBody>
      </p:sp>
      <p:sp>
        <p:nvSpPr>
          <p:cNvPr id="12" name="Text 10"/>
          <p:cNvSpPr/>
          <p:nvPr/>
        </p:nvSpPr>
        <p:spPr>
          <a:xfrm>
            <a:off x="6446520" y="2011680"/>
            <a:ext cx="5029200" cy="365760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resource "aws_autoscaling_group" "app"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min_size         = 1</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max_size         = 4</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desired_capacity = 1</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3" name="Text 11"/>
          <p:cNvSpPr/>
          <p:nvPr/>
        </p:nvSpPr>
        <p:spPr>
          <a:xfrm>
            <a:off x="731520" y="5897880"/>
            <a:ext cx="10972800" cy="457200"/>
          </a:xfrm>
          <a:prstGeom prst="rect">
            <a:avLst/>
          </a:prstGeom>
          <a:noFill/>
          <a:ln/>
        </p:spPr>
        <p:txBody>
          <a:bodyPr wrap="square" rtlCol="0" anchor="ctr"/>
          <a:lstStyle/>
          <a:p>
            <a:pPr indent="0" marL="0">
              <a:buNone/>
            </a:pPr>
            <a:r>
              <a:rPr lang="en-US" sz="1400" i="1" dirty="0">
                <a:solidFill>
                  <a:srgbClr val="8B9DC3"/>
                </a:solidFill>
                <a:latin typeface="Calibri" pitchFamily="34" charset="0"/>
                <a:ea typeface="Calibri" pitchFamily="34" charset="-122"/>
                <a:cs typeface="Calibri" pitchFamily="34" charset="-120"/>
              </a:rPr>
              <a:t>max_size is a hard ceiling. The ASG will never exceed it — no matter how loud the alarm screams.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3A"/>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60F24"/>
          </a:solidFill>
          <a:ln w="12700">
            <a:solidFill>
              <a:srgbClr val="060F24"/>
            </a:solidFill>
            <a:prstDash val="solid"/>
          </a:ln>
        </p:spPr>
      </p:sp>
      <p:sp>
        <p:nvSpPr>
          <p:cNvPr id="3" name="Shape 1"/>
          <p:cNvSpPr/>
          <p:nvPr/>
        </p:nvSpPr>
        <p:spPr>
          <a:xfrm>
            <a:off x="0" y="822960"/>
            <a:ext cx="228600" cy="6035040"/>
          </a:xfrm>
          <a:prstGeom prst="rect">
            <a:avLst/>
          </a:prstGeom>
          <a:solidFill>
            <a:srgbClr val="14B8A6"/>
          </a:solidFill>
          <a:ln w="12700">
            <a:solidFill>
              <a:srgbClr val="14B8A6"/>
            </a:solidFill>
            <a:prstDash val="solid"/>
          </a:ln>
        </p:spPr>
      </p:sp>
      <p:sp>
        <p:nvSpPr>
          <p:cNvPr id="4" name="Text 2"/>
          <p:cNvSpPr/>
          <p:nvPr/>
        </p:nvSpPr>
        <p:spPr>
          <a:xfrm>
            <a:off x="457200" y="137160"/>
            <a:ext cx="109728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Bug 2 — The Policy Says Nothing Useful</a:t>
            </a:r>
            <a:endParaRPr lang="en-US" sz="2600" dirty="0"/>
          </a:p>
        </p:txBody>
      </p:sp>
      <p:sp>
        <p:nvSpPr>
          <p:cNvPr id="5" name="Text 3"/>
          <p:cNvSpPr/>
          <p:nvPr/>
        </p:nvSpPr>
        <p:spPr>
          <a:xfrm>
            <a:off x="10789920" y="228600"/>
            <a:ext cx="1188720" cy="365760"/>
          </a:xfrm>
          <a:prstGeom prst="rect">
            <a:avLst/>
          </a:prstGeom>
          <a:noFill/>
          <a:ln/>
        </p:spPr>
        <p:txBody>
          <a:bodyPr wrap="square" rtlCol="0" anchor="ctr"/>
          <a:lstStyle/>
          <a:p>
            <a:pPr algn="r" indent="0" marL="0">
              <a:buNone/>
            </a:pPr>
            <a:r>
              <a:rPr lang="en-US" sz="1200" dirty="0">
                <a:solidFill>
                  <a:srgbClr val="14B8A6"/>
                </a:solidFill>
                <a:latin typeface="Calibri" pitchFamily="34" charset="0"/>
                <a:ea typeface="Calibri" pitchFamily="34" charset="-122"/>
                <a:cs typeface="Calibri" pitchFamily="34" charset="-120"/>
              </a:rPr>
              <a:t>Lab 069</a:t>
            </a:r>
            <a:endParaRPr lang="en-US" sz="1200" dirty="0"/>
          </a:p>
        </p:txBody>
      </p:sp>
      <p:sp>
        <p:nvSpPr>
          <p:cNvPr id="6" name="Text 4"/>
          <p:cNvSpPr/>
          <p:nvPr/>
        </p:nvSpPr>
        <p:spPr>
          <a:xfrm>
            <a:off x="731520" y="1051560"/>
            <a:ext cx="10972800" cy="365760"/>
          </a:xfrm>
          <a:prstGeom prst="rect">
            <a:avLst/>
          </a:prstGeom>
          <a:noFill/>
          <a:ln/>
        </p:spPr>
        <p:txBody>
          <a:bodyPr wrap="square" rtlCol="0" anchor="ctr"/>
          <a:lstStyle/>
          <a:p>
            <a:pPr indent="0" marL="0">
              <a:buNone/>
            </a:pPr>
            <a:r>
              <a:rPr lang="en-US" sz="1500" i="1" dirty="0">
                <a:solidFill>
                  <a:srgbClr val="14B8A6"/>
                </a:solidFill>
                <a:latin typeface="Consolas" pitchFamily="34" charset="0"/>
                <a:ea typeface="Consolas" pitchFamily="34" charset="-122"/>
                <a:cs typeface="Consolas" pitchFamily="34" charset="-120"/>
              </a:rPr>
              <a:t>adjustment_type = "ExactCapacity", scaling_adjustment = 1</a:t>
            </a:r>
            <a:endParaRPr lang="en-US" sz="1500" dirty="0"/>
          </a:p>
        </p:txBody>
      </p:sp>
      <p:sp>
        <p:nvSpPr>
          <p:cNvPr id="7" name="Text 5"/>
          <p:cNvSpPr/>
          <p:nvPr/>
        </p:nvSpPr>
        <p:spPr>
          <a:xfrm>
            <a:off x="731520" y="1417320"/>
            <a:ext cx="10972800" cy="365760"/>
          </a:xfrm>
          <a:prstGeom prst="rect">
            <a:avLst/>
          </a:prstGeom>
          <a:noFill/>
          <a:ln/>
        </p:spPr>
        <p:txBody>
          <a:bodyPr wrap="square" rtlCol="0" anchor="ctr"/>
          <a:lstStyle/>
          <a:p>
            <a:pPr indent="0" marL="0">
              <a:buNone/>
            </a:pPr>
            <a:r>
              <a:rPr lang="en-US" sz="1400" dirty="0">
                <a:solidFill>
                  <a:srgbClr val="8B9DC3"/>
                </a:solidFill>
                <a:latin typeface="Calibri" pitchFamily="34" charset="0"/>
                <a:ea typeface="Calibri" pitchFamily="34" charset="-122"/>
                <a:cs typeface="Calibri" pitchFamily="34" charset="-120"/>
              </a:rPr>
              <a:t>Read it out loud: "Set the desired count to exactly 1." The ASG is already at 1. The policy does nothing.</a:t>
            </a:r>
            <a:endParaRPr lang="en-US" sz="1400" dirty="0"/>
          </a:p>
        </p:txBody>
      </p:sp>
      <p:sp>
        <p:nvSpPr>
          <p:cNvPr id="8" name="Shape 6"/>
          <p:cNvSpPr/>
          <p:nvPr/>
        </p:nvSpPr>
        <p:spPr>
          <a:xfrm>
            <a:off x="731520" y="2011680"/>
            <a:ext cx="10698480" cy="502920"/>
          </a:xfrm>
          <a:prstGeom prst="rect">
            <a:avLst/>
          </a:prstGeom>
          <a:solidFill>
            <a:srgbClr val="0E8A7C"/>
          </a:solidFill>
          <a:ln w="12700">
            <a:solidFill>
              <a:srgbClr val="0E8A7C"/>
            </a:solidFill>
            <a:prstDash val="solid"/>
          </a:ln>
        </p:spPr>
      </p:sp>
      <p:sp>
        <p:nvSpPr>
          <p:cNvPr id="9" name="Text 7"/>
          <p:cNvSpPr/>
          <p:nvPr/>
        </p:nvSpPr>
        <p:spPr>
          <a:xfrm>
            <a:off x="822960" y="2057400"/>
            <a:ext cx="34747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Adjustment Type</a:t>
            </a:r>
            <a:endParaRPr lang="en-US" sz="1300" dirty="0"/>
          </a:p>
        </p:txBody>
      </p:sp>
      <p:sp>
        <p:nvSpPr>
          <p:cNvPr id="10" name="Text 8"/>
          <p:cNvSpPr/>
          <p:nvPr/>
        </p:nvSpPr>
        <p:spPr>
          <a:xfrm>
            <a:off x="4389120" y="2057400"/>
            <a:ext cx="41148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scaling_adjustment = 1 means</a:t>
            </a:r>
            <a:endParaRPr lang="en-US" sz="1300" dirty="0"/>
          </a:p>
        </p:txBody>
      </p:sp>
      <p:sp>
        <p:nvSpPr>
          <p:cNvPr id="11" name="Text 9"/>
          <p:cNvSpPr/>
          <p:nvPr/>
        </p:nvSpPr>
        <p:spPr>
          <a:xfrm>
            <a:off x="8595360" y="2057400"/>
            <a:ext cx="34747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When to use</a:t>
            </a:r>
            <a:endParaRPr lang="en-US" sz="1300" dirty="0"/>
          </a:p>
        </p:txBody>
      </p:sp>
      <p:sp>
        <p:nvSpPr>
          <p:cNvPr id="12" name="Shape 10"/>
          <p:cNvSpPr/>
          <p:nvPr/>
        </p:nvSpPr>
        <p:spPr>
          <a:xfrm>
            <a:off x="731520" y="2560320"/>
            <a:ext cx="10698480" cy="594360"/>
          </a:xfrm>
          <a:prstGeom prst="rect">
            <a:avLst/>
          </a:prstGeom>
          <a:solidFill>
            <a:srgbClr val="122244"/>
          </a:solidFill>
          <a:ln w="12700">
            <a:solidFill>
              <a:srgbClr val="122244"/>
            </a:solidFill>
            <a:prstDash val="solid"/>
          </a:ln>
        </p:spPr>
      </p:sp>
      <p:sp>
        <p:nvSpPr>
          <p:cNvPr id="13" name="Text 11"/>
          <p:cNvSpPr/>
          <p:nvPr/>
        </p:nvSpPr>
        <p:spPr>
          <a:xfrm>
            <a:off x="822960" y="2651760"/>
            <a:ext cx="3474720" cy="411480"/>
          </a:xfrm>
          <a:prstGeom prst="rect">
            <a:avLst/>
          </a:prstGeom>
          <a:noFill/>
          <a:ln/>
        </p:spPr>
        <p:txBody>
          <a:bodyPr wrap="square"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ExactCapacity</a:t>
            </a:r>
            <a:endParaRPr lang="en-US" sz="1300" dirty="0"/>
          </a:p>
        </p:txBody>
      </p:sp>
      <p:sp>
        <p:nvSpPr>
          <p:cNvPr id="14" name="Text 12"/>
          <p:cNvSpPr/>
          <p:nvPr/>
        </p:nvSpPr>
        <p:spPr>
          <a:xfrm>
            <a:off x="4389120" y="2651760"/>
            <a:ext cx="41148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Set to that exact number</a:t>
            </a:r>
            <a:endParaRPr lang="en-US" sz="1300" dirty="0"/>
          </a:p>
        </p:txBody>
      </p:sp>
      <p:sp>
        <p:nvSpPr>
          <p:cNvPr id="15" name="Text 13"/>
          <p:cNvSpPr/>
          <p:nvPr/>
        </p:nvSpPr>
        <p:spPr>
          <a:xfrm>
            <a:off x="8595360" y="2651760"/>
            <a:ext cx="34747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Rare — scheduled resets</a:t>
            </a:r>
            <a:endParaRPr lang="en-US" sz="1300" dirty="0"/>
          </a:p>
        </p:txBody>
      </p:sp>
      <p:sp>
        <p:nvSpPr>
          <p:cNvPr id="16" name="Shape 14"/>
          <p:cNvSpPr/>
          <p:nvPr/>
        </p:nvSpPr>
        <p:spPr>
          <a:xfrm>
            <a:off x="731520" y="3200400"/>
            <a:ext cx="10698480" cy="594360"/>
          </a:xfrm>
          <a:prstGeom prst="rect">
            <a:avLst/>
          </a:prstGeom>
          <a:solidFill>
            <a:srgbClr val="0E8A7C"/>
          </a:solidFill>
          <a:ln w="12700">
            <a:solidFill>
              <a:srgbClr val="0E8A7C"/>
            </a:solidFill>
            <a:prstDash val="solid"/>
          </a:ln>
        </p:spPr>
      </p:sp>
      <p:sp>
        <p:nvSpPr>
          <p:cNvPr id="17" name="Text 15"/>
          <p:cNvSpPr/>
          <p:nvPr/>
        </p:nvSpPr>
        <p:spPr>
          <a:xfrm>
            <a:off x="822960" y="3291840"/>
            <a:ext cx="3474720" cy="411480"/>
          </a:xfrm>
          <a:prstGeom prst="rect">
            <a:avLst/>
          </a:prstGeom>
          <a:noFill/>
          <a:ln/>
        </p:spPr>
        <p:txBody>
          <a:bodyPr wrap="square"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ChangeInCapacity</a:t>
            </a:r>
            <a:endParaRPr lang="en-US" sz="1300" dirty="0"/>
          </a:p>
        </p:txBody>
      </p:sp>
      <p:sp>
        <p:nvSpPr>
          <p:cNvPr id="18" name="Text 16"/>
          <p:cNvSpPr/>
          <p:nvPr/>
        </p:nvSpPr>
        <p:spPr>
          <a:xfrm>
            <a:off x="4389120" y="3291840"/>
            <a:ext cx="41148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Add (or remove) that number</a:t>
            </a:r>
            <a:endParaRPr lang="en-US" sz="1300" dirty="0"/>
          </a:p>
        </p:txBody>
      </p:sp>
      <p:sp>
        <p:nvSpPr>
          <p:cNvPr id="19" name="Text 17"/>
          <p:cNvSpPr/>
          <p:nvPr/>
        </p:nvSpPr>
        <p:spPr>
          <a:xfrm>
            <a:off x="8595360" y="3291840"/>
            <a:ext cx="34747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Standard scale-up / scale-down</a:t>
            </a:r>
            <a:endParaRPr lang="en-US" sz="1300" dirty="0"/>
          </a:p>
        </p:txBody>
      </p:sp>
      <p:sp>
        <p:nvSpPr>
          <p:cNvPr id="20" name="Shape 18"/>
          <p:cNvSpPr/>
          <p:nvPr/>
        </p:nvSpPr>
        <p:spPr>
          <a:xfrm>
            <a:off x="731520" y="3840480"/>
            <a:ext cx="10698480" cy="594360"/>
          </a:xfrm>
          <a:prstGeom prst="rect">
            <a:avLst/>
          </a:prstGeom>
          <a:solidFill>
            <a:srgbClr val="122244"/>
          </a:solidFill>
          <a:ln w="12700">
            <a:solidFill>
              <a:srgbClr val="122244"/>
            </a:solidFill>
            <a:prstDash val="solid"/>
          </a:ln>
        </p:spPr>
      </p:sp>
      <p:sp>
        <p:nvSpPr>
          <p:cNvPr id="21" name="Text 19"/>
          <p:cNvSpPr/>
          <p:nvPr/>
        </p:nvSpPr>
        <p:spPr>
          <a:xfrm>
            <a:off x="822960" y="3931920"/>
            <a:ext cx="3474720" cy="411480"/>
          </a:xfrm>
          <a:prstGeom prst="rect">
            <a:avLst/>
          </a:prstGeom>
          <a:noFill/>
          <a:ln/>
        </p:spPr>
        <p:txBody>
          <a:bodyPr wrap="square"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PercentChangeInCapacity</a:t>
            </a:r>
            <a:endParaRPr lang="en-US" sz="1300" dirty="0"/>
          </a:p>
        </p:txBody>
      </p:sp>
      <p:sp>
        <p:nvSpPr>
          <p:cNvPr id="22" name="Text 20"/>
          <p:cNvSpPr/>
          <p:nvPr/>
        </p:nvSpPr>
        <p:spPr>
          <a:xfrm>
            <a:off x="4389120" y="3931920"/>
            <a:ext cx="41148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Add/remove that percentage</a:t>
            </a:r>
            <a:endParaRPr lang="en-US" sz="1300" dirty="0"/>
          </a:p>
        </p:txBody>
      </p:sp>
      <p:sp>
        <p:nvSpPr>
          <p:cNvPr id="23" name="Text 21"/>
          <p:cNvSpPr/>
          <p:nvPr/>
        </p:nvSpPr>
        <p:spPr>
          <a:xfrm>
            <a:off x="8595360" y="3931920"/>
            <a:ext cx="34747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Large fleets, proportional scaling</a:t>
            </a:r>
            <a:endParaRPr lang="en-US" sz="1300" dirty="0"/>
          </a:p>
        </p:txBody>
      </p:sp>
      <p:sp>
        <p:nvSpPr>
          <p:cNvPr id="24" name="Text 22"/>
          <p:cNvSpPr/>
          <p:nvPr/>
        </p:nvSpPr>
        <p:spPr>
          <a:xfrm>
            <a:off x="731520" y="5029200"/>
            <a:ext cx="109728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For a scale-up policy, ChangeInCapacity is almost always what you want.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3A"/>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60F24"/>
          </a:solidFill>
          <a:ln w="12700">
            <a:solidFill>
              <a:srgbClr val="060F24"/>
            </a:solidFill>
            <a:prstDash val="solid"/>
          </a:ln>
        </p:spPr>
      </p:sp>
      <p:sp>
        <p:nvSpPr>
          <p:cNvPr id="3" name="Shape 1"/>
          <p:cNvSpPr/>
          <p:nvPr/>
        </p:nvSpPr>
        <p:spPr>
          <a:xfrm>
            <a:off x="0" y="822960"/>
            <a:ext cx="228600" cy="6035040"/>
          </a:xfrm>
          <a:prstGeom prst="rect">
            <a:avLst/>
          </a:prstGeom>
          <a:solidFill>
            <a:srgbClr val="14B8A6"/>
          </a:solidFill>
          <a:ln w="12700">
            <a:solidFill>
              <a:srgbClr val="14B8A6"/>
            </a:solidFill>
            <a:prstDash val="solid"/>
          </a:ln>
        </p:spPr>
      </p:sp>
      <p:sp>
        <p:nvSpPr>
          <p:cNvPr id="4" name="Text 2"/>
          <p:cNvSpPr/>
          <p:nvPr/>
        </p:nvSpPr>
        <p:spPr>
          <a:xfrm>
            <a:off x="457200" y="137160"/>
            <a:ext cx="109728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Diagnostic Pathway</a:t>
            </a:r>
            <a:endParaRPr lang="en-US" sz="2600" dirty="0"/>
          </a:p>
        </p:txBody>
      </p:sp>
      <p:sp>
        <p:nvSpPr>
          <p:cNvPr id="5" name="Text 3"/>
          <p:cNvSpPr/>
          <p:nvPr/>
        </p:nvSpPr>
        <p:spPr>
          <a:xfrm>
            <a:off x="10789920" y="228600"/>
            <a:ext cx="1188720" cy="365760"/>
          </a:xfrm>
          <a:prstGeom prst="rect">
            <a:avLst/>
          </a:prstGeom>
          <a:noFill/>
          <a:ln/>
        </p:spPr>
        <p:txBody>
          <a:bodyPr wrap="square" rtlCol="0" anchor="ctr"/>
          <a:lstStyle/>
          <a:p>
            <a:pPr algn="r" indent="0" marL="0">
              <a:buNone/>
            </a:pPr>
            <a:r>
              <a:rPr lang="en-US" sz="1200" dirty="0">
                <a:solidFill>
                  <a:srgbClr val="14B8A6"/>
                </a:solidFill>
                <a:latin typeface="Calibri" pitchFamily="34" charset="0"/>
                <a:ea typeface="Calibri" pitchFamily="34" charset="-122"/>
                <a:cs typeface="Calibri" pitchFamily="34" charset="-120"/>
              </a:rPr>
              <a:t>Lab 069</a:t>
            </a:r>
            <a:endParaRPr lang="en-US" sz="1200" dirty="0"/>
          </a:p>
        </p:txBody>
      </p:sp>
      <p:sp>
        <p:nvSpPr>
          <p:cNvPr id="6" name="Text 4"/>
          <p:cNvSpPr/>
          <p:nvPr/>
        </p:nvSpPr>
        <p:spPr>
          <a:xfrm>
            <a:off x="731520" y="1005840"/>
            <a:ext cx="10972800" cy="365760"/>
          </a:xfrm>
          <a:prstGeom prst="rect">
            <a:avLst/>
          </a:prstGeom>
          <a:noFill/>
          <a:ln/>
        </p:spPr>
        <p:txBody>
          <a:bodyPr wrap="square" rtlCol="0" anchor="ctr"/>
          <a:lstStyle/>
          <a:p>
            <a:pPr indent="0" marL="0">
              <a:buNone/>
            </a:pPr>
            <a:r>
              <a:rPr lang="en-US" sz="1400" i="1" dirty="0">
                <a:solidFill>
                  <a:srgbClr val="8B9DC3"/>
                </a:solidFill>
                <a:latin typeface="Calibri" pitchFamily="34" charset="0"/>
                <a:ea typeface="Calibri" pitchFamily="34" charset="-122"/>
                <a:cs typeface="Calibri" pitchFamily="34" charset="-120"/>
              </a:rPr>
              <a:t>The shape of every 'ASG not scaling' investigation — memorise this.</a:t>
            </a:r>
            <a:endParaRPr lang="en-US" sz="1400" dirty="0"/>
          </a:p>
        </p:txBody>
      </p:sp>
      <p:sp>
        <p:nvSpPr>
          <p:cNvPr id="7" name="Shape 5"/>
          <p:cNvSpPr/>
          <p:nvPr/>
        </p:nvSpPr>
        <p:spPr>
          <a:xfrm>
            <a:off x="731520" y="1554480"/>
            <a:ext cx="548640" cy="548640"/>
          </a:xfrm>
          <a:prstGeom prst="ellipse">
            <a:avLst/>
          </a:prstGeom>
          <a:solidFill>
            <a:srgbClr val="14B8A6"/>
          </a:solidFill>
          <a:ln w="12700">
            <a:solidFill>
              <a:srgbClr val="14B8A6"/>
            </a:solidFill>
            <a:prstDash val="solid"/>
          </a:ln>
        </p:spPr>
      </p:sp>
      <p:sp>
        <p:nvSpPr>
          <p:cNvPr id="8" name="Text 6"/>
          <p:cNvSpPr/>
          <p:nvPr/>
        </p:nvSpPr>
        <p:spPr>
          <a:xfrm>
            <a:off x="731520" y="155448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463040" y="155448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Confirm the alarm is actually in ALARM state.</a:t>
            </a:r>
            <a:endParaRPr lang="en-US" sz="1500" dirty="0"/>
          </a:p>
        </p:txBody>
      </p:sp>
      <p:sp>
        <p:nvSpPr>
          <p:cNvPr id="10" name="Text 8"/>
          <p:cNvSpPr/>
          <p:nvPr/>
        </p:nvSpPr>
        <p:spPr>
          <a:xfrm>
            <a:off x="1463040" y="1901952"/>
            <a:ext cx="10058400" cy="365760"/>
          </a:xfrm>
          <a:prstGeom prst="rect">
            <a:avLst/>
          </a:prstGeom>
          <a:noFill/>
          <a:ln/>
        </p:spPr>
        <p:txBody>
          <a:bodyPr wrap="square" rtlCol="0" anchor="ctr"/>
          <a:lstStyle/>
          <a:p>
            <a:pPr indent="0" marL="0">
              <a:buNone/>
            </a:pPr>
            <a:r>
              <a:rPr lang="en-US" sz="1300" i="1" dirty="0">
                <a:solidFill>
                  <a:srgbClr val="8B9DC3"/>
                </a:solidFill>
                <a:latin typeface="Calibri" pitchFamily="34" charset="0"/>
                <a:ea typeface="Calibri" pitchFamily="34" charset="-122"/>
                <a:cs typeface="Calibri" pitchFamily="34" charset="-120"/>
              </a:rPr>
              <a:t>The ticket could be wrong. Trust the API.</a:t>
            </a:r>
            <a:endParaRPr lang="en-US" sz="1300" dirty="0"/>
          </a:p>
        </p:txBody>
      </p:sp>
      <p:sp>
        <p:nvSpPr>
          <p:cNvPr id="11" name="Shape 9"/>
          <p:cNvSpPr/>
          <p:nvPr/>
        </p:nvSpPr>
        <p:spPr>
          <a:xfrm>
            <a:off x="731520" y="2331720"/>
            <a:ext cx="548640" cy="548640"/>
          </a:xfrm>
          <a:prstGeom prst="ellipse">
            <a:avLst/>
          </a:prstGeom>
          <a:solidFill>
            <a:srgbClr val="14B8A6"/>
          </a:solidFill>
          <a:ln w="12700">
            <a:solidFill>
              <a:srgbClr val="14B8A6"/>
            </a:solidFill>
            <a:prstDash val="solid"/>
          </a:ln>
        </p:spPr>
      </p:sp>
      <p:sp>
        <p:nvSpPr>
          <p:cNvPr id="12" name="Text 10"/>
          <p:cNvSpPr/>
          <p:nvPr/>
        </p:nvSpPr>
        <p:spPr>
          <a:xfrm>
            <a:off x="731520" y="23317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463040" y="233172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 min / max / desired on the ASG.</a:t>
            </a:r>
            <a:endParaRPr lang="en-US" sz="1500" dirty="0"/>
          </a:p>
        </p:txBody>
      </p:sp>
      <p:sp>
        <p:nvSpPr>
          <p:cNvPr id="14" name="Text 12"/>
          <p:cNvSpPr/>
          <p:nvPr/>
        </p:nvSpPr>
        <p:spPr>
          <a:xfrm>
            <a:off x="1463040" y="2679192"/>
            <a:ext cx="10058400" cy="365760"/>
          </a:xfrm>
          <a:prstGeom prst="rect">
            <a:avLst/>
          </a:prstGeom>
          <a:noFill/>
          <a:ln/>
        </p:spPr>
        <p:txBody>
          <a:bodyPr wrap="square" rtlCol="0" anchor="ctr"/>
          <a:lstStyle/>
          <a:p>
            <a:pPr indent="0" marL="0">
              <a:buNone/>
            </a:pPr>
            <a:r>
              <a:rPr lang="en-US" sz="1300" i="1" dirty="0">
                <a:solidFill>
                  <a:srgbClr val="8B9DC3"/>
                </a:solidFill>
                <a:latin typeface="Calibri" pitchFamily="34" charset="0"/>
                <a:ea typeface="Calibri" pitchFamily="34" charset="-122"/>
                <a:cs typeface="Calibri" pitchFamily="34" charset="-120"/>
              </a:rPr>
              <a:t>If max == desired, stop — that's the bug.</a:t>
            </a:r>
            <a:endParaRPr lang="en-US" sz="1300" dirty="0"/>
          </a:p>
        </p:txBody>
      </p:sp>
      <p:sp>
        <p:nvSpPr>
          <p:cNvPr id="15" name="Shape 13"/>
          <p:cNvSpPr/>
          <p:nvPr/>
        </p:nvSpPr>
        <p:spPr>
          <a:xfrm>
            <a:off x="731520" y="3108960"/>
            <a:ext cx="548640" cy="548640"/>
          </a:xfrm>
          <a:prstGeom prst="ellipse">
            <a:avLst/>
          </a:prstGeom>
          <a:solidFill>
            <a:srgbClr val="14B8A6"/>
          </a:solidFill>
          <a:ln w="12700">
            <a:solidFill>
              <a:srgbClr val="14B8A6"/>
            </a:solidFill>
            <a:prstDash val="solid"/>
          </a:ln>
        </p:spPr>
      </p:sp>
      <p:sp>
        <p:nvSpPr>
          <p:cNvPr id="16" name="Text 14"/>
          <p:cNvSpPr/>
          <p:nvPr/>
        </p:nvSpPr>
        <p:spPr>
          <a:xfrm>
            <a:off x="731520" y="310896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463040" y="310896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Read the scaling policy.</a:t>
            </a:r>
            <a:endParaRPr lang="en-US" sz="1500" dirty="0"/>
          </a:p>
        </p:txBody>
      </p:sp>
      <p:sp>
        <p:nvSpPr>
          <p:cNvPr id="18" name="Text 16"/>
          <p:cNvSpPr/>
          <p:nvPr/>
        </p:nvSpPr>
        <p:spPr>
          <a:xfrm>
            <a:off x="1463040" y="3456432"/>
            <a:ext cx="10058400" cy="365760"/>
          </a:xfrm>
          <a:prstGeom prst="rect">
            <a:avLst/>
          </a:prstGeom>
          <a:noFill/>
          <a:ln/>
        </p:spPr>
        <p:txBody>
          <a:bodyPr wrap="square" rtlCol="0" anchor="ctr"/>
          <a:lstStyle/>
          <a:p>
            <a:pPr indent="0" marL="0">
              <a:buNone/>
            </a:pPr>
            <a:r>
              <a:rPr lang="en-US" sz="1300" i="1" dirty="0">
                <a:solidFill>
                  <a:srgbClr val="8B9DC3"/>
                </a:solidFill>
                <a:latin typeface="Calibri" pitchFamily="34" charset="0"/>
                <a:ea typeface="Calibri" pitchFamily="34" charset="-122"/>
                <a:cs typeface="Calibri" pitchFamily="34" charset="-120"/>
              </a:rPr>
              <a:t>ExactCapacity + small number is almost always wrong for scale-up.</a:t>
            </a:r>
            <a:endParaRPr lang="en-US" sz="1300" dirty="0"/>
          </a:p>
        </p:txBody>
      </p:sp>
      <p:sp>
        <p:nvSpPr>
          <p:cNvPr id="19" name="Shape 17"/>
          <p:cNvSpPr/>
          <p:nvPr/>
        </p:nvSpPr>
        <p:spPr>
          <a:xfrm>
            <a:off x="731520" y="3886200"/>
            <a:ext cx="548640" cy="548640"/>
          </a:xfrm>
          <a:prstGeom prst="ellipse">
            <a:avLst/>
          </a:prstGeom>
          <a:solidFill>
            <a:srgbClr val="14B8A6"/>
          </a:solidFill>
          <a:ln w="12700">
            <a:solidFill>
              <a:srgbClr val="14B8A6"/>
            </a:solidFill>
            <a:prstDash val="solid"/>
          </a:ln>
        </p:spPr>
      </p:sp>
      <p:sp>
        <p:nvSpPr>
          <p:cNvPr id="20" name="Text 18"/>
          <p:cNvSpPr/>
          <p:nvPr/>
        </p:nvSpPr>
        <p:spPr>
          <a:xfrm>
            <a:off x="731520" y="38862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1463040" y="388620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 the alarm's alarm_actions.</a:t>
            </a:r>
            <a:endParaRPr lang="en-US" sz="1500" dirty="0"/>
          </a:p>
        </p:txBody>
      </p:sp>
      <p:sp>
        <p:nvSpPr>
          <p:cNvPr id="22" name="Text 20"/>
          <p:cNvSpPr/>
          <p:nvPr/>
        </p:nvSpPr>
        <p:spPr>
          <a:xfrm>
            <a:off x="1463040" y="4233672"/>
            <a:ext cx="10058400" cy="365760"/>
          </a:xfrm>
          <a:prstGeom prst="rect">
            <a:avLst/>
          </a:prstGeom>
          <a:noFill/>
          <a:ln/>
        </p:spPr>
        <p:txBody>
          <a:bodyPr wrap="square" rtlCol="0" anchor="ctr"/>
          <a:lstStyle/>
          <a:p>
            <a:pPr indent="0" marL="0">
              <a:buNone/>
            </a:pPr>
            <a:r>
              <a:rPr lang="en-US" sz="1300" i="1" dirty="0">
                <a:solidFill>
                  <a:srgbClr val="8B9DC3"/>
                </a:solidFill>
                <a:latin typeface="Calibri" pitchFamily="34" charset="0"/>
                <a:ea typeface="Calibri" pitchFamily="34" charset="-122"/>
                <a:cs typeface="Calibri" pitchFamily="34" charset="-120"/>
              </a:rPr>
              <a:t>Does it actually point at the right policy ARN?</a:t>
            </a:r>
            <a:endParaRPr lang="en-US" sz="1300" dirty="0"/>
          </a:p>
        </p:txBody>
      </p:sp>
      <p:sp>
        <p:nvSpPr>
          <p:cNvPr id="23" name="Shape 21"/>
          <p:cNvSpPr/>
          <p:nvPr/>
        </p:nvSpPr>
        <p:spPr>
          <a:xfrm>
            <a:off x="731520" y="4663440"/>
            <a:ext cx="548640" cy="548640"/>
          </a:xfrm>
          <a:prstGeom prst="ellipse">
            <a:avLst/>
          </a:prstGeom>
          <a:solidFill>
            <a:srgbClr val="14B8A6"/>
          </a:solidFill>
          <a:ln w="12700">
            <a:solidFill>
              <a:srgbClr val="14B8A6"/>
            </a:solidFill>
            <a:prstDash val="solid"/>
          </a:ln>
        </p:spPr>
      </p:sp>
      <p:sp>
        <p:nvSpPr>
          <p:cNvPr id="24" name="Text 22"/>
          <p:cNvSpPr/>
          <p:nvPr/>
        </p:nvSpPr>
        <p:spPr>
          <a:xfrm>
            <a:off x="731520" y="46634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Text 23"/>
          <p:cNvSpPr/>
          <p:nvPr/>
        </p:nvSpPr>
        <p:spPr>
          <a:xfrm>
            <a:off x="1463040" y="466344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 the cooldown period.</a:t>
            </a:r>
            <a:endParaRPr lang="en-US" sz="1500" dirty="0"/>
          </a:p>
        </p:txBody>
      </p:sp>
      <p:sp>
        <p:nvSpPr>
          <p:cNvPr id="26" name="Text 24"/>
          <p:cNvSpPr/>
          <p:nvPr/>
        </p:nvSpPr>
        <p:spPr>
          <a:xfrm>
            <a:off x="1463040" y="5010912"/>
            <a:ext cx="10058400" cy="365760"/>
          </a:xfrm>
          <a:prstGeom prst="rect">
            <a:avLst/>
          </a:prstGeom>
          <a:noFill/>
          <a:ln/>
        </p:spPr>
        <p:txBody>
          <a:bodyPr wrap="square" rtlCol="0" anchor="ctr"/>
          <a:lstStyle/>
          <a:p>
            <a:pPr indent="0" marL="0">
              <a:buNone/>
            </a:pPr>
            <a:r>
              <a:rPr lang="en-US" sz="1300" i="1" dirty="0">
                <a:solidFill>
                  <a:srgbClr val="8B9DC3"/>
                </a:solidFill>
                <a:latin typeface="Calibri" pitchFamily="34" charset="0"/>
                <a:ea typeface="Calibri" pitchFamily="34" charset="-122"/>
                <a:cs typeface="Calibri" pitchFamily="34" charset="-120"/>
              </a:rPr>
              <a:t>A 1-hour cooldown looks like 'nothing happening' for 59 minutes.</a:t>
            </a:r>
            <a:endParaRPr lang="en-US" sz="1300" dirty="0"/>
          </a:p>
        </p:txBody>
      </p:sp>
      <p:sp>
        <p:nvSpPr>
          <p:cNvPr id="27" name="Shape 25"/>
          <p:cNvSpPr/>
          <p:nvPr/>
        </p:nvSpPr>
        <p:spPr>
          <a:xfrm>
            <a:off x="731520" y="5440680"/>
            <a:ext cx="548640" cy="548640"/>
          </a:xfrm>
          <a:prstGeom prst="ellipse">
            <a:avLst/>
          </a:prstGeom>
          <a:solidFill>
            <a:srgbClr val="14B8A6"/>
          </a:solidFill>
          <a:ln w="12700">
            <a:solidFill>
              <a:srgbClr val="14B8A6"/>
            </a:solidFill>
            <a:prstDash val="solid"/>
          </a:ln>
        </p:spPr>
      </p:sp>
      <p:sp>
        <p:nvSpPr>
          <p:cNvPr id="28" name="Text 26"/>
          <p:cNvSpPr/>
          <p:nvPr/>
        </p:nvSpPr>
        <p:spPr>
          <a:xfrm>
            <a:off x="731520" y="544068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9" name="Text 27"/>
          <p:cNvSpPr/>
          <p:nvPr/>
        </p:nvSpPr>
        <p:spPr>
          <a:xfrm>
            <a:off x="1463040" y="544068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Fix in Terraform, validate, plan, apply, verify.</a:t>
            </a:r>
            <a:endParaRPr lang="en-US" sz="1500" dirty="0"/>
          </a:p>
        </p:txBody>
      </p:sp>
      <p:sp>
        <p:nvSpPr>
          <p:cNvPr id="30" name="Text 28"/>
          <p:cNvSpPr/>
          <p:nvPr/>
        </p:nvSpPr>
        <p:spPr>
          <a:xfrm>
            <a:off x="1463040" y="5788152"/>
            <a:ext cx="10058400" cy="365760"/>
          </a:xfrm>
          <a:prstGeom prst="rect">
            <a:avLst/>
          </a:prstGeom>
          <a:noFill/>
          <a:ln/>
        </p:spPr>
        <p:txBody>
          <a:bodyPr wrap="square" rtlCol="0" anchor="ctr"/>
          <a:lstStyle/>
          <a:p>
            <a:pPr indent="0" marL="0">
              <a:buNone/>
            </a:pPr>
            <a:r>
              <a:rPr lang="en-US" sz="1300" i="1" dirty="0">
                <a:solidFill>
                  <a:srgbClr val="8B9DC3"/>
                </a:solidFill>
                <a:latin typeface="Calibri" pitchFamily="34" charset="0"/>
                <a:ea typeface="Calibri" pitchFamily="34" charset="-122"/>
                <a:cs typeface="Calibri" pitchFamily="34" charset="-120"/>
              </a:rPr>
              <a:t>Never fix in the console — it'll be overwritten.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3A"/>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60F24"/>
          </a:solidFill>
          <a:ln w="12700">
            <a:solidFill>
              <a:srgbClr val="060F24"/>
            </a:solidFill>
            <a:prstDash val="solid"/>
          </a:ln>
        </p:spPr>
      </p:sp>
      <p:sp>
        <p:nvSpPr>
          <p:cNvPr id="3" name="Shape 1"/>
          <p:cNvSpPr/>
          <p:nvPr/>
        </p:nvSpPr>
        <p:spPr>
          <a:xfrm>
            <a:off x="0" y="822960"/>
            <a:ext cx="228600" cy="6035040"/>
          </a:xfrm>
          <a:prstGeom prst="rect">
            <a:avLst/>
          </a:prstGeom>
          <a:solidFill>
            <a:srgbClr val="14B8A6"/>
          </a:solidFill>
          <a:ln w="12700">
            <a:solidFill>
              <a:srgbClr val="14B8A6"/>
            </a:solidFill>
            <a:prstDash val="solid"/>
          </a:ln>
        </p:spPr>
      </p:sp>
      <p:sp>
        <p:nvSpPr>
          <p:cNvPr id="4" name="Text 2"/>
          <p:cNvSpPr/>
          <p:nvPr/>
        </p:nvSpPr>
        <p:spPr>
          <a:xfrm>
            <a:off x="457200" y="137160"/>
            <a:ext cx="109728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Lab vs Real Life</a:t>
            </a:r>
            <a:endParaRPr lang="en-US" sz="2600" dirty="0"/>
          </a:p>
        </p:txBody>
      </p:sp>
      <p:sp>
        <p:nvSpPr>
          <p:cNvPr id="5" name="Text 3"/>
          <p:cNvSpPr/>
          <p:nvPr/>
        </p:nvSpPr>
        <p:spPr>
          <a:xfrm>
            <a:off x="10789920" y="228600"/>
            <a:ext cx="1188720" cy="365760"/>
          </a:xfrm>
          <a:prstGeom prst="rect">
            <a:avLst/>
          </a:prstGeom>
          <a:noFill/>
          <a:ln/>
        </p:spPr>
        <p:txBody>
          <a:bodyPr wrap="square" rtlCol="0" anchor="ctr"/>
          <a:lstStyle/>
          <a:p>
            <a:pPr algn="r" indent="0" marL="0">
              <a:buNone/>
            </a:pPr>
            <a:r>
              <a:rPr lang="en-US" sz="1200" dirty="0">
                <a:solidFill>
                  <a:srgbClr val="14B8A6"/>
                </a:solidFill>
                <a:latin typeface="Calibri" pitchFamily="34" charset="0"/>
                <a:ea typeface="Calibri" pitchFamily="34" charset="-122"/>
                <a:cs typeface="Calibri" pitchFamily="34" charset="-120"/>
              </a:rPr>
              <a:t>Lab 069</a:t>
            </a:r>
            <a:endParaRPr lang="en-US" sz="1200" dirty="0"/>
          </a:p>
        </p:txBody>
      </p:sp>
      <p:sp>
        <p:nvSpPr>
          <p:cNvPr id="6" name="Shape 4"/>
          <p:cNvSpPr/>
          <p:nvPr/>
        </p:nvSpPr>
        <p:spPr>
          <a:xfrm>
            <a:off x="731520" y="1188720"/>
            <a:ext cx="548640" cy="548640"/>
          </a:xfrm>
          <a:prstGeom prst="ellipse">
            <a:avLst/>
          </a:prstGeom>
          <a:solidFill>
            <a:srgbClr val="14B8A6"/>
          </a:solidFill>
          <a:ln w="12700">
            <a:solidFill>
              <a:srgbClr val="14B8A6"/>
            </a:solidFill>
            <a:prstDash val="solid"/>
          </a:ln>
        </p:spPr>
      </p:sp>
      <p:sp>
        <p:nvSpPr>
          <p:cNvPr id="7" name="Text 5"/>
          <p:cNvSpPr/>
          <p:nvPr/>
        </p:nvSpPr>
        <p:spPr>
          <a:xfrm>
            <a:off x="731520" y="11887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1463040" y="1188720"/>
            <a:ext cx="1005840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Target tracking beats step policies</a:t>
            </a:r>
            <a:endParaRPr lang="en-US" sz="1600" dirty="0"/>
          </a:p>
        </p:txBody>
      </p:sp>
      <p:sp>
        <p:nvSpPr>
          <p:cNvPr id="9" name="Text 7"/>
          <p:cNvSpPr/>
          <p:nvPr/>
        </p:nvSpPr>
        <p:spPr>
          <a:xfrm>
            <a:off x="1463040" y="1572768"/>
            <a:ext cx="100584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target_tracking_configuration with ASGAverageCPUUtilization at 70 is the modern default. AWS manages scale-up AND scale-down automatically.</a:t>
            </a:r>
            <a:endParaRPr lang="en-US" sz="1300" dirty="0"/>
          </a:p>
        </p:txBody>
      </p:sp>
      <p:sp>
        <p:nvSpPr>
          <p:cNvPr id="10" name="Shape 8"/>
          <p:cNvSpPr/>
          <p:nvPr/>
        </p:nvSpPr>
        <p:spPr>
          <a:xfrm>
            <a:off x="731520" y="2423160"/>
            <a:ext cx="548640" cy="548640"/>
          </a:xfrm>
          <a:prstGeom prst="ellipse">
            <a:avLst/>
          </a:prstGeom>
          <a:solidFill>
            <a:srgbClr val="14B8A6"/>
          </a:solidFill>
          <a:ln w="12700">
            <a:solidFill>
              <a:srgbClr val="14B8A6"/>
            </a:solidFill>
            <a:prstDash val="solid"/>
          </a:ln>
        </p:spPr>
      </p:sp>
      <p:sp>
        <p:nvSpPr>
          <p:cNvPr id="11" name="Text 9"/>
          <p:cNvSpPr/>
          <p:nvPr/>
        </p:nvSpPr>
        <p:spPr>
          <a:xfrm>
            <a:off x="731520" y="242316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1463040" y="2423160"/>
            <a:ext cx="1005840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You also need scale-down</a:t>
            </a:r>
            <a:endParaRPr lang="en-US" sz="1600" dirty="0"/>
          </a:p>
        </p:txBody>
      </p:sp>
      <p:sp>
        <p:nvSpPr>
          <p:cNvPr id="13" name="Text 11"/>
          <p:cNvSpPr/>
          <p:nvPr/>
        </p:nvSpPr>
        <p:spPr>
          <a:xfrm>
            <a:off x="1463040" y="2807208"/>
            <a:ext cx="100584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This lab only scales up. Without a matching scale-down, you pay for instances forever after the spike passes.</a:t>
            </a:r>
            <a:endParaRPr lang="en-US" sz="1300" dirty="0"/>
          </a:p>
        </p:txBody>
      </p:sp>
      <p:sp>
        <p:nvSpPr>
          <p:cNvPr id="14" name="Shape 12"/>
          <p:cNvSpPr/>
          <p:nvPr/>
        </p:nvSpPr>
        <p:spPr>
          <a:xfrm>
            <a:off x="731520" y="3657600"/>
            <a:ext cx="548640" cy="548640"/>
          </a:xfrm>
          <a:prstGeom prst="ellipse">
            <a:avLst/>
          </a:prstGeom>
          <a:solidFill>
            <a:srgbClr val="14B8A6"/>
          </a:solidFill>
          <a:ln w="12700">
            <a:solidFill>
              <a:srgbClr val="14B8A6"/>
            </a:solidFill>
            <a:prstDash val="solid"/>
          </a:ln>
        </p:spPr>
      </p:sp>
      <p:sp>
        <p:nvSpPr>
          <p:cNvPr id="15" name="Text 13"/>
          <p:cNvSpPr/>
          <p:nvPr/>
        </p:nvSpPr>
        <p:spPr>
          <a:xfrm>
            <a:off x="731520" y="36576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1463040" y="3657600"/>
            <a:ext cx="1005840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Use ELB health checks behind an ALB</a:t>
            </a:r>
            <a:endParaRPr lang="en-US" sz="1600" dirty="0"/>
          </a:p>
        </p:txBody>
      </p:sp>
      <p:sp>
        <p:nvSpPr>
          <p:cNvPr id="17" name="Text 15"/>
          <p:cNvSpPr/>
          <p:nvPr/>
        </p:nvSpPr>
        <p:spPr>
          <a:xfrm>
            <a:off x="1463040" y="4041648"/>
            <a:ext cx="100584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health_check_type = "EC2" only catches hypervisor failures. "ELB" also catches a broken app.</a:t>
            </a:r>
            <a:endParaRPr lang="en-US" sz="1300" dirty="0"/>
          </a:p>
        </p:txBody>
      </p:sp>
      <p:sp>
        <p:nvSpPr>
          <p:cNvPr id="18" name="Shape 16"/>
          <p:cNvSpPr/>
          <p:nvPr/>
        </p:nvSpPr>
        <p:spPr>
          <a:xfrm>
            <a:off x="731520" y="4892040"/>
            <a:ext cx="548640" cy="548640"/>
          </a:xfrm>
          <a:prstGeom prst="ellipse">
            <a:avLst/>
          </a:prstGeom>
          <a:solidFill>
            <a:srgbClr val="14B8A6"/>
          </a:solidFill>
          <a:ln w="12700">
            <a:solidFill>
              <a:srgbClr val="14B8A6"/>
            </a:solidFill>
            <a:prstDash val="solid"/>
          </a:ln>
        </p:spPr>
      </p:sp>
      <p:sp>
        <p:nvSpPr>
          <p:cNvPr id="19" name="Text 17"/>
          <p:cNvSpPr/>
          <p:nvPr/>
        </p:nvSpPr>
        <p:spPr>
          <a:xfrm>
            <a:off x="731520" y="48920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1463040" y="4892040"/>
            <a:ext cx="1005840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Warm pools for slow-booting AMIs</a:t>
            </a:r>
            <a:endParaRPr lang="en-US" sz="1600" dirty="0"/>
          </a:p>
        </p:txBody>
      </p:sp>
      <p:sp>
        <p:nvSpPr>
          <p:cNvPr id="21" name="Text 19"/>
          <p:cNvSpPr/>
          <p:nvPr/>
        </p:nvSpPr>
        <p:spPr>
          <a:xfrm>
            <a:off x="1463040" y="5276088"/>
            <a:ext cx="100584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Heavy AMIs or long user-data scripts? Pre-baked instances make scale-up instant.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F24"/>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4B8A6"/>
          </a:solidFill>
          <a:ln w="12700">
            <a:solidFill>
              <a:srgbClr val="14B8A6"/>
            </a:solidFill>
            <a:prstDash val="solid"/>
          </a:ln>
        </p:spPr>
      </p:sp>
      <p:sp>
        <p:nvSpPr>
          <p:cNvPr id="3" name="Text 1"/>
          <p:cNvSpPr/>
          <p:nvPr/>
        </p:nvSpPr>
        <p:spPr>
          <a:xfrm>
            <a:off x="731520" y="548640"/>
            <a:ext cx="10972800" cy="457200"/>
          </a:xfrm>
          <a:prstGeom prst="rect">
            <a:avLst/>
          </a:prstGeom>
          <a:noFill/>
          <a:ln/>
        </p:spPr>
        <p:txBody>
          <a:bodyPr wrap="square" rtlCol="0" anchor="ctr"/>
          <a:lstStyle/>
          <a:p>
            <a:pPr indent="0" marL="0">
              <a:buNone/>
            </a:pPr>
            <a:r>
              <a:rPr lang="en-US" sz="1600" b="1" spc="400" kern="0" dirty="0">
                <a:solidFill>
                  <a:srgbClr val="14B8A6"/>
                </a:solidFill>
                <a:latin typeface="Calibri" pitchFamily="34" charset="0"/>
                <a:ea typeface="Calibri" pitchFamily="34" charset="-122"/>
                <a:cs typeface="Calibri" pitchFamily="34" charset="-120"/>
              </a:rPr>
              <a:t>KEY TAKEAWAYS</a:t>
            </a:r>
            <a:endParaRPr lang="en-US" sz="1600" dirty="0"/>
          </a:p>
        </p:txBody>
      </p:sp>
      <p:sp>
        <p:nvSpPr>
          <p:cNvPr id="4" name="Text 2"/>
          <p:cNvSpPr/>
          <p:nvPr/>
        </p:nvSpPr>
        <p:spPr>
          <a:xfrm>
            <a:off x="731520" y="960120"/>
            <a:ext cx="10972800" cy="5486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Lab 069 in four lines</a:t>
            </a:r>
            <a:endParaRPr lang="en-US" sz="3400" dirty="0"/>
          </a:p>
        </p:txBody>
      </p:sp>
      <p:sp>
        <p:nvSpPr>
          <p:cNvPr id="5" name="Shape 3"/>
          <p:cNvSpPr/>
          <p:nvPr/>
        </p:nvSpPr>
        <p:spPr>
          <a:xfrm>
            <a:off x="731520" y="2103120"/>
            <a:ext cx="548640" cy="548640"/>
          </a:xfrm>
          <a:prstGeom prst="ellipse">
            <a:avLst/>
          </a:prstGeom>
          <a:solidFill>
            <a:srgbClr val="14B8A6"/>
          </a:solidFill>
          <a:ln w="12700">
            <a:solidFill>
              <a:srgbClr val="14B8A6"/>
            </a:solidFill>
            <a:prstDash val="solid"/>
          </a:ln>
        </p:spPr>
      </p:sp>
      <p:sp>
        <p:nvSpPr>
          <p:cNvPr id="6" name="Text 4"/>
          <p:cNvSpPr/>
          <p:nvPr/>
        </p:nvSpPr>
        <p:spPr>
          <a:xfrm>
            <a:off x="731520" y="21031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463040" y="2103120"/>
            <a:ext cx="10058400" cy="8229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max_size is a hard ceiling. If it equals desired_capacity, the ASG cannot grow.</a:t>
            </a:r>
            <a:endParaRPr lang="en-US" sz="1500" dirty="0"/>
          </a:p>
        </p:txBody>
      </p:sp>
      <p:sp>
        <p:nvSpPr>
          <p:cNvPr id="8" name="Shape 6"/>
          <p:cNvSpPr/>
          <p:nvPr/>
        </p:nvSpPr>
        <p:spPr>
          <a:xfrm>
            <a:off x="731520" y="3063240"/>
            <a:ext cx="548640" cy="548640"/>
          </a:xfrm>
          <a:prstGeom prst="ellipse">
            <a:avLst/>
          </a:prstGeom>
          <a:solidFill>
            <a:srgbClr val="14B8A6"/>
          </a:solidFill>
          <a:ln w="12700">
            <a:solidFill>
              <a:srgbClr val="14B8A6"/>
            </a:solidFill>
            <a:prstDash val="solid"/>
          </a:ln>
        </p:spPr>
      </p:sp>
      <p:sp>
        <p:nvSpPr>
          <p:cNvPr id="9" name="Text 7"/>
          <p:cNvSpPr/>
          <p:nvPr/>
        </p:nvSpPr>
        <p:spPr>
          <a:xfrm>
            <a:off x="731520" y="30632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463040" y="3063240"/>
            <a:ext cx="10058400" cy="8229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ExactCapacity sets an absolute number. ChangeInCapacity adds or removes. They are not interchangeable.</a:t>
            </a:r>
            <a:endParaRPr lang="en-US" sz="1500" dirty="0"/>
          </a:p>
        </p:txBody>
      </p:sp>
      <p:sp>
        <p:nvSpPr>
          <p:cNvPr id="11" name="Shape 9"/>
          <p:cNvSpPr/>
          <p:nvPr/>
        </p:nvSpPr>
        <p:spPr>
          <a:xfrm>
            <a:off x="731520" y="4023360"/>
            <a:ext cx="548640" cy="548640"/>
          </a:xfrm>
          <a:prstGeom prst="ellipse">
            <a:avLst/>
          </a:prstGeom>
          <a:solidFill>
            <a:srgbClr val="14B8A6"/>
          </a:solidFill>
          <a:ln w="12700">
            <a:solidFill>
              <a:srgbClr val="14B8A6"/>
            </a:solidFill>
            <a:prstDash val="solid"/>
          </a:ln>
        </p:spPr>
      </p:sp>
      <p:sp>
        <p:nvSpPr>
          <p:cNvPr id="12" name="Text 10"/>
          <p:cNvSpPr/>
          <p:nvPr/>
        </p:nvSpPr>
        <p:spPr>
          <a:xfrm>
            <a:off x="731520" y="402336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463040" y="4023360"/>
            <a:ext cx="10058400" cy="8229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CloudWatch alarms don't scale anything — they trigger policies, which act on the ASG.</a:t>
            </a:r>
            <a:endParaRPr lang="en-US" sz="1500" dirty="0"/>
          </a:p>
        </p:txBody>
      </p:sp>
      <p:sp>
        <p:nvSpPr>
          <p:cNvPr id="14" name="Shape 12"/>
          <p:cNvSpPr/>
          <p:nvPr/>
        </p:nvSpPr>
        <p:spPr>
          <a:xfrm>
            <a:off x="731520" y="4983480"/>
            <a:ext cx="548640" cy="548640"/>
          </a:xfrm>
          <a:prstGeom prst="ellipse">
            <a:avLst/>
          </a:prstGeom>
          <a:solidFill>
            <a:srgbClr val="14B8A6"/>
          </a:solidFill>
          <a:ln w="12700">
            <a:solidFill>
              <a:srgbClr val="14B8A6"/>
            </a:solidFill>
            <a:prstDash val="solid"/>
          </a:ln>
        </p:spPr>
      </p:sp>
      <p:sp>
        <p:nvSpPr>
          <p:cNvPr id="15" name="Text 13"/>
          <p:cNvSpPr/>
          <p:nvPr/>
        </p:nvSpPr>
        <p:spPr>
          <a:xfrm>
            <a:off x="731520" y="498348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1463040" y="4983480"/>
            <a:ext cx="10058400" cy="8229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AWS API is the source of truth for current state. Terraform is the source of truth for desired state. When they disagree, figure out which is wrong before you fix anything.</a:t>
            </a:r>
            <a:endParaRPr lang="en-US" sz="1500" dirty="0"/>
          </a:p>
        </p:txBody>
      </p:sp>
      <p:sp>
        <p:nvSpPr>
          <p:cNvPr id="17" name="Text 15"/>
          <p:cNvSpPr/>
          <p:nvPr/>
        </p:nvSpPr>
        <p:spPr>
          <a:xfrm>
            <a:off x="731520" y="6263640"/>
            <a:ext cx="10972800" cy="365760"/>
          </a:xfrm>
          <a:prstGeom prst="rect">
            <a:avLst/>
          </a:prstGeom>
          <a:noFill/>
          <a:ln/>
        </p:spPr>
        <p:txBody>
          <a:bodyPr wrap="square" rtlCol="0" anchor="ctr"/>
          <a:lstStyle/>
          <a:p>
            <a:pPr indent="0" marL="0">
              <a:buNone/>
            </a:pPr>
            <a:r>
              <a:rPr lang="en-US" sz="1200" i="1" dirty="0">
                <a:solidFill>
                  <a:srgbClr val="8B9DC3"/>
                </a:solidFill>
                <a:latin typeface="Calibri" pitchFamily="34" charset="0"/>
                <a:ea typeface="Calibri" pitchFamily="34" charset="-122"/>
                <a:cs typeface="Calibri" pitchFamily="34" charset="-120"/>
              </a:rPr>
              <a:t>Next: Lab 070 — Provider Authentication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2026-04-12T21:25:36Z</dcterms:created>
  <dcterms:modified xsi:type="dcterms:W3CDTF">2026-04-12T21:25:36Z</dcterms:modified>
</cp:coreProperties>
</file>
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731520" y="1097280"/>
            <a:ext cx="1463040" cy="365760"/>
          </a:xfrm>
          <a:prstGeom prst="roundRect">
            <a:avLst>
              <a:gd name="adj" fmla="val 12500"/>
            </a:avLst>
          </a:prstGeom>
          <a:solidFill>
            <a:srgbClr val="0D9488"/>
          </a:solidFill>
          <a:ln w="12700">
            <a:solidFill>
              <a:srgbClr val="0D9488"/>
            </a:solidFill>
            <a:prstDash val="solid"/>
          </a:ln>
        </p:spPr>
      </p:sp>
      <p:sp>
        <p:nvSpPr>
          <p:cNvPr id="3" name="Text 1"/>
          <p:cNvSpPr/>
          <p:nvPr/>
        </p:nvSpPr>
        <p:spPr>
          <a:xfrm>
            <a:off x="731520" y="1097280"/>
            <a:ext cx="146304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LAB 081</a:t>
            </a:r>
            <a:endParaRPr lang="en-US" sz="1400" dirty="0"/>
          </a:p>
        </p:txBody>
      </p:sp>
      <p:sp>
        <p:nvSpPr>
          <p:cNvPr id="4" name="Text 2"/>
          <p:cNvSpPr/>
          <p:nvPr/>
        </p:nvSpPr>
        <p:spPr>
          <a:xfrm>
            <a:off x="731520" y="1645920"/>
            <a:ext cx="10058400" cy="1097280"/>
          </a:xfrm>
          <a:prstGeom prst="rect">
            <a:avLst/>
          </a:prstGeom>
          <a:noFill/>
          <a:ln/>
        </p:spPr>
        <p:txBody>
          <a:bodyPr wrap="square"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VPC Peering</a:t>
            </a:r>
            <a:endParaRPr lang="en-US" sz="5400" dirty="0"/>
          </a:p>
        </p:txBody>
      </p:sp>
      <p:sp>
        <p:nvSpPr>
          <p:cNvPr id="5" name="Text 3"/>
          <p:cNvSpPr/>
          <p:nvPr/>
        </p:nvSpPr>
        <p:spPr>
          <a:xfrm>
            <a:off x="731520" y="2834640"/>
            <a:ext cx="10058400" cy="73152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Why traffic blocks even when the peering connection says "active"</a:t>
            </a:r>
            <a:endParaRPr lang="en-US" sz="2200" dirty="0"/>
          </a:p>
        </p:txBody>
      </p:sp>
      <p:sp>
        <p:nvSpPr>
          <p:cNvPr id="6" name="Shape 4"/>
          <p:cNvSpPr/>
          <p:nvPr/>
        </p:nvSpPr>
        <p:spPr>
          <a:xfrm>
            <a:off x="731520" y="4754880"/>
            <a:ext cx="640080" cy="640080"/>
          </a:xfrm>
          <a:prstGeom prst="ellipse">
            <a:avLst/>
          </a:prstGeom>
          <a:solidFill>
            <a:srgbClr val="0D9488"/>
          </a:solidFill>
          <a:ln w="12700">
            <a:solidFill>
              <a:srgbClr val="0D9488"/>
            </a:solidFill>
            <a:prstDash val="solid"/>
          </a:ln>
        </p:spPr>
      </p:sp>
      <p:pic>
        <p:nvPicPr>
          <p:cNvPr id="7" name="Image 0" descr="preencoded.png">    </p:cNvPr>
          <p:cNvPicPr>
            <a:picLocks noChangeAspect="1"/>
          </p:cNvPicPr>
          <p:nvPr/>
        </p:nvPicPr>
        <p:blipFill>
          <a:blip r:embed="rId1"/>
          <a:stretch>
            <a:fillRect/>
          </a:stretch>
        </p:blipFill>
        <p:spPr>
          <a:xfrm>
            <a:off x="891540" y="4914900"/>
            <a:ext cx="320040" cy="320040"/>
          </a:xfrm>
          <a:prstGeom prst="rect">
            <a:avLst/>
          </a:prstGeom>
        </p:spPr>
      </p:pic>
      <p:sp>
        <p:nvSpPr>
          <p:cNvPr id="8" name="Text 5"/>
          <p:cNvSpPr/>
          <p:nvPr/>
        </p:nvSpPr>
        <p:spPr>
          <a:xfrm>
            <a:off x="1554480" y="4800600"/>
            <a:ext cx="27432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Peering overview</a:t>
            </a:r>
            <a:endParaRPr lang="en-US" sz="1600" dirty="0"/>
          </a:p>
        </p:txBody>
      </p:sp>
      <p:sp>
        <p:nvSpPr>
          <p:cNvPr id="9" name="Shape 6"/>
          <p:cNvSpPr/>
          <p:nvPr/>
        </p:nvSpPr>
        <p:spPr>
          <a:xfrm>
            <a:off x="4480560" y="4754880"/>
            <a:ext cx="640080" cy="640080"/>
          </a:xfrm>
          <a:prstGeom prst="ellipse">
            <a:avLst/>
          </a:prstGeom>
          <a:solidFill>
            <a:srgbClr val="0D9488"/>
          </a:solidFill>
          <a:ln w="12700">
            <a:solidFill>
              <a:srgbClr val="0D9488"/>
            </a:solidFill>
            <a:prstDash val="solid"/>
          </a:ln>
        </p:spPr>
      </p:sp>
      <p:pic>
        <p:nvPicPr>
          <p:cNvPr id="10" name="Image 1" descr="preencoded.png">    </p:cNvPr>
          <p:cNvPicPr>
            <a:picLocks noChangeAspect="1"/>
          </p:cNvPicPr>
          <p:nvPr/>
        </p:nvPicPr>
        <p:blipFill>
          <a:blip r:embed="rId2"/>
          <a:stretch>
            <a:fillRect/>
          </a:stretch>
        </p:blipFill>
        <p:spPr>
          <a:xfrm>
            <a:off x="4640580" y="4914900"/>
            <a:ext cx="320040" cy="320040"/>
          </a:xfrm>
          <a:prstGeom prst="rect">
            <a:avLst/>
          </a:prstGeom>
        </p:spPr>
      </p:pic>
      <p:sp>
        <p:nvSpPr>
          <p:cNvPr id="11" name="Text 7"/>
          <p:cNvSpPr/>
          <p:nvPr/>
        </p:nvSpPr>
        <p:spPr>
          <a:xfrm>
            <a:off x="5303520" y="4800600"/>
            <a:ext cx="27432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CIDR deep dive</a:t>
            </a:r>
            <a:endParaRPr lang="en-US" sz="1600" dirty="0"/>
          </a:p>
        </p:txBody>
      </p:sp>
      <p:sp>
        <p:nvSpPr>
          <p:cNvPr id="12" name="Shape 8"/>
          <p:cNvSpPr/>
          <p:nvPr/>
        </p:nvSpPr>
        <p:spPr>
          <a:xfrm>
            <a:off x="8229600" y="4754880"/>
            <a:ext cx="640080" cy="640080"/>
          </a:xfrm>
          <a:prstGeom prst="ellipse">
            <a:avLst/>
          </a:prstGeom>
          <a:solidFill>
            <a:srgbClr val="0D9488"/>
          </a:solidFill>
          <a:ln w="12700">
            <a:solidFill>
              <a:srgbClr val="0D9488"/>
            </a:solidFill>
            <a:prstDash val="solid"/>
          </a:ln>
        </p:spPr>
      </p:sp>
      <p:pic>
        <p:nvPicPr>
          <p:cNvPr id="13" name="Image 2" descr="preencoded.png">    </p:cNvPr>
          <p:cNvPicPr>
            <a:picLocks noChangeAspect="1"/>
          </p:cNvPicPr>
          <p:nvPr/>
        </p:nvPicPr>
        <p:blipFill>
          <a:blip r:embed="rId3"/>
          <a:stretch>
            <a:fillRect/>
          </a:stretch>
        </p:blipFill>
        <p:spPr>
          <a:xfrm>
            <a:off x="8389620" y="4914900"/>
            <a:ext cx="320040" cy="320040"/>
          </a:xfrm>
          <a:prstGeom prst="rect">
            <a:avLst/>
          </a:prstGeom>
        </p:spPr>
      </p:pic>
      <p:sp>
        <p:nvSpPr>
          <p:cNvPr id="14" name="Text 9"/>
          <p:cNvSpPr/>
          <p:nvPr/>
        </p:nvSpPr>
        <p:spPr>
          <a:xfrm>
            <a:off x="9052560" y="4800600"/>
            <a:ext cx="27432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Planning in practice</a:t>
            </a:r>
            <a:endParaRPr lang="en-US" sz="1600" dirty="0"/>
          </a:p>
        </p:txBody>
      </p:sp>
      <p:sp>
        <p:nvSpPr>
          <p:cNvPr id="15" name="Text 10"/>
          <p:cNvSpPr/>
          <p:nvPr/>
        </p:nvSpPr>
        <p:spPr>
          <a:xfrm>
            <a:off x="731520" y="6217920"/>
            <a:ext cx="10058400" cy="3657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Cloud Engineer Labs  ·  Terraform on AWS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is VPC Peering?</a:t>
            </a:r>
            <a:endParaRPr lang="en-US" sz="3200" dirty="0"/>
          </a:p>
        </p:txBody>
      </p:sp>
      <p:sp>
        <p:nvSpPr>
          <p:cNvPr id="3" name="Text 1"/>
          <p:cNvSpPr/>
          <p:nvPr/>
        </p:nvSpPr>
        <p:spPr>
          <a:xfrm>
            <a:off x="457200" y="1051560"/>
            <a:ext cx="10972800" cy="54864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 direct, private network link between two VPCs. Traffic flows over the AWS backbone — it never touches the public internet.</a:t>
            </a:r>
            <a:endParaRPr lang="en-US" sz="1600" dirty="0"/>
          </a:p>
        </p:txBody>
      </p:sp>
      <p:sp>
        <p:nvSpPr>
          <p:cNvPr id="4" name="Shape 2"/>
          <p:cNvSpPr/>
          <p:nvPr/>
        </p:nvSpPr>
        <p:spPr>
          <a:xfrm>
            <a:off x="731520" y="2103120"/>
            <a:ext cx="3840480" cy="3017520"/>
          </a:xfrm>
          <a:prstGeom prst="roundRect">
            <a:avLst>
              <a:gd name="adj" fmla="val 3030"/>
            </a:avLst>
          </a:prstGeom>
          <a:solidFill>
            <a:srgbClr val="1A2744"/>
          </a:solidFill>
          <a:ln w="25400">
            <a:solidFill>
              <a:srgbClr val="0D9488"/>
            </a:solidFill>
            <a:prstDash val="solid"/>
          </a:ln>
        </p:spPr>
      </p:sp>
      <p:sp>
        <p:nvSpPr>
          <p:cNvPr id="5" name="Text 3"/>
          <p:cNvSpPr/>
          <p:nvPr/>
        </p:nvSpPr>
        <p:spPr>
          <a:xfrm>
            <a:off x="731520" y="2194560"/>
            <a:ext cx="3840480" cy="365760"/>
          </a:xfrm>
          <a:prstGeom prst="rect">
            <a:avLst/>
          </a:prstGeom>
          <a:noFill/>
          <a:ln/>
        </p:spPr>
        <p:txBody>
          <a:bodyPr wrap="square"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VPC A  (App)</a:t>
            </a:r>
            <a:endParaRPr lang="en-US" sz="1800" dirty="0"/>
          </a:p>
        </p:txBody>
      </p:sp>
      <p:sp>
        <p:nvSpPr>
          <p:cNvPr id="6" name="Text 4"/>
          <p:cNvSpPr/>
          <p:nvPr/>
        </p:nvSpPr>
        <p:spPr>
          <a:xfrm>
            <a:off x="731520" y="2606040"/>
            <a:ext cx="3840480" cy="365760"/>
          </a:xfrm>
          <a:prstGeom prst="rect">
            <a:avLst/>
          </a:prstGeom>
          <a:noFill/>
          <a:ln/>
        </p:spPr>
        <p:txBody>
          <a:bodyPr wrap="square"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10.0.0.0/16</a:t>
            </a:r>
            <a:endParaRPr lang="en-US" sz="1400" dirty="0"/>
          </a:p>
        </p:txBody>
      </p:sp>
      <p:sp>
        <p:nvSpPr>
          <p:cNvPr id="7" name="Shape 5"/>
          <p:cNvSpPr/>
          <p:nvPr/>
        </p:nvSpPr>
        <p:spPr>
          <a:xfrm>
            <a:off x="2194560" y="3200400"/>
            <a:ext cx="914400" cy="914400"/>
          </a:xfrm>
          <a:prstGeom prst="ellipse">
            <a:avLst/>
          </a:prstGeom>
          <a:solidFill>
            <a:srgbClr val="0D9488"/>
          </a:solidFill>
          <a:ln w="12700">
            <a:solidFill>
              <a:srgbClr val="0D9488"/>
            </a:solidFill>
            <a:prstDash val="solid"/>
          </a:ln>
        </p:spPr>
      </p:sp>
      <p:pic>
        <p:nvPicPr>
          <p:cNvPr id="8" name="Image 0" descr="preencoded.png">    </p:cNvPr>
          <p:cNvPicPr>
            <a:picLocks noChangeAspect="1"/>
          </p:cNvPicPr>
          <p:nvPr/>
        </p:nvPicPr>
        <p:blipFill>
          <a:blip r:embed="rId1"/>
          <a:stretch>
            <a:fillRect/>
          </a:stretch>
        </p:blipFill>
        <p:spPr>
          <a:xfrm>
            <a:off x="2423160" y="3429000"/>
            <a:ext cx="457200" cy="457200"/>
          </a:xfrm>
          <a:prstGeom prst="rect">
            <a:avLst/>
          </a:prstGeom>
        </p:spPr>
      </p:pic>
      <p:sp>
        <p:nvSpPr>
          <p:cNvPr id="9" name="Text 6"/>
          <p:cNvSpPr/>
          <p:nvPr/>
        </p:nvSpPr>
        <p:spPr>
          <a:xfrm>
            <a:off x="731520" y="4251960"/>
            <a:ext cx="3840480" cy="73152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App instances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route tables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security groups</a:t>
            </a:r>
            <a:endParaRPr lang="en-US" sz="1200" dirty="0"/>
          </a:p>
        </p:txBody>
      </p:sp>
      <p:sp>
        <p:nvSpPr>
          <p:cNvPr id="10" name="Shape 7"/>
          <p:cNvSpPr/>
          <p:nvPr/>
        </p:nvSpPr>
        <p:spPr>
          <a:xfrm>
            <a:off x="7589520" y="2103120"/>
            <a:ext cx="3840480" cy="3017520"/>
          </a:xfrm>
          <a:prstGeom prst="roundRect">
            <a:avLst>
              <a:gd name="adj" fmla="val 3030"/>
            </a:avLst>
          </a:prstGeom>
          <a:solidFill>
            <a:srgbClr val="1A2744"/>
          </a:solidFill>
          <a:ln w="25400">
            <a:solidFill>
              <a:srgbClr val="0D9488"/>
            </a:solidFill>
            <a:prstDash val="solid"/>
          </a:ln>
        </p:spPr>
      </p:sp>
      <p:sp>
        <p:nvSpPr>
          <p:cNvPr id="11" name="Text 8"/>
          <p:cNvSpPr/>
          <p:nvPr/>
        </p:nvSpPr>
        <p:spPr>
          <a:xfrm>
            <a:off x="7589520" y="2194560"/>
            <a:ext cx="3840480" cy="365760"/>
          </a:xfrm>
          <a:prstGeom prst="rect">
            <a:avLst/>
          </a:prstGeom>
          <a:noFill/>
          <a:ln/>
        </p:spPr>
        <p:txBody>
          <a:bodyPr wrap="square"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VPC B  (Database)</a:t>
            </a:r>
            <a:endParaRPr lang="en-US" sz="1800" dirty="0"/>
          </a:p>
        </p:txBody>
      </p:sp>
      <p:sp>
        <p:nvSpPr>
          <p:cNvPr id="12" name="Text 9"/>
          <p:cNvSpPr/>
          <p:nvPr/>
        </p:nvSpPr>
        <p:spPr>
          <a:xfrm>
            <a:off x="7589520" y="2606040"/>
            <a:ext cx="3840480" cy="365760"/>
          </a:xfrm>
          <a:prstGeom prst="rect">
            <a:avLst/>
          </a:prstGeom>
          <a:noFill/>
          <a:ln/>
        </p:spPr>
        <p:txBody>
          <a:bodyPr wrap="square"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10.1.0.0/16</a:t>
            </a:r>
            <a:endParaRPr lang="en-US" sz="1400" dirty="0"/>
          </a:p>
        </p:txBody>
      </p:sp>
      <p:sp>
        <p:nvSpPr>
          <p:cNvPr id="13" name="Shape 10"/>
          <p:cNvSpPr/>
          <p:nvPr/>
        </p:nvSpPr>
        <p:spPr>
          <a:xfrm>
            <a:off x="9052560" y="3200400"/>
            <a:ext cx="914400" cy="914400"/>
          </a:xfrm>
          <a:prstGeom prst="ellipse">
            <a:avLst/>
          </a:prstGeom>
          <a:solidFill>
            <a:srgbClr val="0D9488"/>
          </a:solidFill>
          <a:ln w="12700">
            <a:solidFill>
              <a:srgbClr val="0D9488"/>
            </a:solidFill>
            <a:prstDash val="solid"/>
          </a:ln>
        </p:spPr>
      </p:sp>
      <p:pic>
        <p:nvPicPr>
          <p:cNvPr id="14" name="Image 1" descr="preencoded.png">    </p:cNvPr>
          <p:cNvPicPr>
            <a:picLocks noChangeAspect="1"/>
          </p:cNvPicPr>
          <p:nvPr/>
        </p:nvPicPr>
        <p:blipFill>
          <a:blip r:embed="rId2"/>
          <a:stretch>
            <a:fillRect/>
          </a:stretch>
        </p:blipFill>
        <p:spPr>
          <a:xfrm>
            <a:off x="9281160" y="3429000"/>
            <a:ext cx="457200" cy="457200"/>
          </a:xfrm>
          <a:prstGeom prst="rect">
            <a:avLst/>
          </a:prstGeom>
        </p:spPr>
      </p:pic>
      <p:sp>
        <p:nvSpPr>
          <p:cNvPr id="15" name="Text 11"/>
          <p:cNvSpPr/>
          <p:nvPr/>
        </p:nvSpPr>
        <p:spPr>
          <a:xfrm>
            <a:off x="7589520" y="4251960"/>
            <a:ext cx="3840480" cy="73152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RDS / Postgres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route tables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security groups</a:t>
            </a:r>
            <a:endParaRPr lang="en-US" sz="1200" dirty="0"/>
          </a:p>
        </p:txBody>
      </p:sp>
      <p:sp>
        <p:nvSpPr>
          <p:cNvPr id="16" name="Shape 12"/>
          <p:cNvSpPr/>
          <p:nvPr/>
        </p:nvSpPr>
        <p:spPr>
          <a:xfrm>
            <a:off x="4572000" y="3611880"/>
            <a:ext cx="3017520" cy="0"/>
          </a:xfrm>
          <a:prstGeom prst="line">
            <a:avLst/>
          </a:prstGeom>
          <a:noFill/>
          <a:ln w="50800">
            <a:solidFill>
              <a:srgbClr val="0D9488"/>
            </a:solidFill>
            <a:prstDash val="dash"/>
          </a:ln>
        </p:spPr>
      </p:sp>
      <p:sp>
        <p:nvSpPr>
          <p:cNvPr id="17" name="Text 13"/>
          <p:cNvSpPr/>
          <p:nvPr/>
        </p:nvSpPr>
        <p:spPr>
          <a:xfrm>
            <a:off x="5029200" y="2926080"/>
            <a:ext cx="2103120" cy="548640"/>
          </a:xfrm>
          <a:prstGeom prst="rect">
            <a:avLst/>
          </a:prstGeom>
          <a:noFill/>
          <a:ln/>
        </p:spPr>
        <p:txBody>
          <a:bodyPr wrap="square"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peering</a:t>
            </a:r>
            <a:endParaRPr lang="en-US" sz="1200" dirty="0"/>
          </a:p>
          <a:p>
            <a:pPr algn="ctr" indent="0" marL="0">
              <a:buNone/>
            </a:pPr>
            <a:r>
              <a:rPr lang="en-US" sz="1200" b="1" dirty="0">
                <a:solidFill>
                  <a:srgbClr val="0D9488"/>
                </a:solidFill>
                <a:latin typeface="Calibri" pitchFamily="34" charset="0"/>
                <a:ea typeface="Calibri" pitchFamily="34" charset="-122"/>
                <a:cs typeface="Calibri" pitchFamily="34" charset="-120"/>
              </a:rPr>
              <a:t>connection</a:t>
            </a:r>
            <a:endParaRPr lang="en-US" sz="1200" dirty="0"/>
          </a:p>
        </p:txBody>
      </p:sp>
      <p:sp>
        <p:nvSpPr>
          <p:cNvPr id="18" name="Shape 14"/>
          <p:cNvSpPr/>
          <p:nvPr/>
        </p:nvSpPr>
        <p:spPr>
          <a:xfrm>
            <a:off x="731520" y="5440680"/>
            <a:ext cx="10698480" cy="1097280"/>
          </a:xfrm>
          <a:prstGeom prst="roundRect">
            <a:avLst>
              <a:gd name="adj" fmla="val 6667"/>
            </a:avLst>
          </a:prstGeom>
          <a:solidFill>
            <a:srgbClr val="1A2744"/>
          </a:solidFill>
          <a:ln w="12700">
            <a:solidFill>
              <a:srgbClr val="1A2744"/>
            </a:solidFill>
            <a:prstDash val="solid"/>
          </a:ln>
        </p:spPr>
      </p:sp>
      <p:sp>
        <p:nvSpPr>
          <p:cNvPr id="19" name="Shape 15"/>
          <p:cNvSpPr/>
          <p:nvPr/>
        </p:nvSpPr>
        <p:spPr>
          <a:xfrm>
            <a:off x="960120" y="5669280"/>
            <a:ext cx="640080" cy="640080"/>
          </a:xfrm>
          <a:prstGeom prst="ellipse">
            <a:avLst/>
          </a:prstGeom>
          <a:solidFill>
            <a:srgbClr val="F59E0B"/>
          </a:solidFill>
          <a:ln w="12700">
            <a:solidFill>
              <a:srgbClr val="F59E0B"/>
            </a:solidFill>
            <a:prstDash val="solid"/>
          </a:ln>
        </p:spPr>
      </p:sp>
      <p:pic>
        <p:nvPicPr>
          <p:cNvPr id="20" name="Image 2" descr="preencoded.png">    </p:cNvPr>
          <p:cNvPicPr>
            <a:picLocks noChangeAspect="1"/>
          </p:cNvPicPr>
          <p:nvPr/>
        </p:nvPicPr>
        <p:blipFill>
          <a:blip r:embed="rId3"/>
          <a:stretch>
            <a:fillRect/>
          </a:stretch>
        </p:blipFill>
        <p:spPr>
          <a:xfrm>
            <a:off x="1120140" y="5829300"/>
            <a:ext cx="320040" cy="320040"/>
          </a:xfrm>
          <a:prstGeom prst="rect">
            <a:avLst/>
          </a:prstGeom>
        </p:spPr>
      </p:pic>
      <p:sp>
        <p:nvSpPr>
          <p:cNvPr id="21" name="Text 16"/>
          <p:cNvSpPr/>
          <p:nvPr/>
        </p:nvSpPr>
        <p:spPr>
          <a:xfrm>
            <a:off x="1783080" y="5486400"/>
            <a:ext cx="9509760" cy="10058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peering connection is just the cable. For traffic to actually flow, route tables must know about the peer, and security groups must allow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Three Layers of Peering Connectivity</a:t>
            </a:r>
            <a:endParaRPr lang="en-US" sz="30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All three must be right. Any one wrong = no traffic flows.</a:t>
            </a:r>
            <a:endParaRPr lang="en-US" sz="1600" dirty="0"/>
          </a:p>
        </p:txBody>
      </p:sp>
      <p:sp>
        <p:nvSpPr>
          <p:cNvPr id="4" name="Shape 2"/>
          <p:cNvSpPr/>
          <p:nvPr/>
        </p:nvSpPr>
        <p:spPr>
          <a:xfrm>
            <a:off x="457200" y="1645920"/>
            <a:ext cx="11247120" cy="1417320"/>
          </a:xfrm>
          <a:prstGeom prst="roundRect">
            <a:avLst>
              <a:gd name="adj" fmla="val 5161"/>
            </a:avLst>
          </a:prstGeom>
          <a:solidFill>
            <a:srgbClr val="1A2744"/>
          </a:solidFill>
          <a:ln w="12700">
            <a:solidFill>
              <a:srgbClr val="1A2744"/>
            </a:solidFill>
            <a:prstDash val="solid"/>
          </a:ln>
        </p:spPr>
      </p:sp>
      <p:sp>
        <p:nvSpPr>
          <p:cNvPr id="5" name="Shape 3"/>
          <p:cNvSpPr/>
          <p:nvPr/>
        </p:nvSpPr>
        <p:spPr>
          <a:xfrm>
            <a:off x="731520" y="2011680"/>
            <a:ext cx="685800" cy="68580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902970" y="2183130"/>
            <a:ext cx="342900" cy="342900"/>
          </a:xfrm>
          <a:prstGeom prst="rect">
            <a:avLst/>
          </a:prstGeom>
        </p:spPr>
      </p:pic>
      <p:sp>
        <p:nvSpPr>
          <p:cNvPr id="7" name="Text 4"/>
          <p:cNvSpPr/>
          <p:nvPr/>
        </p:nvSpPr>
        <p:spPr>
          <a:xfrm>
            <a:off x="1645920" y="1783080"/>
            <a:ext cx="548640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  The Connection</a:t>
            </a:r>
            <a:endParaRPr lang="en-US" sz="1800" dirty="0"/>
          </a:p>
        </p:txBody>
      </p:sp>
      <p:sp>
        <p:nvSpPr>
          <p:cNvPr id="8" name="Text 5"/>
          <p:cNvSpPr/>
          <p:nvPr/>
        </p:nvSpPr>
        <p:spPr>
          <a:xfrm>
            <a:off x="1645920" y="2148840"/>
            <a:ext cx="5486400" cy="320040"/>
          </a:xfrm>
          <a:prstGeom prst="rect">
            <a:avLst/>
          </a:prstGeom>
          <a:noFill/>
          <a:ln/>
        </p:spPr>
        <p:txBody>
          <a:bodyPr wrap="square"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aws_vpc_peering_connection</a:t>
            </a:r>
            <a:endParaRPr lang="en-US" sz="1100" dirty="0"/>
          </a:p>
        </p:txBody>
      </p:sp>
      <p:sp>
        <p:nvSpPr>
          <p:cNvPr id="9" name="Text 6"/>
          <p:cNvSpPr/>
          <p:nvPr/>
        </p:nvSpPr>
        <p:spPr>
          <a:xfrm>
            <a:off x="1645920" y="2423160"/>
            <a:ext cx="6858000" cy="64008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The physical-ish link between two VPCs. Must be in "active" state — cross-account peerings need acceptance.</a:t>
            </a:r>
            <a:endParaRPr lang="en-US" sz="1200" dirty="0"/>
          </a:p>
        </p:txBody>
      </p:sp>
      <p:sp>
        <p:nvSpPr>
          <p:cNvPr id="10" name="Shape 7"/>
          <p:cNvSpPr/>
          <p:nvPr/>
        </p:nvSpPr>
        <p:spPr>
          <a:xfrm>
            <a:off x="8686800" y="2011680"/>
            <a:ext cx="2834640" cy="685800"/>
          </a:xfrm>
          <a:prstGeom prst="roundRect">
            <a:avLst>
              <a:gd name="adj" fmla="val 6667"/>
            </a:avLst>
          </a:prstGeom>
          <a:solidFill>
            <a:srgbClr val="0F1B2D"/>
          </a:solidFill>
          <a:ln w="12700">
            <a:solidFill>
              <a:srgbClr val="EF4444"/>
            </a:solidFill>
            <a:prstDash val="solid"/>
          </a:ln>
        </p:spPr>
      </p:sp>
      <p:sp>
        <p:nvSpPr>
          <p:cNvPr id="11" name="Text 8"/>
          <p:cNvSpPr/>
          <p:nvPr/>
        </p:nvSpPr>
        <p:spPr>
          <a:xfrm>
            <a:off x="8732520" y="2011680"/>
            <a:ext cx="2743200" cy="685800"/>
          </a:xfrm>
          <a:prstGeom prst="rect">
            <a:avLst/>
          </a:prstGeom>
          <a:noFill/>
          <a:ln/>
        </p:spPr>
        <p:txBody>
          <a:bodyPr wrap="square" rtlCol="0" anchor="ctr"/>
          <a:lstStyle/>
          <a:p>
            <a:pPr algn="ctr" indent="0" marL="0">
              <a:buNone/>
            </a:pPr>
            <a:r>
              <a:rPr lang="en-US" sz="1100" i="1" dirty="0">
                <a:solidFill>
                  <a:srgbClr val="EF4444"/>
                </a:solidFill>
                <a:latin typeface="Calibri" pitchFamily="34" charset="0"/>
                <a:ea typeface="Calibri" pitchFamily="34" charset="-122"/>
                <a:cs typeface="Calibri" pitchFamily="34" charset="-120"/>
              </a:rPr>
              <a:t>Without it: no path exists at all.</a:t>
            </a:r>
            <a:endParaRPr lang="en-US" sz="1100" dirty="0"/>
          </a:p>
        </p:txBody>
      </p:sp>
      <p:sp>
        <p:nvSpPr>
          <p:cNvPr id="12" name="Shape 9"/>
          <p:cNvSpPr/>
          <p:nvPr/>
        </p:nvSpPr>
        <p:spPr>
          <a:xfrm>
            <a:off x="457200" y="3246120"/>
            <a:ext cx="11247120" cy="1417320"/>
          </a:xfrm>
          <a:prstGeom prst="roundRect">
            <a:avLst>
              <a:gd name="adj" fmla="val 5161"/>
            </a:avLst>
          </a:prstGeom>
          <a:solidFill>
            <a:srgbClr val="1A2744"/>
          </a:solidFill>
          <a:ln w="12700">
            <a:solidFill>
              <a:srgbClr val="1A2744"/>
            </a:solidFill>
            <a:prstDash val="solid"/>
          </a:ln>
        </p:spPr>
      </p:sp>
      <p:sp>
        <p:nvSpPr>
          <p:cNvPr id="13" name="Shape 10"/>
          <p:cNvSpPr/>
          <p:nvPr/>
        </p:nvSpPr>
        <p:spPr>
          <a:xfrm>
            <a:off x="731520" y="3611880"/>
            <a:ext cx="685800" cy="685800"/>
          </a:xfrm>
          <a:prstGeom prst="ellipse">
            <a:avLst/>
          </a:prstGeom>
          <a:solidFill>
            <a:srgbClr val="0D9488"/>
          </a:solidFill>
          <a:ln w="12700">
            <a:solidFill>
              <a:srgbClr val="0D9488"/>
            </a:solidFill>
            <a:prstDash val="solid"/>
          </a:ln>
        </p:spPr>
      </p:sp>
      <p:pic>
        <p:nvPicPr>
          <p:cNvPr id="14" name="Image 1" descr="preencoded.png">    </p:cNvPr>
          <p:cNvPicPr>
            <a:picLocks noChangeAspect="1"/>
          </p:cNvPicPr>
          <p:nvPr/>
        </p:nvPicPr>
        <p:blipFill>
          <a:blip r:embed="rId2"/>
          <a:stretch>
            <a:fillRect/>
          </a:stretch>
        </p:blipFill>
        <p:spPr>
          <a:xfrm>
            <a:off x="902970" y="3783330"/>
            <a:ext cx="342900" cy="342900"/>
          </a:xfrm>
          <a:prstGeom prst="rect">
            <a:avLst/>
          </a:prstGeom>
        </p:spPr>
      </p:pic>
      <p:sp>
        <p:nvSpPr>
          <p:cNvPr id="15" name="Text 11"/>
          <p:cNvSpPr/>
          <p:nvPr/>
        </p:nvSpPr>
        <p:spPr>
          <a:xfrm>
            <a:off x="1645920" y="3383280"/>
            <a:ext cx="548640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2.  The Routes</a:t>
            </a:r>
            <a:endParaRPr lang="en-US" sz="1800" dirty="0"/>
          </a:p>
        </p:txBody>
      </p:sp>
      <p:sp>
        <p:nvSpPr>
          <p:cNvPr id="16" name="Text 12"/>
          <p:cNvSpPr/>
          <p:nvPr/>
        </p:nvSpPr>
        <p:spPr>
          <a:xfrm>
            <a:off x="1645920" y="3749040"/>
            <a:ext cx="5486400" cy="320040"/>
          </a:xfrm>
          <a:prstGeom prst="rect">
            <a:avLst/>
          </a:prstGeom>
          <a:noFill/>
          <a:ln/>
        </p:spPr>
        <p:txBody>
          <a:bodyPr wrap="square"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aws_route_table  (both sides)</a:t>
            </a:r>
            <a:endParaRPr lang="en-US" sz="1100" dirty="0"/>
          </a:p>
        </p:txBody>
      </p:sp>
      <p:sp>
        <p:nvSpPr>
          <p:cNvPr id="17" name="Text 13"/>
          <p:cNvSpPr/>
          <p:nvPr/>
        </p:nvSpPr>
        <p:spPr>
          <a:xfrm>
            <a:off x="1645920" y="4023360"/>
            <a:ext cx="6858000" cy="64008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Each VPC's route table needs an entry: "to reach the peer's CIDR, send traffic via the peering connection."</a:t>
            </a:r>
            <a:endParaRPr lang="en-US" sz="1200" dirty="0"/>
          </a:p>
        </p:txBody>
      </p:sp>
      <p:sp>
        <p:nvSpPr>
          <p:cNvPr id="18" name="Shape 14"/>
          <p:cNvSpPr/>
          <p:nvPr/>
        </p:nvSpPr>
        <p:spPr>
          <a:xfrm>
            <a:off x="8686800" y="3611880"/>
            <a:ext cx="2834640" cy="685800"/>
          </a:xfrm>
          <a:prstGeom prst="roundRect">
            <a:avLst>
              <a:gd name="adj" fmla="val 6667"/>
            </a:avLst>
          </a:prstGeom>
          <a:solidFill>
            <a:srgbClr val="0F1B2D"/>
          </a:solidFill>
          <a:ln w="12700">
            <a:solidFill>
              <a:srgbClr val="EF4444"/>
            </a:solidFill>
            <a:prstDash val="solid"/>
          </a:ln>
        </p:spPr>
      </p:sp>
      <p:sp>
        <p:nvSpPr>
          <p:cNvPr id="19" name="Text 15"/>
          <p:cNvSpPr/>
          <p:nvPr/>
        </p:nvSpPr>
        <p:spPr>
          <a:xfrm>
            <a:off x="8732520" y="3611880"/>
            <a:ext cx="2743200" cy="685800"/>
          </a:xfrm>
          <a:prstGeom prst="rect">
            <a:avLst/>
          </a:prstGeom>
          <a:noFill/>
          <a:ln/>
        </p:spPr>
        <p:txBody>
          <a:bodyPr wrap="square" rtlCol="0" anchor="ctr"/>
          <a:lstStyle/>
          <a:p>
            <a:pPr algn="ctr" indent="0" marL="0">
              <a:buNone/>
            </a:pPr>
            <a:r>
              <a:rPr lang="en-US" sz="1100" i="1" dirty="0">
                <a:solidFill>
                  <a:srgbClr val="EF4444"/>
                </a:solidFill>
                <a:latin typeface="Calibri" pitchFamily="34" charset="0"/>
                <a:ea typeface="Calibri" pitchFamily="34" charset="-122"/>
                <a:cs typeface="Calibri" pitchFamily="34" charset="-120"/>
              </a:rPr>
              <a:t>Without them: traffic has nowhere to go.</a:t>
            </a:r>
            <a:endParaRPr lang="en-US" sz="1100" dirty="0"/>
          </a:p>
        </p:txBody>
      </p:sp>
      <p:sp>
        <p:nvSpPr>
          <p:cNvPr id="20" name="Shape 16"/>
          <p:cNvSpPr/>
          <p:nvPr/>
        </p:nvSpPr>
        <p:spPr>
          <a:xfrm>
            <a:off x="457200" y="4846320"/>
            <a:ext cx="11247120" cy="1417320"/>
          </a:xfrm>
          <a:prstGeom prst="roundRect">
            <a:avLst>
              <a:gd name="adj" fmla="val 5161"/>
            </a:avLst>
          </a:prstGeom>
          <a:solidFill>
            <a:srgbClr val="1A2744"/>
          </a:solidFill>
          <a:ln w="12700">
            <a:solidFill>
              <a:srgbClr val="1A2744"/>
            </a:solidFill>
            <a:prstDash val="solid"/>
          </a:ln>
        </p:spPr>
      </p:sp>
      <p:sp>
        <p:nvSpPr>
          <p:cNvPr id="21" name="Shape 17"/>
          <p:cNvSpPr/>
          <p:nvPr/>
        </p:nvSpPr>
        <p:spPr>
          <a:xfrm>
            <a:off x="731520" y="5212080"/>
            <a:ext cx="685800" cy="685800"/>
          </a:xfrm>
          <a:prstGeom prst="ellipse">
            <a:avLst/>
          </a:prstGeom>
          <a:solidFill>
            <a:srgbClr val="0D9488"/>
          </a:solidFill>
          <a:ln w="12700">
            <a:solidFill>
              <a:srgbClr val="0D9488"/>
            </a:solidFill>
            <a:prstDash val="solid"/>
          </a:ln>
        </p:spPr>
      </p:sp>
      <p:pic>
        <p:nvPicPr>
          <p:cNvPr id="22" name="Image 2" descr="preencoded.png">    </p:cNvPr>
          <p:cNvPicPr>
            <a:picLocks noChangeAspect="1"/>
          </p:cNvPicPr>
          <p:nvPr/>
        </p:nvPicPr>
        <p:blipFill>
          <a:blip r:embed="rId3"/>
          <a:stretch>
            <a:fillRect/>
          </a:stretch>
        </p:blipFill>
        <p:spPr>
          <a:xfrm>
            <a:off x="902970" y="5383530"/>
            <a:ext cx="342900" cy="342900"/>
          </a:xfrm>
          <a:prstGeom prst="rect">
            <a:avLst/>
          </a:prstGeom>
        </p:spPr>
      </p:pic>
      <p:sp>
        <p:nvSpPr>
          <p:cNvPr id="23" name="Text 18"/>
          <p:cNvSpPr/>
          <p:nvPr/>
        </p:nvSpPr>
        <p:spPr>
          <a:xfrm>
            <a:off x="1645920" y="4983480"/>
            <a:ext cx="548640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  The Permissions</a:t>
            </a:r>
            <a:endParaRPr lang="en-US" sz="1800" dirty="0"/>
          </a:p>
        </p:txBody>
      </p:sp>
      <p:sp>
        <p:nvSpPr>
          <p:cNvPr id="24" name="Text 19"/>
          <p:cNvSpPr/>
          <p:nvPr/>
        </p:nvSpPr>
        <p:spPr>
          <a:xfrm>
            <a:off x="1645920" y="5349240"/>
            <a:ext cx="5486400" cy="320040"/>
          </a:xfrm>
          <a:prstGeom prst="rect">
            <a:avLst/>
          </a:prstGeom>
          <a:noFill/>
          <a:ln/>
        </p:spPr>
        <p:txBody>
          <a:bodyPr wrap="square"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aws_security_group</a:t>
            </a:r>
            <a:endParaRPr lang="en-US" sz="1100" dirty="0"/>
          </a:p>
        </p:txBody>
      </p:sp>
      <p:sp>
        <p:nvSpPr>
          <p:cNvPr id="25" name="Text 20"/>
          <p:cNvSpPr/>
          <p:nvPr/>
        </p:nvSpPr>
        <p:spPr>
          <a:xfrm>
            <a:off x="1645920" y="5623560"/>
            <a:ext cx="6858000" cy="64008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Security groups on the destination must allow ingress from the source VPC's CIDR range.</a:t>
            </a:r>
            <a:endParaRPr lang="en-US" sz="1200" dirty="0"/>
          </a:p>
        </p:txBody>
      </p:sp>
      <p:sp>
        <p:nvSpPr>
          <p:cNvPr id="26" name="Shape 21"/>
          <p:cNvSpPr/>
          <p:nvPr/>
        </p:nvSpPr>
        <p:spPr>
          <a:xfrm>
            <a:off x="8686800" y="5212080"/>
            <a:ext cx="2834640" cy="685800"/>
          </a:xfrm>
          <a:prstGeom prst="roundRect">
            <a:avLst>
              <a:gd name="adj" fmla="val 6667"/>
            </a:avLst>
          </a:prstGeom>
          <a:solidFill>
            <a:srgbClr val="0F1B2D"/>
          </a:solidFill>
          <a:ln w="12700">
            <a:solidFill>
              <a:srgbClr val="EF4444"/>
            </a:solidFill>
            <a:prstDash val="solid"/>
          </a:ln>
        </p:spPr>
      </p:sp>
      <p:sp>
        <p:nvSpPr>
          <p:cNvPr id="27" name="Text 22"/>
          <p:cNvSpPr/>
          <p:nvPr/>
        </p:nvSpPr>
        <p:spPr>
          <a:xfrm>
            <a:off x="8732520" y="5212080"/>
            <a:ext cx="2743200" cy="685800"/>
          </a:xfrm>
          <a:prstGeom prst="rect">
            <a:avLst/>
          </a:prstGeom>
          <a:noFill/>
          <a:ln/>
        </p:spPr>
        <p:txBody>
          <a:bodyPr wrap="square" rtlCol="0" anchor="ctr"/>
          <a:lstStyle/>
          <a:p>
            <a:pPr algn="ctr" indent="0" marL="0">
              <a:buNone/>
            </a:pPr>
            <a:r>
              <a:rPr lang="en-US" sz="1100" i="1" dirty="0">
                <a:solidFill>
                  <a:srgbClr val="EF4444"/>
                </a:solidFill>
                <a:latin typeface="Calibri" pitchFamily="34" charset="0"/>
                <a:ea typeface="Calibri" pitchFamily="34" charset="-122"/>
                <a:cs typeface="Calibri" pitchFamily="34" charset="-120"/>
              </a:rPr>
              <a:t>Without them: traffic arrives but gets rejected.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CIDR Blocks — The Foundation</a:t>
            </a:r>
            <a:endParaRPr lang="en-US" sz="32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Classless Inter-Domain Routing — how IP ranges are expressed</a:t>
            </a:r>
            <a:endParaRPr lang="en-US" sz="1600" dirty="0"/>
          </a:p>
        </p:txBody>
      </p:sp>
      <p:sp>
        <p:nvSpPr>
          <p:cNvPr id="4" name="Shape 2"/>
          <p:cNvSpPr/>
          <p:nvPr/>
        </p:nvSpPr>
        <p:spPr>
          <a:xfrm>
            <a:off x="457200" y="1737360"/>
            <a:ext cx="11247120" cy="1188720"/>
          </a:xfrm>
          <a:prstGeom prst="roundRect">
            <a:avLst>
              <a:gd name="adj" fmla="val 6154"/>
            </a:avLst>
          </a:prstGeom>
          <a:solidFill>
            <a:srgbClr val="1A2744"/>
          </a:solidFill>
          <a:ln w="25400">
            <a:solidFill>
              <a:srgbClr val="0D9488"/>
            </a:solidFill>
            <a:prstDash val="solid"/>
          </a:ln>
        </p:spPr>
      </p:sp>
      <p:sp>
        <p:nvSpPr>
          <p:cNvPr id="5" name="Text 3"/>
          <p:cNvSpPr/>
          <p:nvPr/>
        </p:nvSpPr>
        <p:spPr>
          <a:xfrm>
            <a:off x="457200" y="1828800"/>
            <a:ext cx="11247120" cy="1005840"/>
          </a:xfrm>
          <a:prstGeom prst="rect">
            <a:avLst/>
          </a:prstGeom>
          <a:noFill/>
          <a:ln/>
        </p:spPr>
        <p:txBody>
          <a:bodyPr wrap="square" rtlCol="0" anchor="ctr"/>
          <a:lstStyle/>
          <a:p>
            <a:pPr algn="ctr" indent="0" marL="0">
              <a:buNone/>
            </a:pPr>
            <a:r>
              <a:rPr lang="en-US" sz="4800" b="1" dirty="0">
                <a:solidFill>
                  <a:srgbClr val="FFFFFF"/>
                </a:solidFill>
                <a:latin typeface="Consolas" pitchFamily="34" charset="0"/>
                <a:ea typeface="Consolas" pitchFamily="34" charset="-122"/>
                <a:cs typeface="Consolas" pitchFamily="34" charset="-120"/>
              </a:rPr>
              <a:t>10.0.0.0/16</a:t>
            </a:r>
            <a:endParaRPr lang="en-US" sz="4800" dirty="0"/>
          </a:p>
        </p:txBody>
      </p:sp>
      <p:sp>
        <p:nvSpPr>
          <p:cNvPr id="6" name="Text 4"/>
          <p:cNvSpPr/>
          <p:nvPr/>
        </p:nvSpPr>
        <p:spPr>
          <a:xfrm>
            <a:off x="731520" y="3017520"/>
            <a:ext cx="5029200" cy="365760"/>
          </a:xfrm>
          <a:prstGeom prst="rect">
            <a:avLst/>
          </a:prstGeom>
          <a:noFill/>
          <a:ln/>
        </p:spPr>
        <p:txBody>
          <a:bodyPr wrap="square" rtlCol="0" anchor="ctr"/>
          <a:lstStyle/>
          <a:p>
            <a:pPr algn="ctr" indent="0" marL="0">
              <a:buNone/>
            </a:pPr>
            <a:r>
              <a:rPr lang="en-US" sz="1400" i="1" dirty="0">
                <a:solidFill>
                  <a:srgbClr val="0D9488"/>
                </a:solidFill>
                <a:latin typeface="Calibri" pitchFamily="34" charset="0"/>
                <a:ea typeface="Calibri" pitchFamily="34" charset="-122"/>
                <a:cs typeface="Calibri" pitchFamily="34" charset="-120"/>
              </a:rPr>
              <a:t>the network address</a:t>
            </a:r>
            <a:endParaRPr lang="en-US" sz="1400" dirty="0"/>
          </a:p>
        </p:txBody>
      </p:sp>
      <p:sp>
        <p:nvSpPr>
          <p:cNvPr id="7" name="Text 5"/>
          <p:cNvSpPr/>
          <p:nvPr/>
        </p:nvSpPr>
        <p:spPr>
          <a:xfrm>
            <a:off x="6400800" y="3017520"/>
            <a:ext cx="5029200" cy="365760"/>
          </a:xfrm>
          <a:prstGeom prst="rect">
            <a:avLst/>
          </a:prstGeom>
          <a:noFill/>
          <a:ln/>
        </p:spPr>
        <p:txBody>
          <a:bodyPr wrap="square" rtlCol="0" anchor="ctr"/>
          <a:lstStyle/>
          <a:p>
            <a:pPr algn="ctr" indent="0" marL="0">
              <a:buNone/>
            </a:pPr>
            <a:r>
              <a:rPr lang="en-US" sz="1400" i="1" dirty="0">
                <a:solidFill>
                  <a:srgbClr val="F59E0B"/>
                </a:solidFill>
                <a:latin typeface="Calibri" pitchFamily="34" charset="0"/>
                <a:ea typeface="Calibri" pitchFamily="34" charset="-122"/>
                <a:cs typeface="Calibri" pitchFamily="34" charset="-120"/>
              </a:rPr>
              <a:t>the prefix length</a:t>
            </a:r>
            <a:endParaRPr lang="en-US" sz="1400" dirty="0"/>
          </a:p>
        </p:txBody>
      </p:sp>
      <p:sp>
        <p:nvSpPr>
          <p:cNvPr id="8" name="Shape 6"/>
          <p:cNvSpPr/>
          <p:nvPr/>
        </p:nvSpPr>
        <p:spPr>
          <a:xfrm>
            <a:off x="457200" y="3611880"/>
            <a:ext cx="5486400" cy="2926080"/>
          </a:xfrm>
          <a:prstGeom prst="roundRect">
            <a:avLst>
              <a:gd name="adj" fmla="val 2500"/>
            </a:avLst>
          </a:prstGeom>
          <a:solidFill>
            <a:srgbClr val="1A2744"/>
          </a:solidFill>
          <a:ln w="12700">
            <a:solidFill>
              <a:srgbClr val="1A2744"/>
            </a:solidFill>
            <a:prstDash val="solid"/>
          </a:ln>
        </p:spPr>
      </p:sp>
      <p:sp>
        <p:nvSpPr>
          <p:cNvPr id="9" name="Shape 7"/>
          <p:cNvSpPr/>
          <p:nvPr/>
        </p:nvSpPr>
        <p:spPr>
          <a:xfrm>
            <a:off x="685800" y="3749040"/>
            <a:ext cx="502920" cy="502920"/>
          </a:xfrm>
          <a:prstGeom prst="ellipse">
            <a:avLst/>
          </a:prstGeom>
          <a:solidFill>
            <a:srgbClr val="0D9488"/>
          </a:solidFill>
          <a:ln w="12700">
            <a:solidFill>
              <a:srgbClr val="0D9488"/>
            </a:solidFill>
            <a:prstDash val="solid"/>
          </a:ln>
        </p:spPr>
      </p:sp>
      <p:pic>
        <p:nvPicPr>
          <p:cNvPr id="10" name="Image 0" descr="preencoded.png">    </p:cNvPr>
          <p:cNvPicPr>
            <a:picLocks noChangeAspect="1"/>
          </p:cNvPicPr>
          <p:nvPr/>
        </p:nvPicPr>
        <p:blipFill>
          <a:blip r:embed="rId1"/>
          <a:stretch>
            <a:fillRect/>
          </a:stretch>
        </p:blipFill>
        <p:spPr>
          <a:xfrm>
            <a:off x="811530" y="3874770"/>
            <a:ext cx="251460" cy="251460"/>
          </a:xfrm>
          <a:prstGeom prst="rect">
            <a:avLst/>
          </a:prstGeom>
        </p:spPr>
      </p:pic>
      <p:sp>
        <p:nvSpPr>
          <p:cNvPr id="11" name="Text 8"/>
          <p:cNvSpPr/>
          <p:nvPr/>
        </p:nvSpPr>
        <p:spPr>
          <a:xfrm>
            <a:off x="1325880" y="3749040"/>
            <a:ext cx="4389120" cy="365760"/>
          </a:xfrm>
          <a:prstGeom prst="rect">
            <a:avLst/>
          </a:prstGeom>
          <a:noFill/>
          <a:ln/>
        </p:spPr>
        <p:txBody>
          <a:bodyPr wrap="square"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Network address</a:t>
            </a:r>
            <a:endParaRPr lang="en-US" sz="1600" dirty="0"/>
          </a:p>
        </p:txBody>
      </p:sp>
      <p:sp>
        <p:nvSpPr>
          <p:cNvPr id="12" name="Text 9"/>
          <p:cNvSpPr/>
          <p:nvPr/>
        </p:nvSpPr>
        <p:spPr>
          <a:xfrm>
            <a:off x="685800" y="4343400"/>
            <a:ext cx="5029200" cy="2103120"/>
          </a:xfrm>
          <a:prstGeom prst="rect">
            <a:avLst/>
          </a:prstGeom>
          <a:noFill/>
          <a:ln/>
        </p:spPr>
        <p:txBody>
          <a:bodyPr wrap="square" rtlCol="0" anchor="t"/>
          <a:lstStyle/>
          <a:p>
            <a:pPr indent="0" marL="0">
              <a:buNone/>
            </a:pPr>
            <a:r>
              <a:rPr lang="en-US" sz="1300" dirty="0">
                <a:solidFill>
                  <a:srgbClr val="FFFFFF"/>
                </a:solidFill>
              </a:rPr>
              <a:t>The starting IP of the range.
</a:t>
            </a:r>
            <a:pPr indent="0" marL="0">
              <a:buNone/>
            </a:pPr>
            <a:r>
              <a:rPr lang="en-US" sz="1200" dirty="0">
                <a:solidFill>
                  <a:srgbClr val="94A3B8"/>
                </a:solidFill>
              </a:rPr>
              <a:t>An IPv4 address is 32 bits, written as 4 numbers 0–255 separated by dots.
</a:t>
            </a:r>
            <a:pPr indent="0" marL="0">
              <a:buNone/>
            </a:pPr>
            <a:r>
              <a:rPr lang="en-US" sz="1200" dirty="0">
                <a:solidFill>
                  <a:srgbClr val="94A3B8"/>
                </a:solidFill>
              </a:rPr>
              <a:t>10.0.0.0 in binary:
</a:t>
            </a:r>
            <a:pPr indent="0" marL="0">
              <a:buNone/>
            </a:pPr>
            <a:r>
              <a:rPr lang="en-US" sz="1100" dirty="0">
                <a:solidFill>
                  <a:srgbClr val="0D9488"/>
                </a:solidFill>
                <a:latin typeface="Consolas" pitchFamily="34" charset="0"/>
                <a:ea typeface="Consolas" pitchFamily="34" charset="-122"/>
                <a:cs typeface="Consolas" pitchFamily="34" charset="-120"/>
              </a:rPr>
              <a:t>00001010.00000000.00000000.00000000</a:t>
            </a:r>
            <a:endParaRPr lang="en-US" sz="1300" dirty="0"/>
          </a:p>
        </p:txBody>
      </p:sp>
      <p:sp>
        <p:nvSpPr>
          <p:cNvPr id="13" name="Shape 10"/>
          <p:cNvSpPr/>
          <p:nvPr/>
        </p:nvSpPr>
        <p:spPr>
          <a:xfrm>
            <a:off x="6217920" y="3611880"/>
            <a:ext cx="5486400" cy="2926080"/>
          </a:xfrm>
          <a:prstGeom prst="roundRect">
            <a:avLst>
              <a:gd name="adj" fmla="val 2500"/>
            </a:avLst>
          </a:prstGeom>
          <a:solidFill>
            <a:srgbClr val="1A2744"/>
          </a:solidFill>
          <a:ln w="12700">
            <a:solidFill>
              <a:srgbClr val="1A2744"/>
            </a:solidFill>
            <a:prstDash val="solid"/>
          </a:ln>
        </p:spPr>
      </p:sp>
      <p:sp>
        <p:nvSpPr>
          <p:cNvPr id="14" name="Shape 11"/>
          <p:cNvSpPr/>
          <p:nvPr/>
        </p:nvSpPr>
        <p:spPr>
          <a:xfrm>
            <a:off x="6446520" y="3749040"/>
            <a:ext cx="502920" cy="502920"/>
          </a:xfrm>
          <a:prstGeom prst="ellipse">
            <a:avLst/>
          </a:prstGeom>
          <a:solidFill>
            <a:srgbClr val="F59E0B"/>
          </a:solidFill>
          <a:ln w="12700">
            <a:solidFill>
              <a:srgbClr val="F59E0B"/>
            </a:solidFill>
            <a:prstDash val="solid"/>
          </a:ln>
        </p:spPr>
      </p:sp>
      <p:pic>
        <p:nvPicPr>
          <p:cNvPr id="15" name="Image 1" descr="preencoded.png">    </p:cNvPr>
          <p:cNvPicPr>
            <a:picLocks noChangeAspect="1"/>
          </p:cNvPicPr>
          <p:nvPr/>
        </p:nvPicPr>
        <p:blipFill>
          <a:blip r:embed="rId2"/>
          <a:stretch>
            <a:fillRect/>
          </a:stretch>
        </p:blipFill>
        <p:spPr>
          <a:xfrm>
            <a:off x="6572250" y="3874770"/>
            <a:ext cx="251460" cy="251460"/>
          </a:xfrm>
          <a:prstGeom prst="rect">
            <a:avLst/>
          </a:prstGeom>
        </p:spPr>
      </p:pic>
      <p:sp>
        <p:nvSpPr>
          <p:cNvPr id="16" name="Text 12"/>
          <p:cNvSpPr/>
          <p:nvPr/>
        </p:nvSpPr>
        <p:spPr>
          <a:xfrm>
            <a:off x="7086600" y="3749040"/>
            <a:ext cx="438912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Prefix length  (/16)</a:t>
            </a:r>
            <a:endParaRPr lang="en-US" sz="1600" dirty="0"/>
          </a:p>
        </p:txBody>
      </p:sp>
      <p:sp>
        <p:nvSpPr>
          <p:cNvPr id="17" name="Text 13"/>
          <p:cNvSpPr/>
          <p:nvPr/>
        </p:nvSpPr>
        <p:spPr>
          <a:xfrm>
            <a:off x="6446520" y="4343400"/>
            <a:ext cx="5029200" cy="2103120"/>
          </a:xfrm>
          <a:prstGeom prst="rect">
            <a:avLst/>
          </a:prstGeom>
          <a:noFill/>
          <a:ln/>
        </p:spPr>
        <p:txBody>
          <a:bodyPr wrap="square" rtlCol="0" anchor="t"/>
          <a:lstStyle/>
          <a:p>
            <a:pPr indent="0" marL="0">
              <a:buNone/>
            </a:pPr>
            <a:r>
              <a:rPr lang="en-US" sz="1300" dirty="0">
                <a:solidFill>
                  <a:srgbClr val="FFFFFF"/>
                </a:solidFill>
              </a:rPr>
              <a:t>How many leading bits are fixed.
</a:t>
            </a:r>
            <a:pPr indent="0" marL="0">
              <a:buNone/>
            </a:pPr>
            <a:r>
              <a:rPr lang="en-US" sz="1200" dirty="0">
                <a:solidFill>
                  <a:srgbClr val="94A3B8"/>
                </a:solidFill>
              </a:rPr>
              <a:t>The first /16 = 16 bits are the network part. The remaining 16 bits are available for hosts.
</a:t>
            </a:r>
            <a:pPr indent="0" marL="0">
              <a:buNone/>
            </a:pPr>
            <a:r>
              <a:rPr lang="en-US" sz="1100" dirty="0">
                <a:solidFill>
                  <a:srgbClr val="94A3B8"/>
                </a:solidFill>
                <a:latin typeface="Consolas" pitchFamily="34" charset="0"/>
                <a:ea typeface="Consolas" pitchFamily="34" charset="-122"/>
                <a:cs typeface="Consolas" pitchFamily="34" charset="-120"/>
              </a:rPr>
              <a:t>Fixed:   </a:t>
            </a:r>
            <a:pPr indent="0" marL="0">
              <a:buNone/>
            </a:pPr>
            <a:r>
              <a:rPr lang="en-US" sz="1100" dirty="0">
                <a:solidFill>
                  <a:srgbClr val="F59E0B"/>
                </a:solidFill>
                <a:latin typeface="Consolas" pitchFamily="34" charset="0"/>
                <a:ea typeface="Consolas" pitchFamily="34" charset="-122"/>
                <a:cs typeface="Consolas" pitchFamily="34" charset="-120"/>
              </a:rPr>
              <a:t>00001010.00000000</a:t>
            </a:r>
            <a:pPr indent="0" marL="0">
              <a:buNone/>
            </a:pPr>
            <a:r>
              <a:rPr lang="en-US" sz="1100" dirty="0">
                <a:solidFill>
                  <a:srgbClr val="94A3B8"/>
                </a:solidFill>
                <a:latin typeface="Consolas" pitchFamily="34" charset="0"/>
                <a:ea typeface="Consolas" pitchFamily="34" charset="-122"/>
                <a:cs typeface="Consolas" pitchFamily="34" charset="-120"/>
              </a:rPr>
              <a:t> (16 bits)
</a:t>
            </a:r>
            <a:pPr indent="0" marL="0">
              <a:buNone/>
            </a:pPr>
            <a:r>
              <a:rPr lang="en-US" sz="1100" dirty="0">
                <a:solidFill>
                  <a:srgbClr val="94A3B8"/>
                </a:solidFill>
                <a:latin typeface="Consolas" pitchFamily="34" charset="0"/>
                <a:ea typeface="Consolas" pitchFamily="34" charset="-122"/>
                <a:cs typeface="Consolas" pitchFamily="34" charset="-120"/>
              </a:rPr>
              <a:t>Hosts:  </a:t>
            </a:r>
            <a:pPr indent="0" marL="0">
              <a:buNone/>
            </a:pPr>
            <a:r>
              <a:rPr lang="en-US" sz="1100" dirty="0">
                <a:solidFill>
                  <a:srgbClr val="0D9488"/>
                </a:solidFill>
                <a:latin typeface="Consolas" pitchFamily="34" charset="0"/>
                <a:ea typeface="Consolas" pitchFamily="34" charset="-122"/>
                <a:cs typeface="Consolas" pitchFamily="34" charset="-120"/>
              </a:rPr>
              <a:t>xxxxxxxx.xxxxxxxx</a:t>
            </a:r>
            <a:pPr indent="0" marL="0">
              <a:buNone/>
            </a:pPr>
            <a:r>
              <a:rPr lang="en-US" sz="1100" dirty="0">
                <a:solidFill>
                  <a:srgbClr val="94A3B8"/>
                </a:solidFill>
                <a:latin typeface="Consolas" pitchFamily="34" charset="0"/>
                <a:ea typeface="Consolas" pitchFamily="34" charset="-122"/>
                <a:cs typeface="Consolas" pitchFamily="34" charset="-120"/>
              </a:rPr>
              <a:t> (16 bits)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Prefix Length Decides Range Size</a:t>
            </a:r>
            <a:endParaRPr lang="en-US" sz="30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Smaller number = bigger range.  Larger number = smaller range.</a:t>
            </a:r>
            <a:endParaRPr lang="en-US" sz="1600" dirty="0"/>
          </a:p>
        </p:txBody>
      </p:sp>
      <p:sp>
        <p:nvSpPr>
          <p:cNvPr id="4" name="Shape 2"/>
          <p:cNvSpPr/>
          <p:nvPr/>
        </p:nvSpPr>
        <p:spPr>
          <a:xfrm>
            <a:off x="457200" y="1737360"/>
            <a:ext cx="11247120" cy="502920"/>
          </a:xfrm>
          <a:prstGeom prst="rect">
            <a:avLst/>
          </a:prstGeom>
          <a:solidFill>
            <a:srgbClr val="0A6F66"/>
          </a:solidFill>
          <a:ln w="12700">
            <a:solidFill>
              <a:srgbClr val="0A6F66"/>
            </a:solidFill>
            <a:prstDash val="solid"/>
          </a:ln>
        </p:spPr>
      </p:sp>
      <p:sp>
        <p:nvSpPr>
          <p:cNvPr id="5" name="Text 3"/>
          <p:cNvSpPr/>
          <p:nvPr/>
        </p:nvSpPr>
        <p:spPr>
          <a:xfrm>
            <a:off x="457200" y="1737360"/>
            <a:ext cx="219456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CIDR</a:t>
            </a:r>
            <a:endParaRPr lang="en-US" sz="1300" dirty="0"/>
          </a:p>
        </p:txBody>
      </p:sp>
      <p:sp>
        <p:nvSpPr>
          <p:cNvPr id="6" name="Text 4"/>
          <p:cNvSpPr/>
          <p:nvPr/>
        </p:nvSpPr>
        <p:spPr>
          <a:xfrm>
            <a:off x="2651760" y="1737360"/>
            <a:ext cx="14630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Host bits</a:t>
            </a:r>
            <a:endParaRPr lang="en-US" sz="1300" dirty="0"/>
          </a:p>
        </p:txBody>
      </p:sp>
      <p:sp>
        <p:nvSpPr>
          <p:cNvPr id="7" name="Text 5"/>
          <p:cNvSpPr/>
          <p:nvPr/>
        </p:nvSpPr>
        <p:spPr>
          <a:xfrm>
            <a:off x="4114800" y="1737360"/>
            <a:ext cx="20116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Total IPs</a:t>
            </a:r>
            <a:endParaRPr lang="en-US" sz="1300" dirty="0"/>
          </a:p>
        </p:txBody>
      </p:sp>
      <p:sp>
        <p:nvSpPr>
          <p:cNvPr id="8" name="Text 6"/>
          <p:cNvSpPr/>
          <p:nvPr/>
        </p:nvSpPr>
        <p:spPr>
          <a:xfrm>
            <a:off x="6126480" y="1737360"/>
            <a:ext cx="201168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Usable IPs</a:t>
            </a:r>
            <a:endParaRPr lang="en-US" sz="1300" dirty="0"/>
          </a:p>
        </p:txBody>
      </p:sp>
      <p:sp>
        <p:nvSpPr>
          <p:cNvPr id="9" name="Text 7"/>
          <p:cNvSpPr/>
          <p:nvPr/>
        </p:nvSpPr>
        <p:spPr>
          <a:xfrm>
            <a:off x="8138160" y="1737360"/>
            <a:ext cx="356616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Typical use</a:t>
            </a:r>
            <a:endParaRPr lang="en-US" sz="1300" dirty="0"/>
          </a:p>
        </p:txBody>
      </p:sp>
      <p:sp>
        <p:nvSpPr>
          <p:cNvPr id="10" name="Shape 8"/>
          <p:cNvSpPr/>
          <p:nvPr/>
        </p:nvSpPr>
        <p:spPr>
          <a:xfrm>
            <a:off x="457200" y="2240280"/>
            <a:ext cx="11247120" cy="502920"/>
          </a:xfrm>
          <a:prstGeom prst="rect">
            <a:avLst/>
          </a:prstGeom>
          <a:solidFill>
            <a:srgbClr val="1A2744"/>
          </a:solidFill>
          <a:ln w="12700">
            <a:solidFill>
              <a:srgbClr val="1A2744"/>
            </a:solidFill>
            <a:prstDash val="solid"/>
          </a:ln>
        </p:spPr>
      </p:sp>
      <p:sp>
        <p:nvSpPr>
          <p:cNvPr id="11" name="Text 9"/>
          <p:cNvSpPr/>
          <p:nvPr/>
        </p:nvSpPr>
        <p:spPr>
          <a:xfrm>
            <a:off x="457200" y="2240280"/>
            <a:ext cx="2194560" cy="502920"/>
          </a:xfrm>
          <a:prstGeom prst="rect">
            <a:avLst/>
          </a:prstGeom>
          <a:noFill/>
          <a:ln/>
        </p:spPr>
        <p:txBody>
          <a:bodyPr wrap="square" rtlCol="0" anchor="ctr"/>
          <a:lstStyle/>
          <a:p>
            <a:pPr algn="ctr" indent="0" marL="0">
              <a:buNone/>
            </a:pPr>
            <a:r>
              <a:rPr lang="en-US" sz="1400" b="1" dirty="0">
                <a:solidFill>
                  <a:srgbClr val="0D9488"/>
                </a:solidFill>
                <a:latin typeface="Consolas" pitchFamily="34" charset="0"/>
                <a:ea typeface="Consolas" pitchFamily="34" charset="-122"/>
                <a:cs typeface="Consolas" pitchFamily="34" charset="-120"/>
              </a:rPr>
              <a:t>/8</a:t>
            </a:r>
            <a:endParaRPr lang="en-US" sz="1400" dirty="0"/>
          </a:p>
        </p:txBody>
      </p:sp>
      <p:sp>
        <p:nvSpPr>
          <p:cNvPr id="12" name="Text 10"/>
          <p:cNvSpPr/>
          <p:nvPr/>
        </p:nvSpPr>
        <p:spPr>
          <a:xfrm>
            <a:off x="2651760" y="2240280"/>
            <a:ext cx="146304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24</a:t>
            </a:r>
            <a:endParaRPr lang="en-US" sz="1200" dirty="0"/>
          </a:p>
        </p:txBody>
      </p:sp>
      <p:sp>
        <p:nvSpPr>
          <p:cNvPr id="13" name="Text 11"/>
          <p:cNvSpPr/>
          <p:nvPr/>
        </p:nvSpPr>
        <p:spPr>
          <a:xfrm>
            <a:off x="4114800" y="224028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16,777,216</a:t>
            </a:r>
            <a:endParaRPr lang="en-US" sz="1200" dirty="0"/>
          </a:p>
        </p:txBody>
      </p:sp>
      <p:sp>
        <p:nvSpPr>
          <p:cNvPr id="14" name="Text 12"/>
          <p:cNvSpPr/>
          <p:nvPr/>
        </p:nvSpPr>
        <p:spPr>
          <a:xfrm>
            <a:off x="6126480" y="224028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15" name="Text 13"/>
          <p:cNvSpPr/>
          <p:nvPr/>
        </p:nvSpPr>
        <p:spPr>
          <a:xfrm>
            <a:off x="8138160" y="2240280"/>
            <a:ext cx="3566160" cy="5029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whole enterprise, rarely in AWS VPC</a:t>
            </a:r>
            <a:endParaRPr lang="en-US" sz="1200" dirty="0"/>
          </a:p>
        </p:txBody>
      </p:sp>
      <p:sp>
        <p:nvSpPr>
          <p:cNvPr id="16" name="Shape 14"/>
          <p:cNvSpPr/>
          <p:nvPr/>
        </p:nvSpPr>
        <p:spPr>
          <a:xfrm>
            <a:off x="457200" y="2743200"/>
            <a:ext cx="11247120" cy="502920"/>
          </a:xfrm>
          <a:prstGeom prst="rect">
            <a:avLst/>
          </a:prstGeom>
          <a:solidFill>
            <a:srgbClr val="0F1B2D"/>
          </a:solidFill>
          <a:ln w="12700">
            <a:solidFill>
              <a:srgbClr val="0F1B2D"/>
            </a:solidFill>
            <a:prstDash val="solid"/>
          </a:ln>
        </p:spPr>
      </p:sp>
      <p:sp>
        <p:nvSpPr>
          <p:cNvPr id="17" name="Text 15"/>
          <p:cNvSpPr/>
          <p:nvPr/>
        </p:nvSpPr>
        <p:spPr>
          <a:xfrm>
            <a:off x="457200" y="2743200"/>
            <a:ext cx="2194560" cy="502920"/>
          </a:xfrm>
          <a:prstGeom prst="rect">
            <a:avLst/>
          </a:prstGeom>
          <a:noFill/>
          <a:ln/>
        </p:spPr>
        <p:txBody>
          <a:bodyPr wrap="square" rtlCol="0" anchor="ctr"/>
          <a:lstStyle/>
          <a:p>
            <a:pPr algn="ctr" indent="0" marL="0">
              <a:buNone/>
            </a:pPr>
            <a:r>
              <a:rPr lang="en-US" sz="1400" b="1" dirty="0">
                <a:solidFill>
                  <a:srgbClr val="0D9488"/>
                </a:solidFill>
                <a:latin typeface="Consolas" pitchFamily="34" charset="0"/>
                <a:ea typeface="Consolas" pitchFamily="34" charset="-122"/>
                <a:cs typeface="Consolas" pitchFamily="34" charset="-120"/>
              </a:rPr>
              <a:t>/16</a:t>
            </a:r>
            <a:endParaRPr lang="en-US" sz="1400" dirty="0"/>
          </a:p>
        </p:txBody>
      </p:sp>
      <p:sp>
        <p:nvSpPr>
          <p:cNvPr id="18" name="Text 16"/>
          <p:cNvSpPr/>
          <p:nvPr/>
        </p:nvSpPr>
        <p:spPr>
          <a:xfrm>
            <a:off x="2651760" y="2743200"/>
            <a:ext cx="146304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16</a:t>
            </a:r>
            <a:endParaRPr lang="en-US" sz="1200" dirty="0"/>
          </a:p>
        </p:txBody>
      </p:sp>
      <p:sp>
        <p:nvSpPr>
          <p:cNvPr id="19" name="Text 17"/>
          <p:cNvSpPr/>
          <p:nvPr/>
        </p:nvSpPr>
        <p:spPr>
          <a:xfrm>
            <a:off x="4114800" y="274320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65,536</a:t>
            </a:r>
            <a:endParaRPr lang="en-US" sz="1200" dirty="0"/>
          </a:p>
        </p:txBody>
      </p:sp>
      <p:sp>
        <p:nvSpPr>
          <p:cNvPr id="20" name="Text 18"/>
          <p:cNvSpPr/>
          <p:nvPr/>
        </p:nvSpPr>
        <p:spPr>
          <a:xfrm>
            <a:off x="6126480" y="274320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21" name="Text 19"/>
          <p:cNvSpPr/>
          <p:nvPr/>
        </p:nvSpPr>
        <p:spPr>
          <a:xfrm>
            <a:off x="8138160" y="2743200"/>
            <a:ext cx="3566160" cy="5029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entire VPC (AWS max)</a:t>
            </a:r>
            <a:endParaRPr lang="en-US" sz="1200" dirty="0"/>
          </a:p>
        </p:txBody>
      </p:sp>
      <p:sp>
        <p:nvSpPr>
          <p:cNvPr id="22" name="Shape 20"/>
          <p:cNvSpPr/>
          <p:nvPr/>
        </p:nvSpPr>
        <p:spPr>
          <a:xfrm>
            <a:off x="457200" y="3246120"/>
            <a:ext cx="11247120" cy="502920"/>
          </a:xfrm>
          <a:prstGeom prst="rect">
            <a:avLst/>
          </a:prstGeom>
          <a:solidFill>
            <a:srgbClr val="1A2744"/>
          </a:solidFill>
          <a:ln w="12700">
            <a:solidFill>
              <a:srgbClr val="1A2744"/>
            </a:solidFill>
            <a:prstDash val="solid"/>
          </a:ln>
        </p:spPr>
      </p:sp>
      <p:sp>
        <p:nvSpPr>
          <p:cNvPr id="23" name="Text 21"/>
          <p:cNvSpPr/>
          <p:nvPr/>
        </p:nvSpPr>
        <p:spPr>
          <a:xfrm>
            <a:off x="457200" y="3246120"/>
            <a:ext cx="2194560" cy="502920"/>
          </a:xfrm>
          <a:prstGeom prst="rect">
            <a:avLst/>
          </a:prstGeom>
          <a:noFill/>
          <a:ln/>
        </p:spPr>
        <p:txBody>
          <a:bodyPr wrap="square" rtlCol="0" anchor="ctr"/>
          <a:lstStyle/>
          <a:p>
            <a:pPr algn="ctr" indent="0" marL="0">
              <a:buNone/>
            </a:pPr>
            <a:r>
              <a:rPr lang="en-US" sz="1400" b="1" dirty="0">
                <a:solidFill>
                  <a:srgbClr val="0D9488"/>
                </a:solidFill>
                <a:latin typeface="Consolas" pitchFamily="34" charset="0"/>
                <a:ea typeface="Consolas" pitchFamily="34" charset="-122"/>
                <a:cs typeface="Consolas" pitchFamily="34" charset="-120"/>
              </a:rPr>
              <a:t>/20</a:t>
            </a:r>
            <a:endParaRPr lang="en-US" sz="1400" dirty="0"/>
          </a:p>
        </p:txBody>
      </p:sp>
      <p:sp>
        <p:nvSpPr>
          <p:cNvPr id="24" name="Text 22"/>
          <p:cNvSpPr/>
          <p:nvPr/>
        </p:nvSpPr>
        <p:spPr>
          <a:xfrm>
            <a:off x="2651760" y="3246120"/>
            <a:ext cx="146304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12</a:t>
            </a:r>
            <a:endParaRPr lang="en-US" sz="1200" dirty="0"/>
          </a:p>
        </p:txBody>
      </p:sp>
      <p:sp>
        <p:nvSpPr>
          <p:cNvPr id="25" name="Text 23"/>
          <p:cNvSpPr/>
          <p:nvPr/>
        </p:nvSpPr>
        <p:spPr>
          <a:xfrm>
            <a:off x="4114800" y="324612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4,096</a:t>
            </a:r>
            <a:endParaRPr lang="en-US" sz="1200" dirty="0"/>
          </a:p>
        </p:txBody>
      </p:sp>
      <p:sp>
        <p:nvSpPr>
          <p:cNvPr id="26" name="Text 24"/>
          <p:cNvSpPr/>
          <p:nvPr/>
        </p:nvSpPr>
        <p:spPr>
          <a:xfrm>
            <a:off x="6126480" y="324612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4,091</a:t>
            </a:r>
            <a:endParaRPr lang="en-US" sz="1200" dirty="0"/>
          </a:p>
        </p:txBody>
      </p:sp>
      <p:sp>
        <p:nvSpPr>
          <p:cNvPr id="27" name="Text 25"/>
          <p:cNvSpPr/>
          <p:nvPr/>
        </p:nvSpPr>
        <p:spPr>
          <a:xfrm>
            <a:off x="8138160" y="3246120"/>
            <a:ext cx="3566160" cy="5029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large subnet</a:t>
            </a:r>
            <a:endParaRPr lang="en-US" sz="1200" dirty="0"/>
          </a:p>
        </p:txBody>
      </p:sp>
      <p:sp>
        <p:nvSpPr>
          <p:cNvPr id="28" name="Shape 26"/>
          <p:cNvSpPr/>
          <p:nvPr/>
        </p:nvSpPr>
        <p:spPr>
          <a:xfrm>
            <a:off x="457200" y="3749040"/>
            <a:ext cx="11247120" cy="502920"/>
          </a:xfrm>
          <a:prstGeom prst="rect">
            <a:avLst/>
          </a:prstGeom>
          <a:solidFill>
            <a:srgbClr val="0F1B2D"/>
          </a:solidFill>
          <a:ln w="12700">
            <a:solidFill>
              <a:srgbClr val="0F1B2D"/>
            </a:solidFill>
            <a:prstDash val="solid"/>
          </a:ln>
        </p:spPr>
      </p:sp>
      <p:sp>
        <p:nvSpPr>
          <p:cNvPr id="29" name="Text 27"/>
          <p:cNvSpPr/>
          <p:nvPr/>
        </p:nvSpPr>
        <p:spPr>
          <a:xfrm>
            <a:off x="457200" y="3749040"/>
            <a:ext cx="2194560" cy="502920"/>
          </a:xfrm>
          <a:prstGeom prst="rect">
            <a:avLst/>
          </a:prstGeom>
          <a:noFill/>
          <a:ln/>
        </p:spPr>
        <p:txBody>
          <a:bodyPr wrap="square" rtlCol="0" anchor="ctr"/>
          <a:lstStyle/>
          <a:p>
            <a:pPr algn="ctr" indent="0" marL="0">
              <a:buNone/>
            </a:pPr>
            <a:r>
              <a:rPr lang="en-US" sz="1400" b="1" dirty="0">
                <a:solidFill>
                  <a:srgbClr val="0D9488"/>
                </a:solidFill>
                <a:latin typeface="Consolas" pitchFamily="34" charset="0"/>
                <a:ea typeface="Consolas" pitchFamily="34" charset="-122"/>
                <a:cs typeface="Consolas" pitchFamily="34" charset="-120"/>
              </a:rPr>
              <a:t>/24</a:t>
            </a:r>
            <a:endParaRPr lang="en-US" sz="1400" dirty="0"/>
          </a:p>
        </p:txBody>
      </p:sp>
      <p:sp>
        <p:nvSpPr>
          <p:cNvPr id="30" name="Text 28"/>
          <p:cNvSpPr/>
          <p:nvPr/>
        </p:nvSpPr>
        <p:spPr>
          <a:xfrm>
            <a:off x="2651760" y="3749040"/>
            <a:ext cx="146304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8</a:t>
            </a:r>
            <a:endParaRPr lang="en-US" sz="1200" dirty="0"/>
          </a:p>
        </p:txBody>
      </p:sp>
      <p:sp>
        <p:nvSpPr>
          <p:cNvPr id="31" name="Text 29"/>
          <p:cNvSpPr/>
          <p:nvPr/>
        </p:nvSpPr>
        <p:spPr>
          <a:xfrm>
            <a:off x="4114800" y="374904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256</a:t>
            </a:r>
            <a:endParaRPr lang="en-US" sz="1200" dirty="0"/>
          </a:p>
        </p:txBody>
      </p:sp>
      <p:sp>
        <p:nvSpPr>
          <p:cNvPr id="32" name="Text 30"/>
          <p:cNvSpPr/>
          <p:nvPr/>
        </p:nvSpPr>
        <p:spPr>
          <a:xfrm>
            <a:off x="6126480" y="374904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251</a:t>
            </a:r>
            <a:endParaRPr lang="en-US" sz="1200" dirty="0"/>
          </a:p>
        </p:txBody>
      </p:sp>
      <p:sp>
        <p:nvSpPr>
          <p:cNvPr id="33" name="Text 31"/>
          <p:cNvSpPr/>
          <p:nvPr/>
        </p:nvSpPr>
        <p:spPr>
          <a:xfrm>
            <a:off x="8138160" y="3749040"/>
            <a:ext cx="3566160" cy="5029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standard subnet</a:t>
            </a:r>
            <a:endParaRPr lang="en-US" sz="1200" dirty="0"/>
          </a:p>
        </p:txBody>
      </p:sp>
      <p:sp>
        <p:nvSpPr>
          <p:cNvPr id="34" name="Shape 32"/>
          <p:cNvSpPr/>
          <p:nvPr/>
        </p:nvSpPr>
        <p:spPr>
          <a:xfrm>
            <a:off x="457200" y="4251960"/>
            <a:ext cx="11247120" cy="502920"/>
          </a:xfrm>
          <a:prstGeom prst="rect">
            <a:avLst/>
          </a:prstGeom>
          <a:solidFill>
            <a:srgbClr val="1A2744"/>
          </a:solidFill>
          <a:ln w="12700">
            <a:solidFill>
              <a:srgbClr val="1A2744"/>
            </a:solidFill>
            <a:prstDash val="solid"/>
          </a:ln>
        </p:spPr>
      </p:sp>
      <p:sp>
        <p:nvSpPr>
          <p:cNvPr id="35" name="Text 33"/>
          <p:cNvSpPr/>
          <p:nvPr/>
        </p:nvSpPr>
        <p:spPr>
          <a:xfrm>
            <a:off x="457200" y="4251960"/>
            <a:ext cx="2194560" cy="502920"/>
          </a:xfrm>
          <a:prstGeom prst="rect">
            <a:avLst/>
          </a:prstGeom>
          <a:noFill/>
          <a:ln/>
        </p:spPr>
        <p:txBody>
          <a:bodyPr wrap="square" rtlCol="0" anchor="ctr"/>
          <a:lstStyle/>
          <a:p>
            <a:pPr algn="ctr" indent="0" marL="0">
              <a:buNone/>
            </a:pPr>
            <a:r>
              <a:rPr lang="en-US" sz="1400" b="1" dirty="0">
                <a:solidFill>
                  <a:srgbClr val="0D9488"/>
                </a:solidFill>
                <a:latin typeface="Consolas" pitchFamily="34" charset="0"/>
                <a:ea typeface="Consolas" pitchFamily="34" charset="-122"/>
                <a:cs typeface="Consolas" pitchFamily="34" charset="-120"/>
              </a:rPr>
              <a:t>/28</a:t>
            </a:r>
            <a:endParaRPr lang="en-US" sz="1400" dirty="0"/>
          </a:p>
        </p:txBody>
      </p:sp>
      <p:sp>
        <p:nvSpPr>
          <p:cNvPr id="36" name="Text 34"/>
          <p:cNvSpPr/>
          <p:nvPr/>
        </p:nvSpPr>
        <p:spPr>
          <a:xfrm>
            <a:off x="2651760" y="4251960"/>
            <a:ext cx="146304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4</a:t>
            </a:r>
            <a:endParaRPr lang="en-US" sz="1200" dirty="0"/>
          </a:p>
        </p:txBody>
      </p:sp>
      <p:sp>
        <p:nvSpPr>
          <p:cNvPr id="37" name="Text 35"/>
          <p:cNvSpPr/>
          <p:nvPr/>
        </p:nvSpPr>
        <p:spPr>
          <a:xfrm>
            <a:off x="4114800" y="425196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16</a:t>
            </a:r>
            <a:endParaRPr lang="en-US" sz="1200" dirty="0"/>
          </a:p>
        </p:txBody>
      </p:sp>
      <p:sp>
        <p:nvSpPr>
          <p:cNvPr id="38" name="Text 36"/>
          <p:cNvSpPr/>
          <p:nvPr/>
        </p:nvSpPr>
        <p:spPr>
          <a:xfrm>
            <a:off x="6126480" y="4251960"/>
            <a:ext cx="2011680" cy="502920"/>
          </a:xfrm>
          <a:prstGeom prst="rect">
            <a:avLst/>
          </a:prstGeom>
          <a:noFill/>
          <a:ln/>
        </p:spPr>
        <p:txBody>
          <a:bodyPr wrap="square"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11</a:t>
            </a:r>
            <a:endParaRPr lang="en-US" sz="1200" dirty="0"/>
          </a:p>
        </p:txBody>
      </p:sp>
      <p:sp>
        <p:nvSpPr>
          <p:cNvPr id="39" name="Text 37"/>
          <p:cNvSpPr/>
          <p:nvPr/>
        </p:nvSpPr>
        <p:spPr>
          <a:xfrm>
            <a:off x="8138160" y="4251960"/>
            <a:ext cx="3566160" cy="5029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small subnet (AWS minimum)</a:t>
            </a:r>
            <a:endParaRPr lang="en-US" sz="1200" dirty="0"/>
          </a:p>
        </p:txBody>
      </p:sp>
      <p:sp>
        <p:nvSpPr>
          <p:cNvPr id="40" name="Shape 38"/>
          <p:cNvSpPr/>
          <p:nvPr/>
        </p:nvSpPr>
        <p:spPr>
          <a:xfrm>
            <a:off x="457200" y="5120640"/>
            <a:ext cx="11247120" cy="1417320"/>
          </a:xfrm>
          <a:prstGeom prst="roundRect">
            <a:avLst>
              <a:gd name="adj" fmla="val 5161"/>
            </a:avLst>
          </a:prstGeom>
          <a:solidFill>
            <a:srgbClr val="1A2744"/>
          </a:solidFill>
          <a:ln w="12700">
            <a:solidFill>
              <a:srgbClr val="1A2744"/>
            </a:solidFill>
            <a:prstDash val="solid"/>
          </a:ln>
        </p:spPr>
      </p:sp>
      <p:sp>
        <p:nvSpPr>
          <p:cNvPr id="41" name="Shape 39"/>
          <p:cNvSpPr/>
          <p:nvPr/>
        </p:nvSpPr>
        <p:spPr>
          <a:xfrm>
            <a:off x="731520" y="5394960"/>
            <a:ext cx="640080" cy="640080"/>
          </a:xfrm>
          <a:prstGeom prst="ellipse">
            <a:avLst/>
          </a:prstGeom>
          <a:solidFill>
            <a:srgbClr val="F59E0B"/>
          </a:solidFill>
          <a:ln w="12700">
            <a:solidFill>
              <a:srgbClr val="F59E0B"/>
            </a:solidFill>
            <a:prstDash val="solid"/>
          </a:ln>
        </p:spPr>
      </p:sp>
      <p:pic>
        <p:nvPicPr>
          <p:cNvPr id="42" name="Image 0" descr="preencoded.png">    </p:cNvPr>
          <p:cNvPicPr>
            <a:picLocks noChangeAspect="1"/>
          </p:cNvPicPr>
          <p:nvPr/>
        </p:nvPicPr>
        <p:blipFill>
          <a:blip r:embed="rId1"/>
          <a:stretch>
            <a:fillRect/>
          </a:stretch>
        </p:blipFill>
        <p:spPr>
          <a:xfrm>
            <a:off x="891540" y="5554980"/>
            <a:ext cx="320040" cy="320040"/>
          </a:xfrm>
          <a:prstGeom prst="rect">
            <a:avLst/>
          </a:prstGeom>
        </p:spPr>
      </p:pic>
      <p:sp>
        <p:nvSpPr>
          <p:cNvPr id="43" name="Text 40"/>
          <p:cNvSpPr/>
          <p:nvPr/>
        </p:nvSpPr>
        <p:spPr>
          <a:xfrm>
            <a:off x="1554480" y="5212080"/>
            <a:ext cx="9601200" cy="365760"/>
          </a:xfrm>
          <a:prstGeom prst="rect">
            <a:avLst/>
          </a:prstGeom>
          <a:noFill/>
          <a:ln/>
        </p:spPr>
        <p:txBody>
          <a:bodyPr wrap="square"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AWS reserves 5 IPs per SUBNET (not per VPC)</a:t>
            </a:r>
            <a:endParaRPr lang="en-US" sz="1600" dirty="0"/>
          </a:p>
        </p:txBody>
      </p:sp>
      <p:sp>
        <p:nvSpPr>
          <p:cNvPr id="44" name="Text 41"/>
          <p:cNvSpPr/>
          <p:nvPr/>
        </p:nvSpPr>
        <p:spPr>
          <a:xfrm>
            <a:off x="1554480" y="5577840"/>
            <a:ext cx="9966960" cy="9144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Network address, VPC router, DNS, future use, broadcast. Reserved per-subnet only — VPC CIDRs themselves don't lose IPs. A /28 subnet gives 16 total but only 11 usable — this is why /28 is the AWS minimum.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Reading a CIDR at a Glance</a:t>
            </a:r>
            <a:endParaRPr lang="en-US" sz="32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Two quick mental shortcuts that cover 95% of real cases.</a:t>
            </a:r>
            <a:endParaRPr lang="en-US" sz="1600" dirty="0"/>
          </a:p>
        </p:txBody>
      </p:sp>
      <p:sp>
        <p:nvSpPr>
          <p:cNvPr id="4" name="Shape 2"/>
          <p:cNvSpPr/>
          <p:nvPr/>
        </p:nvSpPr>
        <p:spPr>
          <a:xfrm>
            <a:off x="457200" y="1691640"/>
            <a:ext cx="11247120" cy="2194560"/>
          </a:xfrm>
          <a:prstGeom prst="roundRect">
            <a:avLst>
              <a:gd name="adj" fmla="val 3333"/>
            </a:avLst>
          </a:prstGeom>
          <a:solidFill>
            <a:srgbClr val="1A2744"/>
          </a:solidFill>
          <a:ln w="12700">
            <a:solidFill>
              <a:srgbClr val="1A2744"/>
            </a:solidFill>
            <a:prstDash val="solid"/>
          </a:ln>
        </p:spPr>
      </p:sp>
      <p:sp>
        <p:nvSpPr>
          <p:cNvPr id="5" name="Shape 3"/>
          <p:cNvSpPr/>
          <p:nvPr/>
        </p:nvSpPr>
        <p:spPr>
          <a:xfrm>
            <a:off x="731520" y="1874520"/>
            <a:ext cx="548640" cy="54864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868680" y="2011680"/>
            <a:ext cx="274320" cy="274320"/>
          </a:xfrm>
          <a:prstGeom prst="rect">
            <a:avLst/>
          </a:prstGeom>
        </p:spPr>
      </p:pic>
      <p:sp>
        <p:nvSpPr>
          <p:cNvPr id="7" name="Text 4"/>
          <p:cNvSpPr/>
          <p:nvPr/>
        </p:nvSpPr>
        <p:spPr>
          <a:xfrm>
            <a:off x="1417320" y="1828800"/>
            <a:ext cx="100584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Shortcut 1:  Total IPs = 2^(32 − prefix)</a:t>
            </a:r>
            <a:endParaRPr lang="en-US" sz="1800" dirty="0"/>
          </a:p>
        </p:txBody>
      </p:sp>
      <p:sp>
        <p:nvSpPr>
          <p:cNvPr id="8" name="Shape 5"/>
          <p:cNvSpPr/>
          <p:nvPr/>
        </p:nvSpPr>
        <p:spPr>
          <a:xfrm>
            <a:off x="731520" y="2514600"/>
            <a:ext cx="3566160" cy="1234440"/>
          </a:xfrm>
          <a:prstGeom prst="roundRect">
            <a:avLst>
              <a:gd name="adj" fmla="val 3704"/>
            </a:avLst>
          </a:prstGeom>
          <a:solidFill>
            <a:srgbClr val="0F1B2D"/>
          </a:solidFill>
          <a:ln w="12700">
            <a:solidFill>
              <a:srgbClr val="0D9488"/>
            </a:solidFill>
            <a:prstDash val="solid"/>
          </a:ln>
        </p:spPr>
      </p:sp>
      <p:sp>
        <p:nvSpPr>
          <p:cNvPr id="9" name="Text 6"/>
          <p:cNvSpPr/>
          <p:nvPr/>
        </p:nvSpPr>
        <p:spPr>
          <a:xfrm>
            <a:off x="731520" y="2560320"/>
            <a:ext cx="3566160" cy="365760"/>
          </a:xfrm>
          <a:prstGeom prst="rect">
            <a:avLst/>
          </a:prstGeom>
          <a:noFill/>
          <a:ln/>
        </p:spPr>
        <p:txBody>
          <a:bodyPr wrap="square" rtlCol="0" anchor="ctr"/>
          <a:lstStyle/>
          <a:p>
            <a:pPr algn="ctr" indent="0" marL="0">
              <a:buNone/>
            </a:pPr>
            <a:r>
              <a:rPr lang="en-US" sz="2000" b="1" dirty="0">
                <a:solidFill>
                  <a:srgbClr val="0D9488"/>
                </a:solidFill>
                <a:latin typeface="Consolas" pitchFamily="34" charset="0"/>
                <a:ea typeface="Consolas" pitchFamily="34" charset="-122"/>
                <a:cs typeface="Consolas" pitchFamily="34" charset="-120"/>
              </a:rPr>
              <a:t>/16</a:t>
            </a:r>
            <a:endParaRPr lang="en-US" sz="2000" dirty="0"/>
          </a:p>
        </p:txBody>
      </p:sp>
      <p:sp>
        <p:nvSpPr>
          <p:cNvPr id="10" name="Text 7"/>
          <p:cNvSpPr/>
          <p:nvPr/>
        </p:nvSpPr>
        <p:spPr>
          <a:xfrm>
            <a:off x="731520" y="2971800"/>
            <a:ext cx="3566160" cy="320040"/>
          </a:xfrm>
          <a:prstGeom prst="rect">
            <a:avLst/>
          </a:prstGeom>
          <a:noFill/>
          <a:ln/>
        </p:spPr>
        <p:txBody>
          <a:bodyPr wrap="square" rtlCol="0" anchor="ctr"/>
          <a:lstStyle/>
          <a:p>
            <a:pPr algn="ctr" indent="0" marL="0">
              <a:buNone/>
            </a:pPr>
            <a:r>
              <a:rPr lang="en-US" sz="1200" dirty="0">
                <a:solidFill>
                  <a:srgbClr val="94A3B8"/>
                </a:solidFill>
                <a:latin typeface="Consolas" pitchFamily="34" charset="0"/>
                <a:ea typeface="Consolas" pitchFamily="34" charset="-122"/>
                <a:cs typeface="Consolas" pitchFamily="34" charset="-120"/>
              </a:rPr>
              <a:t>2^(32−16)  =  2^16</a:t>
            </a:r>
            <a:endParaRPr lang="en-US" sz="1200" dirty="0"/>
          </a:p>
        </p:txBody>
      </p:sp>
      <p:sp>
        <p:nvSpPr>
          <p:cNvPr id="11" name="Text 8"/>
          <p:cNvSpPr/>
          <p:nvPr/>
        </p:nvSpPr>
        <p:spPr>
          <a:xfrm>
            <a:off x="731520" y="3337560"/>
            <a:ext cx="35661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65,536 IPs</a:t>
            </a:r>
            <a:endParaRPr lang="en-US" sz="1400" dirty="0"/>
          </a:p>
        </p:txBody>
      </p:sp>
      <p:sp>
        <p:nvSpPr>
          <p:cNvPr id="12" name="Shape 9"/>
          <p:cNvSpPr/>
          <p:nvPr/>
        </p:nvSpPr>
        <p:spPr>
          <a:xfrm>
            <a:off x="4480560" y="2514600"/>
            <a:ext cx="3566160" cy="1234440"/>
          </a:xfrm>
          <a:prstGeom prst="roundRect">
            <a:avLst>
              <a:gd name="adj" fmla="val 3704"/>
            </a:avLst>
          </a:prstGeom>
          <a:solidFill>
            <a:srgbClr val="0F1B2D"/>
          </a:solidFill>
          <a:ln w="12700">
            <a:solidFill>
              <a:srgbClr val="0D9488"/>
            </a:solidFill>
            <a:prstDash val="solid"/>
          </a:ln>
        </p:spPr>
      </p:sp>
      <p:sp>
        <p:nvSpPr>
          <p:cNvPr id="13" name="Text 10"/>
          <p:cNvSpPr/>
          <p:nvPr/>
        </p:nvSpPr>
        <p:spPr>
          <a:xfrm>
            <a:off x="4480560" y="2560320"/>
            <a:ext cx="3566160" cy="365760"/>
          </a:xfrm>
          <a:prstGeom prst="rect">
            <a:avLst/>
          </a:prstGeom>
          <a:noFill/>
          <a:ln/>
        </p:spPr>
        <p:txBody>
          <a:bodyPr wrap="square" rtlCol="0" anchor="ctr"/>
          <a:lstStyle/>
          <a:p>
            <a:pPr algn="ctr" indent="0" marL="0">
              <a:buNone/>
            </a:pPr>
            <a:r>
              <a:rPr lang="en-US" sz="2000" b="1" dirty="0">
                <a:solidFill>
                  <a:srgbClr val="0D9488"/>
                </a:solidFill>
                <a:latin typeface="Consolas" pitchFamily="34" charset="0"/>
                <a:ea typeface="Consolas" pitchFamily="34" charset="-122"/>
                <a:cs typeface="Consolas" pitchFamily="34" charset="-120"/>
              </a:rPr>
              <a:t>/24</a:t>
            </a:r>
            <a:endParaRPr lang="en-US" sz="2000" dirty="0"/>
          </a:p>
        </p:txBody>
      </p:sp>
      <p:sp>
        <p:nvSpPr>
          <p:cNvPr id="14" name="Text 11"/>
          <p:cNvSpPr/>
          <p:nvPr/>
        </p:nvSpPr>
        <p:spPr>
          <a:xfrm>
            <a:off x="4480560" y="2971800"/>
            <a:ext cx="3566160" cy="320040"/>
          </a:xfrm>
          <a:prstGeom prst="rect">
            <a:avLst/>
          </a:prstGeom>
          <a:noFill/>
          <a:ln/>
        </p:spPr>
        <p:txBody>
          <a:bodyPr wrap="square" rtlCol="0" anchor="ctr"/>
          <a:lstStyle/>
          <a:p>
            <a:pPr algn="ctr" indent="0" marL="0">
              <a:buNone/>
            </a:pPr>
            <a:r>
              <a:rPr lang="en-US" sz="1200" dirty="0">
                <a:solidFill>
                  <a:srgbClr val="94A3B8"/>
                </a:solidFill>
                <a:latin typeface="Consolas" pitchFamily="34" charset="0"/>
                <a:ea typeface="Consolas" pitchFamily="34" charset="-122"/>
                <a:cs typeface="Consolas" pitchFamily="34" charset="-120"/>
              </a:rPr>
              <a:t>2^(32−24)  =  2^8</a:t>
            </a:r>
            <a:endParaRPr lang="en-US" sz="1200" dirty="0"/>
          </a:p>
        </p:txBody>
      </p:sp>
      <p:sp>
        <p:nvSpPr>
          <p:cNvPr id="15" name="Text 12"/>
          <p:cNvSpPr/>
          <p:nvPr/>
        </p:nvSpPr>
        <p:spPr>
          <a:xfrm>
            <a:off x="4480560" y="3337560"/>
            <a:ext cx="35661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256 IPs</a:t>
            </a:r>
            <a:endParaRPr lang="en-US" sz="1400" dirty="0"/>
          </a:p>
        </p:txBody>
      </p:sp>
      <p:sp>
        <p:nvSpPr>
          <p:cNvPr id="16" name="Shape 13"/>
          <p:cNvSpPr/>
          <p:nvPr/>
        </p:nvSpPr>
        <p:spPr>
          <a:xfrm>
            <a:off x="8229600" y="2514600"/>
            <a:ext cx="3566160" cy="1234440"/>
          </a:xfrm>
          <a:prstGeom prst="roundRect">
            <a:avLst>
              <a:gd name="adj" fmla="val 3704"/>
            </a:avLst>
          </a:prstGeom>
          <a:solidFill>
            <a:srgbClr val="0F1B2D"/>
          </a:solidFill>
          <a:ln w="12700">
            <a:solidFill>
              <a:srgbClr val="0D9488"/>
            </a:solidFill>
            <a:prstDash val="solid"/>
          </a:ln>
        </p:spPr>
      </p:sp>
      <p:sp>
        <p:nvSpPr>
          <p:cNvPr id="17" name="Text 14"/>
          <p:cNvSpPr/>
          <p:nvPr/>
        </p:nvSpPr>
        <p:spPr>
          <a:xfrm>
            <a:off x="8229600" y="2560320"/>
            <a:ext cx="3566160" cy="365760"/>
          </a:xfrm>
          <a:prstGeom prst="rect">
            <a:avLst/>
          </a:prstGeom>
          <a:noFill/>
          <a:ln/>
        </p:spPr>
        <p:txBody>
          <a:bodyPr wrap="square" rtlCol="0" anchor="ctr"/>
          <a:lstStyle/>
          <a:p>
            <a:pPr algn="ctr" indent="0" marL="0">
              <a:buNone/>
            </a:pPr>
            <a:r>
              <a:rPr lang="en-US" sz="2000" b="1" dirty="0">
                <a:solidFill>
                  <a:srgbClr val="0D9488"/>
                </a:solidFill>
                <a:latin typeface="Consolas" pitchFamily="34" charset="0"/>
                <a:ea typeface="Consolas" pitchFamily="34" charset="-122"/>
                <a:cs typeface="Consolas" pitchFamily="34" charset="-120"/>
              </a:rPr>
              <a:t>/28</a:t>
            </a:r>
            <a:endParaRPr lang="en-US" sz="2000" dirty="0"/>
          </a:p>
        </p:txBody>
      </p:sp>
      <p:sp>
        <p:nvSpPr>
          <p:cNvPr id="18" name="Text 15"/>
          <p:cNvSpPr/>
          <p:nvPr/>
        </p:nvSpPr>
        <p:spPr>
          <a:xfrm>
            <a:off x="8229600" y="2971800"/>
            <a:ext cx="3566160" cy="320040"/>
          </a:xfrm>
          <a:prstGeom prst="rect">
            <a:avLst/>
          </a:prstGeom>
          <a:noFill/>
          <a:ln/>
        </p:spPr>
        <p:txBody>
          <a:bodyPr wrap="square" rtlCol="0" anchor="ctr"/>
          <a:lstStyle/>
          <a:p>
            <a:pPr algn="ctr" indent="0" marL="0">
              <a:buNone/>
            </a:pPr>
            <a:r>
              <a:rPr lang="en-US" sz="1200" dirty="0">
                <a:solidFill>
                  <a:srgbClr val="94A3B8"/>
                </a:solidFill>
                <a:latin typeface="Consolas" pitchFamily="34" charset="0"/>
                <a:ea typeface="Consolas" pitchFamily="34" charset="-122"/>
                <a:cs typeface="Consolas" pitchFamily="34" charset="-120"/>
              </a:rPr>
              <a:t>2^(32−28)  =  2^4</a:t>
            </a:r>
            <a:endParaRPr lang="en-US" sz="1200" dirty="0"/>
          </a:p>
        </p:txBody>
      </p:sp>
      <p:sp>
        <p:nvSpPr>
          <p:cNvPr id="19" name="Text 16"/>
          <p:cNvSpPr/>
          <p:nvPr/>
        </p:nvSpPr>
        <p:spPr>
          <a:xfrm>
            <a:off x="8229600" y="3337560"/>
            <a:ext cx="35661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 IPs</a:t>
            </a:r>
            <a:endParaRPr lang="en-US" sz="1400" dirty="0"/>
          </a:p>
        </p:txBody>
      </p:sp>
      <p:sp>
        <p:nvSpPr>
          <p:cNvPr id="20" name="Shape 17"/>
          <p:cNvSpPr/>
          <p:nvPr/>
        </p:nvSpPr>
        <p:spPr>
          <a:xfrm>
            <a:off x="457200" y="4069080"/>
            <a:ext cx="11247120" cy="2468880"/>
          </a:xfrm>
          <a:prstGeom prst="roundRect">
            <a:avLst>
              <a:gd name="adj" fmla="val 2963"/>
            </a:avLst>
          </a:prstGeom>
          <a:solidFill>
            <a:srgbClr val="1A2744"/>
          </a:solidFill>
          <a:ln w="12700">
            <a:solidFill>
              <a:srgbClr val="1A2744"/>
            </a:solidFill>
            <a:prstDash val="solid"/>
          </a:ln>
        </p:spPr>
      </p:sp>
      <p:sp>
        <p:nvSpPr>
          <p:cNvPr id="21" name="Shape 18"/>
          <p:cNvSpPr/>
          <p:nvPr/>
        </p:nvSpPr>
        <p:spPr>
          <a:xfrm>
            <a:off x="731520" y="4251960"/>
            <a:ext cx="548640" cy="548640"/>
          </a:xfrm>
          <a:prstGeom prst="ellipse">
            <a:avLst/>
          </a:prstGeom>
          <a:solidFill>
            <a:srgbClr val="F59E0B"/>
          </a:solidFill>
          <a:ln w="12700">
            <a:solidFill>
              <a:srgbClr val="F59E0B"/>
            </a:solidFill>
            <a:prstDash val="solid"/>
          </a:ln>
        </p:spPr>
      </p:sp>
      <p:pic>
        <p:nvPicPr>
          <p:cNvPr id="22" name="Image 1" descr="preencoded.png">    </p:cNvPr>
          <p:cNvPicPr>
            <a:picLocks noChangeAspect="1"/>
          </p:cNvPicPr>
          <p:nvPr/>
        </p:nvPicPr>
        <p:blipFill>
          <a:blip r:embed="rId2"/>
          <a:stretch>
            <a:fillRect/>
          </a:stretch>
        </p:blipFill>
        <p:spPr>
          <a:xfrm>
            <a:off x="868680" y="4389120"/>
            <a:ext cx="274320" cy="274320"/>
          </a:xfrm>
          <a:prstGeom prst="rect">
            <a:avLst/>
          </a:prstGeom>
        </p:spPr>
      </p:pic>
      <p:sp>
        <p:nvSpPr>
          <p:cNvPr id="23" name="Text 19"/>
          <p:cNvSpPr/>
          <p:nvPr/>
        </p:nvSpPr>
        <p:spPr>
          <a:xfrm>
            <a:off x="1417320" y="4206240"/>
            <a:ext cx="100584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Shortcut 2:  What IPs are in 10.0.0.0/16?</a:t>
            </a:r>
            <a:endParaRPr lang="en-US" sz="1800" dirty="0"/>
          </a:p>
        </p:txBody>
      </p:sp>
      <p:sp>
        <p:nvSpPr>
          <p:cNvPr id="24" name="Text 20"/>
          <p:cNvSpPr/>
          <p:nvPr/>
        </p:nvSpPr>
        <p:spPr>
          <a:xfrm>
            <a:off x="822960" y="4709160"/>
            <a:ext cx="10972800" cy="1737360"/>
          </a:xfrm>
          <a:prstGeom prst="rect">
            <a:avLst/>
          </a:prstGeom>
          <a:noFill/>
          <a:ln/>
        </p:spPr>
        <p:txBody>
          <a:bodyPr wrap="square" rtlCol="0" anchor="t"/>
          <a:lstStyle/>
          <a:p>
            <a:pPr indent="0" marL="0">
              <a:buNone/>
            </a:pPr>
            <a:r>
              <a:rPr lang="en-US" sz="1400" dirty="0">
                <a:solidFill>
                  <a:srgbClr val="FFFFFF"/>
                </a:solidFill>
              </a:rPr>
              <a:t>A /16 fixes the first 2 octets. So </a:t>
            </a:r>
            <a:pPr indent="0" marL="0">
              <a:buNone/>
            </a:pPr>
            <a:r>
              <a:rPr lang="en-US" sz="1400" b="1" dirty="0">
                <a:solidFill>
                  <a:srgbClr val="0D9488"/>
                </a:solidFill>
                <a:latin typeface="Consolas" pitchFamily="34" charset="0"/>
                <a:ea typeface="Consolas" pitchFamily="34" charset="-122"/>
                <a:cs typeface="Consolas" pitchFamily="34" charset="-120"/>
              </a:rPr>
              <a:t>10.0</a:t>
            </a:r>
            <a:pPr indent="0" marL="0">
              <a:buNone/>
            </a:pPr>
            <a:r>
              <a:rPr lang="en-US" sz="1400" dirty="0">
                <a:solidFill>
                  <a:srgbClr val="FFFFFF"/>
                </a:solidFill>
              </a:rPr>
              <a:t>.x.x — anything from </a:t>
            </a:r>
            <a:pPr indent="0" marL="0">
              <a:buNone/>
            </a:pPr>
            <a:r>
              <a:rPr lang="en-US" sz="1400" dirty="0">
                <a:solidFill>
                  <a:srgbClr val="0D9488"/>
                </a:solidFill>
                <a:latin typeface="Consolas" pitchFamily="34" charset="0"/>
                <a:ea typeface="Consolas" pitchFamily="34" charset="-122"/>
                <a:cs typeface="Consolas" pitchFamily="34" charset="-120"/>
              </a:rPr>
              <a:t>10.0.0.0</a:t>
            </a:r>
            <a:pPr indent="0" marL="0">
              <a:buNone/>
            </a:pPr>
            <a:r>
              <a:rPr lang="en-US" sz="1400" dirty="0">
                <a:solidFill>
                  <a:srgbClr val="FFFFFF"/>
                </a:solidFill>
              </a:rPr>
              <a:t> to </a:t>
            </a:r>
            <a:pPr indent="0" marL="0">
              <a:buNone/>
            </a:pPr>
            <a:r>
              <a:rPr lang="en-US" sz="1400" dirty="0">
                <a:solidFill>
                  <a:srgbClr val="0D9488"/>
                </a:solidFill>
                <a:latin typeface="Consolas" pitchFamily="34" charset="0"/>
                <a:ea typeface="Consolas" pitchFamily="34" charset="-122"/>
                <a:cs typeface="Consolas" pitchFamily="34" charset="-120"/>
              </a:rPr>
              <a:t>10.0.255.255</a:t>
            </a:r>
            <a:pPr indent="0" marL="0">
              <a:buNone/>
            </a:pPr>
            <a:endParaRPr lang="en-US" sz="1400" dirty="0"/>
          </a:p>
          <a:p>
            <a:pPr indent="0" marL="0">
              <a:buNone/>
            </a:pPr>
            <a:endParaRPr lang="en-US" sz="1400" dirty="0"/>
          </a:p>
          <a:p>
            <a:pPr indent="0" marL="0">
              <a:buNone/>
            </a:pPr>
            <a:r>
              <a:rPr lang="en-US" sz="1400" dirty="0">
                <a:solidFill>
                  <a:srgbClr val="FFFFFF"/>
                </a:solidFill>
              </a:rPr>
              <a:t>A /24 fixes the first 3 octets. So </a:t>
            </a:r>
            <a:endParaRPr lang="en-US" sz="1400" dirty="0"/>
          </a:p>
          <a:p>
            <a:pPr indent="0" marL="0">
              <a:buNone/>
            </a:pPr>
            <a:r>
              <a:rPr lang="en-US" sz="1400" b="1" dirty="0">
                <a:solidFill>
                  <a:srgbClr val="0D9488"/>
                </a:solidFill>
                <a:latin typeface="Consolas" pitchFamily="34" charset="0"/>
                <a:ea typeface="Consolas" pitchFamily="34" charset="-122"/>
                <a:cs typeface="Consolas" pitchFamily="34" charset="-120"/>
              </a:rPr>
              <a:t>10.0.1.0/24</a:t>
            </a:r>
            <a:pPr indent="0" marL="0">
              <a:buNone/>
            </a:pPr>
            <a:r>
              <a:rPr lang="en-US" sz="1400" dirty="0">
                <a:solidFill>
                  <a:srgbClr val="FFFFFF"/>
                </a:solidFill>
              </a:rPr>
              <a:t> = </a:t>
            </a:r>
            <a:pPr indent="0" marL="0">
              <a:buNone/>
            </a:pPr>
            <a:r>
              <a:rPr lang="en-US" sz="1400" dirty="0">
                <a:solidFill>
                  <a:srgbClr val="0D9488"/>
                </a:solidFill>
                <a:latin typeface="Consolas" pitchFamily="34" charset="0"/>
                <a:ea typeface="Consolas" pitchFamily="34" charset="-122"/>
                <a:cs typeface="Consolas" pitchFamily="34" charset="-120"/>
              </a:rPr>
              <a:t>10.0.1.0</a:t>
            </a:r>
            <a:pPr indent="0" marL="0">
              <a:buNone/>
            </a:pPr>
            <a:r>
              <a:rPr lang="en-US" sz="1400" dirty="0">
                <a:solidFill>
                  <a:srgbClr val="FFFFFF"/>
                </a:solidFill>
              </a:rPr>
              <a:t> to </a:t>
            </a:r>
            <a:pPr indent="0" marL="0">
              <a:buNone/>
            </a:pPr>
            <a:r>
              <a:rPr lang="en-US" sz="1400" dirty="0">
                <a:solidFill>
                  <a:srgbClr val="0D9488"/>
                </a:solidFill>
                <a:latin typeface="Consolas" pitchFamily="34" charset="0"/>
                <a:ea typeface="Consolas" pitchFamily="34" charset="-122"/>
                <a:cs typeface="Consolas" pitchFamily="34" charset="-120"/>
              </a:rPr>
              <a:t>10.0.1.255</a:t>
            </a:r>
            <a:pPr indent="0" marL="0">
              <a:buNone/>
            </a:pPr>
            <a:endParaRPr lang="en-US" sz="1400" dirty="0"/>
          </a:p>
          <a:p>
            <a:pPr indent="0" marL="0">
              <a:buNone/>
            </a:pPr>
            <a:endParaRPr lang="en-US" sz="1400" dirty="0"/>
          </a:p>
          <a:p>
            <a:pPr indent="0" marL="0">
              <a:buNone/>
            </a:pPr>
            <a:r>
              <a:rPr lang="en-US" sz="1400" dirty="0">
                <a:solidFill>
                  <a:srgbClr val="FFFFFF"/>
                </a:solidFill>
              </a:rPr>
              <a:t>A /28 fixes the first 28 bits. So </a:t>
            </a:r>
            <a:endParaRPr lang="en-US" sz="1400" dirty="0"/>
          </a:p>
          <a:p>
            <a:pPr indent="0" marL="0">
              <a:buNone/>
            </a:pPr>
            <a:r>
              <a:rPr lang="en-US" sz="1400" b="1" dirty="0">
                <a:solidFill>
                  <a:srgbClr val="0D9488"/>
                </a:solidFill>
                <a:latin typeface="Consolas" pitchFamily="34" charset="0"/>
                <a:ea typeface="Consolas" pitchFamily="34" charset="-122"/>
                <a:cs typeface="Consolas" pitchFamily="34" charset="-120"/>
              </a:rPr>
              <a:t>10.0.1.0/28</a:t>
            </a:r>
            <a:pPr indent="0" marL="0">
              <a:buNone/>
            </a:pPr>
            <a:r>
              <a:rPr lang="en-US" sz="1400" dirty="0">
                <a:solidFill>
                  <a:srgbClr val="FFFFFF"/>
                </a:solidFill>
              </a:rPr>
              <a:t> = </a:t>
            </a:r>
            <a:pPr indent="0" marL="0">
              <a:buNone/>
            </a:pPr>
            <a:r>
              <a:rPr lang="en-US" sz="1400" dirty="0">
                <a:solidFill>
                  <a:srgbClr val="0D9488"/>
                </a:solidFill>
                <a:latin typeface="Consolas" pitchFamily="34" charset="0"/>
                <a:ea typeface="Consolas" pitchFamily="34" charset="-122"/>
                <a:cs typeface="Consolas" pitchFamily="34" charset="-120"/>
              </a:rPr>
              <a:t>10.0.1.0</a:t>
            </a:r>
            <a:pPr indent="0" marL="0">
              <a:buNone/>
            </a:pPr>
            <a:r>
              <a:rPr lang="en-US" sz="1400" dirty="0">
                <a:solidFill>
                  <a:srgbClr val="FFFFFF"/>
                </a:solidFill>
              </a:rPr>
              <a:t> to </a:t>
            </a:r>
            <a:pPr indent="0" marL="0">
              <a:buNone/>
            </a:pPr>
            <a:r>
              <a:rPr lang="en-US" sz="1400" dirty="0">
                <a:solidFill>
                  <a:srgbClr val="0D9488"/>
                </a:solidFill>
                <a:latin typeface="Consolas" pitchFamily="34" charset="0"/>
                <a:ea typeface="Consolas" pitchFamily="34" charset="-122"/>
                <a:cs typeface="Consolas" pitchFamily="34" charset="-120"/>
              </a:rPr>
              <a:t>10.0.1.15</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Overlapping CIDRs Break Peering</a:t>
            </a:r>
            <a:endParaRPr lang="en-US" sz="30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The router can't tell which VPC you mean when both use the same range.</a:t>
            </a:r>
            <a:endParaRPr lang="en-US" sz="1600" dirty="0"/>
          </a:p>
        </p:txBody>
      </p:sp>
      <p:sp>
        <p:nvSpPr>
          <p:cNvPr id="4" name="Shape 2"/>
          <p:cNvSpPr/>
          <p:nvPr/>
        </p:nvSpPr>
        <p:spPr>
          <a:xfrm>
            <a:off x="457200" y="1691640"/>
            <a:ext cx="5486400" cy="2743200"/>
          </a:xfrm>
          <a:prstGeom prst="roundRect">
            <a:avLst>
              <a:gd name="adj" fmla="val 2667"/>
            </a:avLst>
          </a:prstGeom>
          <a:solidFill>
            <a:srgbClr val="1A2744"/>
          </a:solidFill>
          <a:ln w="25400">
            <a:solidFill>
              <a:srgbClr val="EF4444"/>
            </a:solidFill>
            <a:prstDash val="solid"/>
          </a:ln>
        </p:spPr>
      </p:sp>
      <p:sp>
        <p:nvSpPr>
          <p:cNvPr id="5" name="Shape 3"/>
          <p:cNvSpPr/>
          <p:nvPr/>
        </p:nvSpPr>
        <p:spPr>
          <a:xfrm>
            <a:off x="640080" y="1828800"/>
            <a:ext cx="502920" cy="502920"/>
          </a:xfrm>
          <a:prstGeom prst="ellipse">
            <a:avLst/>
          </a:prstGeom>
          <a:solidFill>
            <a:srgbClr val="EF4444"/>
          </a:solidFill>
          <a:ln w="12700">
            <a:solidFill>
              <a:srgbClr val="EF4444"/>
            </a:solidFill>
            <a:prstDash val="solid"/>
          </a:ln>
        </p:spPr>
      </p:sp>
      <p:pic>
        <p:nvPicPr>
          <p:cNvPr id="6" name="Image 0" descr="preencoded.png">    </p:cNvPr>
          <p:cNvPicPr>
            <a:picLocks noChangeAspect="1"/>
          </p:cNvPicPr>
          <p:nvPr/>
        </p:nvPicPr>
        <p:blipFill>
          <a:blip r:embed="rId1"/>
          <a:stretch>
            <a:fillRect/>
          </a:stretch>
        </p:blipFill>
        <p:spPr>
          <a:xfrm>
            <a:off x="765810" y="1954530"/>
            <a:ext cx="251460" cy="251460"/>
          </a:xfrm>
          <a:prstGeom prst="rect">
            <a:avLst/>
          </a:prstGeom>
        </p:spPr>
      </p:pic>
      <p:sp>
        <p:nvSpPr>
          <p:cNvPr id="7" name="Text 4"/>
          <p:cNvSpPr/>
          <p:nvPr/>
        </p:nvSpPr>
        <p:spPr>
          <a:xfrm>
            <a:off x="1280160" y="1828800"/>
            <a:ext cx="4572000" cy="411480"/>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BROKEN  —  both use 10.0.0.0/16</a:t>
            </a:r>
            <a:endParaRPr lang="en-US" sz="1500" dirty="0"/>
          </a:p>
        </p:txBody>
      </p:sp>
      <p:sp>
        <p:nvSpPr>
          <p:cNvPr id="8" name="Text 5"/>
          <p:cNvSpPr/>
          <p:nvPr/>
        </p:nvSpPr>
        <p:spPr>
          <a:xfrm>
            <a:off x="640080" y="2423160"/>
            <a:ext cx="5120640" cy="1965960"/>
          </a:xfrm>
          <a:prstGeom prst="rect">
            <a:avLst/>
          </a:prstGeom>
          <a:noFill/>
          <a:ln/>
        </p:spPr>
        <p:txBody>
          <a:bodyPr wrap="square" rtlCol="0" anchor="t"/>
          <a:lstStyle/>
          <a:p>
            <a:pPr indent="0" marL="0">
              <a:buNone/>
            </a:pPr>
            <a:r>
              <a:rPr lang="en-US" sz="1300" dirty="0">
                <a:solidFill>
                  <a:srgbClr val="94A3B8"/>
                </a:solidFill>
                <a:latin typeface="Consolas" pitchFamily="34" charset="0"/>
                <a:ea typeface="Consolas" pitchFamily="34" charset="-122"/>
                <a:cs typeface="Consolas" pitchFamily="34" charset="-120"/>
              </a:rPr>
              <a:t>VPC-A:  </a:t>
            </a:r>
            <a:pPr indent="0" marL="0">
              <a:buNone/>
            </a:pPr>
            <a:r>
              <a:rPr lang="en-US" sz="1300" dirty="0">
                <a:solidFill>
                  <a:srgbClr val="FFFFFF"/>
                </a:solidFill>
                <a:latin typeface="Consolas" pitchFamily="34" charset="0"/>
                <a:ea typeface="Consolas" pitchFamily="34" charset="-122"/>
                <a:cs typeface="Consolas" pitchFamily="34" charset="-120"/>
              </a:rPr>
              <a:t>10.0.0.0/16
</a:t>
            </a:r>
            <a:pPr indent="0" marL="0">
              <a:buNone/>
            </a:pPr>
            <a:r>
              <a:rPr lang="en-US" sz="1300" dirty="0">
                <a:solidFill>
                  <a:srgbClr val="94A3B8"/>
                </a:solidFill>
                <a:latin typeface="Consolas" pitchFamily="34" charset="0"/>
                <a:ea typeface="Consolas" pitchFamily="34" charset="-122"/>
                <a:cs typeface="Consolas" pitchFamily="34" charset="-120"/>
              </a:rPr>
              <a:t>VPC-B:  </a:t>
            </a:r>
            <a:pPr indent="0" marL="0">
              <a:buNone/>
            </a:pPr>
            <a:r>
              <a:rPr lang="en-US" sz="1300" dirty="0">
                <a:solidFill>
                  <a:srgbClr val="FFFFFF"/>
                </a:solidFill>
                <a:latin typeface="Consolas" pitchFamily="34" charset="0"/>
                <a:ea typeface="Consolas" pitchFamily="34" charset="-122"/>
                <a:cs typeface="Consolas" pitchFamily="34" charset="-120"/>
              </a:rPr>
              <a:t>10.0.0.0/16
</a:t>
            </a:r>
            <a:pPr indent="0" marL="0">
              <a:buNone/>
            </a:pPr>
            <a:r>
              <a:rPr lang="en-US" sz="1300" i="1" dirty="0">
                <a:solidFill>
                  <a:srgbClr val="FFFFFF"/>
                </a:solidFill>
              </a:rPr>
              <a:t>Packet to 10.0.2.50 — where does it go?
</a:t>
            </a:r>
            <a:pPr indent="0" marL="0">
              <a:buNone/>
            </a:pPr>
            <a:r>
              <a:rPr lang="en-US" sz="1200" dirty="0">
                <a:solidFill>
                  <a:srgbClr val="EF4444"/>
                </a:solidFill>
              </a:rPr>
              <a:t>Route table checks local first. It matches 10.0.0.0/16 (local VPC). Packet stays local. Peering route never considered.</a:t>
            </a:r>
            <a:endParaRPr lang="en-US" sz="1300" dirty="0"/>
          </a:p>
        </p:txBody>
      </p:sp>
      <p:sp>
        <p:nvSpPr>
          <p:cNvPr id="9" name="Shape 6"/>
          <p:cNvSpPr/>
          <p:nvPr/>
        </p:nvSpPr>
        <p:spPr>
          <a:xfrm>
            <a:off x="6217920" y="1691640"/>
            <a:ext cx="5486400" cy="2743200"/>
          </a:xfrm>
          <a:prstGeom prst="roundRect">
            <a:avLst>
              <a:gd name="adj" fmla="val 2667"/>
            </a:avLst>
          </a:prstGeom>
          <a:solidFill>
            <a:srgbClr val="1A2744"/>
          </a:solidFill>
          <a:ln w="25400">
            <a:solidFill>
              <a:srgbClr val="10B981"/>
            </a:solidFill>
            <a:prstDash val="solid"/>
          </a:ln>
        </p:spPr>
      </p:sp>
      <p:sp>
        <p:nvSpPr>
          <p:cNvPr id="10" name="Shape 7"/>
          <p:cNvSpPr/>
          <p:nvPr/>
        </p:nvSpPr>
        <p:spPr>
          <a:xfrm>
            <a:off x="6400800" y="1828800"/>
            <a:ext cx="502920" cy="502920"/>
          </a:xfrm>
          <a:prstGeom prst="ellipse">
            <a:avLst/>
          </a:prstGeom>
          <a:solidFill>
            <a:srgbClr val="10B981"/>
          </a:solidFill>
          <a:ln w="12700">
            <a:solidFill>
              <a:srgbClr val="10B981"/>
            </a:solidFill>
            <a:prstDash val="solid"/>
          </a:ln>
        </p:spPr>
      </p:sp>
      <p:pic>
        <p:nvPicPr>
          <p:cNvPr id="11" name="Image 1" descr="preencoded.png">    </p:cNvPr>
          <p:cNvPicPr>
            <a:picLocks noChangeAspect="1"/>
          </p:cNvPicPr>
          <p:nvPr/>
        </p:nvPicPr>
        <p:blipFill>
          <a:blip r:embed="rId2"/>
          <a:stretch>
            <a:fillRect/>
          </a:stretch>
        </p:blipFill>
        <p:spPr>
          <a:xfrm>
            <a:off x="6526530" y="1954530"/>
            <a:ext cx="251460" cy="251460"/>
          </a:xfrm>
          <a:prstGeom prst="rect">
            <a:avLst/>
          </a:prstGeom>
        </p:spPr>
      </p:pic>
      <p:sp>
        <p:nvSpPr>
          <p:cNvPr id="12" name="Text 8"/>
          <p:cNvSpPr/>
          <p:nvPr/>
        </p:nvSpPr>
        <p:spPr>
          <a:xfrm>
            <a:off x="7040880" y="1828800"/>
            <a:ext cx="4572000" cy="411480"/>
          </a:xfrm>
          <a:prstGeom prst="rect">
            <a:avLst/>
          </a:prstGeom>
          <a:noFill/>
          <a:ln/>
        </p:spPr>
        <p:txBody>
          <a:bodyPr wrap="square"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FIXED  —  distinct ranges</a:t>
            </a:r>
            <a:endParaRPr lang="en-US" sz="1500" dirty="0"/>
          </a:p>
        </p:txBody>
      </p:sp>
      <p:sp>
        <p:nvSpPr>
          <p:cNvPr id="13" name="Text 9"/>
          <p:cNvSpPr/>
          <p:nvPr/>
        </p:nvSpPr>
        <p:spPr>
          <a:xfrm>
            <a:off x="6400800" y="2423160"/>
            <a:ext cx="5120640" cy="1965960"/>
          </a:xfrm>
          <a:prstGeom prst="rect">
            <a:avLst/>
          </a:prstGeom>
          <a:noFill/>
          <a:ln/>
        </p:spPr>
        <p:txBody>
          <a:bodyPr wrap="square" rtlCol="0" anchor="t"/>
          <a:lstStyle/>
          <a:p>
            <a:pPr indent="0" marL="0">
              <a:buNone/>
            </a:pPr>
            <a:r>
              <a:rPr lang="en-US" sz="1300" dirty="0">
                <a:solidFill>
                  <a:srgbClr val="94A3B8"/>
                </a:solidFill>
                <a:latin typeface="Consolas" pitchFamily="34" charset="0"/>
                <a:ea typeface="Consolas" pitchFamily="34" charset="-122"/>
                <a:cs typeface="Consolas" pitchFamily="34" charset="-120"/>
              </a:rPr>
              <a:t>VPC-A:  </a:t>
            </a:r>
            <a:pPr indent="0" marL="0">
              <a:buNone/>
            </a:pPr>
            <a:r>
              <a:rPr lang="en-US" sz="1300" dirty="0">
                <a:solidFill>
                  <a:srgbClr val="FFFFFF"/>
                </a:solidFill>
                <a:latin typeface="Consolas" pitchFamily="34" charset="0"/>
                <a:ea typeface="Consolas" pitchFamily="34" charset="-122"/>
                <a:cs typeface="Consolas" pitchFamily="34" charset="-120"/>
              </a:rPr>
              <a:t>10.0.0.0/16
</a:t>
            </a:r>
            <a:pPr indent="0" marL="0">
              <a:buNone/>
            </a:pPr>
            <a:r>
              <a:rPr lang="en-US" sz="1300" dirty="0">
                <a:solidFill>
                  <a:srgbClr val="94A3B8"/>
                </a:solidFill>
                <a:latin typeface="Consolas" pitchFamily="34" charset="0"/>
                <a:ea typeface="Consolas" pitchFamily="34" charset="-122"/>
                <a:cs typeface="Consolas" pitchFamily="34" charset="-120"/>
              </a:rPr>
              <a:t>VPC-B:  </a:t>
            </a:r>
            <a:pPr indent="0" marL="0">
              <a:buNone/>
            </a:pPr>
            <a:r>
              <a:rPr lang="en-US" sz="1300" dirty="0">
                <a:solidFill>
                  <a:srgbClr val="FFFFFF"/>
                </a:solidFill>
                <a:latin typeface="Consolas" pitchFamily="34" charset="0"/>
                <a:ea typeface="Consolas" pitchFamily="34" charset="-122"/>
                <a:cs typeface="Consolas" pitchFamily="34" charset="-120"/>
              </a:rPr>
              <a:t>10.1.0.0/16
</a:t>
            </a:r>
            <a:pPr indent="0" marL="0">
              <a:buNone/>
            </a:pPr>
            <a:r>
              <a:rPr lang="en-US" sz="1300" i="1" dirty="0">
                <a:solidFill>
                  <a:srgbClr val="FFFFFF"/>
                </a:solidFill>
              </a:rPr>
              <a:t>Packet to 10.1.2.50 — no ambiguity.
</a:t>
            </a:r>
            <a:pPr indent="0" marL="0">
              <a:buNone/>
            </a:pPr>
            <a:r>
              <a:rPr lang="en-US" sz="1200" dirty="0">
                <a:solidFill>
                  <a:srgbClr val="10B981"/>
                </a:solidFill>
              </a:rPr>
              <a:t>Local route doesn't match. Peering route matches 10.1.0.0/16. Traffic flows through the peering connection.</a:t>
            </a:r>
            <a:endParaRPr lang="en-US" sz="1300" dirty="0"/>
          </a:p>
        </p:txBody>
      </p:sp>
      <p:sp>
        <p:nvSpPr>
          <p:cNvPr id="14" name="Shape 10"/>
          <p:cNvSpPr/>
          <p:nvPr/>
        </p:nvSpPr>
        <p:spPr>
          <a:xfrm>
            <a:off x="457200" y="4663440"/>
            <a:ext cx="11247120" cy="1920240"/>
          </a:xfrm>
          <a:prstGeom prst="roundRect">
            <a:avLst>
              <a:gd name="adj" fmla="val 3810"/>
            </a:avLst>
          </a:prstGeom>
          <a:solidFill>
            <a:srgbClr val="1A2744"/>
          </a:solidFill>
          <a:ln w="25400">
            <a:solidFill>
              <a:srgbClr val="F59E0B"/>
            </a:solidFill>
            <a:prstDash val="solid"/>
          </a:ln>
        </p:spPr>
      </p:sp>
      <p:sp>
        <p:nvSpPr>
          <p:cNvPr id="15" name="Shape 11"/>
          <p:cNvSpPr/>
          <p:nvPr/>
        </p:nvSpPr>
        <p:spPr>
          <a:xfrm>
            <a:off x="731520" y="5166360"/>
            <a:ext cx="640080" cy="640080"/>
          </a:xfrm>
          <a:prstGeom prst="ellipse">
            <a:avLst/>
          </a:prstGeom>
          <a:solidFill>
            <a:srgbClr val="F59E0B"/>
          </a:solidFill>
          <a:ln w="12700">
            <a:solidFill>
              <a:srgbClr val="F59E0B"/>
            </a:solidFill>
            <a:prstDash val="solid"/>
          </a:ln>
        </p:spPr>
      </p:sp>
      <p:pic>
        <p:nvPicPr>
          <p:cNvPr id="16" name="Image 2" descr="preencoded.png">    </p:cNvPr>
          <p:cNvPicPr>
            <a:picLocks noChangeAspect="1"/>
          </p:cNvPicPr>
          <p:nvPr/>
        </p:nvPicPr>
        <p:blipFill>
          <a:blip r:embed="rId3"/>
          <a:stretch>
            <a:fillRect/>
          </a:stretch>
        </p:blipFill>
        <p:spPr>
          <a:xfrm>
            <a:off x="891540" y="5326380"/>
            <a:ext cx="320040" cy="320040"/>
          </a:xfrm>
          <a:prstGeom prst="rect">
            <a:avLst/>
          </a:prstGeom>
        </p:spPr>
      </p:pic>
      <p:sp>
        <p:nvSpPr>
          <p:cNvPr id="17" name="Text 12"/>
          <p:cNvSpPr/>
          <p:nvPr/>
        </p:nvSpPr>
        <p:spPr>
          <a:xfrm>
            <a:off x="1554480" y="4754880"/>
            <a:ext cx="10058400" cy="411480"/>
          </a:xfrm>
          <a:prstGeom prst="rect">
            <a:avLst/>
          </a:prstGeom>
          <a:noFill/>
          <a:ln/>
        </p:spPr>
        <p:txBody>
          <a:bodyPr wrap="square"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Why fixing this later is painful</a:t>
            </a:r>
            <a:endParaRPr lang="en-US" sz="1700" dirty="0"/>
          </a:p>
        </p:txBody>
      </p:sp>
      <p:sp>
        <p:nvSpPr>
          <p:cNvPr id="18" name="Text 13"/>
          <p:cNvSpPr/>
          <p:nvPr/>
        </p:nvSpPr>
        <p:spPr>
          <a:xfrm>
            <a:off x="1554480" y="5120640"/>
            <a:ext cx="10058400" cy="14173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VPC's CIDR cannot be changed once created — only extended with secondary CIDRs. Changing the primary range means destroying and recreating the VPC and every resource inside it (instances, RDS, load balancers, IPs, DNS records). This is why CIDR planning BEFORE you deploy matters more than almost anything else in your network design.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Which Range Should I Use?</a:t>
            </a:r>
            <a:endParaRPr lang="en-US" sz="3200" dirty="0"/>
          </a:p>
        </p:txBody>
      </p:sp>
      <p:sp>
        <p:nvSpPr>
          <p:cNvPr id="3" name="Text 1"/>
          <p:cNvSpPr/>
          <p:nvPr/>
        </p:nvSpPr>
        <p:spPr>
          <a:xfrm>
            <a:off x="457200" y="1005840"/>
            <a:ext cx="10972800" cy="73152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Private IP space is defined by RFC 1918 — three specific ranges reserved for internal use, not routable on the public internet.</a:t>
            </a:r>
            <a:endParaRPr lang="en-US" sz="1500" dirty="0"/>
          </a:p>
        </p:txBody>
      </p:sp>
      <p:sp>
        <p:nvSpPr>
          <p:cNvPr id="4" name="Shape 2"/>
          <p:cNvSpPr/>
          <p:nvPr/>
        </p:nvSpPr>
        <p:spPr>
          <a:xfrm>
            <a:off x="457200" y="1965960"/>
            <a:ext cx="11247120" cy="1005840"/>
          </a:xfrm>
          <a:prstGeom prst="roundRect">
            <a:avLst>
              <a:gd name="adj" fmla="val 7273"/>
            </a:avLst>
          </a:prstGeom>
          <a:solidFill>
            <a:srgbClr val="1A2744"/>
          </a:solidFill>
          <a:ln w="12700">
            <a:solidFill>
              <a:srgbClr val="1A2744"/>
            </a:solidFill>
            <a:prstDash val="solid"/>
          </a:ln>
        </p:spPr>
      </p:sp>
      <p:sp>
        <p:nvSpPr>
          <p:cNvPr id="5" name="Text 3"/>
          <p:cNvSpPr/>
          <p:nvPr/>
        </p:nvSpPr>
        <p:spPr>
          <a:xfrm>
            <a:off x="640080" y="2057400"/>
            <a:ext cx="2926080" cy="822960"/>
          </a:xfrm>
          <a:prstGeom prst="rect">
            <a:avLst/>
          </a:prstGeom>
          <a:noFill/>
          <a:ln/>
        </p:spPr>
        <p:txBody>
          <a:bodyPr wrap="square" rtlCol="0" anchor="ctr"/>
          <a:lstStyle/>
          <a:p>
            <a:pPr indent="0" marL="0">
              <a:buNone/>
            </a:pPr>
            <a:r>
              <a:rPr lang="en-US" sz="2000" b="1" dirty="0">
                <a:solidFill>
                  <a:srgbClr val="0D9488"/>
                </a:solidFill>
                <a:latin typeface="Consolas" pitchFamily="34" charset="0"/>
                <a:ea typeface="Consolas" pitchFamily="34" charset="-122"/>
                <a:cs typeface="Consolas" pitchFamily="34" charset="-120"/>
              </a:rPr>
              <a:t>10.0.0.0/8</a:t>
            </a:r>
            <a:endParaRPr lang="en-US" sz="2000" dirty="0"/>
          </a:p>
        </p:txBody>
      </p:sp>
      <p:sp>
        <p:nvSpPr>
          <p:cNvPr id="6" name="Text 4"/>
          <p:cNvSpPr/>
          <p:nvPr/>
        </p:nvSpPr>
        <p:spPr>
          <a:xfrm>
            <a:off x="3566160" y="2057400"/>
            <a:ext cx="2286000" cy="822960"/>
          </a:xfrm>
          <a:prstGeom prst="rect">
            <a:avLst/>
          </a:prstGeom>
          <a:noFill/>
          <a:ln/>
        </p:spPr>
        <p:txBody>
          <a:bodyPr wrap="square" rtlCol="0" anchor="ctr"/>
          <a:lstStyle/>
          <a:p>
            <a:pPr indent="0" marL="0">
              <a:buNone/>
            </a:pPr>
            <a:r>
              <a:rPr lang="en-US" sz="1400" dirty="0">
                <a:solidFill>
                  <a:srgbClr val="F59E0B"/>
                </a:solidFill>
                <a:latin typeface="Calibri" pitchFamily="34" charset="0"/>
                <a:ea typeface="Calibri" pitchFamily="34" charset="-122"/>
                <a:cs typeface="Calibri" pitchFamily="34" charset="-120"/>
              </a:rPr>
              <a:t>16.7M addresses</a:t>
            </a:r>
            <a:endParaRPr lang="en-US" sz="1400" dirty="0"/>
          </a:p>
        </p:txBody>
      </p:sp>
      <p:sp>
        <p:nvSpPr>
          <p:cNvPr id="7" name="Text 5"/>
          <p:cNvSpPr/>
          <p:nvPr/>
        </p:nvSpPr>
        <p:spPr>
          <a:xfrm>
            <a:off x="5943600" y="2057400"/>
            <a:ext cx="5760720" cy="8229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Most common for cloud. AWS VPC default examples use this. Room for thousands of VPCs.</a:t>
            </a:r>
            <a:endParaRPr lang="en-US" sz="1300" dirty="0"/>
          </a:p>
        </p:txBody>
      </p:sp>
      <p:sp>
        <p:nvSpPr>
          <p:cNvPr id="8" name="Shape 6"/>
          <p:cNvSpPr/>
          <p:nvPr/>
        </p:nvSpPr>
        <p:spPr>
          <a:xfrm>
            <a:off x="457200" y="3108960"/>
            <a:ext cx="11247120" cy="1005840"/>
          </a:xfrm>
          <a:prstGeom prst="roundRect">
            <a:avLst>
              <a:gd name="adj" fmla="val 7273"/>
            </a:avLst>
          </a:prstGeom>
          <a:solidFill>
            <a:srgbClr val="1A2744"/>
          </a:solidFill>
          <a:ln w="12700">
            <a:solidFill>
              <a:srgbClr val="1A2744"/>
            </a:solidFill>
            <a:prstDash val="solid"/>
          </a:ln>
        </p:spPr>
      </p:sp>
      <p:sp>
        <p:nvSpPr>
          <p:cNvPr id="9" name="Text 7"/>
          <p:cNvSpPr/>
          <p:nvPr/>
        </p:nvSpPr>
        <p:spPr>
          <a:xfrm>
            <a:off x="640080" y="3200400"/>
            <a:ext cx="2926080" cy="822960"/>
          </a:xfrm>
          <a:prstGeom prst="rect">
            <a:avLst/>
          </a:prstGeom>
          <a:noFill/>
          <a:ln/>
        </p:spPr>
        <p:txBody>
          <a:bodyPr wrap="square" rtlCol="0" anchor="ctr"/>
          <a:lstStyle/>
          <a:p>
            <a:pPr indent="0" marL="0">
              <a:buNone/>
            </a:pPr>
            <a:r>
              <a:rPr lang="en-US" sz="2000" b="1" dirty="0">
                <a:solidFill>
                  <a:srgbClr val="0D9488"/>
                </a:solidFill>
                <a:latin typeface="Consolas" pitchFamily="34" charset="0"/>
                <a:ea typeface="Consolas" pitchFamily="34" charset="-122"/>
                <a:cs typeface="Consolas" pitchFamily="34" charset="-120"/>
              </a:rPr>
              <a:t>172.16.0.0/12</a:t>
            </a:r>
            <a:endParaRPr lang="en-US" sz="2000" dirty="0"/>
          </a:p>
        </p:txBody>
      </p:sp>
      <p:sp>
        <p:nvSpPr>
          <p:cNvPr id="10" name="Text 8"/>
          <p:cNvSpPr/>
          <p:nvPr/>
        </p:nvSpPr>
        <p:spPr>
          <a:xfrm>
            <a:off x="3566160" y="3200400"/>
            <a:ext cx="2286000" cy="822960"/>
          </a:xfrm>
          <a:prstGeom prst="rect">
            <a:avLst/>
          </a:prstGeom>
          <a:noFill/>
          <a:ln/>
        </p:spPr>
        <p:txBody>
          <a:bodyPr wrap="square" rtlCol="0" anchor="ctr"/>
          <a:lstStyle/>
          <a:p>
            <a:pPr indent="0" marL="0">
              <a:buNone/>
            </a:pPr>
            <a:r>
              <a:rPr lang="en-US" sz="1400" dirty="0">
                <a:solidFill>
                  <a:srgbClr val="F59E0B"/>
                </a:solidFill>
                <a:latin typeface="Calibri" pitchFamily="34" charset="0"/>
                <a:ea typeface="Calibri" pitchFamily="34" charset="-122"/>
                <a:cs typeface="Calibri" pitchFamily="34" charset="-120"/>
              </a:rPr>
              <a:t>1M addresses</a:t>
            </a:r>
            <a:endParaRPr lang="en-US" sz="1400" dirty="0"/>
          </a:p>
        </p:txBody>
      </p:sp>
      <p:sp>
        <p:nvSpPr>
          <p:cNvPr id="11" name="Text 9"/>
          <p:cNvSpPr/>
          <p:nvPr/>
        </p:nvSpPr>
        <p:spPr>
          <a:xfrm>
            <a:off x="5943600" y="3200400"/>
            <a:ext cx="5760720" cy="8229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Less used but perfectly valid. Docker default bridge network uses 172.17.0.0/16.</a:t>
            </a:r>
            <a:endParaRPr lang="en-US" sz="1300" dirty="0"/>
          </a:p>
        </p:txBody>
      </p:sp>
      <p:sp>
        <p:nvSpPr>
          <p:cNvPr id="12" name="Shape 10"/>
          <p:cNvSpPr/>
          <p:nvPr/>
        </p:nvSpPr>
        <p:spPr>
          <a:xfrm>
            <a:off x="457200" y="4251960"/>
            <a:ext cx="11247120" cy="1005840"/>
          </a:xfrm>
          <a:prstGeom prst="roundRect">
            <a:avLst>
              <a:gd name="adj" fmla="val 7273"/>
            </a:avLst>
          </a:prstGeom>
          <a:solidFill>
            <a:srgbClr val="1A2744"/>
          </a:solidFill>
          <a:ln w="12700">
            <a:solidFill>
              <a:srgbClr val="1A2744"/>
            </a:solidFill>
            <a:prstDash val="solid"/>
          </a:ln>
        </p:spPr>
      </p:sp>
      <p:sp>
        <p:nvSpPr>
          <p:cNvPr id="13" name="Text 11"/>
          <p:cNvSpPr/>
          <p:nvPr/>
        </p:nvSpPr>
        <p:spPr>
          <a:xfrm>
            <a:off x="640080" y="4343400"/>
            <a:ext cx="2926080" cy="822960"/>
          </a:xfrm>
          <a:prstGeom prst="rect">
            <a:avLst/>
          </a:prstGeom>
          <a:noFill/>
          <a:ln/>
        </p:spPr>
        <p:txBody>
          <a:bodyPr wrap="square" rtlCol="0" anchor="ctr"/>
          <a:lstStyle/>
          <a:p>
            <a:pPr indent="0" marL="0">
              <a:buNone/>
            </a:pPr>
            <a:r>
              <a:rPr lang="en-US" sz="2000" b="1" dirty="0">
                <a:solidFill>
                  <a:srgbClr val="0D9488"/>
                </a:solidFill>
                <a:latin typeface="Consolas" pitchFamily="34" charset="0"/>
                <a:ea typeface="Consolas" pitchFamily="34" charset="-122"/>
                <a:cs typeface="Consolas" pitchFamily="34" charset="-120"/>
              </a:rPr>
              <a:t>192.168.0.0/16</a:t>
            </a:r>
            <a:endParaRPr lang="en-US" sz="2000" dirty="0"/>
          </a:p>
        </p:txBody>
      </p:sp>
      <p:sp>
        <p:nvSpPr>
          <p:cNvPr id="14" name="Text 12"/>
          <p:cNvSpPr/>
          <p:nvPr/>
        </p:nvSpPr>
        <p:spPr>
          <a:xfrm>
            <a:off x="3566160" y="4343400"/>
            <a:ext cx="2286000" cy="822960"/>
          </a:xfrm>
          <a:prstGeom prst="rect">
            <a:avLst/>
          </a:prstGeom>
          <a:noFill/>
          <a:ln/>
        </p:spPr>
        <p:txBody>
          <a:bodyPr wrap="square" rtlCol="0" anchor="ctr"/>
          <a:lstStyle/>
          <a:p>
            <a:pPr indent="0" marL="0">
              <a:buNone/>
            </a:pPr>
            <a:r>
              <a:rPr lang="en-US" sz="1400" dirty="0">
                <a:solidFill>
                  <a:srgbClr val="F59E0B"/>
                </a:solidFill>
                <a:latin typeface="Calibri" pitchFamily="34" charset="0"/>
                <a:ea typeface="Calibri" pitchFamily="34" charset="-122"/>
                <a:cs typeface="Calibri" pitchFamily="34" charset="-120"/>
              </a:rPr>
              <a:t>65K addresses</a:t>
            </a:r>
            <a:endParaRPr lang="en-US" sz="1400" dirty="0"/>
          </a:p>
        </p:txBody>
      </p:sp>
      <p:sp>
        <p:nvSpPr>
          <p:cNvPr id="15" name="Text 13"/>
          <p:cNvSpPr/>
          <p:nvPr/>
        </p:nvSpPr>
        <p:spPr>
          <a:xfrm>
            <a:off x="5943600" y="4343400"/>
            <a:ext cx="5760720" cy="8229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Home routers use this. Avoid in cloud — likely to clash with on-prem/VPN/office networks.</a:t>
            </a:r>
            <a:endParaRPr lang="en-US" sz="1300" dirty="0"/>
          </a:p>
        </p:txBody>
      </p:sp>
      <p:sp>
        <p:nvSpPr>
          <p:cNvPr id="16" name="Shape 14"/>
          <p:cNvSpPr/>
          <p:nvPr/>
        </p:nvSpPr>
        <p:spPr>
          <a:xfrm>
            <a:off x="457200" y="5486400"/>
            <a:ext cx="11247120" cy="1097280"/>
          </a:xfrm>
          <a:prstGeom prst="roundRect">
            <a:avLst>
              <a:gd name="adj" fmla="val 6667"/>
            </a:avLst>
          </a:prstGeom>
          <a:solidFill>
            <a:srgbClr val="1A2744"/>
          </a:solidFill>
          <a:ln w="12700">
            <a:solidFill>
              <a:srgbClr val="1A2744"/>
            </a:solidFill>
            <a:prstDash val="solid"/>
          </a:ln>
        </p:spPr>
      </p:sp>
      <p:sp>
        <p:nvSpPr>
          <p:cNvPr id="17" name="Shape 15"/>
          <p:cNvSpPr/>
          <p:nvPr/>
        </p:nvSpPr>
        <p:spPr>
          <a:xfrm>
            <a:off x="685800" y="5715000"/>
            <a:ext cx="594360" cy="594360"/>
          </a:xfrm>
          <a:prstGeom prst="ellipse">
            <a:avLst/>
          </a:prstGeom>
          <a:solidFill>
            <a:srgbClr val="F59E0B"/>
          </a:solidFill>
          <a:ln w="12700">
            <a:solidFill>
              <a:srgbClr val="F59E0B"/>
            </a:solidFill>
            <a:prstDash val="solid"/>
          </a:ln>
        </p:spPr>
      </p:sp>
      <p:pic>
        <p:nvPicPr>
          <p:cNvPr id="18" name="Image 0" descr="preencoded.png">    </p:cNvPr>
          <p:cNvPicPr>
            <a:picLocks noChangeAspect="1"/>
          </p:cNvPicPr>
          <p:nvPr/>
        </p:nvPicPr>
        <p:blipFill>
          <a:blip r:embed="rId1"/>
          <a:stretch>
            <a:fillRect/>
          </a:stretch>
        </p:blipFill>
        <p:spPr>
          <a:xfrm>
            <a:off x="834390" y="5863590"/>
            <a:ext cx="297180" cy="297180"/>
          </a:xfrm>
          <a:prstGeom prst="rect">
            <a:avLst/>
          </a:prstGeom>
        </p:spPr>
      </p:pic>
      <p:sp>
        <p:nvSpPr>
          <p:cNvPr id="19" name="Text 16"/>
          <p:cNvSpPr/>
          <p:nvPr/>
        </p:nvSpPr>
        <p:spPr>
          <a:xfrm>
            <a:off x="1463040" y="5486400"/>
            <a:ext cx="10149840" cy="10972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AWS VPC constraints: CIDR between /16 (65k IPs) and /28 (16 IPs). A VPC can have 1 primary CIDR + up to 4 secondary CIDRs. Within a VPC, subnets carve smaller chunks out of the parent range.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How Do I Know What's Already Taken?</a:t>
            </a:r>
            <a:endParaRPr lang="en-US" sz="30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Before assigning a CIDR, check what your org already uses — in cloud, on-prem, and VPN ranges.</a:t>
            </a:r>
            <a:endParaRPr lang="en-US" sz="1500" dirty="0"/>
          </a:p>
        </p:txBody>
      </p:sp>
      <p:sp>
        <p:nvSpPr>
          <p:cNvPr id="4" name="Shape 2"/>
          <p:cNvSpPr/>
          <p:nvPr/>
        </p:nvSpPr>
        <p:spPr>
          <a:xfrm>
            <a:off x="457200" y="1691640"/>
            <a:ext cx="5577840" cy="2651760"/>
          </a:xfrm>
          <a:prstGeom prst="roundRect">
            <a:avLst>
              <a:gd name="adj" fmla="val 2759"/>
            </a:avLst>
          </a:prstGeom>
          <a:solidFill>
            <a:srgbClr val="1A2744"/>
          </a:solidFill>
          <a:ln w="12700">
            <a:solidFill>
              <a:srgbClr val="1A2744"/>
            </a:solidFill>
            <a:prstDash val="solid"/>
          </a:ln>
        </p:spPr>
      </p:sp>
      <p:sp>
        <p:nvSpPr>
          <p:cNvPr id="5" name="Shape 3"/>
          <p:cNvSpPr/>
          <p:nvPr/>
        </p:nvSpPr>
        <p:spPr>
          <a:xfrm>
            <a:off x="640080" y="1874520"/>
            <a:ext cx="502920" cy="50292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765810" y="2000250"/>
            <a:ext cx="251460" cy="251460"/>
          </a:xfrm>
          <a:prstGeom prst="rect">
            <a:avLst/>
          </a:prstGeom>
        </p:spPr>
      </p:pic>
      <p:sp>
        <p:nvSpPr>
          <p:cNvPr id="7" name="Text 4"/>
          <p:cNvSpPr/>
          <p:nvPr/>
        </p:nvSpPr>
        <p:spPr>
          <a:xfrm>
            <a:off x="1280160" y="1874520"/>
            <a:ext cx="475488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AWS CLI — list every VPC CIDR</a:t>
            </a:r>
            <a:endParaRPr lang="en-US" sz="1500" dirty="0"/>
          </a:p>
        </p:txBody>
      </p:sp>
      <p:sp>
        <p:nvSpPr>
          <p:cNvPr id="8" name="Shape 5"/>
          <p:cNvSpPr/>
          <p:nvPr/>
        </p:nvSpPr>
        <p:spPr>
          <a:xfrm>
            <a:off x="640080" y="2423160"/>
            <a:ext cx="5212080" cy="1325880"/>
          </a:xfrm>
          <a:prstGeom prst="rect">
            <a:avLst/>
          </a:prstGeom>
          <a:solidFill>
            <a:srgbClr val="0F1B2D"/>
          </a:solidFill>
          <a:ln w="12700">
            <a:solidFill>
              <a:srgbClr val="0F1B2D"/>
            </a:solidFill>
            <a:prstDash val="solid"/>
          </a:ln>
        </p:spPr>
      </p:sp>
      <p:sp>
        <p:nvSpPr>
          <p:cNvPr id="9" name="Text 6"/>
          <p:cNvSpPr/>
          <p:nvPr/>
        </p:nvSpPr>
        <p:spPr>
          <a:xfrm>
            <a:off x="731520" y="2487168"/>
            <a:ext cx="5120640" cy="1188720"/>
          </a:xfrm>
          <a:prstGeom prst="rect">
            <a:avLst/>
          </a:prstGeom>
          <a:noFill/>
          <a:ln/>
        </p:spPr>
        <p:txBody>
          <a:bodyPr wrap="square" rtlCol="0" anchor="t"/>
          <a:lstStyle/>
          <a:p>
            <a:pPr indent="0" marL="0">
              <a:buNone/>
            </a:pPr>
            <a:r>
              <a:rPr lang="en-US" sz="1000" dirty="0">
                <a:solidFill>
                  <a:srgbClr val="0D9488"/>
                </a:solidFill>
                <a:latin typeface="Consolas" pitchFamily="34" charset="0"/>
                <a:ea typeface="Consolas" pitchFamily="34" charset="-122"/>
                <a:cs typeface="Consolas" pitchFamily="34" charset="-120"/>
              </a:rPr>
              <a:t>aws ec2 describe-vpcs \</a:t>
            </a:r>
            <a:endParaRPr lang="en-US" sz="1000" dirty="0"/>
          </a:p>
          <a:p>
            <a:pPr indent="0" marL="0">
              <a:buNone/>
            </a:pPr>
            <a:r>
              <a:rPr lang="en-US" sz="1000" dirty="0">
                <a:solidFill>
                  <a:srgbClr val="0D9488"/>
                </a:solidFill>
                <a:latin typeface="Consolas" pitchFamily="34" charset="0"/>
                <a:ea typeface="Consolas" pitchFamily="34" charset="-122"/>
                <a:cs typeface="Consolas" pitchFamily="34" charset="-120"/>
              </a:rPr>
              <a:t>  --query 'Vpcs[*].[VpcId,CidrBlock,Tags[?Key==`Name`].Value|[0]]' \</a:t>
            </a:r>
            <a:endParaRPr lang="en-US" sz="1000" dirty="0"/>
          </a:p>
          <a:p>
            <a:pPr indent="0" marL="0">
              <a:buNone/>
            </a:pPr>
            <a:r>
              <a:rPr lang="en-US" sz="1000" dirty="0">
                <a:solidFill>
                  <a:srgbClr val="0D9488"/>
                </a:solidFill>
                <a:latin typeface="Consolas" pitchFamily="34" charset="0"/>
                <a:ea typeface="Consolas" pitchFamily="34" charset="-122"/>
                <a:cs typeface="Consolas" pitchFamily="34" charset="-120"/>
              </a:rPr>
              <a:t>  --output table</a:t>
            </a:r>
            <a:endParaRPr lang="en-US" sz="1000" dirty="0"/>
          </a:p>
        </p:txBody>
      </p:sp>
      <p:sp>
        <p:nvSpPr>
          <p:cNvPr id="10" name="Text 7"/>
          <p:cNvSpPr/>
          <p:nvPr/>
        </p:nvSpPr>
        <p:spPr>
          <a:xfrm>
            <a:off x="640080" y="3794760"/>
            <a:ext cx="5212080" cy="5029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Run this in every account + region. Piece together the full picture of what's deployed.</a:t>
            </a:r>
            <a:endParaRPr lang="en-US" sz="1100" dirty="0"/>
          </a:p>
        </p:txBody>
      </p:sp>
      <p:sp>
        <p:nvSpPr>
          <p:cNvPr id="11" name="Shape 8"/>
          <p:cNvSpPr/>
          <p:nvPr/>
        </p:nvSpPr>
        <p:spPr>
          <a:xfrm>
            <a:off x="6172200" y="1691640"/>
            <a:ext cx="5577840" cy="2651760"/>
          </a:xfrm>
          <a:prstGeom prst="roundRect">
            <a:avLst>
              <a:gd name="adj" fmla="val 2759"/>
            </a:avLst>
          </a:prstGeom>
          <a:solidFill>
            <a:srgbClr val="1A2744"/>
          </a:solidFill>
          <a:ln w="12700">
            <a:solidFill>
              <a:srgbClr val="1A2744"/>
            </a:solidFill>
            <a:prstDash val="solid"/>
          </a:ln>
        </p:spPr>
      </p:sp>
      <p:sp>
        <p:nvSpPr>
          <p:cNvPr id="12" name="Shape 9"/>
          <p:cNvSpPr/>
          <p:nvPr/>
        </p:nvSpPr>
        <p:spPr>
          <a:xfrm>
            <a:off x="6355080" y="1874520"/>
            <a:ext cx="502920" cy="502920"/>
          </a:xfrm>
          <a:prstGeom prst="ellipse">
            <a:avLst/>
          </a:prstGeom>
          <a:solidFill>
            <a:srgbClr val="0D9488"/>
          </a:solidFill>
          <a:ln w="12700">
            <a:solidFill>
              <a:srgbClr val="0D9488"/>
            </a:solidFill>
            <a:prstDash val="solid"/>
          </a:ln>
        </p:spPr>
      </p:sp>
      <p:pic>
        <p:nvPicPr>
          <p:cNvPr id="13" name="Image 1" descr="preencoded.png">    </p:cNvPr>
          <p:cNvPicPr>
            <a:picLocks noChangeAspect="1"/>
          </p:cNvPicPr>
          <p:nvPr/>
        </p:nvPicPr>
        <p:blipFill>
          <a:blip r:embed="rId2"/>
          <a:stretch>
            <a:fillRect/>
          </a:stretch>
        </p:blipFill>
        <p:spPr>
          <a:xfrm>
            <a:off x="6480810" y="2000250"/>
            <a:ext cx="251460" cy="251460"/>
          </a:xfrm>
          <a:prstGeom prst="rect">
            <a:avLst/>
          </a:prstGeom>
        </p:spPr>
      </p:pic>
      <p:sp>
        <p:nvSpPr>
          <p:cNvPr id="14" name="Text 10"/>
          <p:cNvSpPr/>
          <p:nvPr/>
        </p:nvSpPr>
        <p:spPr>
          <a:xfrm>
            <a:off x="6995160" y="1874520"/>
            <a:ext cx="466344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AWS IPAM  (the real answer)</a:t>
            </a:r>
            <a:endParaRPr lang="en-US" sz="1500" dirty="0"/>
          </a:p>
        </p:txBody>
      </p:sp>
      <p:sp>
        <p:nvSpPr>
          <p:cNvPr id="15" name="Text 11"/>
          <p:cNvSpPr/>
          <p:nvPr/>
        </p:nvSpPr>
        <p:spPr>
          <a:xfrm>
            <a:off x="6355080" y="2423160"/>
            <a:ext cx="5212080" cy="1828800"/>
          </a:xfrm>
          <a:prstGeom prst="rect">
            <a:avLst/>
          </a:prstGeom>
          <a:noFill/>
          <a:ln/>
        </p:spPr>
        <p:txBody>
          <a:bodyPr wrap="square" rtlCol="0" anchor="t"/>
          <a:lstStyle/>
          <a:p>
            <a:pPr indent="0" marL="0">
              <a:buNone/>
            </a:pPr>
            <a:r>
              <a:rPr lang="en-US" sz="1200" dirty="0">
                <a:solidFill>
                  <a:srgbClr val="FFFFFF"/>
                </a:solidFill>
              </a:rPr>
              <a:t>IP Address Manager. AWS's dedicated tool for planning, allocating, and tracking CIDRs across accounts.
</a:t>
            </a:r>
            <a:pPr indent="0" marL="0">
              <a:buNone/>
            </a:pPr>
            <a:r>
              <a:rPr lang="en-US" sz="1200" dirty="0">
                <a:solidFill>
                  <a:srgbClr val="0D9488"/>
                </a:solidFill>
              </a:rPr>
              <a:t>• </a:t>
            </a:r>
            <a:pPr indent="0" marL="0">
              <a:buNone/>
            </a:pPr>
            <a:r>
              <a:rPr lang="en-US" sz="1200" dirty="0">
                <a:solidFill>
                  <a:srgbClr val="94A3B8"/>
                </a:solidFill>
              </a:rPr>
              <a:t>Define pools (e.g. prod = 10.0.0.0/12)
</a:t>
            </a:r>
            <a:pPr indent="0" marL="0">
              <a:buNone/>
            </a:pPr>
            <a:r>
              <a:rPr lang="en-US" sz="1200" dirty="0">
                <a:solidFill>
                  <a:srgbClr val="0D9488"/>
                </a:solidFill>
              </a:rPr>
              <a:t>• </a:t>
            </a:r>
            <a:pPr indent="0" marL="0">
              <a:buNone/>
            </a:pPr>
            <a:r>
              <a:rPr lang="en-US" sz="1200" dirty="0">
                <a:solidFill>
                  <a:srgbClr val="94A3B8"/>
                </a:solidFill>
              </a:rPr>
              <a:t>Auto-allocate non-overlapping CIDRs
</a:t>
            </a:r>
            <a:pPr indent="0" marL="0">
              <a:buNone/>
            </a:pPr>
            <a:r>
              <a:rPr lang="en-US" sz="1200" dirty="0">
                <a:solidFill>
                  <a:srgbClr val="0D9488"/>
                </a:solidFill>
              </a:rPr>
              <a:t>• </a:t>
            </a:r>
            <a:pPr indent="0" marL="0">
              <a:buNone/>
            </a:pPr>
            <a:r>
              <a:rPr lang="en-US" sz="1200" dirty="0">
                <a:solidFill>
                  <a:srgbClr val="94A3B8"/>
                </a:solidFill>
              </a:rPr>
              <a:t>Monitor utilisation across all accounts
</a:t>
            </a:r>
            <a:pPr indent="0" marL="0">
              <a:buNone/>
            </a:pPr>
            <a:r>
              <a:rPr lang="en-US" sz="1200" dirty="0">
                <a:solidFill>
                  <a:srgbClr val="0D9488"/>
                </a:solidFill>
              </a:rPr>
              <a:t>• </a:t>
            </a:r>
            <a:pPr indent="0" marL="0">
              <a:buNone/>
            </a:pPr>
            <a:r>
              <a:rPr lang="en-US" sz="1200" dirty="0">
                <a:solidFill>
                  <a:srgbClr val="94A3B8"/>
                </a:solidFill>
              </a:rPr>
              <a:t>Alert before ranges are exhausted</a:t>
            </a:r>
            <a:endParaRPr lang="en-US" sz="1200" dirty="0"/>
          </a:p>
        </p:txBody>
      </p:sp>
      <p:sp>
        <p:nvSpPr>
          <p:cNvPr id="16" name="Shape 12"/>
          <p:cNvSpPr/>
          <p:nvPr/>
        </p:nvSpPr>
        <p:spPr>
          <a:xfrm>
            <a:off x="457200" y="4526280"/>
            <a:ext cx="11247120" cy="2057400"/>
          </a:xfrm>
          <a:prstGeom prst="roundRect">
            <a:avLst>
              <a:gd name="adj" fmla="val 3556"/>
            </a:avLst>
          </a:prstGeom>
          <a:solidFill>
            <a:srgbClr val="1A2744"/>
          </a:solidFill>
          <a:ln w="25400">
            <a:solidFill>
              <a:srgbClr val="F59E0B"/>
            </a:solidFill>
            <a:prstDash val="solid"/>
          </a:ln>
        </p:spPr>
      </p:sp>
      <p:sp>
        <p:nvSpPr>
          <p:cNvPr id="17" name="Shape 13"/>
          <p:cNvSpPr/>
          <p:nvPr/>
        </p:nvSpPr>
        <p:spPr>
          <a:xfrm>
            <a:off x="731520" y="4754880"/>
            <a:ext cx="594360" cy="594360"/>
          </a:xfrm>
          <a:prstGeom prst="ellipse">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880110" y="4903470"/>
            <a:ext cx="297180" cy="297180"/>
          </a:xfrm>
          <a:prstGeom prst="rect">
            <a:avLst/>
          </a:prstGeom>
        </p:spPr>
      </p:pic>
      <p:sp>
        <p:nvSpPr>
          <p:cNvPr id="19" name="Text 14"/>
          <p:cNvSpPr/>
          <p:nvPr/>
        </p:nvSpPr>
        <p:spPr>
          <a:xfrm>
            <a:off x="1508760" y="4663440"/>
            <a:ext cx="10058400" cy="457200"/>
          </a:xfrm>
          <a:prstGeom prst="rect">
            <a:avLst/>
          </a:prstGeom>
          <a:noFill/>
          <a:ln/>
        </p:spPr>
        <p:txBody>
          <a:bodyPr wrap="square"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3.  The reality at most orgs — a spreadsheet</a:t>
            </a:r>
            <a:endParaRPr lang="en-US" sz="1700" dirty="0"/>
          </a:p>
        </p:txBody>
      </p:sp>
      <p:sp>
        <p:nvSpPr>
          <p:cNvPr id="20" name="Text 15"/>
          <p:cNvSpPr/>
          <p:nvPr/>
        </p:nvSpPr>
        <p:spPr>
          <a:xfrm>
            <a:off x="1508760" y="5074920"/>
            <a:ext cx="10058400" cy="1508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Many organisations (even large ones) still track CIDR allocations in a Confluence page or shared spreadsheet. Before creating a VPC, the engineer checks the sheet, picks the next unused range, and updates it. This works until it doesn't — someone forgets to update, two teams pick the same range, and you discover the overlap the day you try to peer. Treat IPAM or a similar database-backed tool as the grown-up answer.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CIDR Planning — A Workable Heuristic</a:t>
            </a:r>
            <a:endParaRPr lang="en-US" sz="30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Before you run `terraform apply`, walk through this checklist.</a:t>
            </a:r>
            <a:endParaRPr lang="en-US" sz="1500" dirty="0"/>
          </a:p>
        </p:txBody>
      </p:sp>
      <p:sp>
        <p:nvSpPr>
          <p:cNvPr id="4" name="Shape 2"/>
          <p:cNvSpPr/>
          <p:nvPr/>
        </p:nvSpPr>
        <p:spPr>
          <a:xfrm>
            <a:off x="457200" y="1691640"/>
            <a:ext cx="11247120" cy="868680"/>
          </a:xfrm>
          <a:prstGeom prst="roundRect">
            <a:avLst>
              <a:gd name="adj" fmla="val 6316"/>
            </a:avLst>
          </a:prstGeom>
          <a:solidFill>
            <a:srgbClr val="1A2744"/>
          </a:solidFill>
          <a:ln w="12700">
            <a:solidFill>
              <a:srgbClr val="1A2744"/>
            </a:solidFill>
            <a:prstDash val="solid"/>
          </a:ln>
        </p:spPr>
      </p:sp>
      <p:sp>
        <p:nvSpPr>
          <p:cNvPr id="5" name="Shape 3"/>
          <p:cNvSpPr/>
          <p:nvPr/>
        </p:nvSpPr>
        <p:spPr>
          <a:xfrm>
            <a:off x="640080" y="1828800"/>
            <a:ext cx="594360" cy="59436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788670" y="1977390"/>
            <a:ext cx="297180" cy="297180"/>
          </a:xfrm>
          <a:prstGeom prst="rect">
            <a:avLst/>
          </a:prstGeom>
        </p:spPr>
      </p:pic>
      <p:sp>
        <p:nvSpPr>
          <p:cNvPr id="7" name="Text 4"/>
          <p:cNvSpPr/>
          <p:nvPr/>
        </p:nvSpPr>
        <p:spPr>
          <a:xfrm>
            <a:off x="1417320" y="178308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Check what exists</a:t>
            </a:r>
            <a:endParaRPr lang="en-US" sz="1500" dirty="0"/>
          </a:p>
        </p:txBody>
      </p:sp>
      <p:sp>
        <p:nvSpPr>
          <p:cNvPr id="8" name="Text 5"/>
          <p:cNvSpPr/>
          <p:nvPr/>
        </p:nvSpPr>
        <p:spPr>
          <a:xfrm>
            <a:off x="1417320" y="2103120"/>
            <a:ext cx="10058400" cy="4572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List every VPC CIDR across all accounts, regions, and on-prem networks reachable by VPN or Direct Connect. IPAM if you have it, CLI + spreadsheet if you don't.</a:t>
            </a:r>
            <a:endParaRPr lang="en-US" sz="1200" dirty="0"/>
          </a:p>
        </p:txBody>
      </p:sp>
      <p:sp>
        <p:nvSpPr>
          <p:cNvPr id="9" name="Shape 6"/>
          <p:cNvSpPr/>
          <p:nvPr/>
        </p:nvSpPr>
        <p:spPr>
          <a:xfrm>
            <a:off x="457200" y="2651760"/>
            <a:ext cx="11247120" cy="868680"/>
          </a:xfrm>
          <a:prstGeom prst="roundRect">
            <a:avLst>
              <a:gd name="adj" fmla="val 6316"/>
            </a:avLst>
          </a:prstGeom>
          <a:solidFill>
            <a:srgbClr val="1A2744"/>
          </a:solidFill>
          <a:ln w="12700">
            <a:solidFill>
              <a:srgbClr val="1A2744"/>
            </a:solidFill>
            <a:prstDash val="solid"/>
          </a:ln>
        </p:spPr>
      </p:sp>
      <p:sp>
        <p:nvSpPr>
          <p:cNvPr id="10" name="Shape 7"/>
          <p:cNvSpPr/>
          <p:nvPr/>
        </p:nvSpPr>
        <p:spPr>
          <a:xfrm>
            <a:off x="640080" y="2788920"/>
            <a:ext cx="594360" cy="594360"/>
          </a:xfrm>
          <a:prstGeom prst="ellipse">
            <a:avLst/>
          </a:prstGeom>
          <a:solidFill>
            <a:srgbClr val="0D9488"/>
          </a:solidFill>
          <a:ln w="12700">
            <a:solidFill>
              <a:srgbClr val="0D9488"/>
            </a:solidFill>
            <a:prstDash val="solid"/>
          </a:ln>
        </p:spPr>
      </p:sp>
      <p:pic>
        <p:nvPicPr>
          <p:cNvPr id="11" name="Image 1" descr="preencoded.png">    </p:cNvPr>
          <p:cNvPicPr>
            <a:picLocks noChangeAspect="1"/>
          </p:cNvPicPr>
          <p:nvPr/>
        </p:nvPicPr>
        <p:blipFill>
          <a:blip r:embed="rId2"/>
          <a:stretch>
            <a:fillRect/>
          </a:stretch>
        </p:blipFill>
        <p:spPr>
          <a:xfrm>
            <a:off x="788670" y="2937510"/>
            <a:ext cx="297180" cy="297180"/>
          </a:xfrm>
          <a:prstGeom prst="rect">
            <a:avLst/>
          </a:prstGeom>
        </p:spPr>
      </p:pic>
      <p:sp>
        <p:nvSpPr>
          <p:cNvPr id="12" name="Text 8"/>
          <p:cNvSpPr/>
          <p:nvPr/>
        </p:nvSpPr>
        <p:spPr>
          <a:xfrm>
            <a:off x="1417320" y="274320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Reserve a pool per environment</a:t>
            </a:r>
            <a:endParaRPr lang="en-US" sz="1500" dirty="0"/>
          </a:p>
        </p:txBody>
      </p:sp>
      <p:sp>
        <p:nvSpPr>
          <p:cNvPr id="13" name="Text 9"/>
          <p:cNvSpPr/>
          <p:nvPr/>
        </p:nvSpPr>
        <p:spPr>
          <a:xfrm>
            <a:off x="1417320" y="3063240"/>
            <a:ext cx="10058400" cy="4572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e.g. 10.0.0.0/12 for prod, 10.16.0.0/12 for staging, 10.32.0.0/12 for dev. Each environment has room for many VPCs without overlap risk.</a:t>
            </a:r>
            <a:endParaRPr lang="en-US" sz="1200" dirty="0"/>
          </a:p>
        </p:txBody>
      </p:sp>
      <p:sp>
        <p:nvSpPr>
          <p:cNvPr id="14" name="Shape 10"/>
          <p:cNvSpPr/>
          <p:nvPr/>
        </p:nvSpPr>
        <p:spPr>
          <a:xfrm>
            <a:off x="457200" y="3611880"/>
            <a:ext cx="11247120" cy="868680"/>
          </a:xfrm>
          <a:prstGeom prst="roundRect">
            <a:avLst>
              <a:gd name="adj" fmla="val 6316"/>
            </a:avLst>
          </a:prstGeom>
          <a:solidFill>
            <a:srgbClr val="1A2744"/>
          </a:solidFill>
          <a:ln w="12700">
            <a:solidFill>
              <a:srgbClr val="1A2744"/>
            </a:solidFill>
            <a:prstDash val="solid"/>
          </a:ln>
        </p:spPr>
      </p:sp>
      <p:sp>
        <p:nvSpPr>
          <p:cNvPr id="15" name="Shape 11"/>
          <p:cNvSpPr/>
          <p:nvPr/>
        </p:nvSpPr>
        <p:spPr>
          <a:xfrm>
            <a:off x="640080" y="3749040"/>
            <a:ext cx="594360" cy="594360"/>
          </a:xfrm>
          <a:prstGeom prst="ellipse">
            <a:avLst/>
          </a:prstGeom>
          <a:solidFill>
            <a:srgbClr val="0D9488"/>
          </a:solidFill>
          <a:ln w="12700">
            <a:solidFill>
              <a:srgbClr val="0D9488"/>
            </a:solidFill>
            <a:prstDash val="solid"/>
          </a:ln>
        </p:spPr>
      </p:sp>
      <p:pic>
        <p:nvPicPr>
          <p:cNvPr id="16" name="Image 2" descr="preencoded.png">    </p:cNvPr>
          <p:cNvPicPr>
            <a:picLocks noChangeAspect="1"/>
          </p:cNvPicPr>
          <p:nvPr/>
        </p:nvPicPr>
        <p:blipFill>
          <a:blip r:embed="rId3"/>
          <a:stretch>
            <a:fillRect/>
          </a:stretch>
        </p:blipFill>
        <p:spPr>
          <a:xfrm>
            <a:off x="788670" y="3897630"/>
            <a:ext cx="297180" cy="297180"/>
          </a:xfrm>
          <a:prstGeom prst="rect">
            <a:avLst/>
          </a:prstGeom>
        </p:spPr>
      </p:pic>
      <p:sp>
        <p:nvSpPr>
          <p:cNvPr id="17" name="Text 12"/>
          <p:cNvSpPr/>
          <p:nvPr/>
        </p:nvSpPr>
        <p:spPr>
          <a:xfrm>
            <a:off x="1417320" y="370332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Size VPCs generously</a:t>
            </a:r>
            <a:endParaRPr lang="en-US" sz="1500" dirty="0"/>
          </a:p>
        </p:txBody>
      </p:sp>
      <p:sp>
        <p:nvSpPr>
          <p:cNvPr id="18" name="Text 13"/>
          <p:cNvSpPr/>
          <p:nvPr/>
        </p:nvSpPr>
        <p:spPr>
          <a:xfrm>
            <a:off x="1417320" y="4023360"/>
            <a:ext cx="10058400" cy="4572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 /16 gives 65k IPs — rarely the wrong choice. Shrinking later means VPC recreation. Default to /16 unless you have a strong reason not to.</a:t>
            </a:r>
            <a:endParaRPr lang="en-US" sz="1200" dirty="0"/>
          </a:p>
        </p:txBody>
      </p:sp>
      <p:sp>
        <p:nvSpPr>
          <p:cNvPr id="19" name="Shape 14"/>
          <p:cNvSpPr/>
          <p:nvPr/>
        </p:nvSpPr>
        <p:spPr>
          <a:xfrm>
            <a:off x="457200" y="4572000"/>
            <a:ext cx="11247120" cy="868680"/>
          </a:xfrm>
          <a:prstGeom prst="roundRect">
            <a:avLst>
              <a:gd name="adj" fmla="val 6316"/>
            </a:avLst>
          </a:prstGeom>
          <a:solidFill>
            <a:srgbClr val="1A2744"/>
          </a:solidFill>
          <a:ln w="12700">
            <a:solidFill>
              <a:srgbClr val="1A2744"/>
            </a:solidFill>
            <a:prstDash val="solid"/>
          </a:ln>
        </p:spPr>
      </p:sp>
      <p:sp>
        <p:nvSpPr>
          <p:cNvPr id="20" name="Shape 15"/>
          <p:cNvSpPr/>
          <p:nvPr/>
        </p:nvSpPr>
        <p:spPr>
          <a:xfrm>
            <a:off x="640080" y="4709160"/>
            <a:ext cx="594360" cy="594360"/>
          </a:xfrm>
          <a:prstGeom prst="ellipse">
            <a:avLst/>
          </a:prstGeom>
          <a:solidFill>
            <a:srgbClr val="0D9488"/>
          </a:solidFill>
          <a:ln w="12700">
            <a:solidFill>
              <a:srgbClr val="0D9488"/>
            </a:solidFill>
            <a:prstDash val="solid"/>
          </a:ln>
        </p:spPr>
      </p:sp>
      <p:pic>
        <p:nvPicPr>
          <p:cNvPr id="21" name="Image 3" descr="preencoded.png">    </p:cNvPr>
          <p:cNvPicPr>
            <a:picLocks noChangeAspect="1"/>
          </p:cNvPicPr>
          <p:nvPr/>
        </p:nvPicPr>
        <p:blipFill>
          <a:blip r:embed="rId4"/>
          <a:stretch>
            <a:fillRect/>
          </a:stretch>
        </p:blipFill>
        <p:spPr>
          <a:xfrm>
            <a:off x="788670" y="4857750"/>
            <a:ext cx="297180" cy="297180"/>
          </a:xfrm>
          <a:prstGeom prst="rect">
            <a:avLst/>
          </a:prstGeom>
        </p:spPr>
      </p:pic>
      <p:sp>
        <p:nvSpPr>
          <p:cNvPr id="22" name="Text 16"/>
          <p:cNvSpPr/>
          <p:nvPr/>
        </p:nvSpPr>
        <p:spPr>
          <a:xfrm>
            <a:off x="1417320" y="466344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  Subnet in halves</a:t>
            </a:r>
            <a:endParaRPr lang="en-US" sz="1500" dirty="0"/>
          </a:p>
        </p:txBody>
      </p:sp>
      <p:sp>
        <p:nvSpPr>
          <p:cNvPr id="23" name="Text 17"/>
          <p:cNvSpPr/>
          <p:nvPr/>
        </p:nvSpPr>
        <p:spPr>
          <a:xfrm>
            <a:off x="1417320" y="4983480"/>
            <a:ext cx="10058400" cy="4572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Within a /16, carve /20 subnets (4k IPs each). Standard: public/private × 3 AZs = 6 subnets, each /20, from one /16. Leaves room to grow.</a:t>
            </a:r>
            <a:endParaRPr lang="en-US" sz="1200" dirty="0"/>
          </a:p>
        </p:txBody>
      </p:sp>
      <p:sp>
        <p:nvSpPr>
          <p:cNvPr id="24" name="Shape 18"/>
          <p:cNvSpPr/>
          <p:nvPr/>
        </p:nvSpPr>
        <p:spPr>
          <a:xfrm>
            <a:off x="457200" y="5532120"/>
            <a:ext cx="11247120" cy="868680"/>
          </a:xfrm>
          <a:prstGeom prst="roundRect">
            <a:avLst>
              <a:gd name="adj" fmla="val 6316"/>
            </a:avLst>
          </a:prstGeom>
          <a:solidFill>
            <a:srgbClr val="1A2744"/>
          </a:solidFill>
          <a:ln w="12700">
            <a:solidFill>
              <a:srgbClr val="1A2744"/>
            </a:solidFill>
            <a:prstDash val="solid"/>
          </a:ln>
        </p:spPr>
      </p:sp>
      <p:sp>
        <p:nvSpPr>
          <p:cNvPr id="25" name="Shape 19"/>
          <p:cNvSpPr/>
          <p:nvPr/>
        </p:nvSpPr>
        <p:spPr>
          <a:xfrm>
            <a:off x="640080" y="5669280"/>
            <a:ext cx="594360" cy="594360"/>
          </a:xfrm>
          <a:prstGeom prst="ellipse">
            <a:avLst/>
          </a:prstGeom>
          <a:solidFill>
            <a:srgbClr val="0D9488"/>
          </a:solidFill>
          <a:ln w="12700">
            <a:solidFill>
              <a:srgbClr val="0D9488"/>
            </a:solidFill>
            <a:prstDash val="solid"/>
          </a:ln>
        </p:spPr>
      </p:sp>
      <p:pic>
        <p:nvPicPr>
          <p:cNvPr id="26" name="Image 4" descr="preencoded.png">    </p:cNvPr>
          <p:cNvPicPr>
            <a:picLocks noChangeAspect="1"/>
          </p:cNvPicPr>
          <p:nvPr/>
        </p:nvPicPr>
        <p:blipFill>
          <a:blip r:embed="rId5"/>
          <a:stretch>
            <a:fillRect/>
          </a:stretch>
        </p:blipFill>
        <p:spPr>
          <a:xfrm>
            <a:off x="788670" y="5817870"/>
            <a:ext cx="297180" cy="297180"/>
          </a:xfrm>
          <a:prstGeom prst="rect">
            <a:avLst/>
          </a:prstGeom>
        </p:spPr>
      </p:pic>
      <p:sp>
        <p:nvSpPr>
          <p:cNvPr id="27" name="Text 20"/>
          <p:cNvSpPr/>
          <p:nvPr/>
        </p:nvSpPr>
        <p:spPr>
          <a:xfrm>
            <a:off x="1417320" y="5623560"/>
            <a:ext cx="10058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Document immediately</a:t>
            </a:r>
            <a:endParaRPr lang="en-US" sz="1500" dirty="0"/>
          </a:p>
        </p:txBody>
      </p:sp>
      <p:sp>
        <p:nvSpPr>
          <p:cNvPr id="28" name="Text 21"/>
          <p:cNvSpPr/>
          <p:nvPr/>
        </p:nvSpPr>
        <p:spPr>
          <a:xfrm>
            <a:off x="1417320" y="5943600"/>
            <a:ext cx="10058400" cy="4572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Every new VPC gets logged in your IPAM / spreadsheet / ADR before the PR is merged. Enforce this in review.</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Bug 1 Recap — CIDR Overlap</a:t>
            </a:r>
            <a:endParaRPr lang="en-US" sz="32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The one that makes everything downstream impossible.</a:t>
            </a:r>
            <a:endParaRPr lang="en-US" sz="1500" dirty="0"/>
          </a:p>
        </p:txBody>
      </p:sp>
      <p:sp>
        <p:nvSpPr>
          <p:cNvPr id="4" name="Shape 2"/>
          <p:cNvSpPr/>
          <p:nvPr/>
        </p:nvSpPr>
        <p:spPr>
          <a:xfrm>
            <a:off x="457200" y="1691640"/>
            <a:ext cx="5486400" cy="2286000"/>
          </a:xfrm>
          <a:prstGeom prst="roundRect">
            <a:avLst>
              <a:gd name="adj" fmla="val 3200"/>
            </a:avLst>
          </a:prstGeom>
          <a:solidFill>
            <a:srgbClr val="1A2744"/>
          </a:solidFill>
          <a:ln w="25400">
            <a:solidFill>
              <a:srgbClr val="EF4444"/>
            </a:solidFill>
            <a:prstDash val="solid"/>
          </a:ln>
        </p:spPr>
      </p:sp>
      <p:sp>
        <p:nvSpPr>
          <p:cNvPr id="5" name="Text 3"/>
          <p:cNvSpPr/>
          <p:nvPr/>
        </p:nvSpPr>
        <p:spPr>
          <a:xfrm>
            <a:off x="640080" y="1783080"/>
            <a:ext cx="5120640" cy="365760"/>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Before</a:t>
            </a:r>
            <a:endParaRPr lang="en-US" sz="1400" dirty="0"/>
          </a:p>
        </p:txBody>
      </p:sp>
      <p:sp>
        <p:nvSpPr>
          <p:cNvPr id="6" name="Text 4"/>
          <p:cNvSpPr/>
          <p:nvPr/>
        </p:nvSpPr>
        <p:spPr>
          <a:xfrm>
            <a:off x="640080" y="2148840"/>
            <a:ext cx="5120640" cy="1828800"/>
          </a:xfrm>
          <a:prstGeom prst="rect">
            <a:avLst/>
          </a:prstGeom>
          <a:noFill/>
          <a:ln/>
        </p:spPr>
        <p:txBody>
          <a:bodyPr wrap="square"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resource "aws_vpc" "db"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cidr_block = "10.0.0.0/16"</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resource "aws_subnet" "db"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vpc_id     = aws_vpc.db.id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cidr_block = "10.0.2.0/24"</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7" name="Shape 5"/>
          <p:cNvSpPr/>
          <p:nvPr/>
        </p:nvSpPr>
        <p:spPr>
          <a:xfrm>
            <a:off x="6217920" y="1691640"/>
            <a:ext cx="5486400" cy="2286000"/>
          </a:xfrm>
          <a:prstGeom prst="roundRect">
            <a:avLst>
              <a:gd name="adj" fmla="val 3200"/>
            </a:avLst>
          </a:prstGeom>
          <a:solidFill>
            <a:srgbClr val="1A2744"/>
          </a:solidFill>
          <a:ln w="25400">
            <a:solidFill>
              <a:srgbClr val="10B981"/>
            </a:solidFill>
            <a:prstDash val="solid"/>
          </a:ln>
        </p:spPr>
      </p:sp>
      <p:sp>
        <p:nvSpPr>
          <p:cNvPr id="8" name="Text 6"/>
          <p:cNvSpPr/>
          <p:nvPr/>
        </p:nvSpPr>
        <p:spPr>
          <a:xfrm>
            <a:off x="6400800" y="1783080"/>
            <a:ext cx="5120640" cy="365760"/>
          </a:xfrm>
          <a:prstGeom prst="rect">
            <a:avLst/>
          </a:prstGeom>
          <a:noFill/>
          <a:ln/>
        </p:spPr>
        <p:txBody>
          <a:bodyPr wrap="square"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After</a:t>
            </a:r>
            <a:endParaRPr lang="en-US" sz="1400" dirty="0"/>
          </a:p>
        </p:txBody>
      </p:sp>
      <p:sp>
        <p:nvSpPr>
          <p:cNvPr id="9" name="Text 7"/>
          <p:cNvSpPr/>
          <p:nvPr/>
        </p:nvSpPr>
        <p:spPr>
          <a:xfrm>
            <a:off x="6400800" y="2148840"/>
            <a:ext cx="5120640" cy="1828800"/>
          </a:xfrm>
          <a:prstGeom prst="rect">
            <a:avLst/>
          </a:prstGeom>
          <a:noFill/>
          <a:ln/>
        </p:spPr>
        <p:txBody>
          <a:bodyPr wrap="square"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resource "aws_vpc" "db"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cidr_block = "10.1.0.0/16"</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resource "aws_subnet" "db"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vpc_id     = aws_vpc.db.id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cidr_block = "10.1.1.0/24"</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10" name="Shape 8"/>
          <p:cNvSpPr/>
          <p:nvPr/>
        </p:nvSpPr>
        <p:spPr>
          <a:xfrm>
            <a:off x="457200" y="4160520"/>
            <a:ext cx="11247120" cy="2377440"/>
          </a:xfrm>
          <a:prstGeom prst="roundRect">
            <a:avLst>
              <a:gd name="adj" fmla="val 3077"/>
            </a:avLst>
          </a:prstGeom>
          <a:solidFill>
            <a:srgbClr val="1A2744"/>
          </a:solidFill>
          <a:ln w="12700">
            <a:solidFill>
              <a:srgbClr val="1A2744"/>
            </a:solidFill>
            <a:prstDash val="solid"/>
          </a:ln>
        </p:spPr>
      </p:sp>
      <p:sp>
        <p:nvSpPr>
          <p:cNvPr id="11" name="Shape 9"/>
          <p:cNvSpPr/>
          <p:nvPr/>
        </p:nvSpPr>
        <p:spPr>
          <a:xfrm>
            <a:off x="731520" y="4434840"/>
            <a:ext cx="594360" cy="594360"/>
          </a:xfrm>
          <a:prstGeom prst="ellipse">
            <a:avLst/>
          </a:prstGeom>
          <a:solidFill>
            <a:srgbClr val="F59E0B"/>
          </a:solidFill>
          <a:ln w="12700">
            <a:solidFill>
              <a:srgbClr val="F59E0B"/>
            </a:solidFill>
            <a:prstDash val="solid"/>
          </a:ln>
        </p:spPr>
      </p:sp>
      <p:pic>
        <p:nvPicPr>
          <p:cNvPr id="12" name="Image 0" descr="preencoded.png">    </p:cNvPr>
          <p:cNvPicPr>
            <a:picLocks noChangeAspect="1"/>
          </p:cNvPicPr>
          <p:nvPr/>
        </p:nvPicPr>
        <p:blipFill>
          <a:blip r:embed="rId1"/>
          <a:stretch>
            <a:fillRect/>
          </a:stretch>
        </p:blipFill>
        <p:spPr>
          <a:xfrm>
            <a:off x="880110" y="4583430"/>
            <a:ext cx="297180" cy="297180"/>
          </a:xfrm>
          <a:prstGeom prst="rect">
            <a:avLst/>
          </a:prstGeom>
        </p:spPr>
      </p:pic>
      <p:sp>
        <p:nvSpPr>
          <p:cNvPr id="13" name="Text 10"/>
          <p:cNvSpPr/>
          <p:nvPr/>
        </p:nvSpPr>
        <p:spPr>
          <a:xfrm>
            <a:off x="1554480" y="4343400"/>
            <a:ext cx="10058400" cy="457200"/>
          </a:xfrm>
          <a:prstGeom prst="rect">
            <a:avLst/>
          </a:prstGeom>
          <a:noFill/>
          <a:ln/>
        </p:spPr>
        <p:txBody>
          <a:bodyPr wrap="square"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What to remember</a:t>
            </a:r>
            <a:endParaRPr lang="en-US" sz="1700" dirty="0"/>
          </a:p>
        </p:txBody>
      </p:sp>
      <p:sp>
        <p:nvSpPr>
          <p:cNvPr id="14" name="Text 11"/>
          <p:cNvSpPr/>
          <p:nvPr/>
        </p:nvSpPr>
        <p:spPr>
          <a:xfrm>
            <a:off x="1554480" y="4754880"/>
            <a:ext cx="10058400" cy="1737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Route tables always prefer the most specific match. When VPCs share a CIDR, the local route ALWAYS wins over the peering route — they're equally specific, and AWS resolves ties by preferring local. Traffic to the peer VPC silently stays local, and the peering connection gets no traffic even though it shows active.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Bug 2 Recap — Routes + Associations</a:t>
            </a:r>
            <a:endParaRPr lang="en-US" sz="30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Two separate things both need to exist.</a:t>
            </a:r>
            <a:endParaRPr lang="en-US" sz="1500" dirty="0"/>
          </a:p>
        </p:txBody>
      </p:sp>
      <p:sp>
        <p:nvSpPr>
          <p:cNvPr id="4" name="Shape 2"/>
          <p:cNvSpPr/>
          <p:nvPr/>
        </p:nvSpPr>
        <p:spPr>
          <a:xfrm>
            <a:off x="457200" y="1691640"/>
            <a:ext cx="5486400" cy="3657600"/>
          </a:xfrm>
          <a:prstGeom prst="roundRect">
            <a:avLst>
              <a:gd name="adj" fmla="val 2000"/>
            </a:avLst>
          </a:prstGeom>
          <a:solidFill>
            <a:srgbClr val="1A2744"/>
          </a:solidFill>
          <a:ln w="12700">
            <a:solidFill>
              <a:srgbClr val="1A2744"/>
            </a:solidFill>
            <a:prstDash val="solid"/>
          </a:ln>
        </p:spPr>
      </p:sp>
      <p:sp>
        <p:nvSpPr>
          <p:cNvPr id="5" name="Shape 3"/>
          <p:cNvSpPr/>
          <p:nvPr/>
        </p:nvSpPr>
        <p:spPr>
          <a:xfrm>
            <a:off x="640080" y="1874520"/>
            <a:ext cx="502920" cy="50292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765810" y="2000250"/>
            <a:ext cx="251460" cy="251460"/>
          </a:xfrm>
          <a:prstGeom prst="rect">
            <a:avLst/>
          </a:prstGeom>
        </p:spPr>
      </p:pic>
      <p:sp>
        <p:nvSpPr>
          <p:cNvPr id="7" name="Text 4"/>
          <p:cNvSpPr/>
          <p:nvPr/>
        </p:nvSpPr>
        <p:spPr>
          <a:xfrm>
            <a:off x="1280160" y="1874520"/>
            <a:ext cx="4572000" cy="411480"/>
          </a:xfrm>
          <a:prstGeom prst="rect">
            <a:avLst/>
          </a:prstGeom>
          <a:noFill/>
          <a:ln/>
        </p:spPr>
        <p:txBody>
          <a:bodyPr wrap="square"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The route entries</a:t>
            </a:r>
            <a:endParaRPr lang="en-US" sz="1600" dirty="0"/>
          </a:p>
        </p:txBody>
      </p:sp>
      <p:sp>
        <p:nvSpPr>
          <p:cNvPr id="8" name="Text 5"/>
          <p:cNvSpPr/>
          <p:nvPr/>
        </p:nvSpPr>
        <p:spPr>
          <a:xfrm>
            <a:off x="640080" y="2377440"/>
            <a:ext cx="5120640" cy="64008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Each route table needs an entry pointing the peer's CIDR at the peering connection.</a:t>
            </a:r>
            <a:endParaRPr lang="en-US" sz="1200" dirty="0"/>
          </a:p>
        </p:txBody>
      </p:sp>
      <p:sp>
        <p:nvSpPr>
          <p:cNvPr id="9" name="Text 6"/>
          <p:cNvSpPr/>
          <p:nvPr/>
        </p:nvSpPr>
        <p:spPr>
          <a:xfrm>
            <a:off x="640080" y="3108960"/>
            <a:ext cx="5120640" cy="2194560"/>
          </a:xfrm>
          <a:prstGeom prst="rect">
            <a:avLst/>
          </a:prstGeom>
          <a:noFill/>
          <a:ln/>
        </p:spPr>
        <p:txBody>
          <a:bodyPr wrap="square" rtlCol="0" anchor="t"/>
          <a:lstStyle/>
          <a:p>
            <a:pPr indent="0" marL="0">
              <a:buNone/>
            </a:pPr>
            <a:r>
              <a:rPr lang="en-US" sz="1000" dirty="0">
                <a:solidFill>
                  <a:srgbClr val="FFFFFF"/>
                </a:solidFill>
                <a:latin typeface="Consolas" pitchFamily="34" charset="0"/>
                <a:ea typeface="Consolas" pitchFamily="34" charset="-122"/>
                <a:cs typeface="Consolas" pitchFamily="34" charset="-120"/>
              </a:rPr>
              <a:t>resource "aws_route_table" "app"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vpc_id = aws_vpc.app.id</a:t>
            </a:r>
            <a:endParaRPr lang="en-US" sz="1000" dirty="0"/>
          </a:p>
          <a:p>
            <a:pPr indent="0" marL="0">
              <a:buNone/>
            </a:pP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route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cidr_block = "10.1.0.0/16"</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vpc_peering_connection_id =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aws_vpc_peering_connection.app_to_db.id</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0" name="Shape 7"/>
          <p:cNvSpPr/>
          <p:nvPr/>
        </p:nvSpPr>
        <p:spPr>
          <a:xfrm>
            <a:off x="6217920" y="1691640"/>
            <a:ext cx="5486400" cy="3657600"/>
          </a:xfrm>
          <a:prstGeom prst="roundRect">
            <a:avLst>
              <a:gd name="adj" fmla="val 2000"/>
            </a:avLst>
          </a:prstGeom>
          <a:solidFill>
            <a:srgbClr val="1A2744"/>
          </a:solidFill>
          <a:ln w="12700">
            <a:solidFill>
              <a:srgbClr val="1A2744"/>
            </a:solidFill>
            <a:prstDash val="solid"/>
          </a:ln>
        </p:spPr>
      </p:sp>
      <p:sp>
        <p:nvSpPr>
          <p:cNvPr id="11" name="Shape 8"/>
          <p:cNvSpPr/>
          <p:nvPr/>
        </p:nvSpPr>
        <p:spPr>
          <a:xfrm>
            <a:off x="6400800" y="1874520"/>
            <a:ext cx="502920" cy="502920"/>
          </a:xfrm>
          <a:prstGeom prst="ellipse">
            <a:avLst/>
          </a:prstGeom>
          <a:solidFill>
            <a:srgbClr val="0D9488"/>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6526530" y="2000250"/>
            <a:ext cx="251460" cy="251460"/>
          </a:xfrm>
          <a:prstGeom prst="rect">
            <a:avLst/>
          </a:prstGeom>
        </p:spPr>
      </p:pic>
      <p:sp>
        <p:nvSpPr>
          <p:cNvPr id="13" name="Text 9"/>
          <p:cNvSpPr/>
          <p:nvPr/>
        </p:nvSpPr>
        <p:spPr>
          <a:xfrm>
            <a:off x="7040880" y="1874520"/>
            <a:ext cx="4572000" cy="411480"/>
          </a:xfrm>
          <a:prstGeom prst="rect">
            <a:avLst/>
          </a:prstGeom>
          <a:noFill/>
          <a:ln/>
        </p:spPr>
        <p:txBody>
          <a:bodyPr wrap="square"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The association</a:t>
            </a:r>
            <a:endParaRPr lang="en-US" sz="1600" dirty="0"/>
          </a:p>
        </p:txBody>
      </p:sp>
      <p:sp>
        <p:nvSpPr>
          <p:cNvPr id="14" name="Text 10"/>
          <p:cNvSpPr/>
          <p:nvPr/>
        </p:nvSpPr>
        <p:spPr>
          <a:xfrm>
            <a:off x="6400800" y="2377440"/>
            <a:ext cx="5120640" cy="7315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The route table must be attached to the subnet — otherwise the subnet uses the VPC's main route table (which has no peering route).</a:t>
            </a:r>
            <a:endParaRPr lang="en-US" sz="1200" dirty="0"/>
          </a:p>
        </p:txBody>
      </p:sp>
      <p:sp>
        <p:nvSpPr>
          <p:cNvPr id="15" name="Text 11"/>
          <p:cNvSpPr/>
          <p:nvPr/>
        </p:nvSpPr>
        <p:spPr>
          <a:xfrm>
            <a:off x="6400800" y="3200400"/>
            <a:ext cx="5120640" cy="2103120"/>
          </a:xfrm>
          <a:prstGeom prst="rect">
            <a:avLst/>
          </a:prstGeom>
          <a:noFill/>
          <a:ln/>
        </p:spPr>
        <p:txBody>
          <a:bodyPr wrap="square" rtlCol="0" anchor="t"/>
          <a:lstStyle/>
          <a:p>
            <a:pPr indent="0" marL="0">
              <a:buNone/>
            </a:pPr>
            <a:r>
              <a:rPr lang="en-US" sz="1000" dirty="0">
                <a:solidFill>
                  <a:srgbClr val="FFFFFF"/>
                </a:solidFill>
                <a:latin typeface="Consolas" pitchFamily="34" charset="0"/>
                <a:ea typeface="Consolas" pitchFamily="34" charset="-122"/>
                <a:cs typeface="Consolas" pitchFamily="34" charset="-120"/>
              </a:rPr>
              <a:t>resource "aws_route_table_association" "app" {</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subnet_id      = aws_subnet.app.id</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  route_table_id = aws_route_table.app.id</a:t>
            </a:r>
            <a:endParaRPr lang="en-US" sz="1000" dirty="0"/>
          </a:p>
          <a:p>
            <a:pPr indent="0" marL="0">
              <a:buNone/>
            </a:pP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6" name="Shape 12"/>
          <p:cNvSpPr/>
          <p:nvPr/>
        </p:nvSpPr>
        <p:spPr>
          <a:xfrm>
            <a:off x="457200" y="5532120"/>
            <a:ext cx="11247120" cy="1051560"/>
          </a:xfrm>
          <a:prstGeom prst="roundRect">
            <a:avLst>
              <a:gd name="adj" fmla="val 5217"/>
            </a:avLst>
          </a:prstGeom>
          <a:solidFill>
            <a:srgbClr val="1A2744"/>
          </a:solidFill>
          <a:ln w="12700">
            <a:solidFill>
              <a:srgbClr val="F59E0B"/>
            </a:solidFill>
            <a:prstDash val="solid"/>
          </a:ln>
        </p:spPr>
      </p:sp>
      <p:sp>
        <p:nvSpPr>
          <p:cNvPr id="17" name="Shape 13"/>
          <p:cNvSpPr/>
          <p:nvPr/>
        </p:nvSpPr>
        <p:spPr>
          <a:xfrm>
            <a:off x="731520" y="5715000"/>
            <a:ext cx="594360" cy="594360"/>
          </a:xfrm>
          <a:prstGeom prst="ellipse">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880110" y="5863590"/>
            <a:ext cx="297180" cy="297180"/>
          </a:xfrm>
          <a:prstGeom prst="rect">
            <a:avLst/>
          </a:prstGeom>
        </p:spPr>
      </p:pic>
      <p:sp>
        <p:nvSpPr>
          <p:cNvPr id="19" name="Text 14"/>
          <p:cNvSpPr/>
          <p:nvPr/>
        </p:nvSpPr>
        <p:spPr>
          <a:xfrm>
            <a:off x="1554480" y="5577840"/>
            <a:ext cx="10058400" cy="10058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Both sides. Every time. A peering connection needs routes in BOTH VPCs — app needs a route to db, db needs a route back to app. Miss one and TCP handshakes hang forever.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Bug 3 Recap — Security Groups</a:t>
            </a:r>
            <a:endParaRPr lang="en-US" sz="32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A route lets the packet arrive. A security group decides whether to accept it.</a:t>
            </a:r>
            <a:endParaRPr lang="en-US" sz="1500" dirty="0"/>
          </a:p>
        </p:txBody>
      </p:sp>
      <p:sp>
        <p:nvSpPr>
          <p:cNvPr id="4" name="Shape 2"/>
          <p:cNvSpPr/>
          <p:nvPr/>
        </p:nvSpPr>
        <p:spPr>
          <a:xfrm>
            <a:off x="457200" y="1691640"/>
            <a:ext cx="11247120" cy="2468880"/>
          </a:xfrm>
          <a:prstGeom prst="roundRect">
            <a:avLst>
              <a:gd name="adj" fmla="val 2963"/>
            </a:avLst>
          </a:prstGeom>
          <a:solidFill>
            <a:srgbClr val="1A2744"/>
          </a:solidFill>
          <a:ln w="12700">
            <a:solidFill>
              <a:srgbClr val="1A2744"/>
            </a:solidFill>
            <a:prstDash val="solid"/>
          </a:ln>
        </p:spPr>
      </p:sp>
      <p:sp>
        <p:nvSpPr>
          <p:cNvPr id="5" name="Text 3"/>
          <p:cNvSpPr/>
          <p:nvPr/>
        </p:nvSpPr>
        <p:spPr>
          <a:xfrm>
            <a:off x="640080" y="1828800"/>
            <a:ext cx="10972800" cy="4572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After fixing the CIDR overlap, the DB security group's ingress rule now unambiguously refers to the app VPC:</a:t>
            </a:r>
            <a:endParaRPr lang="en-US" sz="1300" dirty="0"/>
          </a:p>
        </p:txBody>
      </p:sp>
      <p:sp>
        <p:nvSpPr>
          <p:cNvPr id="6" name="Text 4"/>
          <p:cNvSpPr/>
          <p:nvPr/>
        </p:nvSpPr>
        <p:spPr>
          <a:xfrm>
            <a:off x="640080" y="2331720"/>
            <a:ext cx="10972800" cy="1783080"/>
          </a:xfrm>
          <a:prstGeom prst="rect">
            <a:avLst/>
          </a:prstGeom>
          <a:noFill/>
          <a:ln/>
        </p:spPr>
        <p:txBody>
          <a:bodyPr wrap="square"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resource "aws_security_group" "db" {</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vpc_id = aws_vpc.db.id</a:t>
            </a:r>
            <a:endParaRPr lang="en-US" sz="1200" dirty="0"/>
          </a:p>
          <a:p>
            <a:pPr indent="0" marL="0">
              <a:buNone/>
            </a:pP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ingress {</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from_port   = 5432</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to_port     = 5432</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protocol    = "tcp"</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cidr_blocks = ["10.0.0.0/16"]   # App VPC</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7" name="Shape 5"/>
          <p:cNvSpPr/>
          <p:nvPr/>
        </p:nvSpPr>
        <p:spPr>
          <a:xfrm>
            <a:off x="457200" y="4343400"/>
            <a:ext cx="5486400" cy="2240280"/>
          </a:xfrm>
          <a:prstGeom prst="roundRect">
            <a:avLst>
              <a:gd name="adj" fmla="val 3265"/>
            </a:avLst>
          </a:prstGeom>
          <a:solidFill>
            <a:srgbClr val="1A2744"/>
          </a:solidFill>
          <a:ln w="12700">
            <a:solidFill>
              <a:srgbClr val="1A2744"/>
            </a:solidFill>
            <a:prstDash val="solid"/>
          </a:ln>
        </p:spPr>
      </p:sp>
      <p:sp>
        <p:nvSpPr>
          <p:cNvPr id="8" name="Shape 6"/>
          <p:cNvSpPr/>
          <p:nvPr/>
        </p:nvSpPr>
        <p:spPr>
          <a:xfrm>
            <a:off x="640080" y="4526280"/>
            <a:ext cx="502920" cy="502920"/>
          </a:xfrm>
          <a:prstGeom prst="ellipse">
            <a:avLst/>
          </a:prstGeom>
          <a:solidFill>
            <a:srgbClr val="0D9488"/>
          </a:solidFill>
          <a:ln w="12700">
            <a:solidFill>
              <a:srgbClr val="0D9488"/>
            </a:solidFill>
            <a:prstDash val="solid"/>
          </a:ln>
        </p:spPr>
      </p:sp>
      <p:pic>
        <p:nvPicPr>
          <p:cNvPr id="9" name="Image 0" descr="preencoded.png">    </p:cNvPr>
          <p:cNvPicPr>
            <a:picLocks noChangeAspect="1"/>
          </p:cNvPicPr>
          <p:nvPr/>
        </p:nvPicPr>
        <p:blipFill>
          <a:blip r:embed="rId1"/>
          <a:stretch>
            <a:fillRect/>
          </a:stretch>
        </p:blipFill>
        <p:spPr>
          <a:xfrm>
            <a:off x="765810" y="4652010"/>
            <a:ext cx="251460" cy="251460"/>
          </a:xfrm>
          <a:prstGeom prst="rect">
            <a:avLst/>
          </a:prstGeom>
        </p:spPr>
      </p:pic>
      <p:sp>
        <p:nvSpPr>
          <p:cNvPr id="10" name="Text 7"/>
          <p:cNvSpPr/>
          <p:nvPr/>
        </p:nvSpPr>
        <p:spPr>
          <a:xfrm>
            <a:off x="1280160" y="4526280"/>
            <a:ext cx="4572000" cy="411480"/>
          </a:xfrm>
          <a:prstGeom prst="rect">
            <a:avLst/>
          </a:prstGeom>
          <a:noFill/>
          <a:ln/>
        </p:spPr>
        <p:txBody>
          <a:bodyPr wrap="square"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Stateful  =  return traffic auto-allowed</a:t>
            </a:r>
            <a:endParaRPr lang="en-US" sz="1400" dirty="0"/>
          </a:p>
        </p:txBody>
      </p:sp>
      <p:sp>
        <p:nvSpPr>
          <p:cNvPr id="11" name="Text 8"/>
          <p:cNvSpPr/>
          <p:nvPr/>
        </p:nvSpPr>
        <p:spPr>
          <a:xfrm>
            <a:off x="640080" y="5029200"/>
            <a:ext cx="5120640" cy="1463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SGs track connection state. If you allow inbound on 5432, the response traffic is automatically allowed outbound — you don't need a matching egress rule for the response itself.</a:t>
            </a:r>
            <a:endParaRPr lang="en-US" sz="1200" dirty="0"/>
          </a:p>
        </p:txBody>
      </p:sp>
      <p:sp>
        <p:nvSpPr>
          <p:cNvPr id="12" name="Shape 9"/>
          <p:cNvSpPr/>
          <p:nvPr/>
        </p:nvSpPr>
        <p:spPr>
          <a:xfrm>
            <a:off x="6217920" y="4343400"/>
            <a:ext cx="5486400" cy="2240280"/>
          </a:xfrm>
          <a:prstGeom prst="roundRect">
            <a:avLst>
              <a:gd name="adj" fmla="val 3265"/>
            </a:avLst>
          </a:prstGeom>
          <a:solidFill>
            <a:srgbClr val="1A2744"/>
          </a:solidFill>
          <a:ln w="12700">
            <a:solidFill>
              <a:srgbClr val="1A2744"/>
            </a:solidFill>
            <a:prstDash val="solid"/>
          </a:ln>
        </p:spPr>
      </p:sp>
      <p:sp>
        <p:nvSpPr>
          <p:cNvPr id="13" name="Shape 10"/>
          <p:cNvSpPr/>
          <p:nvPr/>
        </p:nvSpPr>
        <p:spPr>
          <a:xfrm>
            <a:off x="6400800" y="4526280"/>
            <a:ext cx="502920" cy="502920"/>
          </a:xfrm>
          <a:prstGeom prst="ellipse">
            <a:avLst/>
          </a:prstGeom>
          <a:solidFill>
            <a:srgbClr val="F59E0B"/>
          </a:solidFill>
          <a:ln w="12700">
            <a:solidFill>
              <a:srgbClr val="F59E0B"/>
            </a:solidFill>
            <a:prstDash val="solid"/>
          </a:ln>
        </p:spPr>
      </p:sp>
      <p:pic>
        <p:nvPicPr>
          <p:cNvPr id="14" name="Image 1" descr="preencoded.png">    </p:cNvPr>
          <p:cNvPicPr>
            <a:picLocks noChangeAspect="1"/>
          </p:cNvPicPr>
          <p:nvPr/>
        </p:nvPicPr>
        <p:blipFill>
          <a:blip r:embed="rId2"/>
          <a:stretch>
            <a:fillRect/>
          </a:stretch>
        </p:blipFill>
        <p:spPr>
          <a:xfrm>
            <a:off x="6526530" y="4652010"/>
            <a:ext cx="251460" cy="251460"/>
          </a:xfrm>
          <a:prstGeom prst="rect">
            <a:avLst/>
          </a:prstGeom>
        </p:spPr>
      </p:pic>
      <p:sp>
        <p:nvSpPr>
          <p:cNvPr id="15" name="Text 11"/>
          <p:cNvSpPr/>
          <p:nvPr/>
        </p:nvSpPr>
        <p:spPr>
          <a:xfrm>
            <a:off x="7040880" y="4526280"/>
            <a:ext cx="4572000" cy="41148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Terraform SG gotcha</a:t>
            </a:r>
            <a:endParaRPr lang="en-US" sz="1400" dirty="0"/>
          </a:p>
        </p:txBody>
      </p:sp>
      <p:sp>
        <p:nvSpPr>
          <p:cNvPr id="16" name="Text 12"/>
          <p:cNvSpPr/>
          <p:nvPr/>
        </p:nvSpPr>
        <p:spPr>
          <a:xfrm>
            <a:off x="6400800" y="5029200"/>
            <a:ext cx="5120640" cy="1463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`aws_security_group` strips AWS's default "allow all egress" rule unless you declare it explicitly. Always include an egress block when the resource needs to initiate outbound connections.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Lab vs Real Life</a:t>
            </a:r>
            <a:endParaRPr lang="en-US" sz="3200" dirty="0"/>
          </a:p>
        </p:txBody>
      </p:sp>
      <p:sp>
        <p:nvSpPr>
          <p:cNvPr id="3" name="Text 1"/>
          <p:cNvSpPr/>
          <p:nvPr/>
        </p:nvSpPr>
        <p:spPr>
          <a:xfrm>
            <a:off x="457200" y="1005840"/>
            <a:ext cx="10972800" cy="457200"/>
          </a:xfrm>
          <a:prstGeom prst="rect">
            <a:avLst/>
          </a:prstGeom>
          <a:noFill/>
          <a:ln/>
        </p:spPr>
        <p:txBody>
          <a:bodyPr wrap="square"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What production adds on top of the lab scenario.</a:t>
            </a:r>
            <a:endParaRPr lang="en-US" sz="1500" dirty="0"/>
          </a:p>
        </p:txBody>
      </p:sp>
      <p:sp>
        <p:nvSpPr>
          <p:cNvPr id="4" name="Shape 2"/>
          <p:cNvSpPr/>
          <p:nvPr/>
        </p:nvSpPr>
        <p:spPr>
          <a:xfrm>
            <a:off x="457200" y="1691640"/>
            <a:ext cx="5486400" cy="1508760"/>
          </a:xfrm>
          <a:prstGeom prst="roundRect">
            <a:avLst>
              <a:gd name="adj" fmla="val 4848"/>
            </a:avLst>
          </a:prstGeom>
          <a:solidFill>
            <a:srgbClr val="1A2744"/>
          </a:solidFill>
          <a:ln w="12700">
            <a:solidFill>
              <a:srgbClr val="1A2744"/>
            </a:solidFill>
            <a:prstDash val="solid"/>
          </a:ln>
        </p:spPr>
      </p:sp>
      <p:sp>
        <p:nvSpPr>
          <p:cNvPr id="5" name="Shape 3"/>
          <p:cNvSpPr/>
          <p:nvPr/>
        </p:nvSpPr>
        <p:spPr>
          <a:xfrm>
            <a:off x="640080" y="1874520"/>
            <a:ext cx="548640" cy="54864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777240" y="2011680"/>
            <a:ext cx="274320" cy="274320"/>
          </a:xfrm>
          <a:prstGeom prst="rect">
            <a:avLst/>
          </a:prstGeom>
        </p:spPr>
      </p:pic>
      <p:sp>
        <p:nvSpPr>
          <p:cNvPr id="7" name="Text 4"/>
          <p:cNvSpPr/>
          <p:nvPr/>
        </p:nvSpPr>
        <p:spPr>
          <a:xfrm>
            <a:off x="1325880" y="1828800"/>
            <a:ext cx="448056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Transit Gateway at scale</a:t>
            </a:r>
            <a:endParaRPr lang="en-US" sz="1400" dirty="0"/>
          </a:p>
        </p:txBody>
      </p:sp>
      <p:sp>
        <p:nvSpPr>
          <p:cNvPr id="8" name="Text 5"/>
          <p:cNvSpPr/>
          <p:nvPr/>
        </p:nvSpPr>
        <p:spPr>
          <a:xfrm>
            <a:off x="640080" y="2331720"/>
            <a:ext cx="5120640" cy="8229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Peering is point-to-point. 3 VPCs = 3 peerings; 10 VPCs = 45. Past 4–5 VPCs, switch to Transit Gateway — hub-and-spoke, one central routing domain.</a:t>
            </a:r>
            <a:endParaRPr lang="en-US" sz="1100" dirty="0"/>
          </a:p>
        </p:txBody>
      </p:sp>
      <p:sp>
        <p:nvSpPr>
          <p:cNvPr id="9" name="Shape 6"/>
          <p:cNvSpPr/>
          <p:nvPr/>
        </p:nvSpPr>
        <p:spPr>
          <a:xfrm>
            <a:off x="6217920" y="1691640"/>
            <a:ext cx="5486400" cy="1508760"/>
          </a:xfrm>
          <a:prstGeom prst="roundRect">
            <a:avLst>
              <a:gd name="adj" fmla="val 4848"/>
            </a:avLst>
          </a:prstGeom>
          <a:solidFill>
            <a:srgbClr val="1A2744"/>
          </a:solidFill>
          <a:ln w="12700">
            <a:solidFill>
              <a:srgbClr val="1A2744"/>
            </a:solidFill>
            <a:prstDash val="solid"/>
          </a:ln>
        </p:spPr>
      </p:sp>
      <p:sp>
        <p:nvSpPr>
          <p:cNvPr id="10" name="Shape 7"/>
          <p:cNvSpPr/>
          <p:nvPr/>
        </p:nvSpPr>
        <p:spPr>
          <a:xfrm>
            <a:off x="6400800" y="1874520"/>
            <a:ext cx="548640" cy="548640"/>
          </a:xfrm>
          <a:prstGeom prst="ellipse">
            <a:avLst/>
          </a:prstGeom>
          <a:solidFill>
            <a:srgbClr val="0D9488"/>
          </a:solidFill>
          <a:ln w="12700">
            <a:solidFill>
              <a:srgbClr val="0D9488"/>
            </a:solidFill>
            <a:prstDash val="solid"/>
          </a:ln>
        </p:spPr>
      </p:sp>
      <p:pic>
        <p:nvPicPr>
          <p:cNvPr id="11" name="Image 1" descr="preencoded.png">    </p:cNvPr>
          <p:cNvPicPr>
            <a:picLocks noChangeAspect="1"/>
          </p:cNvPicPr>
          <p:nvPr/>
        </p:nvPicPr>
        <p:blipFill>
          <a:blip r:embed="rId2"/>
          <a:stretch>
            <a:fillRect/>
          </a:stretch>
        </p:blipFill>
        <p:spPr>
          <a:xfrm>
            <a:off x="6537960" y="2011680"/>
            <a:ext cx="274320" cy="274320"/>
          </a:xfrm>
          <a:prstGeom prst="rect">
            <a:avLst/>
          </a:prstGeom>
        </p:spPr>
      </p:pic>
      <p:sp>
        <p:nvSpPr>
          <p:cNvPr id="12" name="Text 8"/>
          <p:cNvSpPr/>
          <p:nvPr/>
        </p:nvSpPr>
        <p:spPr>
          <a:xfrm>
            <a:off x="7086600" y="1828800"/>
            <a:ext cx="448056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Cross-account peering</a:t>
            </a:r>
            <a:endParaRPr lang="en-US" sz="1400" dirty="0"/>
          </a:p>
        </p:txBody>
      </p:sp>
      <p:sp>
        <p:nvSpPr>
          <p:cNvPr id="13" name="Text 9"/>
          <p:cNvSpPr/>
          <p:nvPr/>
        </p:nvSpPr>
        <p:spPr>
          <a:xfrm>
            <a:off x="6400800" y="2331720"/>
            <a:ext cx="5120640" cy="8229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Works, but the peer account must explicitly accept the request (no auto-accept across accounts — security boundary).</a:t>
            </a:r>
            <a:endParaRPr lang="en-US" sz="1100" dirty="0"/>
          </a:p>
        </p:txBody>
      </p:sp>
      <p:sp>
        <p:nvSpPr>
          <p:cNvPr id="14" name="Shape 10"/>
          <p:cNvSpPr/>
          <p:nvPr/>
        </p:nvSpPr>
        <p:spPr>
          <a:xfrm>
            <a:off x="457200" y="3337560"/>
            <a:ext cx="5486400" cy="1508760"/>
          </a:xfrm>
          <a:prstGeom prst="roundRect">
            <a:avLst>
              <a:gd name="adj" fmla="val 4848"/>
            </a:avLst>
          </a:prstGeom>
          <a:solidFill>
            <a:srgbClr val="1A2744"/>
          </a:solidFill>
          <a:ln w="12700">
            <a:solidFill>
              <a:srgbClr val="1A2744"/>
            </a:solidFill>
            <a:prstDash val="solid"/>
          </a:ln>
        </p:spPr>
      </p:sp>
      <p:sp>
        <p:nvSpPr>
          <p:cNvPr id="15" name="Shape 11"/>
          <p:cNvSpPr/>
          <p:nvPr/>
        </p:nvSpPr>
        <p:spPr>
          <a:xfrm>
            <a:off x="640080" y="3520440"/>
            <a:ext cx="548640" cy="548640"/>
          </a:xfrm>
          <a:prstGeom prst="ellipse">
            <a:avLst/>
          </a:prstGeom>
          <a:solidFill>
            <a:srgbClr val="0D9488"/>
          </a:solidFill>
          <a:ln w="12700">
            <a:solidFill>
              <a:srgbClr val="0D9488"/>
            </a:solidFill>
            <a:prstDash val="solid"/>
          </a:ln>
        </p:spPr>
      </p:sp>
      <p:pic>
        <p:nvPicPr>
          <p:cNvPr id="16" name="Image 2" descr="preencoded.png">    </p:cNvPr>
          <p:cNvPicPr>
            <a:picLocks noChangeAspect="1"/>
          </p:cNvPicPr>
          <p:nvPr/>
        </p:nvPicPr>
        <p:blipFill>
          <a:blip r:embed="rId3"/>
          <a:stretch>
            <a:fillRect/>
          </a:stretch>
        </p:blipFill>
        <p:spPr>
          <a:xfrm>
            <a:off x="777240" y="3657600"/>
            <a:ext cx="274320" cy="274320"/>
          </a:xfrm>
          <a:prstGeom prst="rect">
            <a:avLst/>
          </a:prstGeom>
        </p:spPr>
      </p:pic>
      <p:sp>
        <p:nvSpPr>
          <p:cNvPr id="17" name="Text 12"/>
          <p:cNvSpPr/>
          <p:nvPr/>
        </p:nvSpPr>
        <p:spPr>
          <a:xfrm>
            <a:off x="1325880" y="3474720"/>
            <a:ext cx="448056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Cross-region peering</a:t>
            </a:r>
            <a:endParaRPr lang="en-US" sz="1400" dirty="0"/>
          </a:p>
        </p:txBody>
      </p:sp>
      <p:sp>
        <p:nvSpPr>
          <p:cNvPr id="18" name="Text 13"/>
          <p:cNvSpPr/>
          <p:nvPr/>
        </p:nvSpPr>
        <p:spPr>
          <a:xfrm>
            <a:off x="640080" y="3977640"/>
            <a:ext cx="5120640" cy="8229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Supported. Traffic stays on AWS backbone, encrypted in transit. Costs more than same-region.</a:t>
            </a:r>
            <a:endParaRPr lang="en-US" sz="1100" dirty="0"/>
          </a:p>
        </p:txBody>
      </p:sp>
      <p:sp>
        <p:nvSpPr>
          <p:cNvPr id="19" name="Shape 14"/>
          <p:cNvSpPr/>
          <p:nvPr/>
        </p:nvSpPr>
        <p:spPr>
          <a:xfrm>
            <a:off x="6217920" y="3337560"/>
            <a:ext cx="5486400" cy="1508760"/>
          </a:xfrm>
          <a:prstGeom prst="roundRect">
            <a:avLst>
              <a:gd name="adj" fmla="val 4848"/>
            </a:avLst>
          </a:prstGeom>
          <a:solidFill>
            <a:srgbClr val="1A2744"/>
          </a:solidFill>
          <a:ln w="12700">
            <a:solidFill>
              <a:srgbClr val="1A2744"/>
            </a:solidFill>
            <a:prstDash val="solid"/>
          </a:ln>
        </p:spPr>
      </p:sp>
      <p:sp>
        <p:nvSpPr>
          <p:cNvPr id="20" name="Shape 15"/>
          <p:cNvSpPr/>
          <p:nvPr/>
        </p:nvSpPr>
        <p:spPr>
          <a:xfrm>
            <a:off x="6400800" y="3520440"/>
            <a:ext cx="548640" cy="548640"/>
          </a:xfrm>
          <a:prstGeom prst="ellipse">
            <a:avLst/>
          </a:prstGeom>
          <a:solidFill>
            <a:srgbClr val="0D9488"/>
          </a:solidFill>
          <a:ln w="12700">
            <a:solidFill>
              <a:srgbClr val="0D9488"/>
            </a:solidFill>
            <a:prstDash val="solid"/>
          </a:ln>
        </p:spPr>
      </p:sp>
      <p:pic>
        <p:nvPicPr>
          <p:cNvPr id="21" name="Image 3" descr="preencoded.png">    </p:cNvPr>
          <p:cNvPicPr>
            <a:picLocks noChangeAspect="1"/>
          </p:cNvPicPr>
          <p:nvPr/>
        </p:nvPicPr>
        <p:blipFill>
          <a:blip r:embed="rId4"/>
          <a:stretch>
            <a:fillRect/>
          </a:stretch>
        </p:blipFill>
        <p:spPr>
          <a:xfrm>
            <a:off x="6537960" y="3657600"/>
            <a:ext cx="274320" cy="274320"/>
          </a:xfrm>
          <a:prstGeom prst="rect">
            <a:avLst/>
          </a:prstGeom>
        </p:spPr>
      </p:pic>
      <p:sp>
        <p:nvSpPr>
          <p:cNvPr id="22" name="Text 16"/>
          <p:cNvSpPr/>
          <p:nvPr/>
        </p:nvSpPr>
        <p:spPr>
          <a:xfrm>
            <a:off x="7086600" y="3474720"/>
            <a:ext cx="448056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IPAM in production</a:t>
            </a:r>
            <a:endParaRPr lang="en-US" sz="1400" dirty="0"/>
          </a:p>
        </p:txBody>
      </p:sp>
      <p:sp>
        <p:nvSpPr>
          <p:cNvPr id="23" name="Text 17"/>
          <p:cNvSpPr/>
          <p:nvPr/>
        </p:nvSpPr>
        <p:spPr>
          <a:xfrm>
            <a:off x="6400800" y="3977640"/>
            <a:ext cx="5120640" cy="8229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Large orgs use AWS IPAM or equivalent to allocate CIDRs across dozens of VPCs. Reactive fixing after workloads are deployed is expensive — VPC recreation, IP changes, DNS churn.</a:t>
            </a:r>
            <a:endParaRPr lang="en-US" sz="1100" dirty="0"/>
          </a:p>
        </p:txBody>
      </p:sp>
      <p:sp>
        <p:nvSpPr>
          <p:cNvPr id="24" name="Shape 18"/>
          <p:cNvSpPr/>
          <p:nvPr/>
        </p:nvSpPr>
        <p:spPr>
          <a:xfrm>
            <a:off x="457200" y="4983480"/>
            <a:ext cx="5486400" cy="1508760"/>
          </a:xfrm>
          <a:prstGeom prst="roundRect">
            <a:avLst>
              <a:gd name="adj" fmla="val 4848"/>
            </a:avLst>
          </a:prstGeom>
          <a:solidFill>
            <a:srgbClr val="1A2744"/>
          </a:solidFill>
          <a:ln w="12700">
            <a:solidFill>
              <a:srgbClr val="1A2744"/>
            </a:solidFill>
            <a:prstDash val="solid"/>
          </a:ln>
        </p:spPr>
      </p:sp>
      <p:sp>
        <p:nvSpPr>
          <p:cNvPr id="25" name="Shape 19"/>
          <p:cNvSpPr/>
          <p:nvPr/>
        </p:nvSpPr>
        <p:spPr>
          <a:xfrm>
            <a:off x="640080" y="5166360"/>
            <a:ext cx="548640" cy="548640"/>
          </a:xfrm>
          <a:prstGeom prst="ellipse">
            <a:avLst/>
          </a:prstGeom>
          <a:solidFill>
            <a:srgbClr val="0D9488"/>
          </a:solidFill>
          <a:ln w="12700">
            <a:solidFill>
              <a:srgbClr val="0D9488"/>
            </a:solidFill>
            <a:prstDash val="solid"/>
          </a:ln>
        </p:spPr>
      </p:sp>
      <p:pic>
        <p:nvPicPr>
          <p:cNvPr id="26" name="Image 4" descr="preencoded.png">    </p:cNvPr>
          <p:cNvPicPr>
            <a:picLocks noChangeAspect="1"/>
          </p:cNvPicPr>
          <p:nvPr/>
        </p:nvPicPr>
        <p:blipFill>
          <a:blip r:embed="rId5"/>
          <a:stretch>
            <a:fillRect/>
          </a:stretch>
        </p:blipFill>
        <p:spPr>
          <a:xfrm>
            <a:off x="777240" y="5303520"/>
            <a:ext cx="274320" cy="274320"/>
          </a:xfrm>
          <a:prstGeom prst="rect">
            <a:avLst/>
          </a:prstGeom>
        </p:spPr>
      </p:pic>
      <p:sp>
        <p:nvSpPr>
          <p:cNvPr id="27" name="Text 20"/>
          <p:cNvSpPr/>
          <p:nvPr/>
        </p:nvSpPr>
        <p:spPr>
          <a:xfrm>
            <a:off x="1325880" y="5120640"/>
            <a:ext cx="448056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Private DNS resolution</a:t>
            </a:r>
            <a:endParaRPr lang="en-US" sz="1400" dirty="0"/>
          </a:p>
        </p:txBody>
      </p:sp>
      <p:sp>
        <p:nvSpPr>
          <p:cNvPr id="28" name="Text 21"/>
          <p:cNvSpPr/>
          <p:nvPr/>
        </p:nvSpPr>
        <p:spPr>
          <a:xfrm>
            <a:off x="640080" y="5623560"/>
            <a:ext cx="5120640" cy="8229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By default, instances in peered VPCs resolve each other's private DNS names to public IPs. Enable `allow_remote_vpc_dns_resolution` to resolve to private.</a:t>
            </a:r>
            <a:endParaRPr lang="en-US" sz="1100" dirty="0"/>
          </a:p>
        </p:txBody>
      </p:sp>
      <p:sp>
        <p:nvSpPr>
          <p:cNvPr id="29" name="Shape 22"/>
          <p:cNvSpPr/>
          <p:nvPr/>
        </p:nvSpPr>
        <p:spPr>
          <a:xfrm>
            <a:off x="6217920" y="4983480"/>
            <a:ext cx="5486400" cy="1508760"/>
          </a:xfrm>
          <a:prstGeom prst="roundRect">
            <a:avLst>
              <a:gd name="adj" fmla="val 4848"/>
            </a:avLst>
          </a:prstGeom>
          <a:solidFill>
            <a:srgbClr val="1A2744"/>
          </a:solidFill>
          <a:ln w="12700">
            <a:solidFill>
              <a:srgbClr val="1A2744"/>
            </a:solidFill>
            <a:prstDash val="solid"/>
          </a:ln>
        </p:spPr>
      </p:sp>
      <p:sp>
        <p:nvSpPr>
          <p:cNvPr id="30" name="Shape 23"/>
          <p:cNvSpPr/>
          <p:nvPr/>
        </p:nvSpPr>
        <p:spPr>
          <a:xfrm>
            <a:off x="6400800" y="5166360"/>
            <a:ext cx="548640" cy="548640"/>
          </a:xfrm>
          <a:prstGeom prst="ellipse">
            <a:avLst/>
          </a:prstGeom>
          <a:solidFill>
            <a:srgbClr val="0D9488"/>
          </a:solidFill>
          <a:ln w="12700">
            <a:solidFill>
              <a:srgbClr val="0D9488"/>
            </a:solidFill>
            <a:prstDash val="solid"/>
          </a:ln>
        </p:spPr>
      </p:sp>
      <p:pic>
        <p:nvPicPr>
          <p:cNvPr id="31" name="Image 5" descr="preencoded.png">    </p:cNvPr>
          <p:cNvPicPr>
            <a:picLocks noChangeAspect="1"/>
          </p:cNvPicPr>
          <p:nvPr/>
        </p:nvPicPr>
        <p:blipFill>
          <a:blip r:embed="rId6"/>
          <a:stretch>
            <a:fillRect/>
          </a:stretch>
        </p:blipFill>
        <p:spPr>
          <a:xfrm>
            <a:off x="6537960" y="5303520"/>
            <a:ext cx="274320" cy="274320"/>
          </a:xfrm>
          <a:prstGeom prst="rect">
            <a:avLst/>
          </a:prstGeom>
        </p:spPr>
      </p:pic>
      <p:sp>
        <p:nvSpPr>
          <p:cNvPr id="32" name="Text 24"/>
          <p:cNvSpPr/>
          <p:nvPr/>
        </p:nvSpPr>
        <p:spPr>
          <a:xfrm>
            <a:off x="7086600" y="5120640"/>
            <a:ext cx="448056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Peering is non-transitive</a:t>
            </a:r>
            <a:endParaRPr lang="en-US" sz="1400" dirty="0"/>
          </a:p>
        </p:txBody>
      </p:sp>
      <p:sp>
        <p:nvSpPr>
          <p:cNvPr id="33" name="Text 25"/>
          <p:cNvSpPr/>
          <p:nvPr/>
        </p:nvSpPr>
        <p:spPr>
          <a:xfrm>
            <a:off x="6400800" y="5623560"/>
            <a:ext cx="5120640" cy="8229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A↔B and B↔C does NOT give you A↔C. Each pair needs its own peering (or use Transit Gateway for true hub-and-spoke).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p:nvPr/>
        </p:nvSpPr>
        <p:spPr>
          <a:xfrm>
            <a:off x="457200" y="1051560"/>
            <a:ext cx="1097280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The six things to carry into the next lab (and into interviews).</a:t>
            </a:r>
            <a:endParaRPr lang="en-US" sz="1600" dirty="0"/>
          </a:p>
        </p:txBody>
      </p:sp>
      <p:sp>
        <p:nvSpPr>
          <p:cNvPr id="4" name="Shape 2"/>
          <p:cNvSpPr/>
          <p:nvPr/>
        </p:nvSpPr>
        <p:spPr>
          <a:xfrm>
            <a:off x="640080" y="1874520"/>
            <a:ext cx="502920" cy="502920"/>
          </a:xfrm>
          <a:prstGeom prst="ellipse">
            <a:avLst/>
          </a:prstGeom>
          <a:solidFill>
            <a:srgbClr val="0D9488"/>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765810" y="2000250"/>
            <a:ext cx="251460" cy="251460"/>
          </a:xfrm>
          <a:prstGeom prst="rect">
            <a:avLst/>
          </a:prstGeom>
        </p:spPr>
      </p:pic>
      <p:sp>
        <p:nvSpPr>
          <p:cNvPr id="6" name="Text 3"/>
          <p:cNvSpPr/>
          <p:nvPr/>
        </p:nvSpPr>
        <p:spPr>
          <a:xfrm>
            <a:off x="1325880" y="1828800"/>
            <a:ext cx="1042416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CIDR = network address + prefix length. The prefix tells you how many bits are fixed and how many are host-space. 32 minus prefix = host bits, 2 to that power = total IPs.</a:t>
            </a:r>
            <a:endParaRPr lang="en-US" sz="1300" dirty="0"/>
          </a:p>
        </p:txBody>
      </p:sp>
      <p:sp>
        <p:nvSpPr>
          <p:cNvPr id="7" name="Shape 4"/>
          <p:cNvSpPr/>
          <p:nvPr/>
        </p:nvSpPr>
        <p:spPr>
          <a:xfrm>
            <a:off x="640080" y="2651760"/>
            <a:ext cx="502920" cy="502920"/>
          </a:xfrm>
          <a:prstGeom prst="ellipse">
            <a:avLst/>
          </a:prstGeom>
          <a:solidFill>
            <a:srgbClr val="0D9488"/>
          </a:solidFill>
          <a:ln w="12700">
            <a:solidFill>
              <a:srgbClr val="0D9488"/>
            </a:solidFill>
            <a:prstDash val="solid"/>
          </a:ln>
        </p:spPr>
      </p:sp>
      <p:pic>
        <p:nvPicPr>
          <p:cNvPr id="8" name="Image 1" descr="preencoded.png">    </p:cNvPr>
          <p:cNvPicPr>
            <a:picLocks noChangeAspect="1"/>
          </p:cNvPicPr>
          <p:nvPr/>
        </p:nvPicPr>
        <p:blipFill>
          <a:blip r:embed="rId2"/>
          <a:stretch>
            <a:fillRect/>
          </a:stretch>
        </p:blipFill>
        <p:spPr>
          <a:xfrm>
            <a:off x="765810" y="2777490"/>
            <a:ext cx="251460" cy="251460"/>
          </a:xfrm>
          <a:prstGeom prst="rect">
            <a:avLst/>
          </a:prstGeom>
        </p:spPr>
      </p:pic>
      <p:sp>
        <p:nvSpPr>
          <p:cNvPr id="9" name="Text 5"/>
          <p:cNvSpPr/>
          <p:nvPr/>
        </p:nvSpPr>
        <p:spPr>
          <a:xfrm>
            <a:off x="1325880" y="2606040"/>
            <a:ext cx="1042416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Peered VPCs MUST have non-overlapping CIDRs. Plan before you deploy — changing a VPC CIDR later means recreating the whole VPC.</a:t>
            </a:r>
            <a:endParaRPr lang="en-US" sz="1300" dirty="0"/>
          </a:p>
        </p:txBody>
      </p:sp>
      <p:sp>
        <p:nvSpPr>
          <p:cNvPr id="10" name="Shape 6"/>
          <p:cNvSpPr/>
          <p:nvPr/>
        </p:nvSpPr>
        <p:spPr>
          <a:xfrm>
            <a:off x="640080" y="3429000"/>
            <a:ext cx="502920" cy="502920"/>
          </a:xfrm>
          <a:prstGeom prst="ellipse">
            <a:avLst/>
          </a:prstGeom>
          <a:solidFill>
            <a:srgbClr val="0D9488"/>
          </a:solidFill>
          <a:ln w="12700">
            <a:solidFill>
              <a:srgbClr val="0D9488"/>
            </a:solidFill>
            <a:prstDash val="solid"/>
          </a:ln>
        </p:spPr>
      </p:sp>
      <p:pic>
        <p:nvPicPr>
          <p:cNvPr id="11" name="Image 2" descr="preencoded.png">    </p:cNvPr>
          <p:cNvPicPr>
            <a:picLocks noChangeAspect="1"/>
          </p:cNvPicPr>
          <p:nvPr/>
        </p:nvPicPr>
        <p:blipFill>
          <a:blip r:embed="rId3"/>
          <a:stretch>
            <a:fillRect/>
          </a:stretch>
        </p:blipFill>
        <p:spPr>
          <a:xfrm>
            <a:off x="765810" y="3554730"/>
            <a:ext cx="251460" cy="251460"/>
          </a:xfrm>
          <a:prstGeom prst="rect">
            <a:avLst/>
          </a:prstGeom>
        </p:spPr>
      </p:pic>
      <p:sp>
        <p:nvSpPr>
          <p:cNvPr id="12" name="Text 7"/>
          <p:cNvSpPr/>
          <p:nvPr/>
        </p:nvSpPr>
        <p:spPr>
          <a:xfrm>
            <a:off x="1325880" y="3383280"/>
            <a:ext cx="1042416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Peering needs three layers: connection, routes (both sides), and security groups. All three must be right. Any one wrong = silent traffic loss.</a:t>
            </a:r>
            <a:endParaRPr lang="en-US" sz="1300" dirty="0"/>
          </a:p>
        </p:txBody>
      </p:sp>
      <p:sp>
        <p:nvSpPr>
          <p:cNvPr id="13" name="Shape 8"/>
          <p:cNvSpPr/>
          <p:nvPr/>
        </p:nvSpPr>
        <p:spPr>
          <a:xfrm>
            <a:off x="640080" y="4206240"/>
            <a:ext cx="502920" cy="502920"/>
          </a:xfrm>
          <a:prstGeom prst="ellipse">
            <a:avLst/>
          </a:prstGeom>
          <a:solidFill>
            <a:srgbClr val="0D9488"/>
          </a:solidFill>
          <a:ln w="12700">
            <a:solidFill>
              <a:srgbClr val="0D9488"/>
            </a:solidFill>
            <a:prstDash val="solid"/>
          </a:ln>
        </p:spPr>
      </p:sp>
      <p:pic>
        <p:nvPicPr>
          <p:cNvPr id="14" name="Image 3" descr="preencoded.png">    </p:cNvPr>
          <p:cNvPicPr>
            <a:picLocks noChangeAspect="1"/>
          </p:cNvPicPr>
          <p:nvPr/>
        </p:nvPicPr>
        <p:blipFill>
          <a:blip r:embed="rId4"/>
          <a:stretch>
            <a:fillRect/>
          </a:stretch>
        </p:blipFill>
        <p:spPr>
          <a:xfrm>
            <a:off x="765810" y="4331970"/>
            <a:ext cx="251460" cy="251460"/>
          </a:xfrm>
          <a:prstGeom prst="rect">
            <a:avLst/>
          </a:prstGeom>
        </p:spPr>
      </p:pic>
      <p:sp>
        <p:nvSpPr>
          <p:cNvPr id="15" name="Text 9"/>
          <p:cNvSpPr/>
          <p:nvPr/>
        </p:nvSpPr>
        <p:spPr>
          <a:xfrm>
            <a:off x="1325880" y="4160520"/>
            <a:ext cx="1042416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Route tables need BOTH entries and subnet associations. An unassociated route table is a paperweight.</a:t>
            </a:r>
            <a:endParaRPr lang="en-US" sz="1300" dirty="0"/>
          </a:p>
        </p:txBody>
      </p:sp>
      <p:sp>
        <p:nvSpPr>
          <p:cNvPr id="16" name="Shape 10"/>
          <p:cNvSpPr/>
          <p:nvPr/>
        </p:nvSpPr>
        <p:spPr>
          <a:xfrm>
            <a:off x="640080" y="4983480"/>
            <a:ext cx="502920" cy="502920"/>
          </a:xfrm>
          <a:prstGeom prst="ellipse">
            <a:avLst/>
          </a:prstGeom>
          <a:solidFill>
            <a:srgbClr val="0D9488"/>
          </a:solidFill>
          <a:ln w="12700">
            <a:solidFill>
              <a:srgbClr val="0D9488"/>
            </a:solidFill>
            <a:prstDash val="solid"/>
          </a:ln>
        </p:spPr>
      </p:sp>
      <p:pic>
        <p:nvPicPr>
          <p:cNvPr id="17" name="Image 4" descr="preencoded.png">    </p:cNvPr>
          <p:cNvPicPr>
            <a:picLocks noChangeAspect="1"/>
          </p:cNvPicPr>
          <p:nvPr/>
        </p:nvPicPr>
        <p:blipFill>
          <a:blip r:embed="rId5"/>
          <a:stretch>
            <a:fillRect/>
          </a:stretch>
        </p:blipFill>
        <p:spPr>
          <a:xfrm>
            <a:off x="765810" y="5109210"/>
            <a:ext cx="251460" cy="251460"/>
          </a:xfrm>
          <a:prstGeom prst="rect">
            <a:avLst/>
          </a:prstGeom>
        </p:spPr>
      </p:pic>
      <p:sp>
        <p:nvSpPr>
          <p:cNvPr id="18" name="Text 11"/>
          <p:cNvSpPr/>
          <p:nvPr/>
        </p:nvSpPr>
        <p:spPr>
          <a:xfrm>
            <a:off x="1325880" y="4937760"/>
            <a:ext cx="1042416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Use RFC 1918 ranges: 10.0.0.0/8 (big), 172.16.0.0/12 (medium), 192.168.0.0/16 (avoid in cloud — collides with home/office networks).</a:t>
            </a:r>
            <a:endParaRPr lang="en-US" sz="1300" dirty="0"/>
          </a:p>
        </p:txBody>
      </p:sp>
      <p:sp>
        <p:nvSpPr>
          <p:cNvPr id="19" name="Shape 12"/>
          <p:cNvSpPr/>
          <p:nvPr/>
        </p:nvSpPr>
        <p:spPr>
          <a:xfrm>
            <a:off x="640080" y="5760720"/>
            <a:ext cx="502920" cy="502920"/>
          </a:xfrm>
          <a:prstGeom prst="ellipse">
            <a:avLst/>
          </a:prstGeom>
          <a:solidFill>
            <a:srgbClr val="0D9488"/>
          </a:solidFill>
          <a:ln w="12700">
            <a:solidFill>
              <a:srgbClr val="0D9488"/>
            </a:solidFill>
            <a:prstDash val="solid"/>
          </a:ln>
        </p:spPr>
      </p:sp>
      <p:pic>
        <p:nvPicPr>
          <p:cNvPr id="20" name="Image 5" descr="preencoded.png">    </p:cNvPr>
          <p:cNvPicPr>
            <a:picLocks noChangeAspect="1"/>
          </p:cNvPicPr>
          <p:nvPr/>
        </p:nvPicPr>
        <p:blipFill>
          <a:blip r:embed="rId6"/>
          <a:stretch>
            <a:fillRect/>
          </a:stretch>
        </p:blipFill>
        <p:spPr>
          <a:xfrm>
            <a:off x="765810" y="5886450"/>
            <a:ext cx="251460" cy="251460"/>
          </a:xfrm>
          <a:prstGeom prst="rect">
            <a:avLst/>
          </a:prstGeom>
        </p:spPr>
      </p:pic>
      <p:sp>
        <p:nvSpPr>
          <p:cNvPr id="21" name="Text 13"/>
          <p:cNvSpPr/>
          <p:nvPr/>
        </p:nvSpPr>
        <p:spPr>
          <a:xfrm>
            <a:off x="1325880" y="5715000"/>
            <a:ext cx="1042416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Check before you allocate. AWS IPAM if you have it, `aws ec2 describe-vpcs` if you don't. Document every new CIDR before the PR merges.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2026-04-19T21:06:36Z</dcterms:created>
  <dcterms:modified xsi:type="dcterms:W3CDTF">2026-04-19T21:06:36Z</dcterms:modified>
</cp:coreProperties>
</file>
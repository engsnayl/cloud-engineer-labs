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E9AA7"/>
          </a:solidFill>
          <a:ln w="12700">
            <a:solidFill>
              <a:srgbClr val="0E9AA7"/>
            </a:solidFill>
            <a:prstDash val="solid"/>
          </a:ln>
        </p:spPr>
      </p:sp>
      <p:sp>
        <p:nvSpPr>
          <p:cNvPr id="3" name="Text 1"/>
          <p:cNvSpPr/>
          <p:nvPr/>
        </p:nvSpPr>
        <p:spPr>
          <a:xfrm>
            <a:off x="457200" y="91440"/>
            <a:ext cx="8229600" cy="365760"/>
          </a:xfrm>
          <a:prstGeom prst="rect">
            <a:avLst/>
          </a:prstGeom>
          <a:noFill/>
          <a:ln/>
        </p:spPr>
        <p:txBody>
          <a:bodyPr wrap="square" lIns="0" tIns="0" rIns="0" bIns="0" rtlCol="0" anchor="ctr"/>
          <a:lstStyle/>
          <a:p>
            <a:pPr indent="0" marL="0">
              <a:buNone/>
            </a:pPr>
            <a:r>
              <a:rPr lang="en-US" sz="1400" b="1" spc="800" kern="0" dirty="0">
                <a:solidFill>
                  <a:srgbClr val="0D1B2A"/>
                </a:solidFill>
                <a:latin typeface="Calibri" pitchFamily="34" charset="0"/>
                <a:ea typeface="Calibri" pitchFamily="34" charset="-122"/>
                <a:cs typeface="Calibri" pitchFamily="34" charset="-120"/>
              </a:rPr>
              <a:t>LAB 076</a:t>
            </a:r>
            <a:endParaRPr lang="en-US" sz="1400" dirty="0"/>
          </a:p>
        </p:txBody>
      </p:sp>
      <p:sp>
        <p:nvSpPr>
          <p:cNvPr id="4" name="Text 2"/>
          <p:cNvSpPr/>
          <p:nvPr/>
        </p:nvSpPr>
        <p:spPr>
          <a:xfrm>
            <a:off x="457200" y="411480"/>
            <a:ext cx="8229600" cy="548640"/>
          </a:xfrm>
          <a:prstGeom prst="rect">
            <a:avLst/>
          </a:prstGeom>
          <a:noFill/>
          <a:ln/>
        </p:spPr>
        <p:txBody>
          <a:bodyPr wrap="square" lIns="0" tIns="0" rIns="0" bIns="0" rtlCol="0" anchor="ctr"/>
          <a:lstStyle/>
          <a:p>
            <a:pPr indent="0" marL="0">
              <a:buNone/>
            </a:pPr>
            <a:r>
              <a:rPr lang="en-US" sz="3600" b="1" dirty="0">
                <a:solidFill>
                  <a:srgbClr val="0D1B2A"/>
                </a:solidFill>
                <a:latin typeface="Calibri" pitchFamily="34" charset="0"/>
                <a:ea typeface="Calibri" pitchFamily="34" charset="-122"/>
                <a:cs typeface="Calibri" pitchFamily="34" charset="-120"/>
              </a:rPr>
              <a:t>Route 53 DNS Failover</a:t>
            </a:r>
            <a:endParaRPr lang="en-US" sz="3600" dirty="0"/>
          </a:p>
        </p:txBody>
      </p:sp>
      <p:sp>
        <p:nvSpPr>
          <p:cNvPr id="5" name="Text 3"/>
          <p:cNvSpPr/>
          <p:nvPr/>
        </p:nvSpPr>
        <p:spPr>
          <a:xfrm>
            <a:off x="457200" y="1143000"/>
            <a:ext cx="8229600" cy="6400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Not Working</a:t>
            </a:r>
            <a:endParaRPr lang="en-US" sz="4200" dirty="0"/>
          </a:p>
        </p:txBody>
      </p:sp>
      <p:sp>
        <p:nvSpPr>
          <p:cNvPr id="6" name="Shape 4"/>
          <p:cNvSpPr/>
          <p:nvPr/>
        </p:nvSpPr>
        <p:spPr>
          <a:xfrm>
            <a:off x="457200" y="1874520"/>
            <a:ext cx="2286000" cy="45720"/>
          </a:xfrm>
          <a:prstGeom prst="rect">
            <a:avLst/>
          </a:prstGeom>
          <a:solidFill>
            <a:srgbClr val="0E9AA7"/>
          </a:solidFill>
          <a:ln w="12700">
            <a:solidFill>
              <a:srgbClr val="0E9AA7"/>
            </a:solidFill>
            <a:prstDash val="solid"/>
          </a:ln>
        </p:spPr>
      </p:sp>
      <p:sp>
        <p:nvSpPr>
          <p:cNvPr id="7" name="Text 5"/>
          <p:cNvSpPr/>
          <p:nvPr/>
        </p:nvSpPr>
        <p:spPr>
          <a:xfrm>
            <a:off x="457200" y="2011680"/>
            <a:ext cx="7315200" cy="457200"/>
          </a:xfrm>
          <a:prstGeom prst="rect">
            <a:avLst/>
          </a:prstGeom>
          <a:noFill/>
          <a:ln/>
        </p:spPr>
        <p:txBody>
          <a:bodyPr wrap="square" lIns="0" tIns="0" rIns="0" bIns="0" rtlCol="0" anchor="ctr"/>
          <a:lstStyle/>
          <a:p>
            <a:pPr indent="0" marL="0">
              <a:buNone/>
            </a:pPr>
            <a:r>
              <a:rPr lang="en-US" sz="1500" i="1" dirty="0">
                <a:solidFill>
                  <a:srgbClr val="E8F4F8"/>
                </a:solidFill>
                <a:latin typeface="Calibri" pitchFamily="34" charset="0"/>
                <a:ea typeface="Calibri" pitchFamily="34" charset="-122"/>
                <a:cs typeface="Calibri" pitchFamily="34" charset="-120"/>
              </a:rPr>
              <a:t>Diagnosing and fixing broken DNS failover configuration in AWS Route 53</a:t>
            </a:r>
            <a:endParaRPr lang="en-US" sz="1500" dirty="0"/>
          </a:p>
        </p:txBody>
      </p:sp>
      <p:sp>
        <p:nvSpPr>
          <p:cNvPr id="8" name="Shape 6"/>
          <p:cNvSpPr/>
          <p:nvPr/>
        </p:nvSpPr>
        <p:spPr>
          <a:xfrm>
            <a:off x="457200" y="2834640"/>
            <a:ext cx="2560320" cy="822960"/>
          </a:xfrm>
          <a:prstGeom prst="rect">
            <a:avLst>
              <a:gd name="adj" fmla="val 5556"/>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548640" y="2880360"/>
            <a:ext cx="2377440" cy="365760"/>
          </a:xfrm>
          <a:prstGeom prst="rect">
            <a:avLst/>
          </a:prstGeom>
          <a:noFill/>
          <a:ln/>
        </p:spPr>
        <p:txBody>
          <a:bodyPr wrap="square" lIns="0" tIns="0" rIns="0" bIns="0" rtlCol="0" anchor="ctr"/>
          <a:lstStyle/>
          <a:p>
            <a:pPr indent="0" marL="0">
              <a:buNone/>
            </a:pPr>
            <a:r>
              <a:rPr lang="en-US" sz="1800" b="1" dirty="0">
                <a:solidFill>
                  <a:srgbClr val="0E9AA7"/>
                </a:solidFill>
                <a:latin typeface="Calibri" pitchFamily="34" charset="0"/>
                <a:ea typeface="Calibri" pitchFamily="34" charset="-122"/>
                <a:cs typeface="Calibri" pitchFamily="34" charset="-120"/>
              </a:rPr>
              <a:t>4 Bugs</a:t>
            </a:r>
            <a:endParaRPr lang="en-US" sz="1800" dirty="0"/>
          </a:p>
        </p:txBody>
      </p:sp>
      <p:sp>
        <p:nvSpPr>
          <p:cNvPr id="10" name="Text 8"/>
          <p:cNvSpPr/>
          <p:nvPr/>
        </p:nvSpPr>
        <p:spPr>
          <a:xfrm>
            <a:off x="548640" y="3246120"/>
            <a:ext cx="23774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 find &amp; fix</a:t>
            </a:r>
            <a:endParaRPr lang="en-US" sz="1100" dirty="0"/>
          </a:p>
        </p:txBody>
      </p:sp>
      <p:sp>
        <p:nvSpPr>
          <p:cNvPr id="11" name="Shape 9"/>
          <p:cNvSpPr/>
          <p:nvPr/>
        </p:nvSpPr>
        <p:spPr>
          <a:xfrm>
            <a:off x="3291840" y="2834640"/>
            <a:ext cx="2560320" cy="822960"/>
          </a:xfrm>
          <a:prstGeom prst="rect">
            <a:avLst>
              <a:gd name="adj" fmla="val 5556"/>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3383280" y="2880360"/>
            <a:ext cx="2377440" cy="365760"/>
          </a:xfrm>
          <a:prstGeom prst="rect">
            <a:avLst/>
          </a:prstGeom>
          <a:noFill/>
          <a:ln/>
        </p:spPr>
        <p:txBody>
          <a:bodyPr wrap="square" lIns="0" tIns="0" rIns="0" bIns="0" rtlCol="0" anchor="ctr"/>
          <a:lstStyle/>
          <a:p>
            <a:pPr indent="0" marL="0">
              <a:buNone/>
            </a:pPr>
            <a:r>
              <a:rPr lang="en-US" sz="1800" b="1" dirty="0">
                <a:solidFill>
                  <a:srgbClr val="0E9AA7"/>
                </a:solidFill>
                <a:latin typeface="Calibri" pitchFamily="34" charset="0"/>
                <a:ea typeface="Calibri" pitchFamily="34" charset="-122"/>
                <a:cs typeface="Calibri" pitchFamily="34" charset="-120"/>
              </a:rPr>
              <a:t>Route 53</a:t>
            </a:r>
            <a:endParaRPr lang="en-US" sz="1800" dirty="0"/>
          </a:p>
        </p:txBody>
      </p:sp>
      <p:sp>
        <p:nvSpPr>
          <p:cNvPr id="13" name="Text 11"/>
          <p:cNvSpPr/>
          <p:nvPr/>
        </p:nvSpPr>
        <p:spPr>
          <a:xfrm>
            <a:off x="3383280" y="3246120"/>
            <a:ext cx="23774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global DNS service</a:t>
            </a:r>
            <a:endParaRPr lang="en-US" sz="1100" dirty="0"/>
          </a:p>
        </p:txBody>
      </p:sp>
      <p:sp>
        <p:nvSpPr>
          <p:cNvPr id="14" name="Shape 12"/>
          <p:cNvSpPr/>
          <p:nvPr/>
        </p:nvSpPr>
        <p:spPr>
          <a:xfrm>
            <a:off x="6126480" y="2834640"/>
            <a:ext cx="2560320" cy="822960"/>
          </a:xfrm>
          <a:prstGeom prst="rect">
            <a:avLst>
              <a:gd name="adj" fmla="val 5556"/>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6217920" y="2880360"/>
            <a:ext cx="2377440" cy="365760"/>
          </a:xfrm>
          <a:prstGeom prst="rect">
            <a:avLst/>
          </a:prstGeom>
          <a:noFill/>
          <a:ln/>
        </p:spPr>
        <p:txBody>
          <a:bodyPr wrap="square" lIns="0" tIns="0" rIns="0" bIns="0" rtlCol="0" anchor="ctr"/>
          <a:lstStyle/>
          <a:p>
            <a:pPr indent="0" marL="0">
              <a:buNone/>
            </a:pPr>
            <a:r>
              <a:rPr lang="en-US" sz="1800" b="1" dirty="0">
                <a:solidFill>
                  <a:srgbClr val="0E9AA7"/>
                </a:solidFill>
                <a:latin typeface="Calibri" pitchFamily="34" charset="0"/>
                <a:ea typeface="Calibri" pitchFamily="34" charset="-122"/>
                <a:cs typeface="Calibri" pitchFamily="34" charset="-120"/>
              </a:rPr>
              <a:t>Terraform</a:t>
            </a:r>
            <a:endParaRPr lang="en-US" sz="1800" dirty="0"/>
          </a:p>
        </p:txBody>
      </p:sp>
      <p:sp>
        <p:nvSpPr>
          <p:cNvPr id="16" name="Text 14"/>
          <p:cNvSpPr/>
          <p:nvPr/>
        </p:nvSpPr>
        <p:spPr>
          <a:xfrm>
            <a:off x="6217920" y="3246120"/>
            <a:ext cx="23774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infrastructure as code</a:t>
            </a:r>
            <a:endParaRPr lang="en-US" sz="1100" dirty="0"/>
          </a:p>
        </p:txBody>
      </p:sp>
      <p:sp>
        <p:nvSpPr>
          <p:cNvPr id="17" name="Shape 15"/>
          <p:cNvSpPr/>
          <p:nvPr/>
        </p:nvSpPr>
        <p:spPr>
          <a:xfrm>
            <a:off x="0" y="4869180"/>
            <a:ext cx="9144000" cy="274320"/>
          </a:xfrm>
          <a:prstGeom prst="rect">
            <a:avLst/>
          </a:prstGeom>
          <a:solidFill>
            <a:srgbClr val="1E3A4F"/>
          </a:solidFill>
          <a:ln w="12700">
            <a:solidFill>
              <a:srgbClr val="1E3A4F"/>
            </a:solidFill>
            <a:prstDash val="solid"/>
          </a:ln>
        </p:spPr>
      </p:sp>
      <p:sp>
        <p:nvSpPr>
          <p:cNvPr id="18" name="Text 16"/>
          <p:cNvSpPr/>
          <p:nvPr/>
        </p:nvSpPr>
        <p:spPr>
          <a:xfrm>
            <a:off x="457200" y="4873752"/>
            <a:ext cx="82296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Cloud Engineer Lab Series  •  AWS / Route 53  •  Advanced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Route 53?</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AWS's global DNS and traffic routing service</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pic>
        <p:nvPicPr>
          <p:cNvPr id="6" name="Image 0" descr="preencoded.png">    </p:cNvPr>
          <p:cNvPicPr>
            <a:picLocks noChangeAspect="1"/>
          </p:cNvPicPr>
          <p:nvPr/>
        </p:nvPicPr>
        <p:blipFill>
          <a:blip r:embed="rId1"/>
          <a:stretch>
            <a:fillRect/>
          </a:stretch>
        </p:blipFill>
        <p:spPr>
          <a:xfrm>
            <a:off x="7863840" y="1005840"/>
            <a:ext cx="914400" cy="914400"/>
          </a:xfrm>
          <a:prstGeom prst="rect">
            <a:avLst/>
          </a:prstGeom>
        </p:spPr>
      </p:pic>
      <p:sp>
        <p:nvSpPr>
          <p:cNvPr id="7" name="Text 4"/>
          <p:cNvSpPr/>
          <p:nvPr/>
        </p:nvSpPr>
        <p:spPr>
          <a:xfrm>
            <a:off x="457200" y="1097280"/>
            <a:ext cx="7132320" cy="731520"/>
          </a:xfrm>
          <a:prstGeom prst="rect">
            <a:avLst/>
          </a:prstGeom>
          <a:noFill/>
          <a:ln/>
        </p:spPr>
        <p:txBody>
          <a:bodyPr wrap="square" lIns="0" tIns="0" rIns="0" bIns="0" rtlCol="0" anchor="ctr"/>
          <a:lstStyle/>
          <a:p>
            <a:pPr indent="0" marL="0">
              <a:buNone/>
            </a:pPr>
            <a:r>
              <a:rPr lang="en-US" sz="1300" dirty="0">
                <a:solidFill>
                  <a:srgbClr val="E8F4F8"/>
                </a:solidFill>
                <a:latin typeface="Calibri" pitchFamily="34" charset="0"/>
                <a:ea typeface="Calibri" pitchFamily="34" charset="-122"/>
                <a:cs typeface="Calibri" pitchFamily="34" charset="-120"/>
              </a:rPr>
              <a:t>Route 53 is Amazon's DNS service. When a user types a domain name into their browser, Route 53 is what translates that name into an IP address — telling the browser where to actually send its request.</a:t>
            </a:r>
            <a:endParaRPr lang="en-US" sz="1300" dirty="0"/>
          </a:p>
        </p:txBody>
      </p:sp>
      <p:sp>
        <p:nvSpPr>
          <p:cNvPr id="8" name="Shape 5"/>
          <p:cNvSpPr/>
          <p:nvPr/>
        </p:nvSpPr>
        <p:spPr>
          <a:xfrm>
            <a:off x="457200" y="1920240"/>
            <a:ext cx="4114800" cy="1097280"/>
          </a:xfrm>
          <a:prstGeom prst="rect">
            <a:avLst>
              <a:gd name="adj" fmla="val 4167"/>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9" name="Shape 6"/>
          <p:cNvSpPr/>
          <p:nvPr/>
        </p:nvSpPr>
        <p:spPr>
          <a:xfrm>
            <a:off x="598932" y="2263140"/>
            <a:ext cx="411480" cy="411480"/>
          </a:xfrm>
          <a:prstGeom prst="ellipse">
            <a:avLst/>
          </a:prstGeom>
          <a:solidFill>
            <a:srgbClr val="0E9AA7"/>
          </a:solidFill>
          <a:ln/>
        </p:spPr>
      </p:sp>
      <p:pic>
        <p:nvPicPr>
          <p:cNvPr id="10" name="Image 1" descr="preencoded.png">    </p:cNvPr>
          <p:cNvPicPr>
            <a:picLocks noChangeAspect="1"/>
          </p:cNvPicPr>
          <p:nvPr/>
        </p:nvPicPr>
        <p:blipFill>
          <a:blip r:embed="rId2"/>
          <a:stretch>
            <a:fillRect/>
          </a:stretch>
        </p:blipFill>
        <p:spPr>
          <a:xfrm>
            <a:off x="681228" y="2345436"/>
            <a:ext cx="246888" cy="246888"/>
          </a:xfrm>
          <a:prstGeom prst="rect">
            <a:avLst/>
          </a:prstGeom>
        </p:spPr>
      </p:pic>
      <p:sp>
        <p:nvSpPr>
          <p:cNvPr id="11" name="Text 7"/>
          <p:cNvSpPr/>
          <p:nvPr/>
        </p:nvSpPr>
        <p:spPr>
          <a:xfrm>
            <a:off x="1143000" y="1993392"/>
            <a:ext cx="3291840" cy="320040"/>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DNS Resolution</a:t>
            </a:r>
            <a:endParaRPr lang="en-US" sz="1300" dirty="0"/>
          </a:p>
        </p:txBody>
      </p:sp>
      <p:sp>
        <p:nvSpPr>
          <p:cNvPr id="12" name="Text 8"/>
          <p:cNvSpPr/>
          <p:nvPr/>
        </p:nvSpPr>
        <p:spPr>
          <a:xfrm>
            <a:off x="1143000" y="2304288"/>
            <a:ext cx="3291840" cy="59436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Maps domain names to IP addresses. The phonebook of the internet.</a:t>
            </a:r>
            <a:endParaRPr lang="en-US" sz="1100" dirty="0"/>
          </a:p>
        </p:txBody>
      </p:sp>
      <p:sp>
        <p:nvSpPr>
          <p:cNvPr id="13" name="Shape 9"/>
          <p:cNvSpPr/>
          <p:nvPr/>
        </p:nvSpPr>
        <p:spPr>
          <a:xfrm>
            <a:off x="4846320" y="1920240"/>
            <a:ext cx="4114800" cy="1097280"/>
          </a:xfrm>
          <a:prstGeom prst="rect">
            <a:avLst>
              <a:gd name="adj" fmla="val 4167"/>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4" name="Shape 10"/>
          <p:cNvSpPr/>
          <p:nvPr/>
        </p:nvSpPr>
        <p:spPr>
          <a:xfrm>
            <a:off x="4988052" y="2263140"/>
            <a:ext cx="411480" cy="411480"/>
          </a:xfrm>
          <a:prstGeom prst="ellipse">
            <a:avLst/>
          </a:prstGeom>
          <a:solidFill>
            <a:srgbClr val="0E9AA7"/>
          </a:solidFill>
          <a:ln/>
        </p:spPr>
      </p:sp>
      <p:pic>
        <p:nvPicPr>
          <p:cNvPr id="15" name="Image 2" descr="preencoded.png">    </p:cNvPr>
          <p:cNvPicPr>
            <a:picLocks noChangeAspect="1"/>
          </p:cNvPicPr>
          <p:nvPr/>
        </p:nvPicPr>
        <p:blipFill>
          <a:blip r:embed="rId3"/>
          <a:stretch>
            <a:fillRect/>
          </a:stretch>
        </p:blipFill>
        <p:spPr>
          <a:xfrm>
            <a:off x="5070348" y="2345436"/>
            <a:ext cx="246888" cy="246888"/>
          </a:xfrm>
          <a:prstGeom prst="rect">
            <a:avLst/>
          </a:prstGeom>
        </p:spPr>
      </p:pic>
      <p:sp>
        <p:nvSpPr>
          <p:cNvPr id="16" name="Text 11"/>
          <p:cNvSpPr/>
          <p:nvPr/>
        </p:nvSpPr>
        <p:spPr>
          <a:xfrm>
            <a:off x="5532120" y="1993392"/>
            <a:ext cx="3291840" cy="320040"/>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Traffic Routing</a:t>
            </a:r>
            <a:endParaRPr lang="en-US" sz="1300" dirty="0"/>
          </a:p>
        </p:txBody>
      </p:sp>
      <p:sp>
        <p:nvSpPr>
          <p:cNvPr id="17" name="Text 12"/>
          <p:cNvSpPr/>
          <p:nvPr/>
        </p:nvSpPr>
        <p:spPr>
          <a:xfrm>
            <a:off x="5532120" y="2304288"/>
            <a:ext cx="3291840" cy="59436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Routes traffic based on rules — geography, latency, weight, or health. This lab uses failover routing.</a:t>
            </a:r>
            <a:endParaRPr lang="en-US" sz="1100" dirty="0"/>
          </a:p>
        </p:txBody>
      </p:sp>
      <p:sp>
        <p:nvSpPr>
          <p:cNvPr id="18" name="Shape 13"/>
          <p:cNvSpPr/>
          <p:nvPr/>
        </p:nvSpPr>
        <p:spPr>
          <a:xfrm>
            <a:off x="457200" y="3200400"/>
            <a:ext cx="4114800" cy="1097280"/>
          </a:xfrm>
          <a:prstGeom prst="rect">
            <a:avLst>
              <a:gd name="adj" fmla="val 4167"/>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9" name="Shape 14"/>
          <p:cNvSpPr/>
          <p:nvPr/>
        </p:nvSpPr>
        <p:spPr>
          <a:xfrm>
            <a:off x="598932" y="3543300"/>
            <a:ext cx="411480" cy="411480"/>
          </a:xfrm>
          <a:prstGeom prst="ellipse">
            <a:avLst/>
          </a:prstGeom>
          <a:solidFill>
            <a:srgbClr val="0E9AA7"/>
          </a:solidFill>
          <a:ln/>
        </p:spPr>
      </p:sp>
      <p:pic>
        <p:nvPicPr>
          <p:cNvPr id="20" name="Image 3" descr="preencoded.png">    </p:cNvPr>
          <p:cNvPicPr>
            <a:picLocks noChangeAspect="1"/>
          </p:cNvPicPr>
          <p:nvPr/>
        </p:nvPicPr>
        <p:blipFill>
          <a:blip r:embed="rId4"/>
          <a:stretch>
            <a:fillRect/>
          </a:stretch>
        </p:blipFill>
        <p:spPr>
          <a:xfrm>
            <a:off x="681228" y="3625596"/>
            <a:ext cx="246888" cy="246888"/>
          </a:xfrm>
          <a:prstGeom prst="rect">
            <a:avLst/>
          </a:prstGeom>
        </p:spPr>
      </p:pic>
      <p:sp>
        <p:nvSpPr>
          <p:cNvPr id="21" name="Text 15"/>
          <p:cNvSpPr/>
          <p:nvPr/>
        </p:nvSpPr>
        <p:spPr>
          <a:xfrm>
            <a:off x="1143000" y="3273552"/>
            <a:ext cx="3291840" cy="320040"/>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Health Checks</a:t>
            </a:r>
            <a:endParaRPr lang="en-US" sz="1300" dirty="0"/>
          </a:p>
        </p:txBody>
      </p:sp>
      <p:sp>
        <p:nvSpPr>
          <p:cNvPr id="22" name="Text 16"/>
          <p:cNvSpPr/>
          <p:nvPr/>
        </p:nvSpPr>
        <p:spPr>
          <a:xfrm>
            <a:off x="1143000" y="3584448"/>
            <a:ext cx="3291840" cy="59436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Monitors endpoints by sending requests on a configured port and path. Unhealthy endpoints can trigger automatic rerouting.</a:t>
            </a:r>
            <a:endParaRPr lang="en-US" sz="1100" dirty="0"/>
          </a:p>
        </p:txBody>
      </p:sp>
      <p:sp>
        <p:nvSpPr>
          <p:cNvPr id="23" name="Shape 17"/>
          <p:cNvSpPr/>
          <p:nvPr/>
        </p:nvSpPr>
        <p:spPr>
          <a:xfrm>
            <a:off x="4846320" y="3200400"/>
            <a:ext cx="4114800" cy="1097280"/>
          </a:xfrm>
          <a:prstGeom prst="rect">
            <a:avLst>
              <a:gd name="adj" fmla="val 4167"/>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4" name="Shape 18"/>
          <p:cNvSpPr/>
          <p:nvPr/>
        </p:nvSpPr>
        <p:spPr>
          <a:xfrm>
            <a:off x="4988052" y="3543300"/>
            <a:ext cx="411480" cy="411480"/>
          </a:xfrm>
          <a:prstGeom prst="ellipse">
            <a:avLst/>
          </a:prstGeom>
          <a:solidFill>
            <a:srgbClr val="0E9AA7"/>
          </a:solidFill>
          <a:ln/>
        </p:spPr>
      </p:sp>
      <p:pic>
        <p:nvPicPr>
          <p:cNvPr id="25" name="Image 4" descr="preencoded.png">    </p:cNvPr>
          <p:cNvPicPr>
            <a:picLocks noChangeAspect="1"/>
          </p:cNvPicPr>
          <p:nvPr/>
        </p:nvPicPr>
        <p:blipFill>
          <a:blip r:embed="rId5"/>
          <a:stretch>
            <a:fillRect/>
          </a:stretch>
        </p:blipFill>
        <p:spPr>
          <a:xfrm>
            <a:off x="5070348" y="3625596"/>
            <a:ext cx="246888" cy="246888"/>
          </a:xfrm>
          <a:prstGeom prst="rect">
            <a:avLst/>
          </a:prstGeom>
        </p:spPr>
      </p:pic>
      <p:sp>
        <p:nvSpPr>
          <p:cNvPr id="26" name="Text 19"/>
          <p:cNvSpPr/>
          <p:nvPr/>
        </p:nvSpPr>
        <p:spPr>
          <a:xfrm>
            <a:off x="5532120" y="3273552"/>
            <a:ext cx="3291840" cy="320040"/>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Global Service</a:t>
            </a:r>
            <a:endParaRPr lang="en-US" sz="1300" dirty="0"/>
          </a:p>
        </p:txBody>
      </p:sp>
      <p:sp>
        <p:nvSpPr>
          <p:cNvPr id="27" name="Text 20"/>
          <p:cNvSpPr/>
          <p:nvPr/>
        </p:nvSpPr>
        <p:spPr>
          <a:xfrm>
            <a:off x="5532120" y="3584448"/>
            <a:ext cx="3291840" cy="59436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Route 53 is not region-specific. Hosted zones and records are global — but you still need a region declared in Terraform for authentication.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DNS Fundamentals</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Key concepts you need to understand this lab</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97280"/>
            <a:ext cx="4023360" cy="1828800"/>
          </a:xfrm>
          <a:prstGeom prst="rect">
            <a:avLst>
              <a:gd name="adj" fmla="val 25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640080" y="1170432"/>
            <a:ext cx="3657600" cy="347472"/>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The A Record</a:t>
            </a:r>
            <a:endParaRPr lang="en-US" sz="1500" dirty="0"/>
          </a:p>
        </p:txBody>
      </p:sp>
      <p:sp>
        <p:nvSpPr>
          <p:cNvPr id="8" name="Text 6"/>
          <p:cNvSpPr/>
          <p:nvPr/>
        </p:nvSpPr>
        <p:spPr>
          <a:xfrm>
            <a:off x="640080" y="1536192"/>
            <a:ext cx="3657600" cy="54864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An </a:t>
            </a:r>
            <a:pPr indent="0" marL="0">
              <a:buNone/>
            </a:pPr>
            <a:r>
              <a:rPr lang="en-US" sz="1200" b="1" dirty="0">
                <a:solidFill>
                  <a:srgbClr val="0E9AA7"/>
                </a:solidFill>
                <a:latin typeface="Calibri" pitchFamily="34" charset="0"/>
                <a:ea typeface="Calibri" pitchFamily="34" charset="-122"/>
                <a:cs typeface="Calibri" pitchFamily="34" charset="-120"/>
              </a:rPr>
              <a:t>A record</a:t>
            </a:r>
            <a:pPr indent="0" marL="0">
              <a:buNone/>
            </a:pPr>
            <a:r>
              <a:rPr lang="en-US" sz="1200" dirty="0">
                <a:solidFill>
                  <a:srgbClr val="E8F4F8"/>
                </a:solidFill>
                <a:latin typeface="Calibri" pitchFamily="34" charset="0"/>
                <a:ea typeface="Calibri" pitchFamily="34" charset="-122"/>
                <a:cs typeface="Calibri" pitchFamily="34" charset="-120"/>
              </a:rPr>
              <a:t> (Address record) is the most fundamental DNS record type. It maps a domain name to an IPv4 address.</a:t>
            </a:r>
            <a:endParaRPr lang="en-US" sz="1200" dirty="0"/>
          </a:p>
        </p:txBody>
      </p:sp>
      <p:sp>
        <p:nvSpPr>
          <p:cNvPr id="9" name="Text 7"/>
          <p:cNvSpPr/>
          <p:nvPr/>
        </p:nvSpPr>
        <p:spPr>
          <a:xfrm>
            <a:off x="640080" y="2148840"/>
            <a:ext cx="3657600" cy="320040"/>
          </a:xfrm>
          <a:prstGeom prst="rect">
            <a:avLst/>
          </a:prstGeom>
          <a:noFill/>
          <a:ln/>
        </p:spPr>
        <p:txBody>
          <a:bodyPr wrap="square" lIns="0" tIns="0" rIns="0" bIns="0" rtlCol="0" anchor="ctr"/>
          <a:lstStyle/>
          <a:p>
            <a:pPr indent="0" marL="0">
              <a:buNone/>
            </a:pPr>
            <a:r>
              <a:rPr lang="en-US" sz="1200" b="1" dirty="0">
                <a:solidFill>
                  <a:srgbClr val="F5C842"/>
                </a:solidFill>
                <a:latin typeface="Consolas" pitchFamily="34" charset="0"/>
                <a:ea typeface="Consolas" pitchFamily="34" charset="-122"/>
                <a:cs typeface="Consolas" pitchFamily="34" charset="-120"/>
              </a:rPr>
              <a:t>app.example.com  →  10.0.1.100</a:t>
            </a:r>
            <a:endParaRPr lang="en-US" sz="1200" dirty="0"/>
          </a:p>
        </p:txBody>
      </p:sp>
      <p:sp>
        <p:nvSpPr>
          <p:cNvPr id="10" name="Text 8"/>
          <p:cNvSpPr/>
          <p:nvPr/>
        </p:nvSpPr>
        <p:spPr>
          <a:xfrm>
            <a:off x="640080" y="2514600"/>
            <a:ext cx="3657600" cy="347472"/>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The "A" stands for Address. When your browser looks up a domain, the A record is the answer that says "go to this IP".</a:t>
            </a:r>
            <a:endParaRPr lang="en-US" sz="1100" dirty="0"/>
          </a:p>
        </p:txBody>
      </p:sp>
      <p:sp>
        <p:nvSpPr>
          <p:cNvPr id="11" name="Shape 9"/>
          <p:cNvSpPr/>
          <p:nvPr/>
        </p:nvSpPr>
        <p:spPr>
          <a:xfrm>
            <a:off x="4663440" y="1097280"/>
            <a:ext cx="4023360" cy="1828800"/>
          </a:xfrm>
          <a:prstGeom prst="rect">
            <a:avLst>
              <a:gd name="adj" fmla="val 25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4846320" y="1170432"/>
            <a:ext cx="3657600" cy="347472"/>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TTL — Time To Live</a:t>
            </a:r>
            <a:endParaRPr lang="en-US" sz="1500" dirty="0"/>
          </a:p>
        </p:txBody>
      </p:sp>
      <p:sp>
        <p:nvSpPr>
          <p:cNvPr id="13" name="Text 11"/>
          <p:cNvSpPr/>
          <p:nvPr/>
        </p:nvSpPr>
        <p:spPr>
          <a:xfrm>
            <a:off x="4846320" y="1536192"/>
            <a:ext cx="3657600" cy="54864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TTL is the instruction you give to every DNS resolver in the world: "cache this answer for this many seconds before asking again."</a:t>
            </a:r>
            <a:endParaRPr lang="en-US" sz="1200" dirty="0"/>
          </a:p>
        </p:txBody>
      </p:sp>
      <p:sp>
        <p:nvSpPr>
          <p:cNvPr id="14" name="Text 12"/>
          <p:cNvSpPr/>
          <p:nvPr/>
        </p:nvSpPr>
        <p:spPr>
          <a:xfrm>
            <a:off x="4846320" y="2148840"/>
            <a:ext cx="3657600" cy="320040"/>
          </a:xfrm>
          <a:prstGeom prst="rect">
            <a:avLst/>
          </a:prstGeom>
          <a:noFill/>
          <a:ln/>
        </p:spPr>
        <p:txBody>
          <a:bodyPr wrap="square" lIns="0" tIns="0" rIns="0" bIns="0" rtlCol="0" anchor="ctr"/>
          <a:lstStyle/>
          <a:p>
            <a:pPr indent="0" marL="0">
              <a:buNone/>
            </a:pPr>
            <a:r>
              <a:rPr lang="en-US" sz="1200" b="1" dirty="0">
                <a:solidFill>
                  <a:srgbClr val="E05C5C"/>
                </a:solidFill>
                <a:latin typeface="Consolas" pitchFamily="34" charset="0"/>
                <a:ea typeface="Consolas" pitchFamily="34" charset="-122"/>
                <a:cs typeface="Consolas" pitchFamily="34" charset="-120"/>
              </a:rPr>
              <a:t>TTL = 3600  →  cached for 1 hour</a:t>
            </a:r>
            <a:endParaRPr lang="en-US" sz="1200" dirty="0"/>
          </a:p>
        </p:txBody>
      </p:sp>
      <p:sp>
        <p:nvSpPr>
          <p:cNvPr id="15" name="Text 13"/>
          <p:cNvSpPr/>
          <p:nvPr/>
        </p:nvSpPr>
        <p:spPr>
          <a:xfrm>
            <a:off x="4846320" y="2487168"/>
            <a:ext cx="3657600" cy="274320"/>
          </a:xfrm>
          <a:prstGeom prst="rect">
            <a:avLst/>
          </a:prstGeom>
          <a:noFill/>
          <a:ln/>
        </p:spPr>
        <p:txBody>
          <a:bodyPr wrap="square" lIns="0" tIns="0" rIns="0" bIns="0" rtlCol="0" anchor="ctr"/>
          <a:lstStyle/>
          <a:p>
            <a:pPr indent="0" marL="0">
              <a:buNone/>
            </a:pPr>
            <a:r>
              <a:rPr lang="en-US" sz="1200" b="1" dirty="0">
                <a:solidFill>
                  <a:srgbClr val="4CAF7D"/>
                </a:solidFill>
                <a:latin typeface="Consolas" pitchFamily="34" charset="0"/>
                <a:ea typeface="Consolas" pitchFamily="34" charset="-122"/>
                <a:cs typeface="Consolas" pitchFamily="34" charset="-120"/>
              </a:rPr>
              <a:t>TTL = 60    →  cached for 1 minute</a:t>
            </a:r>
            <a:endParaRPr lang="en-US" sz="1200" dirty="0"/>
          </a:p>
        </p:txBody>
      </p:sp>
      <p:sp>
        <p:nvSpPr>
          <p:cNvPr id="16" name="Shape 14"/>
          <p:cNvSpPr/>
          <p:nvPr/>
        </p:nvSpPr>
        <p:spPr>
          <a:xfrm>
            <a:off x="457200" y="3063240"/>
            <a:ext cx="8229600" cy="1005840"/>
          </a:xfrm>
          <a:prstGeom prst="rect">
            <a:avLst>
              <a:gd name="adj" fmla="val 4545"/>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pic>
        <p:nvPicPr>
          <p:cNvPr id="17" name="Image 0" descr="preencoded.png">    </p:cNvPr>
          <p:cNvPicPr>
            <a:picLocks noChangeAspect="1"/>
          </p:cNvPicPr>
          <p:nvPr/>
        </p:nvPicPr>
        <p:blipFill>
          <a:blip r:embed="rId1"/>
          <a:stretch>
            <a:fillRect/>
          </a:stretch>
        </p:blipFill>
        <p:spPr>
          <a:xfrm>
            <a:off x="685800" y="3200400"/>
            <a:ext cx="457200" cy="457200"/>
          </a:xfrm>
          <a:prstGeom prst="rect">
            <a:avLst/>
          </a:prstGeom>
        </p:spPr>
      </p:pic>
      <p:sp>
        <p:nvSpPr>
          <p:cNvPr id="18" name="Text 15"/>
          <p:cNvSpPr/>
          <p:nvPr/>
        </p:nvSpPr>
        <p:spPr>
          <a:xfrm>
            <a:off x="1280160" y="3127248"/>
            <a:ext cx="7132320" cy="292608"/>
          </a:xfrm>
          <a:prstGeom prst="rect">
            <a:avLst/>
          </a:prstGeom>
          <a:noFill/>
          <a:ln/>
        </p:spPr>
        <p:txBody>
          <a:bodyPr wrap="square" lIns="0" tIns="0" rIns="0" bIns="0" rtlCol="0" anchor="ctr"/>
          <a:lstStyle/>
          <a:p>
            <a:pPr indent="0" marL="0">
              <a:buNone/>
            </a:pPr>
            <a:r>
              <a:rPr lang="en-US" sz="1200" b="1" dirty="0">
                <a:solidFill>
                  <a:srgbClr val="F5C842"/>
                </a:solidFill>
                <a:latin typeface="Calibri" pitchFamily="34" charset="0"/>
                <a:ea typeface="Calibri" pitchFamily="34" charset="-122"/>
                <a:cs typeface="Calibri" pitchFamily="34" charset="-120"/>
              </a:rPr>
              <a:t>Why TTL matters for failover:</a:t>
            </a:r>
            <a:endParaRPr lang="en-US" sz="1200" dirty="0"/>
          </a:p>
        </p:txBody>
      </p:sp>
      <p:sp>
        <p:nvSpPr>
          <p:cNvPr id="19" name="Text 16"/>
          <p:cNvSpPr/>
          <p:nvPr/>
        </p:nvSpPr>
        <p:spPr>
          <a:xfrm>
            <a:off x="1280160" y="3429000"/>
            <a:ext cx="7315200" cy="50292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If your failover DNS record has a TTL of 3600, clients who already cached the old answer will keep hitting the dead primary for up to one hour — even after Route 53 has successfully switched to the secondary. Low TTL = fast failover.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Route 53 Failover Works</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Three components that must all connect correctly</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97280"/>
            <a:ext cx="2560320" cy="2286000"/>
          </a:xfrm>
          <a:prstGeom prst="rect">
            <a:avLst>
              <a:gd name="adj" fmla="val 2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1463040" y="1280160"/>
            <a:ext cx="548640" cy="548640"/>
          </a:xfrm>
          <a:prstGeom prst="ellipse">
            <a:avLst/>
          </a:prstGeom>
          <a:solidFill>
            <a:srgbClr val="0E9AA7"/>
          </a:solidFill>
          <a:ln/>
        </p:spPr>
      </p:sp>
      <p:pic>
        <p:nvPicPr>
          <p:cNvPr id="8" name="Image 0" descr="preencoded.png">    </p:cNvPr>
          <p:cNvPicPr>
            <a:picLocks noChangeAspect="1"/>
          </p:cNvPicPr>
          <p:nvPr/>
        </p:nvPicPr>
        <p:blipFill>
          <a:blip r:embed="rId1"/>
          <a:stretch>
            <a:fillRect/>
          </a:stretch>
        </p:blipFill>
        <p:spPr>
          <a:xfrm>
            <a:off x="1572768" y="1389888"/>
            <a:ext cx="329184" cy="329184"/>
          </a:xfrm>
          <a:prstGeom prst="rect">
            <a:avLst/>
          </a:prstGeom>
        </p:spPr>
      </p:pic>
      <p:sp>
        <p:nvSpPr>
          <p:cNvPr id="9" name="Text 6"/>
          <p:cNvSpPr/>
          <p:nvPr/>
        </p:nvSpPr>
        <p:spPr>
          <a:xfrm>
            <a:off x="548640" y="1874520"/>
            <a:ext cx="2377440" cy="320040"/>
          </a:xfrm>
          <a:prstGeom prst="rect">
            <a:avLst/>
          </a:prstGeom>
          <a:noFill/>
          <a:ln/>
        </p:spPr>
        <p:txBody>
          <a:bodyPr wrap="square" lIns="0" tIns="0" rIns="0" bIns="0" rtlCol="0" anchor="ctr"/>
          <a:lstStyle/>
          <a:p>
            <a:pPr algn="ctr" indent="0" marL="0">
              <a:buNone/>
            </a:pPr>
            <a:r>
              <a:rPr lang="en-US" sz="1300" b="1" dirty="0">
                <a:solidFill>
                  <a:srgbClr val="0E9AA7"/>
                </a:solidFill>
                <a:latin typeface="Calibri" pitchFamily="34" charset="0"/>
                <a:ea typeface="Calibri" pitchFamily="34" charset="-122"/>
                <a:cs typeface="Calibri" pitchFamily="34" charset="-120"/>
              </a:rPr>
              <a:t>1. Health Check</a:t>
            </a:r>
            <a:endParaRPr lang="en-US" sz="1300" dirty="0"/>
          </a:p>
        </p:txBody>
      </p:sp>
      <p:sp>
        <p:nvSpPr>
          <p:cNvPr id="10" name="Text 7"/>
          <p:cNvSpPr/>
          <p:nvPr/>
        </p:nvSpPr>
        <p:spPr>
          <a:xfrm>
            <a:off x="548640" y="2212848"/>
            <a:ext cx="2377440" cy="594360"/>
          </a:xfrm>
          <a:prstGeom prst="rect">
            <a:avLst/>
          </a:prstGeom>
          <a:noFill/>
          <a:ln/>
        </p:spPr>
        <p:txBody>
          <a:bodyPr wrap="square" lIns="0" tIns="0" rIns="0" bIns="0" rtlCol="0" anchor="ctr"/>
          <a:lstStyle/>
          <a:p>
            <a:pPr algn="ctr" indent="0" marL="0">
              <a:buNone/>
            </a:pPr>
            <a:r>
              <a:rPr lang="en-US" sz="1100" dirty="0">
                <a:solidFill>
                  <a:srgbClr val="E8F4F8"/>
                </a:solidFill>
                <a:latin typeface="Calibri" pitchFamily="34" charset="0"/>
                <a:ea typeface="Calibri" pitchFamily="34" charset="-122"/>
                <a:cs typeface="Calibri" pitchFamily="34" charset="-120"/>
              </a:rPr>
              <a:t>Route 53 sends HTTP requests to your app every 30 seconds on a configured port and path.</a:t>
            </a:r>
            <a:endParaRPr lang="en-US" sz="1100" dirty="0"/>
          </a:p>
        </p:txBody>
      </p:sp>
      <p:sp>
        <p:nvSpPr>
          <p:cNvPr id="11" name="Text 8"/>
          <p:cNvSpPr/>
          <p:nvPr/>
        </p:nvSpPr>
        <p:spPr>
          <a:xfrm>
            <a:off x="548640" y="2834640"/>
            <a:ext cx="2377440" cy="320040"/>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3 failures = UNHEALTHY</a:t>
            </a:r>
            <a:endParaRPr lang="en-US" sz="1100" dirty="0"/>
          </a:p>
        </p:txBody>
      </p:sp>
      <p:sp>
        <p:nvSpPr>
          <p:cNvPr id="12" name="Text 9"/>
          <p:cNvSpPr/>
          <p:nvPr/>
        </p:nvSpPr>
        <p:spPr>
          <a:xfrm>
            <a:off x="548640" y="3154680"/>
            <a:ext cx="2377440" cy="18288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Must match the app's actual port</a:t>
            </a:r>
            <a:endParaRPr lang="en-US" sz="1000" dirty="0"/>
          </a:p>
        </p:txBody>
      </p:sp>
      <p:sp>
        <p:nvSpPr>
          <p:cNvPr id="13" name="Shape 10"/>
          <p:cNvSpPr/>
          <p:nvPr/>
        </p:nvSpPr>
        <p:spPr>
          <a:xfrm>
            <a:off x="3063240" y="2103120"/>
            <a:ext cx="548640" cy="54864"/>
          </a:xfrm>
          <a:prstGeom prst="rect">
            <a:avLst/>
          </a:prstGeom>
          <a:solidFill>
            <a:srgbClr val="0E9AA7"/>
          </a:solidFill>
          <a:ln w="12700">
            <a:solidFill>
              <a:srgbClr val="0E9AA7"/>
            </a:solidFill>
            <a:prstDash val="solid"/>
          </a:ln>
        </p:spPr>
      </p:sp>
      <p:sp>
        <p:nvSpPr>
          <p:cNvPr id="14" name="Shape 11"/>
          <p:cNvSpPr/>
          <p:nvPr/>
        </p:nvSpPr>
        <p:spPr>
          <a:xfrm>
            <a:off x="3520440" y="1993392"/>
            <a:ext cx="91440" cy="274320"/>
          </a:xfrm>
          <a:prstGeom prst="rect">
            <a:avLst/>
          </a:prstGeom>
          <a:solidFill>
            <a:srgbClr val="0E9AA7"/>
          </a:solidFill>
          <a:ln w="12700">
            <a:solidFill>
              <a:srgbClr val="0E9AA7"/>
            </a:solidFill>
            <a:prstDash val="solid"/>
          </a:ln>
        </p:spPr>
      </p:sp>
      <p:sp>
        <p:nvSpPr>
          <p:cNvPr id="15" name="Shape 12"/>
          <p:cNvSpPr/>
          <p:nvPr/>
        </p:nvSpPr>
        <p:spPr>
          <a:xfrm>
            <a:off x="3291840" y="1097280"/>
            <a:ext cx="2560320" cy="2286000"/>
          </a:xfrm>
          <a:prstGeom prst="rect">
            <a:avLst>
              <a:gd name="adj" fmla="val 2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6" name="Shape 13"/>
          <p:cNvSpPr/>
          <p:nvPr/>
        </p:nvSpPr>
        <p:spPr>
          <a:xfrm>
            <a:off x="4297680" y="1280160"/>
            <a:ext cx="548640" cy="548640"/>
          </a:xfrm>
          <a:prstGeom prst="ellipse">
            <a:avLst/>
          </a:prstGeom>
          <a:solidFill>
            <a:srgbClr val="0E9AA7"/>
          </a:solidFill>
          <a:ln/>
        </p:spPr>
      </p:sp>
      <p:pic>
        <p:nvPicPr>
          <p:cNvPr id="17" name="Image 1" descr="preencoded.png">    </p:cNvPr>
          <p:cNvPicPr>
            <a:picLocks noChangeAspect="1"/>
          </p:cNvPicPr>
          <p:nvPr/>
        </p:nvPicPr>
        <p:blipFill>
          <a:blip r:embed="rId2"/>
          <a:stretch>
            <a:fillRect/>
          </a:stretch>
        </p:blipFill>
        <p:spPr>
          <a:xfrm>
            <a:off x="4407408" y="1389888"/>
            <a:ext cx="329184" cy="329184"/>
          </a:xfrm>
          <a:prstGeom prst="rect">
            <a:avLst/>
          </a:prstGeom>
        </p:spPr>
      </p:pic>
      <p:sp>
        <p:nvSpPr>
          <p:cNvPr id="18" name="Text 14"/>
          <p:cNvSpPr/>
          <p:nvPr/>
        </p:nvSpPr>
        <p:spPr>
          <a:xfrm>
            <a:off x="3383280" y="1874520"/>
            <a:ext cx="2377440" cy="320040"/>
          </a:xfrm>
          <a:prstGeom prst="rect">
            <a:avLst/>
          </a:prstGeom>
          <a:noFill/>
          <a:ln/>
        </p:spPr>
        <p:txBody>
          <a:bodyPr wrap="square" lIns="0" tIns="0" rIns="0" bIns="0" rtlCol="0" anchor="ctr"/>
          <a:lstStyle/>
          <a:p>
            <a:pPr algn="ctr" indent="0" marL="0">
              <a:buNone/>
            </a:pPr>
            <a:r>
              <a:rPr lang="en-US" sz="1300" b="1" dirty="0">
                <a:solidFill>
                  <a:srgbClr val="0E9AA7"/>
                </a:solidFill>
                <a:latin typeface="Calibri" pitchFamily="34" charset="0"/>
                <a:ea typeface="Calibri" pitchFamily="34" charset="-122"/>
                <a:cs typeface="Calibri" pitchFamily="34" charset="-120"/>
              </a:rPr>
              <a:t>2. PRIMARY Record</a:t>
            </a:r>
            <a:endParaRPr lang="en-US" sz="1300" dirty="0"/>
          </a:p>
        </p:txBody>
      </p:sp>
      <p:sp>
        <p:nvSpPr>
          <p:cNvPr id="19" name="Text 15"/>
          <p:cNvSpPr/>
          <p:nvPr/>
        </p:nvSpPr>
        <p:spPr>
          <a:xfrm>
            <a:off x="3383280" y="2212848"/>
            <a:ext cx="2377440" cy="594360"/>
          </a:xfrm>
          <a:prstGeom prst="rect">
            <a:avLst/>
          </a:prstGeom>
          <a:noFill/>
          <a:ln/>
        </p:spPr>
        <p:txBody>
          <a:bodyPr wrap="square" lIns="0" tIns="0" rIns="0" bIns="0" rtlCol="0" anchor="ctr"/>
          <a:lstStyle/>
          <a:p>
            <a:pPr algn="ctr" indent="0" marL="0">
              <a:buNone/>
            </a:pPr>
            <a:r>
              <a:rPr lang="en-US" sz="1100" dirty="0">
                <a:solidFill>
                  <a:srgbClr val="E8F4F8"/>
                </a:solidFill>
                <a:latin typeface="Calibri" pitchFamily="34" charset="0"/>
                <a:ea typeface="Calibri" pitchFamily="34" charset="-122"/>
                <a:cs typeface="Calibri" pitchFamily="34" charset="-120"/>
              </a:rPr>
              <a:t>The preferred DNS A record. Served when the health check is healthy. Linked to the health check via health_check_id.</a:t>
            </a:r>
            <a:endParaRPr lang="en-US" sz="1100" dirty="0"/>
          </a:p>
        </p:txBody>
      </p:sp>
      <p:sp>
        <p:nvSpPr>
          <p:cNvPr id="20" name="Text 16"/>
          <p:cNvSpPr/>
          <p:nvPr/>
        </p:nvSpPr>
        <p:spPr>
          <a:xfrm>
            <a:off x="3383280" y="2834640"/>
            <a:ext cx="2377440" cy="502920"/>
          </a:xfrm>
          <a:prstGeom prst="rect">
            <a:avLst/>
          </a:prstGeom>
          <a:noFill/>
          <a:ln/>
        </p:spPr>
        <p:txBody>
          <a:bodyPr wrap="square" lIns="0" tIns="0" rIns="0" bIns="0" rtlCol="0" anchor="ctr"/>
          <a:lstStyle/>
          <a:p>
            <a:pPr algn="ctr" indent="0" marL="0">
              <a:buNone/>
            </a:pPr>
            <a:r>
              <a:rPr lang="en-US" sz="1000" b="1" dirty="0">
                <a:solidFill>
                  <a:srgbClr val="F5C842"/>
                </a:solidFill>
                <a:latin typeface="Consolas" pitchFamily="34" charset="0"/>
                <a:ea typeface="Consolas" pitchFamily="34" charset="-122"/>
                <a:cs typeface="Consolas" pitchFamily="34" charset="-120"/>
              </a:rPr>
              <a:t>Needs: failover_routing_policy</a:t>
            </a:r>
            <a:endParaRPr lang="en-US" sz="1000" dirty="0"/>
          </a:p>
          <a:p>
            <a:pPr algn="ctr" indent="0" marL="0">
              <a:buNone/>
            </a:pPr>
            <a:r>
              <a:rPr lang="en-US" sz="1000" b="1" dirty="0">
                <a:solidFill>
                  <a:srgbClr val="F5C842"/>
                </a:solidFill>
                <a:latin typeface="Consolas" pitchFamily="34" charset="0"/>
                <a:ea typeface="Consolas" pitchFamily="34" charset="-122"/>
                <a:cs typeface="Consolas" pitchFamily="34" charset="-120"/>
              </a:rPr>
              <a:t>set_identifier + health_check_id</a:t>
            </a:r>
            <a:endParaRPr lang="en-US" sz="1000" dirty="0"/>
          </a:p>
        </p:txBody>
      </p:sp>
      <p:sp>
        <p:nvSpPr>
          <p:cNvPr id="21" name="Shape 17"/>
          <p:cNvSpPr/>
          <p:nvPr/>
        </p:nvSpPr>
        <p:spPr>
          <a:xfrm>
            <a:off x="5897880" y="2103120"/>
            <a:ext cx="548640" cy="54864"/>
          </a:xfrm>
          <a:prstGeom prst="rect">
            <a:avLst/>
          </a:prstGeom>
          <a:solidFill>
            <a:srgbClr val="0E9AA7"/>
          </a:solidFill>
          <a:ln w="12700">
            <a:solidFill>
              <a:srgbClr val="0E9AA7"/>
            </a:solidFill>
            <a:prstDash val="solid"/>
          </a:ln>
        </p:spPr>
      </p:sp>
      <p:sp>
        <p:nvSpPr>
          <p:cNvPr id="22" name="Shape 18"/>
          <p:cNvSpPr/>
          <p:nvPr/>
        </p:nvSpPr>
        <p:spPr>
          <a:xfrm>
            <a:off x="6355080" y="1993392"/>
            <a:ext cx="91440" cy="274320"/>
          </a:xfrm>
          <a:prstGeom prst="rect">
            <a:avLst/>
          </a:prstGeom>
          <a:solidFill>
            <a:srgbClr val="0E9AA7"/>
          </a:solidFill>
          <a:ln w="12700">
            <a:solidFill>
              <a:srgbClr val="0E9AA7"/>
            </a:solidFill>
            <a:prstDash val="solid"/>
          </a:ln>
        </p:spPr>
      </p:sp>
      <p:sp>
        <p:nvSpPr>
          <p:cNvPr id="23" name="Shape 19"/>
          <p:cNvSpPr/>
          <p:nvPr/>
        </p:nvSpPr>
        <p:spPr>
          <a:xfrm>
            <a:off x="6126480" y="1097280"/>
            <a:ext cx="2560320" cy="2286000"/>
          </a:xfrm>
          <a:prstGeom prst="rect">
            <a:avLst>
              <a:gd name="adj" fmla="val 2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4" name="Shape 20"/>
          <p:cNvSpPr/>
          <p:nvPr/>
        </p:nvSpPr>
        <p:spPr>
          <a:xfrm>
            <a:off x="7132320" y="1280160"/>
            <a:ext cx="548640" cy="548640"/>
          </a:xfrm>
          <a:prstGeom prst="ellipse">
            <a:avLst/>
          </a:prstGeom>
          <a:solidFill>
            <a:srgbClr val="0E9AA7"/>
          </a:solidFill>
          <a:ln/>
        </p:spPr>
      </p:sp>
      <p:pic>
        <p:nvPicPr>
          <p:cNvPr id="25" name="Image 2" descr="preencoded.png">    </p:cNvPr>
          <p:cNvPicPr>
            <a:picLocks noChangeAspect="1"/>
          </p:cNvPicPr>
          <p:nvPr/>
        </p:nvPicPr>
        <p:blipFill>
          <a:blip r:embed="rId3"/>
          <a:stretch>
            <a:fillRect/>
          </a:stretch>
        </p:blipFill>
        <p:spPr>
          <a:xfrm>
            <a:off x="7242048" y="1389888"/>
            <a:ext cx="329184" cy="329184"/>
          </a:xfrm>
          <a:prstGeom prst="rect">
            <a:avLst/>
          </a:prstGeom>
        </p:spPr>
      </p:pic>
      <p:sp>
        <p:nvSpPr>
          <p:cNvPr id="26" name="Text 21"/>
          <p:cNvSpPr/>
          <p:nvPr/>
        </p:nvSpPr>
        <p:spPr>
          <a:xfrm>
            <a:off x="6217920" y="1874520"/>
            <a:ext cx="2377440" cy="320040"/>
          </a:xfrm>
          <a:prstGeom prst="rect">
            <a:avLst/>
          </a:prstGeom>
          <a:noFill/>
          <a:ln/>
        </p:spPr>
        <p:txBody>
          <a:bodyPr wrap="square" lIns="0" tIns="0" rIns="0" bIns="0" rtlCol="0" anchor="ctr"/>
          <a:lstStyle/>
          <a:p>
            <a:pPr algn="ctr" indent="0" marL="0">
              <a:buNone/>
            </a:pPr>
            <a:r>
              <a:rPr lang="en-US" sz="1300" b="1" dirty="0">
                <a:solidFill>
                  <a:srgbClr val="0E9AA7"/>
                </a:solidFill>
                <a:latin typeface="Calibri" pitchFamily="34" charset="0"/>
                <a:ea typeface="Calibri" pitchFamily="34" charset="-122"/>
                <a:cs typeface="Calibri" pitchFamily="34" charset="-120"/>
              </a:rPr>
              <a:t>3. SECONDARY Record</a:t>
            </a:r>
            <a:endParaRPr lang="en-US" sz="1300" dirty="0"/>
          </a:p>
        </p:txBody>
      </p:sp>
      <p:sp>
        <p:nvSpPr>
          <p:cNvPr id="27" name="Text 22"/>
          <p:cNvSpPr/>
          <p:nvPr/>
        </p:nvSpPr>
        <p:spPr>
          <a:xfrm>
            <a:off x="6217920" y="2212848"/>
            <a:ext cx="2377440" cy="594360"/>
          </a:xfrm>
          <a:prstGeom prst="rect">
            <a:avLst/>
          </a:prstGeom>
          <a:noFill/>
          <a:ln/>
        </p:spPr>
        <p:txBody>
          <a:bodyPr wrap="square" lIns="0" tIns="0" rIns="0" bIns="0" rtlCol="0" anchor="ctr"/>
          <a:lstStyle/>
          <a:p>
            <a:pPr algn="ctr" indent="0" marL="0">
              <a:buNone/>
            </a:pPr>
            <a:r>
              <a:rPr lang="en-US" sz="1100" dirty="0">
                <a:solidFill>
                  <a:srgbClr val="E8F4F8"/>
                </a:solidFill>
                <a:latin typeface="Calibri" pitchFamily="34" charset="0"/>
                <a:ea typeface="Calibri" pitchFamily="34" charset="-122"/>
                <a:cs typeface="Calibri" pitchFamily="34" charset="-120"/>
              </a:rPr>
              <a:t>The fallback DNS A record. Only served when the primary's health check is failing. No health check needed.</a:t>
            </a:r>
            <a:endParaRPr lang="en-US" sz="1100" dirty="0"/>
          </a:p>
        </p:txBody>
      </p:sp>
      <p:sp>
        <p:nvSpPr>
          <p:cNvPr id="28" name="Text 23"/>
          <p:cNvSpPr/>
          <p:nvPr/>
        </p:nvSpPr>
        <p:spPr>
          <a:xfrm>
            <a:off x="6217920" y="2834640"/>
            <a:ext cx="2377440" cy="502920"/>
          </a:xfrm>
          <a:prstGeom prst="rect">
            <a:avLst/>
          </a:prstGeom>
          <a:noFill/>
          <a:ln/>
        </p:spPr>
        <p:txBody>
          <a:bodyPr wrap="square" lIns="0" tIns="0" rIns="0" bIns="0" rtlCol="0" anchor="ctr"/>
          <a:lstStyle/>
          <a:p>
            <a:pPr algn="ctr" indent="0" marL="0">
              <a:buNone/>
            </a:pPr>
            <a:r>
              <a:rPr lang="en-US" sz="1000" i="1" dirty="0">
                <a:solidFill>
                  <a:srgbClr val="4CAF7D"/>
                </a:solidFill>
                <a:latin typeface="Calibri" pitchFamily="34" charset="0"/>
                <a:ea typeface="Calibri" pitchFamily="34" charset="-122"/>
                <a:cs typeface="Calibri" pitchFamily="34" charset="-120"/>
              </a:rPr>
              <a:t>Last resort — serves</a:t>
            </a:r>
            <a:endParaRPr lang="en-US" sz="1000" dirty="0"/>
          </a:p>
          <a:p>
            <a:pPr algn="ctr" indent="0" marL="0">
              <a:buNone/>
            </a:pPr>
            <a:r>
              <a:rPr lang="en-US" sz="1000" i="1" dirty="0">
                <a:solidFill>
                  <a:srgbClr val="4CAF7D"/>
                </a:solidFill>
                <a:latin typeface="Calibri" pitchFamily="34" charset="0"/>
                <a:ea typeface="Calibri" pitchFamily="34" charset="-122"/>
                <a:cs typeface="Calibri" pitchFamily="34" charset="-120"/>
              </a:rPr>
              <a:t>unconditionally when</a:t>
            </a:r>
            <a:endParaRPr lang="en-US" sz="1000" dirty="0"/>
          </a:p>
          <a:p>
            <a:pPr algn="ctr" indent="0" marL="0">
              <a:buNone/>
            </a:pPr>
            <a:r>
              <a:rPr lang="en-US" sz="1000" i="1" dirty="0">
                <a:solidFill>
                  <a:srgbClr val="4CAF7D"/>
                </a:solidFill>
                <a:latin typeface="Calibri" pitchFamily="34" charset="0"/>
                <a:ea typeface="Calibri" pitchFamily="34" charset="-122"/>
                <a:cs typeface="Calibri" pitchFamily="34" charset="-120"/>
              </a:rPr>
              <a:t>primary is unhealthy</a:t>
            </a:r>
            <a:endParaRPr lang="en-US" sz="1000" dirty="0"/>
          </a:p>
        </p:txBody>
      </p:sp>
      <p:sp>
        <p:nvSpPr>
          <p:cNvPr id="29" name="Shape 24"/>
          <p:cNvSpPr/>
          <p:nvPr/>
        </p:nvSpPr>
        <p:spPr>
          <a:xfrm>
            <a:off x="457200" y="4480560"/>
            <a:ext cx="8229600" cy="502920"/>
          </a:xfrm>
          <a:prstGeom prst="rect">
            <a:avLst>
              <a:gd name="adj" fmla="val 9091"/>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30" name="Text 25"/>
          <p:cNvSpPr/>
          <p:nvPr/>
        </p:nvSpPr>
        <p:spPr>
          <a:xfrm>
            <a:off x="640080" y="4526280"/>
            <a:ext cx="7863840" cy="384048"/>
          </a:xfrm>
          <a:prstGeom prst="rect">
            <a:avLst/>
          </a:prstGeom>
          <a:noFill/>
          <a:ln/>
        </p:spPr>
        <p:txBody>
          <a:bodyPr wrap="square" lIns="0" tIns="0" rIns="0" bIns="0" rtlCol="0" anchor="ctr"/>
          <a:lstStyle/>
          <a:p>
            <a:pPr algn="ctr" indent="0" marL="0">
              <a:buNone/>
            </a:pPr>
            <a:r>
              <a:rPr lang="en-US" sz="1200" dirty="0">
                <a:solidFill>
                  <a:srgbClr val="E8F4F8"/>
                </a:solidFill>
                <a:latin typeface="Calibri" pitchFamily="34" charset="0"/>
                <a:ea typeface="Calibri" pitchFamily="34" charset="-122"/>
                <a:cs typeface="Calibri" pitchFamily="34" charset="-120"/>
              </a:rPr>
              <a:t>If ANY of these three are misconfigured or disconnected from each other, failover will not work. All three must be present and correctly linked.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Incident Ticket</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What we were handed at the start of this lab</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97280"/>
            <a:ext cx="8229600" cy="3200400"/>
          </a:xfrm>
          <a:prstGeom prst="rect">
            <a:avLst>
              <a:gd name="adj" fmla="val 1429"/>
            </a:avLst>
          </a:prstGeom>
          <a:solidFill>
            <a:srgbClr val="162535"/>
          </a:solidFill>
          <a:ln w="25400">
            <a:solidFill>
              <a:srgbClr val="E05C5C"/>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57200" y="1097280"/>
            <a:ext cx="8229600" cy="457200"/>
          </a:xfrm>
          <a:prstGeom prst="rect">
            <a:avLst/>
          </a:prstGeom>
          <a:solidFill>
            <a:srgbClr val="E05C5C"/>
          </a:solidFill>
          <a:ln w="12700">
            <a:solidFill>
              <a:srgbClr val="E05C5C"/>
            </a:solidFill>
            <a:prstDash val="solid"/>
          </a:ln>
        </p:spPr>
      </p:sp>
      <p:sp>
        <p:nvSpPr>
          <p:cNvPr id="8" name="Text 6"/>
          <p:cNvSpPr/>
          <p:nvPr/>
        </p:nvSpPr>
        <p:spPr>
          <a:xfrm>
            <a:off x="640080" y="1143000"/>
            <a:ext cx="786384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INCIDENT-AWS-008  |  P1 — Full Customer-Facing Outage</a:t>
            </a:r>
            <a:endParaRPr lang="en-US" sz="1300" dirty="0"/>
          </a:p>
        </p:txBody>
      </p:sp>
      <p:sp>
        <p:nvSpPr>
          <p:cNvPr id="9" name="Text 7"/>
          <p:cNvSpPr/>
          <p:nvPr/>
        </p:nvSpPr>
        <p:spPr>
          <a:xfrm>
            <a:off x="640080" y="1664208"/>
            <a:ext cx="1280160" cy="347472"/>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Summary:</a:t>
            </a:r>
            <a:endParaRPr lang="en-US" sz="1100" dirty="0"/>
          </a:p>
        </p:txBody>
      </p:sp>
      <p:sp>
        <p:nvSpPr>
          <p:cNvPr id="10" name="Text 8"/>
          <p:cNvSpPr/>
          <p:nvPr/>
        </p:nvSpPr>
        <p:spPr>
          <a:xfrm>
            <a:off x="1920240" y="1664208"/>
            <a:ext cx="6583680" cy="45720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Primary region went down. Route 53 was supposed to automatically fail over DNS traffic to the secondary region. It didn't. DNS is still resolving to the unhealthy primary. Customers cannot reach the service.</a:t>
            </a:r>
            <a:endParaRPr lang="en-US" sz="1100" dirty="0"/>
          </a:p>
        </p:txBody>
      </p:sp>
      <p:sp>
        <p:nvSpPr>
          <p:cNvPr id="11" name="Text 9"/>
          <p:cNvSpPr/>
          <p:nvPr/>
        </p:nvSpPr>
        <p:spPr>
          <a:xfrm>
            <a:off x="640080" y="2167128"/>
            <a:ext cx="1280160" cy="347472"/>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Background:</a:t>
            </a:r>
            <a:endParaRPr lang="en-US" sz="1100" dirty="0"/>
          </a:p>
        </p:txBody>
      </p:sp>
      <p:sp>
        <p:nvSpPr>
          <p:cNvPr id="12" name="Text 10"/>
          <p:cNvSpPr/>
          <p:nvPr/>
        </p:nvSpPr>
        <p:spPr>
          <a:xfrm>
            <a:off x="1920240" y="2167128"/>
            <a:ext cx="6583680" cy="45720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The Route 53 failover policy was configured as part of last quarter's DR work. It has never been tested in a real incident. On-call flagged that health checks may not be correctly configured.</a:t>
            </a:r>
            <a:endParaRPr lang="en-US" sz="1100" dirty="0"/>
          </a:p>
        </p:txBody>
      </p:sp>
      <p:sp>
        <p:nvSpPr>
          <p:cNvPr id="13" name="Text 11"/>
          <p:cNvSpPr/>
          <p:nvPr/>
        </p:nvSpPr>
        <p:spPr>
          <a:xfrm>
            <a:off x="640080" y="2670048"/>
            <a:ext cx="1280160" cy="347472"/>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Expected:</a:t>
            </a:r>
            <a:endParaRPr lang="en-US" sz="1100" dirty="0"/>
          </a:p>
        </p:txBody>
      </p:sp>
      <p:sp>
        <p:nvSpPr>
          <p:cNvPr id="14" name="Text 12"/>
          <p:cNvSpPr/>
          <p:nvPr/>
        </p:nvSpPr>
        <p:spPr>
          <a:xfrm>
            <a:off x="1920240" y="2670048"/>
            <a:ext cx="6583680" cy="45720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When primary (10.0.1.100) is unhealthy, Route 53 should serve the secondary IP (10.1.1.100) within 60 seconds.</a:t>
            </a:r>
            <a:endParaRPr lang="en-US" sz="1100" dirty="0"/>
          </a:p>
        </p:txBody>
      </p:sp>
      <p:sp>
        <p:nvSpPr>
          <p:cNvPr id="15" name="Text 13"/>
          <p:cNvSpPr/>
          <p:nvPr/>
        </p:nvSpPr>
        <p:spPr>
          <a:xfrm>
            <a:off x="640080" y="3172968"/>
            <a:ext cx="1280160" cy="347472"/>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Actual:</a:t>
            </a:r>
            <a:endParaRPr lang="en-US" sz="1100" dirty="0"/>
          </a:p>
        </p:txBody>
      </p:sp>
      <p:sp>
        <p:nvSpPr>
          <p:cNvPr id="16" name="Text 14"/>
          <p:cNvSpPr/>
          <p:nvPr/>
        </p:nvSpPr>
        <p:spPr>
          <a:xfrm>
            <a:off x="1920240" y="3172968"/>
            <a:ext cx="6583680" cy="45720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Route 53 continues to serve the primary IP regardless of health. Secondary IP is never returned.</a:t>
            </a:r>
            <a:endParaRPr lang="en-US" sz="1100" dirty="0"/>
          </a:p>
        </p:txBody>
      </p:sp>
      <p:sp>
        <p:nvSpPr>
          <p:cNvPr id="17" name="Shape 15"/>
          <p:cNvSpPr/>
          <p:nvPr/>
        </p:nvSpPr>
        <p:spPr>
          <a:xfrm>
            <a:off x="457200" y="4434840"/>
            <a:ext cx="8229600" cy="548640"/>
          </a:xfrm>
          <a:prstGeom prst="rect">
            <a:avLst>
              <a:gd name="adj" fmla="val 8333"/>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pic>
        <p:nvPicPr>
          <p:cNvPr id="18" name="Image 0" descr="preencoded.png">    </p:cNvPr>
          <p:cNvPicPr>
            <a:picLocks noChangeAspect="1"/>
          </p:cNvPicPr>
          <p:nvPr/>
        </p:nvPicPr>
        <p:blipFill>
          <a:blip r:embed="rId1"/>
          <a:stretch>
            <a:fillRect/>
          </a:stretch>
        </p:blipFill>
        <p:spPr>
          <a:xfrm>
            <a:off x="685800" y="4526280"/>
            <a:ext cx="320040" cy="320040"/>
          </a:xfrm>
          <a:prstGeom prst="rect">
            <a:avLst/>
          </a:prstGeom>
        </p:spPr>
      </p:pic>
      <p:sp>
        <p:nvSpPr>
          <p:cNvPr id="19" name="Text 16"/>
          <p:cNvSpPr/>
          <p:nvPr/>
        </p:nvSpPr>
        <p:spPr>
          <a:xfrm>
            <a:off x="1143000" y="4498848"/>
            <a:ext cx="7315200" cy="411480"/>
          </a:xfrm>
          <a:prstGeom prst="rect">
            <a:avLst/>
          </a:prstGeom>
          <a:noFill/>
          <a:ln/>
        </p:spPr>
        <p:txBody>
          <a:bodyPr wrap="square" lIns="0" tIns="0" rIns="0" bIns="0" rtlCol="0" anchor="ctr"/>
          <a:lstStyle/>
          <a:p>
            <a:pPr indent="0" marL="0">
              <a:buNone/>
            </a:pPr>
            <a:r>
              <a:rPr lang="en-US" sz="1200" i="1" dirty="0">
                <a:solidFill>
                  <a:srgbClr val="E8F4F8"/>
                </a:solidFill>
                <a:latin typeface="Calibri" pitchFamily="34" charset="0"/>
                <a:ea typeface="Calibri" pitchFamily="34" charset="-122"/>
                <a:cs typeface="Calibri" pitchFamily="34" charset="-120"/>
              </a:rPr>
              <a:t>Our approach: confirm the fault with AWS CLI before opening any files — then trace to root cause in Terraform.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Diagnosing Before Opening Any Files</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Using AWS CLI to confirm the fault from live state</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Text 4"/>
          <p:cNvSpPr/>
          <p:nvPr/>
        </p:nvSpPr>
        <p:spPr>
          <a:xfrm>
            <a:off x="457200" y="1051560"/>
            <a:ext cx="8229600" cy="365760"/>
          </a:xfrm>
          <a:prstGeom prst="rect">
            <a:avLst/>
          </a:prstGeom>
          <a:noFill/>
          <a:ln/>
        </p:spPr>
        <p:txBody>
          <a:bodyPr wrap="square" lIns="0" tIns="0" rIns="0" bIns="0" rtlCol="0" anchor="ctr"/>
          <a:lstStyle/>
          <a:p>
            <a:pPr indent="0" marL="0">
              <a:buNone/>
            </a:pPr>
            <a:r>
              <a:rPr lang="en-US" sz="1300" i="1" dirty="0">
                <a:solidFill>
                  <a:srgbClr val="E8F4F8"/>
                </a:solidFill>
                <a:latin typeface="Calibri" pitchFamily="34" charset="0"/>
                <a:ea typeface="Calibri" pitchFamily="34" charset="-122"/>
                <a:cs typeface="Calibri" pitchFamily="34" charset="-120"/>
              </a:rPr>
              <a:t>A real engineer confirms the symptom in AWS before touching Terraform. Three CLI checks told us everything:</a:t>
            </a:r>
            <a:endParaRPr lang="en-US" sz="1300" dirty="0"/>
          </a:p>
        </p:txBody>
      </p:sp>
      <p:sp>
        <p:nvSpPr>
          <p:cNvPr id="7" name="Shape 5"/>
          <p:cNvSpPr/>
          <p:nvPr/>
        </p:nvSpPr>
        <p:spPr>
          <a:xfrm>
            <a:off x="457200" y="1508760"/>
            <a:ext cx="8229600" cy="1005840"/>
          </a:xfrm>
          <a:prstGeom prst="rect">
            <a:avLst>
              <a:gd name="adj" fmla="val 4545"/>
            </a:avLst>
          </a:prstGeom>
          <a:solidFill>
            <a:srgbClr val="162535"/>
          </a:solidFill>
          <a:ln w="12700">
            <a:solidFill>
              <a:srgbClr val="E05C5C"/>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57200" y="1508760"/>
            <a:ext cx="457200" cy="1005840"/>
          </a:xfrm>
          <a:prstGeom prst="rect">
            <a:avLst/>
          </a:prstGeom>
          <a:solidFill>
            <a:srgbClr val="E05C5C"/>
          </a:solidFill>
          <a:ln w="12700">
            <a:solidFill>
              <a:srgbClr val="E05C5C"/>
            </a:solidFill>
            <a:prstDash val="solid"/>
          </a:ln>
        </p:spPr>
      </p:sp>
      <p:sp>
        <p:nvSpPr>
          <p:cNvPr id="9" name="Text 7"/>
          <p:cNvSpPr/>
          <p:nvPr/>
        </p:nvSpPr>
        <p:spPr>
          <a:xfrm>
            <a:off x="457200" y="1828800"/>
            <a:ext cx="457200" cy="36576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1005840" y="1581912"/>
            <a:ext cx="7498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Health Checks</a:t>
            </a:r>
            <a:endParaRPr lang="en-US" sz="1300" dirty="0"/>
          </a:p>
        </p:txBody>
      </p:sp>
      <p:sp>
        <p:nvSpPr>
          <p:cNvPr id="11" name="Text 9"/>
          <p:cNvSpPr/>
          <p:nvPr/>
        </p:nvSpPr>
        <p:spPr>
          <a:xfrm>
            <a:off x="1005840" y="1856232"/>
            <a:ext cx="7498080" cy="256032"/>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aws route53 list-health-checks --output table</a:t>
            </a:r>
            <a:endParaRPr lang="en-US" sz="1000" dirty="0"/>
          </a:p>
        </p:txBody>
      </p:sp>
      <p:sp>
        <p:nvSpPr>
          <p:cNvPr id="12" name="Text 10"/>
          <p:cNvSpPr/>
          <p:nvPr/>
        </p:nvSpPr>
        <p:spPr>
          <a:xfrm>
            <a:off x="1005840" y="2130552"/>
            <a:ext cx="7498080" cy="274320"/>
          </a:xfrm>
          <a:prstGeom prst="rect">
            <a:avLst/>
          </a:prstGeom>
          <a:noFill/>
          <a:ln/>
        </p:spPr>
        <p:txBody>
          <a:bodyPr wrap="square" lIns="0" tIns="0" rIns="0" bIns="0" rtlCol="0" anchor="ctr"/>
          <a:lstStyle/>
          <a:p>
            <a:pPr indent="0" marL="0">
              <a:buNone/>
            </a:pPr>
            <a:r>
              <a:rPr lang="en-US" sz="1100" i="1" dirty="0">
                <a:solidFill>
                  <a:srgbClr val="E8F4F8"/>
                </a:solidFill>
                <a:latin typeface="Calibri" pitchFamily="34" charset="0"/>
                <a:ea typeface="Calibri" pitchFamily="34" charset="-122"/>
                <a:cs typeface="Calibri" pitchFamily="34" charset="-120"/>
              </a:rPr>
              <a:t>Finding: Port 8080 shown — app is on port 80. Health check knocking on the wrong door.</a:t>
            </a:r>
            <a:endParaRPr lang="en-US" sz="1100" dirty="0"/>
          </a:p>
        </p:txBody>
      </p:sp>
      <p:sp>
        <p:nvSpPr>
          <p:cNvPr id="13" name="Shape 11"/>
          <p:cNvSpPr/>
          <p:nvPr/>
        </p:nvSpPr>
        <p:spPr>
          <a:xfrm>
            <a:off x="457200" y="2606040"/>
            <a:ext cx="8229600" cy="1005840"/>
          </a:xfrm>
          <a:prstGeom prst="rect">
            <a:avLst>
              <a:gd name="adj" fmla="val 4545"/>
            </a:avLst>
          </a:prstGeom>
          <a:solidFill>
            <a:srgbClr val="162535"/>
          </a:solidFill>
          <a:ln w="12700">
            <a:solidFill>
              <a:srgbClr val="E05C5C"/>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57200" y="2606040"/>
            <a:ext cx="457200" cy="1005840"/>
          </a:xfrm>
          <a:prstGeom prst="rect">
            <a:avLst/>
          </a:prstGeom>
          <a:solidFill>
            <a:srgbClr val="E05C5C"/>
          </a:solidFill>
          <a:ln w="12700">
            <a:solidFill>
              <a:srgbClr val="E05C5C"/>
            </a:solidFill>
            <a:prstDash val="solid"/>
          </a:ln>
        </p:spPr>
      </p:sp>
      <p:sp>
        <p:nvSpPr>
          <p:cNvPr id="15" name="Text 13"/>
          <p:cNvSpPr/>
          <p:nvPr/>
        </p:nvSpPr>
        <p:spPr>
          <a:xfrm>
            <a:off x="457200" y="2926080"/>
            <a:ext cx="457200" cy="36576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02</a:t>
            </a:r>
            <a:endParaRPr lang="en-US" sz="1400" dirty="0"/>
          </a:p>
        </p:txBody>
      </p:sp>
      <p:sp>
        <p:nvSpPr>
          <p:cNvPr id="16" name="Text 14"/>
          <p:cNvSpPr/>
          <p:nvPr/>
        </p:nvSpPr>
        <p:spPr>
          <a:xfrm>
            <a:off x="1005840" y="2679192"/>
            <a:ext cx="7498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DNS Records</a:t>
            </a:r>
            <a:endParaRPr lang="en-US" sz="1300" dirty="0"/>
          </a:p>
        </p:txBody>
      </p:sp>
      <p:sp>
        <p:nvSpPr>
          <p:cNvPr id="17" name="Text 15"/>
          <p:cNvSpPr/>
          <p:nvPr/>
        </p:nvSpPr>
        <p:spPr>
          <a:xfrm>
            <a:off x="1005840" y="2953512"/>
            <a:ext cx="7498080" cy="256032"/>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aws route53 list-resource-record-sets --hosted-zone-id &lt;ID&gt; --output table</a:t>
            </a:r>
            <a:endParaRPr lang="en-US" sz="1000" dirty="0"/>
          </a:p>
        </p:txBody>
      </p:sp>
      <p:sp>
        <p:nvSpPr>
          <p:cNvPr id="18" name="Text 16"/>
          <p:cNvSpPr/>
          <p:nvPr/>
        </p:nvSpPr>
        <p:spPr>
          <a:xfrm>
            <a:off x="1005840" y="3227832"/>
            <a:ext cx="7498080" cy="274320"/>
          </a:xfrm>
          <a:prstGeom prst="rect">
            <a:avLst/>
          </a:prstGeom>
          <a:noFill/>
          <a:ln/>
        </p:spPr>
        <p:txBody>
          <a:bodyPr wrap="square" lIns="0" tIns="0" rIns="0" bIns="0" rtlCol="0" anchor="ctr"/>
          <a:lstStyle/>
          <a:p>
            <a:pPr indent="0" marL="0">
              <a:buNone/>
            </a:pPr>
            <a:r>
              <a:rPr lang="en-US" sz="1100" i="1" dirty="0">
                <a:solidFill>
                  <a:srgbClr val="E8F4F8"/>
                </a:solidFill>
                <a:latin typeface="Calibri" pitchFamily="34" charset="0"/>
                <a:ea typeface="Calibri" pitchFamily="34" charset="-122"/>
                <a:cs typeface="Calibri" pitchFamily="34" charset="-120"/>
              </a:rPr>
              <a:t>Finding: Only ONE A record exists. No Failover column. No SetIdentifier. Secondary never created.</a:t>
            </a:r>
            <a:endParaRPr lang="en-US" sz="1100" dirty="0"/>
          </a:p>
        </p:txBody>
      </p:sp>
      <p:sp>
        <p:nvSpPr>
          <p:cNvPr id="19" name="Shape 17"/>
          <p:cNvSpPr/>
          <p:nvPr/>
        </p:nvSpPr>
        <p:spPr>
          <a:xfrm>
            <a:off x="457200" y="3703320"/>
            <a:ext cx="8229600" cy="1005840"/>
          </a:xfrm>
          <a:prstGeom prst="rect">
            <a:avLst>
              <a:gd name="adj" fmla="val 4545"/>
            </a:avLst>
          </a:prstGeom>
          <a:solidFill>
            <a:srgbClr val="162535"/>
          </a:solidFill>
          <a:ln w="12700">
            <a:solidFill>
              <a:srgbClr val="F5C842"/>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57200" y="3703320"/>
            <a:ext cx="457200" cy="1005840"/>
          </a:xfrm>
          <a:prstGeom prst="rect">
            <a:avLst/>
          </a:prstGeom>
          <a:solidFill>
            <a:srgbClr val="F5C842"/>
          </a:solidFill>
          <a:ln w="12700">
            <a:solidFill>
              <a:srgbClr val="F5C842"/>
            </a:solidFill>
            <a:prstDash val="solid"/>
          </a:ln>
        </p:spPr>
      </p:sp>
      <p:sp>
        <p:nvSpPr>
          <p:cNvPr id="21" name="Text 19"/>
          <p:cNvSpPr/>
          <p:nvPr/>
        </p:nvSpPr>
        <p:spPr>
          <a:xfrm>
            <a:off x="457200" y="4023360"/>
            <a:ext cx="457200" cy="365760"/>
          </a:xfrm>
          <a:prstGeom prst="rect">
            <a:avLst/>
          </a:prstGeom>
          <a:noFill/>
          <a:ln/>
        </p:spPr>
        <p:txBody>
          <a:bodyPr wrap="square" lIns="0" tIns="0" rIns="0" bIns="0" rtlCol="0" anchor="ctr"/>
          <a:lstStyle/>
          <a:p>
            <a:pPr algn="ctr" indent="0" marL="0">
              <a:buNone/>
            </a:pPr>
            <a:r>
              <a:rPr lang="en-US" sz="1400" b="1" dirty="0">
                <a:solidFill>
                  <a:srgbClr val="0D1B2A"/>
                </a:solidFill>
                <a:latin typeface="Calibri" pitchFamily="34" charset="0"/>
                <a:ea typeface="Calibri" pitchFamily="34" charset="-122"/>
                <a:cs typeface="Calibri" pitchFamily="34" charset="-120"/>
              </a:rPr>
              <a:t>03</a:t>
            </a:r>
            <a:endParaRPr lang="en-US" sz="1400" dirty="0"/>
          </a:p>
        </p:txBody>
      </p:sp>
      <p:sp>
        <p:nvSpPr>
          <p:cNvPr id="22" name="Text 20"/>
          <p:cNvSpPr/>
          <p:nvPr/>
        </p:nvSpPr>
        <p:spPr>
          <a:xfrm>
            <a:off x="1005840" y="3776472"/>
            <a:ext cx="7498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Check the Apply Error</a:t>
            </a:r>
            <a:endParaRPr lang="en-US" sz="1300" dirty="0"/>
          </a:p>
        </p:txBody>
      </p:sp>
      <p:sp>
        <p:nvSpPr>
          <p:cNvPr id="23" name="Text 21"/>
          <p:cNvSpPr/>
          <p:nvPr/>
        </p:nvSpPr>
        <p:spPr>
          <a:xfrm>
            <a:off x="1005840" y="4050792"/>
            <a:ext cx="7498080" cy="256032"/>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InvalidChangeBatch: non-failover RRSet already exists</a:t>
            </a:r>
            <a:endParaRPr lang="en-US" sz="1000" dirty="0"/>
          </a:p>
        </p:txBody>
      </p:sp>
      <p:sp>
        <p:nvSpPr>
          <p:cNvPr id="24" name="Text 22"/>
          <p:cNvSpPr/>
          <p:nvPr/>
        </p:nvSpPr>
        <p:spPr>
          <a:xfrm>
            <a:off x="1005840" y="4325112"/>
            <a:ext cx="7498080" cy="274320"/>
          </a:xfrm>
          <a:prstGeom prst="rect">
            <a:avLst/>
          </a:prstGeom>
          <a:noFill/>
          <a:ln/>
        </p:spPr>
        <p:txBody>
          <a:bodyPr wrap="square" lIns="0" tIns="0" rIns="0" bIns="0" rtlCol="0" anchor="ctr"/>
          <a:lstStyle/>
          <a:p>
            <a:pPr indent="0" marL="0">
              <a:buNone/>
            </a:pPr>
            <a:r>
              <a:rPr lang="en-US" sz="1100" i="1" dirty="0">
                <a:solidFill>
                  <a:srgbClr val="E8F4F8"/>
                </a:solidFill>
                <a:latin typeface="Calibri" pitchFamily="34" charset="0"/>
                <a:ea typeface="Calibri" pitchFamily="34" charset="-122"/>
                <a:cs typeface="Calibri" pitchFamily="34" charset="-120"/>
              </a:rPr>
              <a:t>Finding: The missing failover policy on the primary blocked the secondary from being created at all.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 1 — Health Check on Wrong Port</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The monitor is knocking on a door that doesn't exist</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97280"/>
            <a:ext cx="4023360" cy="1737360"/>
          </a:xfrm>
          <a:prstGeom prst="rect">
            <a:avLst>
              <a:gd name="adj" fmla="val 2632"/>
            </a:avLst>
          </a:prstGeom>
          <a:solidFill>
            <a:srgbClr val="162535"/>
          </a:solidFill>
          <a:ln w="25400">
            <a:solidFill>
              <a:srgbClr val="E05C5C"/>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57200" y="1097280"/>
            <a:ext cx="4023360" cy="347472"/>
          </a:xfrm>
          <a:prstGeom prst="rect">
            <a:avLst/>
          </a:prstGeom>
          <a:solidFill>
            <a:srgbClr val="E05C5C"/>
          </a:solidFill>
          <a:ln w="12700">
            <a:solidFill>
              <a:srgbClr val="E05C5C"/>
            </a:solidFill>
            <a:prstDash val="solid"/>
          </a:ln>
        </p:spPr>
      </p:sp>
      <p:sp>
        <p:nvSpPr>
          <p:cNvPr id="8" name="Text 6"/>
          <p:cNvSpPr/>
          <p:nvPr/>
        </p:nvSpPr>
        <p:spPr>
          <a:xfrm>
            <a:off x="548640" y="1124712"/>
            <a:ext cx="3840480" cy="2743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BROKEN</a:t>
            </a:r>
            <a:endParaRPr lang="en-US" sz="1200" dirty="0"/>
          </a:p>
        </p:txBody>
      </p:sp>
      <p:sp>
        <p:nvSpPr>
          <p:cNvPr id="9" name="Text 7"/>
          <p:cNvSpPr/>
          <p:nvPr/>
        </p:nvSpPr>
        <p:spPr>
          <a:xfrm>
            <a:off x="594360" y="1508760"/>
            <a:ext cx="3749040" cy="1234440"/>
          </a:xfrm>
          <a:prstGeom prst="rect">
            <a:avLst/>
          </a:prstGeom>
          <a:noFill/>
          <a:ln/>
        </p:spPr>
        <p:txBody>
          <a:bodyPr wrap="square" lIns="0" tIns="0" rIns="0" bIns="0" rtlCol="0" anchor="ctr"/>
          <a:lstStyle/>
          <a:p>
            <a:pPr indent="0" marL="0">
              <a:buNone/>
            </a:pPr>
            <a:r>
              <a:rPr lang="en-US" sz="1200" dirty="0">
                <a:solidFill>
                  <a:srgbClr val="E05C5C"/>
                </a:solidFill>
                <a:latin typeface="Consolas" pitchFamily="34" charset="0"/>
                <a:ea typeface="Consolas" pitchFamily="34" charset="-122"/>
                <a:cs typeface="Consolas" pitchFamily="34" charset="-120"/>
              </a:rPr>
              <a:t>port = 8080  # WRONG</a:t>
            </a:r>
            <a:endParaRPr lang="en-US" sz="1200" dirty="0"/>
          </a:p>
          <a:p>
            <a:pPr indent="0" marL="0">
              <a:buNone/>
            </a:pPr>
            <a:endParaRPr lang="en-US" sz="1200" dirty="0"/>
          </a:p>
          <a:p>
            <a:pPr indent="0" marL="0">
              <a:buNone/>
            </a:pPr>
            <a:r>
              <a:rPr lang="en-US" sz="1200" dirty="0">
                <a:solidFill>
                  <a:srgbClr val="E05C5C"/>
                </a:solidFill>
                <a:latin typeface="Consolas" pitchFamily="34" charset="0"/>
                <a:ea typeface="Consolas" pitchFamily="34" charset="-122"/>
                <a:cs typeface="Consolas" pitchFamily="34" charset="-120"/>
              </a:rPr>
              <a:t>App listens on port 80.</a:t>
            </a:r>
            <a:endParaRPr lang="en-US" sz="1200" dirty="0"/>
          </a:p>
          <a:p>
            <a:pPr indent="0" marL="0">
              <a:buNone/>
            </a:pPr>
            <a:r>
              <a:rPr lang="en-US" sz="1200" dirty="0">
                <a:solidFill>
                  <a:srgbClr val="E05C5C"/>
                </a:solidFill>
                <a:latin typeface="Consolas" pitchFamily="34" charset="0"/>
                <a:ea typeface="Consolas" pitchFamily="34" charset="-122"/>
                <a:cs typeface="Consolas" pitchFamily="34" charset="-120"/>
              </a:rPr>
              <a:t>Nothing answers on 8080.</a:t>
            </a:r>
            <a:endParaRPr lang="en-US" sz="1200" dirty="0"/>
          </a:p>
        </p:txBody>
      </p:sp>
      <p:sp>
        <p:nvSpPr>
          <p:cNvPr id="10" name="Shape 8"/>
          <p:cNvSpPr/>
          <p:nvPr/>
        </p:nvSpPr>
        <p:spPr>
          <a:xfrm>
            <a:off x="4846320" y="1097280"/>
            <a:ext cx="4023360" cy="1737360"/>
          </a:xfrm>
          <a:prstGeom prst="rect">
            <a:avLst>
              <a:gd name="adj" fmla="val 2632"/>
            </a:avLst>
          </a:prstGeom>
          <a:solidFill>
            <a:srgbClr val="162535"/>
          </a:solidFill>
          <a:ln w="25400">
            <a:solidFill>
              <a:srgbClr val="4CAF7D"/>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846320" y="1097280"/>
            <a:ext cx="4023360" cy="347472"/>
          </a:xfrm>
          <a:prstGeom prst="rect">
            <a:avLst/>
          </a:prstGeom>
          <a:solidFill>
            <a:srgbClr val="4CAF7D"/>
          </a:solidFill>
          <a:ln w="12700">
            <a:solidFill>
              <a:srgbClr val="4CAF7D"/>
            </a:solidFill>
            <a:prstDash val="solid"/>
          </a:ln>
        </p:spPr>
      </p:sp>
      <p:sp>
        <p:nvSpPr>
          <p:cNvPr id="12" name="Text 10"/>
          <p:cNvSpPr/>
          <p:nvPr/>
        </p:nvSpPr>
        <p:spPr>
          <a:xfrm>
            <a:off x="4937760" y="1124712"/>
            <a:ext cx="3840480" cy="2743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FIXED</a:t>
            </a:r>
            <a:endParaRPr lang="en-US" sz="1200" dirty="0"/>
          </a:p>
        </p:txBody>
      </p:sp>
      <p:sp>
        <p:nvSpPr>
          <p:cNvPr id="13" name="Text 11"/>
          <p:cNvSpPr/>
          <p:nvPr/>
        </p:nvSpPr>
        <p:spPr>
          <a:xfrm>
            <a:off x="4983480" y="1508760"/>
            <a:ext cx="3749040" cy="1234440"/>
          </a:xfrm>
          <a:prstGeom prst="rect">
            <a:avLst/>
          </a:prstGeom>
          <a:noFill/>
          <a:ln/>
        </p:spPr>
        <p:txBody>
          <a:bodyPr wrap="square" lIns="0" tIns="0" rIns="0" bIns="0" rtlCol="0" anchor="ctr"/>
          <a:lstStyle/>
          <a:p>
            <a:pPr indent="0" marL="0">
              <a:buNone/>
            </a:pPr>
            <a:r>
              <a:rPr lang="en-US" sz="1200" dirty="0">
                <a:solidFill>
                  <a:srgbClr val="4CAF7D"/>
                </a:solidFill>
                <a:latin typeface="Consolas" pitchFamily="34" charset="0"/>
                <a:ea typeface="Consolas" pitchFamily="34" charset="-122"/>
                <a:cs typeface="Consolas" pitchFamily="34" charset="-120"/>
              </a:rPr>
              <a:t>port = 80    # CORRECT</a:t>
            </a:r>
            <a:endParaRPr lang="en-US" sz="1200" dirty="0"/>
          </a:p>
          <a:p>
            <a:pPr indent="0" marL="0">
              <a:buNone/>
            </a:pPr>
            <a:endParaRPr lang="en-US" sz="1200" dirty="0"/>
          </a:p>
          <a:p>
            <a:pPr indent="0" marL="0">
              <a:buNone/>
            </a:pPr>
            <a:r>
              <a:rPr lang="en-US" sz="1200" dirty="0">
                <a:solidFill>
                  <a:srgbClr val="4CAF7D"/>
                </a:solidFill>
                <a:latin typeface="Consolas" pitchFamily="34" charset="0"/>
                <a:ea typeface="Consolas" pitchFamily="34" charset="-122"/>
                <a:cs typeface="Consolas" pitchFamily="34" charset="-120"/>
              </a:rPr>
              <a:t>Matches the app's actual</a:t>
            </a:r>
            <a:endParaRPr lang="en-US" sz="1200" dirty="0"/>
          </a:p>
          <a:p>
            <a:pPr indent="0" marL="0">
              <a:buNone/>
            </a:pPr>
            <a:r>
              <a:rPr lang="en-US" sz="1200" dirty="0">
                <a:solidFill>
                  <a:srgbClr val="4CAF7D"/>
                </a:solidFill>
                <a:latin typeface="Consolas" pitchFamily="34" charset="0"/>
                <a:ea typeface="Consolas" pitchFamily="34" charset="-122"/>
                <a:cs typeface="Consolas" pitchFamily="34" charset="-120"/>
              </a:rPr>
              <a:t>listening port.</a:t>
            </a:r>
            <a:endParaRPr lang="en-US" sz="1200" dirty="0"/>
          </a:p>
        </p:txBody>
      </p:sp>
      <p:sp>
        <p:nvSpPr>
          <p:cNvPr id="14" name="Shape 12"/>
          <p:cNvSpPr/>
          <p:nvPr/>
        </p:nvSpPr>
        <p:spPr>
          <a:xfrm>
            <a:off x="457200" y="2971800"/>
            <a:ext cx="8229600" cy="777240"/>
          </a:xfrm>
          <a:prstGeom prst="rect">
            <a:avLst>
              <a:gd name="adj" fmla="val 5882"/>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640080" y="3017520"/>
            <a:ext cx="786384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How do you know the correct port?</a:t>
            </a:r>
            <a:endParaRPr lang="en-US" sz="1200" dirty="0"/>
          </a:p>
        </p:txBody>
      </p:sp>
      <p:sp>
        <p:nvSpPr>
          <p:cNvPr id="16" name="Text 14"/>
          <p:cNvSpPr/>
          <p:nvPr/>
        </p:nvSpPr>
        <p:spPr>
          <a:xfrm>
            <a:off x="640080" y="3291840"/>
            <a:ext cx="7863840" cy="41148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1. Security group inbound rules — aws ec2 describe-security-groups (most authoritative)</a:t>
            </a: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2. Incident runbook — should document the app's serving port</a:t>
            </a: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3. Convention — port 80 is standard HTTP; 8080 on a production service should raise suspicion</a:t>
            </a:r>
            <a:endParaRPr lang="en-US" sz="1100" dirty="0"/>
          </a:p>
        </p:txBody>
      </p:sp>
      <p:sp>
        <p:nvSpPr>
          <p:cNvPr id="17" name="Shape 15"/>
          <p:cNvSpPr/>
          <p:nvPr/>
        </p:nvSpPr>
        <p:spPr>
          <a:xfrm>
            <a:off x="457200" y="3858768"/>
            <a:ext cx="8229600" cy="640080"/>
          </a:xfrm>
          <a:prstGeom prst="rect">
            <a:avLst>
              <a:gd name="adj" fmla="val 7143"/>
            </a:avLst>
          </a:prstGeom>
          <a:solidFill>
            <a:srgbClr val="162535"/>
          </a:solidFill>
          <a:ln w="12700">
            <a:solidFill>
              <a:srgbClr val="E05C5C"/>
            </a:solidFill>
            <a:prstDash val="solid"/>
          </a:ln>
          <a:effectLst>
            <a:outerShdw sx="100000" sy="100000" kx="0" ky="0" algn="bl" rotWithShape="0" blurRad="101600" dist="38100" dir="8100000">
              <a:srgbClr val="000000">
                <a:alpha val="18000"/>
              </a:srgbClr>
            </a:outerShdw>
          </a:effectLst>
        </p:spPr>
      </p:sp>
      <p:pic>
        <p:nvPicPr>
          <p:cNvPr id="18" name="Image 0" descr="preencoded.png">    </p:cNvPr>
          <p:cNvPicPr>
            <a:picLocks noChangeAspect="1"/>
          </p:cNvPicPr>
          <p:nvPr/>
        </p:nvPicPr>
        <p:blipFill>
          <a:blip r:embed="rId1"/>
          <a:stretch>
            <a:fillRect/>
          </a:stretch>
        </p:blipFill>
        <p:spPr>
          <a:xfrm>
            <a:off x="685800" y="3977640"/>
            <a:ext cx="365760" cy="365760"/>
          </a:xfrm>
          <a:prstGeom prst="rect">
            <a:avLst/>
          </a:prstGeom>
        </p:spPr>
      </p:pic>
      <p:sp>
        <p:nvSpPr>
          <p:cNvPr id="19" name="Text 16"/>
          <p:cNvSpPr/>
          <p:nvPr/>
        </p:nvSpPr>
        <p:spPr>
          <a:xfrm>
            <a:off x="1188720" y="3913632"/>
            <a:ext cx="7223760" cy="50292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Impact: Route 53 gets connection refused on every health check attempt. The endpoint is always reported as unhealthy — but because the record isn't linked to the health check (Bug 2), this doesn't even trigger failover. The wrong port is monitoring nothing meaningful.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Bugs 2 &amp; 4 — Missing Failover Routing Policies</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Route 53 has no idea these records are a failover pair</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Text 4"/>
          <p:cNvSpPr/>
          <p:nvPr/>
        </p:nvSpPr>
        <p:spPr>
          <a:xfrm>
            <a:off x="457200" y="1051560"/>
            <a:ext cx="8229600" cy="411480"/>
          </a:xfrm>
          <a:prstGeom prst="rect">
            <a:avLst/>
          </a:prstGeom>
          <a:noFill/>
          <a:ln/>
        </p:spPr>
        <p:txBody>
          <a:bodyPr wrap="square" lIns="0" tIns="0" rIns="0" bIns="0" rtlCol="0" anchor="ctr"/>
          <a:lstStyle/>
          <a:p>
            <a:pPr indent="0" marL="0">
              <a:buNone/>
            </a:pPr>
            <a:r>
              <a:rPr lang="en-US" sz="1300" dirty="0">
                <a:solidFill>
                  <a:srgbClr val="E8F4F8"/>
                </a:solidFill>
                <a:latin typeface="Calibri" pitchFamily="34" charset="0"/>
                <a:ea typeface="Calibri" pitchFamily="34" charset="-122"/>
                <a:cs typeface="Calibri" pitchFamily="34" charset="-120"/>
              </a:rPr>
              <a:t>Both the primary AND secondary records were plain A records with no failover configuration. Route 53 saw two unrelated DNS records, not a failover pair.</a:t>
            </a:r>
            <a:endParaRPr lang="en-US" sz="1300" dirty="0"/>
          </a:p>
        </p:txBody>
      </p:sp>
      <p:sp>
        <p:nvSpPr>
          <p:cNvPr id="7" name="Shape 5"/>
          <p:cNvSpPr/>
          <p:nvPr/>
        </p:nvSpPr>
        <p:spPr>
          <a:xfrm>
            <a:off x="457200" y="1572768"/>
            <a:ext cx="8229600" cy="804672"/>
          </a:xfrm>
          <a:prstGeom prst="rect">
            <a:avLst>
              <a:gd name="adj" fmla="val 5682"/>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457200" y="1572768"/>
            <a:ext cx="2194560" cy="804672"/>
          </a:xfrm>
          <a:prstGeom prst="rect">
            <a:avLst/>
          </a:prstGeom>
          <a:solidFill>
            <a:srgbClr val="1E3A4F"/>
          </a:solidFill>
          <a:ln w="12700">
            <a:solidFill>
              <a:srgbClr val="0E9AA7"/>
            </a:solidFill>
            <a:prstDash val="solid"/>
          </a:ln>
        </p:spPr>
      </p:sp>
      <p:sp>
        <p:nvSpPr>
          <p:cNvPr id="9" name="Text 7"/>
          <p:cNvSpPr/>
          <p:nvPr/>
        </p:nvSpPr>
        <p:spPr>
          <a:xfrm>
            <a:off x="502920" y="1645920"/>
            <a:ext cx="2103120" cy="320040"/>
          </a:xfrm>
          <a:prstGeom prst="rect">
            <a:avLst/>
          </a:prstGeom>
          <a:noFill/>
          <a:ln/>
        </p:spPr>
        <p:txBody>
          <a:bodyPr wrap="square" lIns="0" tIns="0" rIns="0" bIns="0" rtlCol="0" anchor="ctr"/>
          <a:lstStyle/>
          <a:p>
            <a:pPr indent="0" marL="0">
              <a:buNone/>
            </a:pPr>
            <a:r>
              <a:rPr lang="en-US" sz="1000" b="1" dirty="0">
                <a:solidFill>
                  <a:srgbClr val="0E9AA7"/>
                </a:solidFill>
                <a:latin typeface="Consolas" pitchFamily="34" charset="0"/>
                <a:ea typeface="Consolas" pitchFamily="34" charset="-122"/>
                <a:cs typeface="Consolas" pitchFamily="34" charset="-120"/>
              </a:rPr>
              <a:t>failover_routing_policy</a:t>
            </a:r>
            <a:endParaRPr lang="en-US" sz="1000" dirty="0"/>
          </a:p>
        </p:txBody>
      </p:sp>
      <p:sp>
        <p:nvSpPr>
          <p:cNvPr id="10" name="Text 8"/>
          <p:cNvSpPr/>
          <p:nvPr/>
        </p:nvSpPr>
        <p:spPr>
          <a:xfrm>
            <a:off x="502920" y="1965960"/>
            <a:ext cx="2103120" cy="320040"/>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 { type = "PRIMARY" }</a:t>
            </a:r>
            <a:endParaRPr lang="en-US" sz="1000" dirty="0"/>
          </a:p>
        </p:txBody>
      </p:sp>
      <p:sp>
        <p:nvSpPr>
          <p:cNvPr id="11" name="Text 9"/>
          <p:cNvSpPr/>
          <p:nvPr/>
        </p:nvSpPr>
        <p:spPr>
          <a:xfrm>
            <a:off x="2788920" y="1737360"/>
            <a:ext cx="5760720" cy="5029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Declares this as the preferred record. Route 53 stops serving it when the health check fails.</a:t>
            </a:r>
            <a:endParaRPr lang="en-US" sz="1200" dirty="0"/>
          </a:p>
        </p:txBody>
      </p:sp>
      <p:sp>
        <p:nvSpPr>
          <p:cNvPr id="12" name="Shape 10"/>
          <p:cNvSpPr/>
          <p:nvPr/>
        </p:nvSpPr>
        <p:spPr>
          <a:xfrm>
            <a:off x="457200" y="2468880"/>
            <a:ext cx="8229600" cy="804672"/>
          </a:xfrm>
          <a:prstGeom prst="rect">
            <a:avLst>
              <a:gd name="adj" fmla="val 5682"/>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57200" y="2468880"/>
            <a:ext cx="2194560" cy="804672"/>
          </a:xfrm>
          <a:prstGeom prst="rect">
            <a:avLst/>
          </a:prstGeom>
          <a:solidFill>
            <a:srgbClr val="1E3A4F"/>
          </a:solidFill>
          <a:ln w="12700">
            <a:solidFill>
              <a:srgbClr val="0E9AA7"/>
            </a:solidFill>
            <a:prstDash val="solid"/>
          </a:ln>
        </p:spPr>
      </p:sp>
      <p:sp>
        <p:nvSpPr>
          <p:cNvPr id="14" name="Text 12"/>
          <p:cNvSpPr/>
          <p:nvPr/>
        </p:nvSpPr>
        <p:spPr>
          <a:xfrm>
            <a:off x="502920" y="2542032"/>
            <a:ext cx="2103120" cy="320040"/>
          </a:xfrm>
          <a:prstGeom prst="rect">
            <a:avLst/>
          </a:prstGeom>
          <a:noFill/>
          <a:ln/>
        </p:spPr>
        <p:txBody>
          <a:bodyPr wrap="square" lIns="0" tIns="0" rIns="0" bIns="0" rtlCol="0" anchor="ctr"/>
          <a:lstStyle/>
          <a:p>
            <a:pPr indent="0" marL="0">
              <a:buNone/>
            </a:pPr>
            <a:r>
              <a:rPr lang="en-US" sz="1000" b="1" dirty="0">
                <a:solidFill>
                  <a:srgbClr val="0E9AA7"/>
                </a:solidFill>
                <a:latin typeface="Consolas" pitchFamily="34" charset="0"/>
                <a:ea typeface="Consolas" pitchFamily="34" charset="-122"/>
                <a:cs typeface="Consolas" pitchFamily="34" charset="-120"/>
              </a:rPr>
              <a:t>set_identifier</a:t>
            </a:r>
            <a:endParaRPr lang="en-US" sz="1000" dirty="0"/>
          </a:p>
        </p:txBody>
      </p:sp>
      <p:sp>
        <p:nvSpPr>
          <p:cNvPr id="15" name="Text 13"/>
          <p:cNvSpPr/>
          <p:nvPr/>
        </p:nvSpPr>
        <p:spPr>
          <a:xfrm>
            <a:off x="502920" y="2862072"/>
            <a:ext cx="2103120" cy="320040"/>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 "primary"</a:t>
            </a:r>
            <a:endParaRPr lang="en-US" sz="1000" dirty="0"/>
          </a:p>
        </p:txBody>
      </p:sp>
      <p:sp>
        <p:nvSpPr>
          <p:cNvPr id="16" name="Text 14"/>
          <p:cNvSpPr/>
          <p:nvPr/>
        </p:nvSpPr>
        <p:spPr>
          <a:xfrm>
            <a:off x="2788920" y="2633472"/>
            <a:ext cx="5760720" cy="5029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Unique label to distinguish this record from the secondary — required when two records share the same name and type.</a:t>
            </a:r>
            <a:endParaRPr lang="en-US" sz="1200" dirty="0"/>
          </a:p>
        </p:txBody>
      </p:sp>
      <p:sp>
        <p:nvSpPr>
          <p:cNvPr id="17" name="Shape 15"/>
          <p:cNvSpPr/>
          <p:nvPr/>
        </p:nvSpPr>
        <p:spPr>
          <a:xfrm>
            <a:off x="457200" y="3364992"/>
            <a:ext cx="8229600" cy="804672"/>
          </a:xfrm>
          <a:prstGeom prst="rect">
            <a:avLst>
              <a:gd name="adj" fmla="val 5682"/>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457200" y="3364992"/>
            <a:ext cx="2194560" cy="804672"/>
          </a:xfrm>
          <a:prstGeom prst="rect">
            <a:avLst/>
          </a:prstGeom>
          <a:solidFill>
            <a:srgbClr val="1E3A4F"/>
          </a:solidFill>
          <a:ln w="12700">
            <a:solidFill>
              <a:srgbClr val="0E9AA7"/>
            </a:solidFill>
            <a:prstDash val="solid"/>
          </a:ln>
        </p:spPr>
      </p:sp>
      <p:sp>
        <p:nvSpPr>
          <p:cNvPr id="19" name="Text 17"/>
          <p:cNvSpPr/>
          <p:nvPr/>
        </p:nvSpPr>
        <p:spPr>
          <a:xfrm>
            <a:off x="502920" y="3438144"/>
            <a:ext cx="2103120" cy="320040"/>
          </a:xfrm>
          <a:prstGeom prst="rect">
            <a:avLst/>
          </a:prstGeom>
          <a:noFill/>
          <a:ln/>
        </p:spPr>
        <p:txBody>
          <a:bodyPr wrap="square" lIns="0" tIns="0" rIns="0" bIns="0" rtlCol="0" anchor="ctr"/>
          <a:lstStyle/>
          <a:p>
            <a:pPr indent="0" marL="0">
              <a:buNone/>
            </a:pPr>
            <a:r>
              <a:rPr lang="en-US" sz="1000" b="1" dirty="0">
                <a:solidFill>
                  <a:srgbClr val="0E9AA7"/>
                </a:solidFill>
                <a:latin typeface="Consolas" pitchFamily="34" charset="0"/>
                <a:ea typeface="Consolas" pitchFamily="34" charset="-122"/>
                <a:cs typeface="Consolas" pitchFamily="34" charset="-120"/>
              </a:rPr>
              <a:t>health_check_id</a:t>
            </a:r>
            <a:endParaRPr lang="en-US" sz="1000" dirty="0"/>
          </a:p>
        </p:txBody>
      </p:sp>
      <p:sp>
        <p:nvSpPr>
          <p:cNvPr id="20" name="Text 18"/>
          <p:cNvSpPr/>
          <p:nvPr/>
        </p:nvSpPr>
        <p:spPr>
          <a:xfrm>
            <a:off x="502920" y="3758184"/>
            <a:ext cx="2103120" cy="320040"/>
          </a:xfrm>
          <a:prstGeom prst="rect">
            <a:avLst/>
          </a:prstGeom>
          <a:noFill/>
          <a:ln/>
        </p:spPr>
        <p:txBody>
          <a:bodyPr wrap="square" lIns="0" tIns="0" rIns="0" bIns="0" rtlCol="0" anchor="ctr"/>
          <a:lstStyle/>
          <a:p>
            <a:pPr indent="0" marL="0">
              <a:buNone/>
            </a:pPr>
            <a:r>
              <a:rPr lang="en-US" sz="1000" dirty="0">
                <a:solidFill>
                  <a:srgbClr val="F5C842"/>
                </a:solidFill>
                <a:latin typeface="Consolas" pitchFamily="34" charset="0"/>
                <a:ea typeface="Consolas" pitchFamily="34" charset="-122"/>
                <a:cs typeface="Consolas" pitchFamily="34" charset="-120"/>
              </a:rPr>
              <a:t>= aws_route53_health_check.primary.id</a:t>
            </a:r>
            <a:endParaRPr lang="en-US" sz="1000" dirty="0"/>
          </a:p>
        </p:txBody>
      </p:sp>
      <p:sp>
        <p:nvSpPr>
          <p:cNvPr id="21" name="Text 19"/>
          <p:cNvSpPr/>
          <p:nvPr/>
        </p:nvSpPr>
        <p:spPr>
          <a:xfrm>
            <a:off x="2788920" y="3529584"/>
            <a:ext cx="5760720" cy="5029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The wire that connects this record to the health check. Without it, Route 53 never stops serving the primary.</a:t>
            </a:r>
            <a:endParaRPr lang="en-US" sz="1200" dirty="0"/>
          </a:p>
        </p:txBody>
      </p:sp>
      <p:sp>
        <p:nvSpPr>
          <p:cNvPr id="22" name="Shape 20"/>
          <p:cNvSpPr/>
          <p:nvPr/>
        </p:nvSpPr>
        <p:spPr>
          <a:xfrm>
            <a:off x="457200" y="4297680"/>
            <a:ext cx="8229600" cy="658368"/>
          </a:xfrm>
          <a:prstGeom prst="rect">
            <a:avLst>
              <a:gd name="adj" fmla="val 6944"/>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640080" y="4343400"/>
            <a:ext cx="7863840" cy="256032"/>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Note on the secondary record:</a:t>
            </a:r>
            <a:endParaRPr lang="en-US" sz="1200" dirty="0"/>
          </a:p>
        </p:txBody>
      </p:sp>
      <p:sp>
        <p:nvSpPr>
          <p:cNvPr id="24" name="Text 22"/>
          <p:cNvSpPr/>
          <p:nvPr/>
        </p:nvSpPr>
        <p:spPr>
          <a:xfrm>
            <a:off x="640080" y="4590288"/>
            <a:ext cx="7863840" cy="32004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The secondary needs failover_routing_policy { type = "SECONDARY" } and set_identifier = "secondary" — but deliberately has NO health_check_id. It is the last resort and is served unconditionally when the primary is unhealthy.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 3 — TTL Too High on Secondary Record</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Even if failover works, clients stay stuck for an hour</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97280"/>
            <a:ext cx="8229600" cy="1920240"/>
          </a:xfrm>
          <a:prstGeom prst="rect">
            <a:avLst>
              <a:gd name="adj" fmla="val 2381"/>
            </a:avLst>
          </a:prstGeom>
          <a:solidFill>
            <a:srgbClr val="162535"/>
          </a:solidFill>
          <a:ln w="25400">
            <a:solidFill>
              <a:srgbClr val="E05C5C"/>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640080" y="1170432"/>
            <a:ext cx="7863840" cy="320040"/>
          </a:xfrm>
          <a:prstGeom prst="rect">
            <a:avLst/>
          </a:prstGeom>
          <a:noFill/>
          <a:ln/>
        </p:spPr>
        <p:txBody>
          <a:bodyPr wrap="square" lIns="0" tIns="0" rIns="0" bIns="0" rtlCol="0" anchor="ctr"/>
          <a:lstStyle/>
          <a:p>
            <a:pPr indent="0" marL="0">
              <a:buNone/>
            </a:pPr>
            <a:r>
              <a:rPr lang="en-US" sz="1300" b="1" dirty="0">
                <a:solidFill>
                  <a:srgbClr val="E05C5C"/>
                </a:solidFill>
                <a:latin typeface="Calibri" pitchFamily="34" charset="0"/>
                <a:ea typeface="Calibri" pitchFamily="34" charset="-122"/>
                <a:cs typeface="Calibri" pitchFamily="34" charset="-120"/>
              </a:rPr>
              <a:t>What happens with TTL = 3600 (1 hour) during a failover event:</a:t>
            </a:r>
            <a:endParaRPr lang="en-US" sz="1300" dirty="0"/>
          </a:p>
        </p:txBody>
      </p:sp>
      <p:sp>
        <p:nvSpPr>
          <p:cNvPr id="8" name="Text 6"/>
          <p:cNvSpPr/>
          <p:nvPr/>
        </p:nvSpPr>
        <p:spPr>
          <a:xfrm>
            <a:off x="640080" y="1536192"/>
            <a:ext cx="731520" cy="292608"/>
          </a:xfrm>
          <a:prstGeom prst="rect">
            <a:avLst/>
          </a:prstGeom>
          <a:noFill/>
          <a:ln/>
        </p:spPr>
        <p:txBody>
          <a:bodyPr wrap="square" lIns="0" tIns="0" rIns="0" bIns="0" rtlCol="0" anchor="ctr"/>
          <a:lstStyle/>
          <a:p>
            <a:pPr indent="0" marL="0">
              <a:buNone/>
            </a:pPr>
            <a:r>
              <a:rPr lang="en-US" sz="1100" b="1" dirty="0">
                <a:solidFill>
                  <a:srgbClr val="0E9AA7"/>
                </a:solidFill>
                <a:latin typeface="Consolas" pitchFamily="34" charset="0"/>
                <a:ea typeface="Consolas" pitchFamily="34" charset="-122"/>
                <a:cs typeface="Consolas" pitchFamily="34" charset="-120"/>
              </a:rPr>
              <a:t>T+0</a:t>
            </a:r>
            <a:endParaRPr lang="en-US" sz="1100" dirty="0"/>
          </a:p>
        </p:txBody>
      </p:sp>
      <p:sp>
        <p:nvSpPr>
          <p:cNvPr id="9" name="Shape 7"/>
          <p:cNvSpPr/>
          <p:nvPr/>
        </p:nvSpPr>
        <p:spPr>
          <a:xfrm>
            <a:off x="1417320" y="1645920"/>
            <a:ext cx="274320" cy="73152"/>
          </a:xfrm>
          <a:prstGeom prst="rect">
            <a:avLst/>
          </a:prstGeom>
          <a:solidFill>
            <a:srgbClr val="94A3B8"/>
          </a:solidFill>
          <a:ln w="12700">
            <a:solidFill>
              <a:srgbClr val="94A3B8"/>
            </a:solidFill>
            <a:prstDash val="solid"/>
          </a:ln>
        </p:spPr>
      </p:sp>
      <p:sp>
        <p:nvSpPr>
          <p:cNvPr id="10" name="Text 8"/>
          <p:cNvSpPr/>
          <p:nvPr/>
        </p:nvSpPr>
        <p:spPr>
          <a:xfrm>
            <a:off x="1783080" y="1536192"/>
            <a:ext cx="667512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User queries DNS → gets primary IP → caches it for 3600 seconds</a:t>
            </a:r>
            <a:endParaRPr lang="en-US" sz="1100" dirty="0"/>
          </a:p>
        </p:txBody>
      </p:sp>
      <p:sp>
        <p:nvSpPr>
          <p:cNvPr id="11" name="Text 9"/>
          <p:cNvSpPr/>
          <p:nvPr/>
        </p:nvSpPr>
        <p:spPr>
          <a:xfrm>
            <a:off x="640080" y="1883664"/>
            <a:ext cx="731520" cy="292608"/>
          </a:xfrm>
          <a:prstGeom prst="rect">
            <a:avLst/>
          </a:prstGeom>
          <a:noFill/>
          <a:ln/>
        </p:spPr>
        <p:txBody>
          <a:bodyPr wrap="square" lIns="0" tIns="0" rIns="0" bIns="0" rtlCol="0" anchor="ctr"/>
          <a:lstStyle/>
          <a:p>
            <a:pPr indent="0" marL="0">
              <a:buNone/>
            </a:pPr>
            <a:r>
              <a:rPr lang="en-US" sz="1100" b="1" dirty="0">
                <a:solidFill>
                  <a:srgbClr val="0E9AA7"/>
                </a:solidFill>
                <a:latin typeface="Consolas" pitchFamily="34" charset="0"/>
                <a:ea typeface="Consolas" pitchFamily="34" charset="-122"/>
                <a:cs typeface="Consolas" pitchFamily="34" charset="-120"/>
              </a:rPr>
              <a:t>T+5m</a:t>
            </a:r>
            <a:endParaRPr lang="en-US" sz="1100" dirty="0"/>
          </a:p>
        </p:txBody>
      </p:sp>
      <p:sp>
        <p:nvSpPr>
          <p:cNvPr id="12" name="Shape 10"/>
          <p:cNvSpPr/>
          <p:nvPr/>
        </p:nvSpPr>
        <p:spPr>
          <a:xfrm>
            <a:off x="1417320" y="1993392"/>
            <a:ext cx="274320" cy="73152"/>
          </a:xfrm>
          <a:prstGeom prst="rect">
            <a:avLst/>
          </a:prstGeom>
          <a:solidFill>
            <a:srgbClr val="94A3B8"/>
          </a:solidFill>
          <a:ln w="12700">
            <a:solidFill>
              <a:srgbClr val="94A3B8"/>
            </a:solidFill>
            <a:prstDash val="solid"/>
          </a:ln>
        </p:spPr>
      </p:sp>
      <p:sp>
        <p:nvSpPr>
          <p:cNvPr id="13" name="Text 11"/>
          <p:cNvSpPr/>
          <p:nvPr/>
        </p:nvSpPr>
        <p:spPr>
          <a:xfrm>
            <a:off x="1783080" y="1883664"/>
            <a:ext cx="667512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Primary goes down. Route 53 detects failure and switches to secondary.</a:t>
            </a:r>
            <a:endParaRPr lang="en-US" sz="1100" dirty="0"/>
          </a:p>
        </p:txBody>
      </p:sp>
      <p:sp>
        <p:nvSpPr>
          <p:cNvPr id="14" name="Text 12"/>
          <p:cNvSpPr/>
          <p:nvPr/>
        </p:nvSpPr>
        <p:spPr>
          <a:xfrm>
            <a:off x="640080" y="2231136"/>
            <a:ext cx="731520" cy="292608"/>
          </a:xfrm>
          <a:prstGeom prst="rect">
            <a:avLst/>
          </a:prstGeom>
          <a:noFill/>
          <a:ln/>
        </p:spPr>
        <p:txBody>
          <a:bodyPr wrap="square" lIns="0" tIns="0" rIns="0" bIns="0" rtlCol="0" anchor="ctr"/>
          <a:lstStyle/>
          <a:p>
            <a:pPr indent="0" marL="0">
              <a:buNone/>
            </a:pPr>
            <a:r>
              <a:rPr lang="en-US" sz="1100" b="1" dirty="0">
                <a:solidFill>
                  <a:srgbClr val="0E9AA7"/>
                </a:solidFill>
                <a:latin typeface="Consolas" pitchFamily="34" charset="0"/>
                <a:ea typeface="Consolas" pitchFamily="34" charset="-122"/>
                <a:cs typeface="Consolas" pitchFamily="34" charset="-120"/>
              </a:rPr>
              <a:t>T+10m</a:t>
            </a:r>
            <a:endParaRPr lang="en-US" sz="1100" dirty="0"/>
          </a:p>
        </p:txBody>
      </p:sp>
      <p:sp>
        <p:nvSpPr>
          <p:cNvPr id="15" name="Shape 13"/>
          <p:cNvSpPr/>
          <p:nvPr/>
        </p:nvSpPr>
        <p:spPr>
          <a:xfrm>
            <a:off x="1417320" y="2340864"/>
            <a:ext cx="274320" cy="73152"/>
          </a:xfrm>
          <a:prstGeom prst="rect">
            <a:avLst/>
          </a:prstGeom>
          <a:solidFill>
            <a:srgbClr val="E05C5C"/>
          </a:solidFill>
          <a:ln w="12700">
            <a:solidFill>
              <a:srgbClr val="E05C5C"/>
            </a:solidFill>
            <a:prstDash val="solid"/>
          </a:ln>
        </p:spPr>
      </p:sp>
      <p:sp>
        <p:nvSpPr>
          <p:cNvPr id="16" name="Text 14"/>
          <p:cNvSpPr/>
          <p:nvPr/>
        </p:nvSpPr>
        <p:spPr>
          <a:xfrm>
            <a:off x="1783080" y="2231136"/>
            <a:ext cx="6675120" cy="292608"/>
          </a:xfrm>
          <a:prstGeom prst="rect">
            <a:avLst/>
          </a:prstGeom>
          <a:noFill/>
          <a:ln/>
        </p:spPr>
        <p:txBody>
          <a:bodyPr wrap="square" lIns="0" tIns="0" rIns="0" bIns="0" rtlCol="0" anchor="ctr"/>
          <a:lstStyle/>
          <a:p>
            <a:pPr indent="0" marL="0">
              <a:buNone/>
            </a:pPr>
            <a:r>
              <a:rPr lang="en-US" sz="1100" dirty="0">
                <a:solidFill>
                  <a:srgbClr val="E05C5C"/>
                </a:solidFill>
                <a:latin typeface="Calibri" pitchFamily="34" charset="0"/>
                <a:ea typeface="Calibri" pitchFamily="34" charset="-122"/>
                <a:cs typeface="Calibri" pitchFamily="34" charset="-120"/>
              </a:rPr>
              <a:t>User's resolver still has the old answer cached. Won't re-query for 50 more minutes.</a:t>
            </a:r>
            <a:endParaRPr lang="en-US" sz="1100" dirty="0"/>
          </a:p>
        </p:txBody>
      </p:sp>
      <p:sp>
        <p:nvSpPr>
          <p:cNvPr id="17" name="Text 15"/>
          <p:cNvSpPr/>
          <p:nvPr/>
        </p:nvSpPr>
        <p:spPr>
          <a:xfrm>
            <a:off x="640080" y="2578608"/>
            <a:ext cx="731520" cy="292608"/>
          </a:xfrm>
          <a:prstGeom prst="rect">
            <a:avLst/>
          </a:prstGeom>
          <a:noFill/>
          <a:ln/>
        </p:spPr>
        <p:txBody>
          <a:bodyPr wrap="square" lIns="0" tIns="0" rIns="0" bIns="0" rtlCol="0" anchor="ctr"/>
          <a:lstStyle/>
          <a:p>
            <a:pPr indent="0" marL="0">
              <a:buNone/>
            </a:pPr>
            <a:r>
              <a:rPr lang="en-US" sz="1100" b="1" dirty="0">
                <a:solidFill>
                  <a:srgbClr val="0E9AA7"/>
                </a:solidFill>
                <a:latin typeface="Consolas" pitchFamily="34" charset="0"/>
                <a:ea typeface="Consolas" pitchFamily="34" charset="-122"/>
                <a:cs typeface="Consolas" pitchFamily="34" charset="-120"/>
              </a:rPr>
              <a:t>T+60m</a:t>
            </a:r>
            <a:endParaRPr lang="en-US" sz="1100" dirty="0"/>
          </a:p>
        </p:txBody>
      </p:sp>
      <p:sp>
        <p:nvSpPr>
          <p:cNvPr id="18" name="Shape 16"/>
          <p:cNvSpPr/>
          <p:nvPr/>
        </p:nvSpPr>
        <p:spPr>
          <a:xfrm>
            <a:off x="1417320" y="2688336"/>
            <a:ext cx="274320" cy="73152"/>
          </a:xfrm>
          <a:prstGeom prst="rect">
            <a:avLst/>
          </a:prstGeom>
          <a:solidFill>
            <a:srgbClr val="4CAF7D"/>
          </a:solidFill>
          <a:ln w="12700">
            <a:solidFill>
              <a:srgbClr val="4CAF7D"/>
            </a:solidFill>
            <a:prstDash val="solid"/>
          </a:ln>
        </p:spPr>
      </p:sp>
      <p:sp>
        <p:nvSpPr>
          <p:cNvPr id="19" name="Text 17"/>
          <p:cNvSpPr/>
          <p:nvPr/>
        </p:nvSpPr>
        <p:spPr>
          <a:xfrm>
            <a:off x="1783080" y="2578608"/>
            <a:ext cx="6675120" cy="292608"/>
          </a:xfrm>
          <a:prstGeom prst="rect">
            <a:avLst/>
          </a:prstGeom>
          <a:noFill/>
          <a:ln/>
        </p:spPr>
        <p:txBody>
          <a:bodyPr wrap="square" lIns="0" tIns="0" rIns="0" bIns="0" rtlCol="0" anchor="ctr"/>
          <a:lstStyle/>
          <a:p>
            <a:pPr indent="0" marL="0">
              <a:buNone/>
            </a:pPr>
            <a:r>
              <a:rPr lang="en-US" sz="1100" dirty="0">
                <a:solidFill>
                  <a:srgbClr val="4CAF7D"/>
                </a:solidFill>
                <a:latin typeface="Calibri" pitchFamily="34" charset="0"/>
                <a:ea typeface="Calibri" pitchFamily="34" charset="-122"/>
                <a:cs typeface="Calibri" pitchFamily="34" charset="-120"/>
              </a:rPr>
              <a:t>Cache finally expires. User re-queries. Gets secondary IP. Service restored.</a:t>
            </a:r>
            <a:endParaRPr lang="en-US" sz="1100" dirty="0"/>
          </a:p>
        </p:txBody>
      </p:sp>
      <p:sp>
        <p:nvSpPr>
          <p:cNvPr id="20" name="Shape 18"/>
          <p:cNvSpPr/>
          <p:nvPr/>
        </p:nvSpPr>
        <p:spPr>
          <a:xfrm>
            <a:off x="457200" y="3154680"/>
            <a:ext cx="8229600" cy="777240"/>
          </a:xfrm>
          <a:prstGeom prst="rect">
            <a:avLst>
              <a:gd name="adj" fmla="val 5882"/>
            </a:avLst>
          </a:prstGeom>
          <a:solidFill>
            <a:srgbClr val="162535"/>
          </a:solidFill>
          <a:ln w="25400">
            <a:solidFill>
              <a:srgbClr val="4CAF7D"/>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457200" y="3154680"/>
            <a:ext cx="8229600" cy="347472"/>
          </a:xfrm>
          <a:prstGeom prst="rect">
            <a:avLst/>
          </a:prstGeom>
          <a:solidFill>
            <a:srgbClr val="4CAF7D"/>
          </a:solidFill>
          <a:ln w="12700">
            <a:solidFill>
              <a:srgbClr val="4CAF7D"/>
            </a:solidFill>
            <a:prstDash val="solid"/>
          </a:ln>
        </p:spPr>
      </p:sp>
      <p:sp>
        <p:nvSpPr>
          <p:cNvPr id="22" name="Text 20"/>
          <p:cNvSpPr/>
          <p:nvPr/>
        </p:nvSpPr>
        <p:spPr>
          <a:xfrm>
            <a:off x="640080" y="3200400"/>
            <a:ext cx="786384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THE FIX — ttl = 60 on both records</a:t>
            </a:r>
            <a:endParaRPr lang="en-US" sz="1300" dirty="0"/>
          </a:p>
        </p:txBody>
      </p:sp>
      <p:sp>
        <p:nvSpPr>
          <p:cNvPr id="23" name="Text 21"/>
          <p:cNvSpPr/>
          <p:nvPr/>
        </p:nvSpPr>
        <p:spPr>
          <a:xfrm>
            <a:off x="640080" y="3547872"/>
            <a:ext cx="7863840" cy="32004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With a 60-second TTL, clients re-query within one minute of failover and get the secondary IP. That's the sweet spot — fast failover without generating excessive DNS query volume.</a:t>
            </a:r>
            <a:endParaRPr lang="en-US" sz="1200" dirty="0"/>
          </a:p>
        </p:txBody>
      </p:sp>
      <p:sp>
        <p:nvSpPr>
          <p:cNvPr id="24" name="Shape 22"/>
          <p:cNvSpPr/>
          <p:nvPr/>
        </p:nvSpPr>
        <p:spPr>
          <a:xfrm>
            <a:off x="457200" y="4069080"/>
            <a:ext cx="8229600" cy="685800"/>
          </a:xfrm>
          <a:prstGeom prst="rect">
            <a:avLst>
              <a:gd name="adj" fmla="val 6667"/>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pic>
        <p:nvPicPr>
          <p:cNvPr id="25" name="Image 0" descr="preencoded.png">    </p:cNvPr>
          <p:cNvPicPr>
            <a:picLocks noChangeAspect="1"/>
          </p:cNvPicPr>
          <p:nvPr/>
        </p:nvPicPr>
        <p:blipFill>
          <a:blip r:embed="rId1"/>
          <a:stretch>
            <a:fillRect/>
          </a:stretch>
        </p:blipFill>
        <p:spPr>
          <a:xfrm>
            <a:off x="685800" y="4206240"/>
            <a:ext cx="347472" cy="347472"/>
          </a:xfrm>
          <a:prstGeom prst="rect">
            <a:avLst/>
          </a:prstGeom>
        </p:spPr>
      </p:pic>
      <p:sp>
        <p:nvSpPr>
          <p:cNvPr id="26" name="Text 23"/>
          <p:cNvSpPr/>
          <p:nvPr/>
        </p:nvSpPr>
        <p:spPr>
          <a:xfrm>
            <a:off x="1143000" y="4133088"/>
            <a:ext cx="7315200" cy="50292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Real Life: In production, lower TTLs before a planned failover event during a maintenance window. Wait for the old high-TTL values to expire globally, then execute the failover. For unplanned outages, you're at the mercy of whatever TTL was already in the wild.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Bonus Finding — Terraform Race Condition</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The bugs compounded to cause a deployment ordering problem</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Text 4"/>
          <p:cNvSpPr/>
          <p:nvPr/>
        </p:nvSpPr>
        <p:spPr>
          <a:xfrm>
            <a:off x="457200" y="1051560"/>
            <a:ext cx="8229600" cy="411480"/>
          </a:xfrm>
          <a:prstGeom prst="rect">
            <a:avLst/>
          </a:prstGeom>
          <a:noFill/>
          <a:ln/>
        </p:spPr>
        <p:txBody>
          <a:bodyPr wrap="square" lIns="0" tIns="0" rIns="0" bIns="0" rtlCol="0" anchor="ctr"/>
          <a:lstStyle/>
          <a:p>
            <a:pPr indent="0" marL="0">
              <a:buNone/>
            </a:pPr>
            <a:r>
              <a:rPr lang="en-US" sz="1300" dirty="0">
                <a:solidFill>
                  <a:srgbClr val="E8F4F8"/>
                </a:solidFill>
                <a:latin typeface="Calibri" pitchFamily="34" charset="0"/>
                <a:ea typeface="Calibri" pitchFamily="34" charset="-122"/>
                <a:cs typeface="Calibri" pitchFamily="34" charset="-120"/>
              </a:rPr>
              <a:t>During the fix apply, the secondary record failed with InvalidChangeBatch — even though the configuration was correct. This was a Terraform race condition.</a:t>
            </a:r>
            <a:endParaRPr lang="en-US" sz="1300" dirty="0"/>
          </a:p>
        </p:txBody>
      </p:sp>
      <p:sp>
        <p:nvSpPr>
          <p:cNvPr id="7" name="Shape 5"/>
          <p:cNvSpPr/>
          <p:nvPr/>
        </p:nvSpPr>
        <p:spPr>
          <a:xfrm>
            <a:off x="457200" y="1536192"/>
            <a:ext cx="8229600" cy="1463040"/>
          </a:xfrm>
          <a:prstGeom prst="rect">
            <a:avLst>
              <a:gd name="adj" fmla="val 3125"/>
            </a:avLst>
          </a:prstGeom>
          <a:solidFill>
            <a:srgbClr val="162535"/>
          </a:solidFill>
          <a:ln w="25400">
            <a:solidFill>
              <a:srgbClr val="F5C842"/>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640080" y="1600200"/>
            <a:ext cx="7863840" cy="292608"/>
          </a:xfrm>
          <a:prstGeom prst="rect">
            <a:avLst/>
          </a:prstGeom>
          <a:noFill/>
          <a:ln/>
        </p:spPr>
        <p:txBody>
          <a:bodyPr wrap="square" lIns="0" tIns="0" rIns="0" bIns="0" rtlCol="0" anchor="ctr"/>
          <a:lstStyle/>
          <a:p>
            <a:pPr indent="0" marL="0">
              <a:buNone/>
            </a:pPr>
            <a:r>
              <a:rPr lang="en-US" sz="1300" b="1" dirty="0">
                <a:solidFill>
                  <a:srgbClr val="F5C842"/>
                </a:solidFill>
                <a:latin typeface="Calibri" pitchFamily="34" charset="0"/>
                <a:ea typeface="Calibri" pitchFamily="34" charset="-122"/>
                <a:cs typeface="Calibri" pitchFamily="34" charset="-120"/>
              </a:rPr>
              <a:t>What happened:</a:t>
            </a:r>
            <a:endParaRPr lang="en-US" sz="1300" dirty="0"/>
          </a:p>
        </p:txBody>
      </p:sp>
      <p:sp>
        <p:nvSpPr>
          <p:cNvPr id="9" name="Text 7"/>
          <p:cNvSpPr/>
          <p:nvPr/>
        </p:nvSpPr>
        <p:spPr>
          <a:xfrm>
            <a:off x="640080" y="1901952"/>
            <a:ext cx="7863840" cy="256032"/>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1.  Terraform parallelised changes — it tried to create the secondary at the same time as modifying the primary.</a:t>
            </a:r>
            <a:endParaRPr lang="en-US" sz="1100" dirty="0"/>
          </a:p>
        </p:txBody>
      </p:sp>
      <p:sp>
        <p:nvSpPr>
          <p:cNvPr id="10" name="Text 8"/>
          <p:cNvSpPr/>
          <p:nvPr/>
        </p:nvSpPr>
        <p:spPr>
          <a:xfrm>
            <a:off x="640080" y="2176272"/>
            <a:ext cx="7863840" cy="256032"/>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2.  At that moment, the primary was still a plain A record (mid-conversion to a failover PRIMARY record).</a:t>
            </a:r>
            <a:endParaRPr lang="en-US" sz="1100" dirty="0"/>
          </a:p>
        </p:txBody>
      </p:sp>
      <p:sp>
        <p:nvSpPr>
          <p:cNvPr id="11" name="Text 9"/>
          <p:cNvSpPr/>
          <p:nvPr/>
        </p:nvSpPr>
        <p:spPr>
          <a:xfrm>
            <a:off x="640080" y="2450592"/>
            <a:ext cx="7863840" cy="256032"/>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3.  Route 53 rejected the secondary: you cannot add a failover SECONDARY alongside a non-failover record with the same name.</a:t>
            </a:r>
            <a:endParaRPr lang="en-US" sz="1100" dirty="0"/>
          </a:p>
        </p:txBody>
      </p:sp>
      <p:sp>
        <p:nvSpPr>
          <p:cNvPr id="12" name="Text 10"/>
          <p:cNvSpPr/>
          <p:nvPr/>
        </p:nvSpPr>
        <p:spPr>
          <a:xfrm>
            <a:off x="640080" y="2724912"/>
            <a:ext cx="7863840" cy="256032"/>
          </a:xfrm>
          <a:prstGeom prst="rect">
            <a:avLst/>
          </a:prstGeom>
          <a:noFill/>
          <a:ln/>
        </p:spPr>
        <p:txBody>
          <a:bodyPr wrap="square" lIns="0" tIns="0" rIns="0" bIns="0" rtlCol="0" anchor="ctr"/>
          <a:lstStyle/>
          <a:p>
            <a:pPr indent="0" marL="0">
              <a:buNone/>
            </a:pPr>
            <a:r>
              <a:rPr lang="en-US" sz="1100" b="1" dirty="0">
                <a:solidFill>
                  <a:srgbClr val="4CAF7D"/>
                </a:solidFill>
                <a:latin typeface="Calibri" pitchFamily="34" charset="0"/>
                <a:ea typeface="Calibri" pitchFamily="34" charset="-122"/>
                <a:cs typeface="Calibri" pitchFamily="34" charset="-120"/>
              </a:rPr>
              <a:t>4.  The fix: add depends_on = [aws_route53_record.primary] to the secondary record to enforce ordering.</a:t>
            </a:r>
            <a:endParaRPr lang="en-US" sz="1100" dirty="0"/>
          </a:p>
        </p:txBody>
      </p:sp>
      <p:sp>
        <p:nvSpPr>
          <p:cNvPr id="13" name="Shape 11"/>
          <p:cNvSpPr/>
          <p:nvPr/>
        </p:nvSpPr>
        <p:spPr>
          <a:xfrm>
            <a:off x="457200" y="3108960"/>
            <a:ext cx="8229600" cy="1005840"/>
          </a:xfrm>
          <a:prstGeom prst="rect">
            <a:avLst>
              <a:gd name="adj" fmla="val 4545"/>
            </a:avLst>
          </a:prstGeom>
          <a:solidFill>
            <a:srgbClr val="1E3A4F"/>
          </a:solidFill>
          <a:ln w="12700">
            <a:solidFill>
              <a:srgbClr val="4CAF7D"/>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731520" y="3200400"/>
            <a:ext cx="7863840" cy="347472"/>
          </a:xfrm>
          <a:prstGeom prst="rect">
            <a:avLst/>
          </a:prstGeom>
          <a:noFill/>
          <a:ln/>
        </p:spPr>
        <p:txBody>
          <a:bodyPr wrap="square" lIns="0" tIns="0" rIns="0" bIns="0" rtlCol="0" anchor="ctr"/>
          <a:lstStyle/>
          <a:p>
            <a:pPr indent="0" marL="0">
              <a:buNone/>
            </a:pPr>
            <a:r>
              <a:rPr lang="en-US" sz="1400" b="1" dirty="0">
                <a:solidFill>
                  <a:srgbClr val="4CAF7D"/>
                </a:solidFill>
                <a:latin typeface="Consolas" pitchFamily="34" charset="0"/>
                <a:ea typeface="Consolas" pitchFamily="34" charset="-122"/>
                <a:cs typeface="Consolas" pitchFamily="34" charset="-120"/>
              </a:rPr>
              <a:t>depends_on = [aws_route53_record.primary]</a:t>
            </a:r>
            <a:endParaRPr lang="en-US" sz="1400" dirty="0"/>
          </a:p>
        </p:txBody>
      </p:sp>
      <p:sp>
        <p:nvSpPr>
          <p:cNvPr id="15" name="Text 13"/>
          <p:cNvSpPr/>
          <p:nvPr/>
        </p:nvSpPr>
        <p:spPr>
          <a:xfrm>
            <a:off x="731520" y="3547872"/>
            <a:ext cx="7863840" cy="45720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Add this to the secondary record block. Tells Terraform: wait until the primary record is fully updated before attempting to create the secondary.</a:t>
            </a:r>
            <a:endParaRPr lang="en-US" sz="1100" dirty="0"/>
          </a:p>
        </p:txBody>
      </p:sp>
      <p:sp>
        <p:nvSpPr>
          <p:cNvPr id="16" name="Shape 14"/>
          <p:cNvSpPr/>
          <p:nvPr/>
        </p:nvSpPr>
        <p:spPr>
          <a:xfrm>
            <a:off x="457200" y="4224528"/>
            <a:ext cx="8229600" cy="658368"/>
          </a:xfrm>
          <a:prstGeom prst="rect">
            <a:avLst>
              <a:gd name="adj" fmla="val 6944"/>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640080" y="4279392"/>
            <a:ext cx="7863840" cy="5029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Lab vs Real Life: depends_on is a blunt instrument — it forces strict sequencing and can slow applies. In production you'd look for module structures that make the dependency implicit rather than declared. For this lab it is the right clean fix.</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Fixed Configuration — End to End</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All four components correctly connected</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274320" y="1143000"/>
            <a:ext cx="2468880" cy="1691640"/>
          </a:xfrm>
          <a:prstGeom prst="rect">
            <a:avLst>
              <a:gd name="adj" fmla="val 2703"/>
            </a:avLst>
          </a:prstGeom>
          <a:solidFill>
            <a:srgbClr val="162535"/>
          </a:solidFill>
          <a:ln w="25400">
            <a:solidFill>
              <a:srgbClr val="0E9AA7"/>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143000"/>
            <a:ext cx="2468880" cy="347472"/>
          </a:xfrm>
          <a:prstGeom prst="rect">
            <a:avLst/>
          </a:prstGeom>
          <a:solidFill>
            <a:srgbClr val="0E9AA7"/>
          </a:solidFill>
          <a:ln w="12700">
            <a:solidFill>
              <a:srgbClr val="0E9AA7"/>
            </a:solidFill>
            <a:prstDash val="solid"/>
          </a:ln>
        </p:spPr>
      </p:sp>
      <p:sp>
        <p:nvSpPr>
          <p:cNvPr id="8" name="Text 6"/>
          <p:cNvSpPr/>
          <p:nvPr/>
        </p:nvSpPr>
        <p:spPr>
          <a:xfrm>
            <a:off x="365760" y="1179576"/>
            <a:ext cx="2286000" cy="2743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Health Check</a:t>
            </a:r>
            <a:endParaRPr lang="en-US" sz="1200" dirty="0"/>
          </a:p>
        </p:txBody>
      </p:sp>
      <p:sp>
        <p:nvSpPr>
          <p:cNvPr id="9" name="Text 7"/>
          <p:cNvSpPr/>
          <p:nvPr/>
        </p:nvSpPr>
        <p:spPr>
          <a:xfrm>
            <a:off x="365760" y="1554480"/>
            <a:ext cx="2286000" cy="1188720"/>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port = 80</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path = /health</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every 30s</a:t>
            </a:r>
            <a:endParaRPr lang="en-US" sz="1000" dirty="0"/>
          </a:p>
        </p:txBody>
      </p:sp>
      <p:sp>
        <p:nvSpPr>
          <p:cNvPr id="10" name="Shape 8"/>
          <p:cNvSpPr/>
          <p:nvPr/>
        </p:nvSpPr>
        <p:spPr>
          <a:xfrm>
            <a:off x="2761488" y="1920240"/>
            <a:ext cx="420624" cy="54864"/>
          </a:xfrm>
          <a:prstGeom prst="rect">
            <a:avLst/>
          </a:prstGeom>
          <a:solidFill>
            <a:srgbClr val="0E9AA7"/>
          </a:solidFill>
          <a:ln w="12700">
            <a:solidFill>
              <a:srgbClr val="0E9AA7"/>
            </a:solidFill>
            <a:prstDash val="solid"/>
          </a:ln>
        </p:spPr>
      </p:sp>
      <p:sp>
        <p:nvSpPr>
          <p:cNvPr id="11" name="Shape 9"/>
          <p:cNvSpPr/>
          <p:nvPr/>
        </p:nvSpPr>
        <p:spPr>
          <a:xfrm>
            <a:off x="3108960" y="1810512"/>
            <a:ext cx="73152" cy="274320"/>
          </a:xfrm>
          <a:prstGeom prst="rect">
            <a:avLst/>
          </a:prstGeom>
          <a:solidFill>
            <a:srgbClr val="0E9AA7"/>
          </a:solidFill>
          <a:ln w="12700">
            <a:solidFill>
              <a:srgbClr val="0E9AA7"/>
            </a:solidFill>
            <a:prstDash val="solid"/>
          </a:ln>
        </p:spPr>
      </p:sp>
      <p:sp>
        <p:nvSpPr>
          <p:cNvPr id="12" name="Shape 10"/>
          <p:cNvSpPr/>
          <p:nvPr/>
        </p:nvSpPr>
        <p:spPr>
          <a:xfrm>
            <a:off x="2926080" y="1143000"/>
            <a:ext cx="2468880" cy="1691640"/>
          </a:xfrm>
          <a:prstGeom prst="rect">
            <a:avLst>
              <a:gd name="adj" fmla="val 2703"/>
            </a:avLst>
          </a:prstGeom>
          <a:solidFill>
            <a:srgbClr val="162535"/>
          </a:solidFill>
          <a:ln w="25400">
            <a:solidFill>
              <a:srgbClr val="0E9AA7"/>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926080" y="1143000"/>
            <a:ext cx="2468880" cy="347472"/>
          </a:xfrm>
          <a:prstGeom prst="rect">
            <a:avLst/>
          </a:prstGeom>
          <a:solidFill>
            <a:srgbClr val="0E9AA7"/>
          </a:solidFill>
          <a:ln w="12700">
            <a:solidFill>
              <a:srgbClr val="0E9AA7"/>
            </a:solidFill>
            <a:prstDash val="solid"/>
          </a:ln>
        </p:spPr>
      </p:sp>
      <p:sp>
        <p:nvSpPr>
          <p:cNvPr id="14" name="Text 12"/>
          <p:cNvSpPr/>
          <p:nvPr/>
        </p:nvSpPr>
        <p:spPr>
          <a:xfrm>
            <a:off x="3017520" y="1179576"/>
            <a:ext cx="2286000" cy="2743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PRIMARY Record</a:t>
            </a:r>
            <a:endParaRPr lang="en-US" sz="1200" dirty="0"/>
          </a:p>
        </p:txBody>
      </p:sp>
      <p:sp>
        <p:nvSpPr>
          <p:cNvPr id="15" name="Text 13"/>
          <p:cNvSpPr/>
          <p:nvPr/>
        </p:nvSpPr>
        <p:spPr>
          <a:xfrm>
            <a:off x="3017520" y="1554480"/>
            <a:ext cx="2286000" cy="1188720"/>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failover = PRIMARY</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set_identifier = primary</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health_check_id = linked</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ttl = 60</a:t>
            </a:r>
            <a:endParaRPr lang="en-US" sz="1000" dirty="0"/>
          </a:p>
        </p:txBody>
      </p:sp>
      <p:sp>
        <p:nvSpPr>
          <p:cNvPr id="16" name="Shape 14"/>
          <p:cNvSpPr/>
          <p:nvPr/>
        </p:nvSpPr>
        <p:spPr>
          <a:xfrm>
            <a:off x="5413248" y="1920240"/>
            <a:ext cx="420624" cy="54864"/>
          </a:xfrm>
          <a:prstGeom prst="rect">
            <a:avLst/>
          </a:prstGeom>
          <a:solidFill>
            <a:srgbClr val="0E9AA7"/>
          </a:solidFill>
          <a:ln w="12700">
            <a:solidFill>
              <a:srgbClr val="0E9AA7"/>
            </a:solidFill>
            <a:prstDash val="solid"/>
          </a:ln>
        </p:spPr>
      </p:sp>
      <p:sp>
        <p:nvSpPr>
          <p:cNvPr id="17" name="Shape 15"/>
          <p:cNvSpPr/>
          <p:nvPr/>
        </p:nvSpPr>
        <p:spPr>
          <a:xfrm>
            <a:off x="5760720" y="1810512"/>
            <a:ext cx="73152" cy="274320"/>
          </a:xfrm>
          <a:prstGeom prst="rect">
            <a:avLst/>
          </a:prstGeom>
          <a:solidFill>
            <a:srgbClr val="0E9AA7"/>
          </a:solidFill>
          <a:ln w="12700">
            <a:solidFill>
              <a:srgbClr val="0E9AA7"/>
            </a:solidFill>
            <a:prstDash val="solid"/>
          </a:ln>
        </p:spPr>
      </p:sp>
      <p:sp>
        <p:nvSpPr>
          <p:cNvPr id="18" name="Shape 16"/>
          <p:cNvSpPr/>
          <p:nvPr/>
        </p:nvSpPr>
        <p:spPr>
          <a:xfrm>
            <a:off x="5852160" y="1143000"/>
            <a:ext cx="2468880" cy="1691640"/>
          </a:xfrm>
          <a:prstGeom prst="rect">
            <a:avLst>
              <a:gd name="adj" fmla="val 2703"/>
            </a:avLst>
          </a:prstGeom>
          <a:solidFill>
            <a:srgbClr val="162535"/>
          </a:solidFill>
          <a:ln w="25400">
            <a:solidFill>
              <a:srgbClr val="4CAF7D"/>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5852160" y="1143000"/>
            <a:ext cx="2468880" cy="347472"/>
          </a:xfrm>
          <a:prstGeom prst="rect">
            <a:avLst/>
          </a:prstGeom>
          <a:solidFill>
            <a:srgbClr val="4CAF7D"/>
          </a:solidFill>
          <a:ln w="12700">
            <a:solidFill>
              <a:srgbClr val="4CAF7D"/>
            </a:solidFill>
            <a:prstDash val="solid"/>
          </a:ln>
        </p:spPr>
      </p:sp>
      <p:sp>
        <p:nvSpPr>
          <p:cNvPr id="20" name="Text 18"/>
          <p:cNvSpPr/>
          <p:nvPr/>
        </p:nvSpPr>
        <p:spPr>
          <a:xfrm>
            <a:off x="5943600" y="1179576"/>
            <a:ext cx="2286000" cy="2743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SECONDARY Record</a:t>
            </a:r>
            <a:endParaRPr lang="en-US" sz="1200" dirty="0"/>
          </a:p>
        </p:txBody>
      </p:sp>
      <p:sp>
        <p:nvSpPr>
          <p:cNvPr id="21" name="Text 19"/>
          <p:cNvSpPr/>
          <p:nvPr/>
        </p:nvSpPr>
        <p:spPr>
          <a:xfrm>
            <a:off x="5943600" y="1554480"/>
            <a:ext cx="2286000" cy="1188720"/>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failover = SECONDARY</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set_identifier = secondary</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no health check</a:t>
            </a:r>
            <a:endParaRPr lang="en-US" sz="1000" dirty="0"/>
          </a:p>
          <a:p>
            <a:pPr indent="0" marL="0">
              <a:buNone/>
            </a:pPr>
            <a:r>
              <a:rPr lang="en-US" sz="1000" dirty="0">
                <a:solidFill>
                  <a:srgbClr val="E8F4F8"/>
                </a:solidFill>
                <a:latin typeface="Consolas" pitchFamily="34" charset="0"/>
                <a:ea typeface="Consolas" pitchFamily="34" charset="-122"/>
                <a:cs typeface="Consolas" pitchFamily="34" charset="-120"/>
              </a:rPr>
              <a:t>ttl = 60</a:t>
            </a:r>
            <a:endParaRPr lang="en-US" sz="1000" dirty="0"/>
          </a:p>
        </p:txBody>
      </p:sp>
      <p:sp>
        <p:nvSpPr>
          <p:cNvPr id="22" name="Shape 20"/>
          <p:cNvSpPr/>
          <p:nvPr/>
        </p:nvSpPr>
        <p:spPr>
          <a:xfrm>
            <a:off x="274320" y="2971800"/>
            <a:ext cx="8595360" cy="914400"/>
          </a:xfrm>
          <a:prstGeom prst="rect">
            <a:avLst>
              <a:gd name="adj" fmla="val 5000"/>
            </a:avLst>
          </a:prstGeom>
          <a:solidFill>
            <a:srgbClr val="1E3A4F"/>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457200" y="3017520"/>
            <a:ext cx="8229600" cy="274320"/>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Failover logic:</a:t>
            </a:r>
            <a:endParaRPr lang="en-US" sz="1200" dirty="0"/>
          </a:p>
        </p:txBody>
      </p:sp>
      <p:sp>
        <p:nvSpPr>
          <p:cNvPr id="24" name="Text 22"/>
          <p:cNvSpPr/>
          <p:nvPr/>
        </p:nvSpPr>
        <p:spPr>
          <a:xfrm>
            <a:off x="457200" y="3291840"/>
            <a:ext cx="8229600" cy="50292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Health check sends GET /health to primary.example-internal.com:80 every 30s  →  3 failures = UNHEALTHY  →  Route 53 stops returning 10.0.1.100  →  Returns 10.1.1.100 instead  →  Clients re-query within 60s (TTL) and connect to secondary</a:t>
            </a:r>
            <a:endParaRPr lang="en-US" sz="1100" dirty="0"/>
          </a:p>
        </p:txBody>
      </p:sp>
      <p:sp>
        <p:nvSpPr>
          <p:cNvPr id="25" name="Shape 23"/>
          <p:cNvSpPr/>
          <p:nvPr/>
        </p:nvSpPr>
        <p:spPr>
          <a:xfrm>
            <a:off x="274320" y="4005072"/>
            <a:ext cx="8595360" cy="822960"/>
          </a:xfrm>
          <a:prstGeom prst="rect">
            <a:avLst>
              <a:gd name="adj" fmla="val 5556"/>
            </a:avLst>
          </a:prstGeom>
          <a:solidFill>
            <a:srgbClr val="162535"/>
          </a:solidFill>
          <a:ln w="25400">
            <a:solidFill>
              <a:srgbClr val="4CAF7D"/>
            </a:solidFill>
            <a:prstDash val="solid"/>
          </a:ln>
          <a:effectLst>
            <a:outerShdw sx="100000" sy="100000" kx="0" ky="0" algn="bl" rotWithShape="0" blurRad="101600" dist="38100" dir="8100000">
              <a:srgbClr val="000000">
                <a:alpha val="18000"/>
              </a:srgbClr>
            </a:outerShdw>
          </a:effectLst>
        </p:spPr>
      </p:sp>
      <p:pic>
        <p:nvPicPr>
          <p:cNvPr id="26" name="Image 0" descr="preencoded.png">    </p:cNvPr>
          <p:cNvPicPr>
            <a:picLocks noChangeAspect="1"/>
          </p:cNvPicPr>
          <p:nvPr/>
        </p:nvPicPr>
        <p:blipFill>
          <a:blip r:embed="rId1"/>
          <a:stretch>
            <a:fillRect/>
          </a:stretch>
        </p:blipFill>
        <p:spPr>
          <a:xfrm>
            <a:off x="502920" y="4133088"/>
            <a:ext cx="411480" cy="411480"/>
          </a:xfrm>
          <a:prstGeom prst="rect">
            <a:avLst/>
          </a:prstGeom>
        </p:spPr>
      </p:pic>
      <p:sp>
        <p:nvSpPr>
          <p:cNvPr id="27" name="Text 24"/>
          <p:cNvSpPr/>
          <p:nvPr/>
        </p:nvSpPr>
        <p:spPr>
          <a:xfrm>
            <a:off x="1005840" y="4069080"/>
            <a:ext cx="7589520" cy="320040"/>
          </a:xfrm>
          <a:prstGeom prst="rect">
            <a:avLst/>
          </a:prstGeom>
          <a:noFill/>
          <a:ln/>
        </p:spPr>
        <p:txBody>
          <a:bodyPr wrap="square" lIns="0" tIns="0" rIns="0" bIns="0" rtlCol="0" anchor="ctr"/>
          <a:lstStyle/>
          <a:p>
            <a:pPr indent="0" marL="0">
              <a:buNone/>
            </a:pPr>
            <a:r>
              <a:rPr lang="en-US" sz="1400" b="1" dirty="0">
                <a:solidFill>
                  <a:srgbClr val="4CAF7D"/>
                </a:solidFill>
                <a:latin typeface="Calibri" pitchFamily="34" charset="0"/>
                <a:ea typeface="Calibri" pitchFamily="34" charset="-122"/>
                <a:cs typeface="Calibri" pitchFamily="34" charset="-120"/>
              </a:rPr>
              <a:t>Validator result: 18 from 18 checks passed</a:t>
            </a:r>
            <a:endParaRPr lang="en-US" sz="1400" dirty="0"/>
          </a:p>
        </p:txBody>
      </p:sp>
      <p:sp>
        <p:nvSpPr>
          <p:cNvPr id="28" name="Text 25"/>
          <p:cNvSpPr/>
          <p:nvPr/>
        </p:nvSpPr>
        <p:spPr>
          <a:xfrm>
            <a:off x="1005840" y="4389120"/>
            <a:ext cx="7589520" cy="320040"/>
          </a:xfrm>
          <a:prstGeom prst="rect">
            <a:avLst/>
          </a:prstGeom>
          <a:noFill/>
          <a:ln/>
        </p:spPr>
        <p:txBody>
          <a:bodyPr wrap="square" lIns="0" tIns="0" rIns="0" bIns="0" rtlCol="0" anchor="ctr"/>
          <a:lstStyle/>
          <a:p>
            <a:pPr indent="0" marL="0">
              <a:buNone/>
            </a:pPr>
            <a:r>
              <a:rPr lang="en-US" sz="1100" dirty="0">
                <a:solidFill>
                  <a:srgbClr val="E8F4F8"/>
                </a:solidFill>
                <a:latin typeface="Calibri" pitchFamily="34" charset="0"/>
                <a:ea typeface="Calibri" pitchFamily="34" charset="-122"/>
                <a:cs typeface="Calibri" pitchFamily="34" charset="-120"/>
              </a:rPr>
              <a:t>Health check port, DNS record failover policies, set identifiers, TTLs, health check linkage — all verified against live AWS state.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Lab vs Real Life</a:t>
            </a:r>
            <a:endParaRPr lang="en-US" sz="2600" dirty="0"/>
          </a:p>
        </p:txBody>
      </p:sp>
      <p:sp>
        <p:nvSpPr>
          <p:cNvPr id="4" name="Text 2"/>
          <p:cNvSpPr/>
          <p:nvPr/>
        </p:nvSpPr>
        <p:spPr>
          <a:xfrm>
            <a:off x="457200" y="640080"/>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Where this lab simplifies — and what production looks like</a:t>
            </a:r>
            <a:endParaRPr lang="en-US" sz="1300" dirty="0"/>
          </a:p>
        </p:txBody>
      </p:sp>
      <p:sp>
        <p:nvSpPr>
          <p:cNvPr id="5" name="Shape 3"/>
          <p:cNvSpPr/>
          <p:nvPr/>
        </p:nvSpPr>
        <p:spPr>
          <a:xfrm>
            <a:off x="457200" y="960120"/>
            <a:ext cx="8229600" cy="22860"/>
          </a:xfrm>
          <a:prstGeom prst="rect">
            <a:avLst/>
          </a:prstGeom>
          <a:solidFill>
            <a:srgbClr val="1E3A4F"/>
          </a:solidFill>
          <a:ln w="12700">
            <a:solidFill>
              <a:srgbClr val="1E3A4F"/>
            </a:solidFill>
            <a:prstDash val="solid"/>
          </a:ln>
        </p:spPr>
      </p:sp>
      <p:sp>
        <p:nvSpPr>
          <p:cNvPr id="6" name="Shape 4"/>
          <p:cNvSpPr/>
          <p:nvPr/>
        </p:nvSpPr>
        <p:spPr>
          <a:xfrm>
            <a:off x="457200" y="1051560"/>
            <a:ext cx="4023360" cy="320040"/>
          </a:xfrm>
          <a:prstGeom prst="rect">
            <a:avLst/>
          </a:prstGeom>
          <a:solidFill>
            <a:srgbClr val="1E3A4F"/>
          </a:solidFill>
          <a:ln w="12700">
            <a:solidFill>
              <a:srgbClr val="0E9AA7"/>
            </a:solidFill>
            <a:prstDash val="solid"/>
          </a:ln>
        </p:spPr>
      </p:sp>
      <p:sp>
        <p:nvSpPr>
          <p:cNvPr id="7" name="Shape 5"/>
          <p:cNvSpPr/>
          <p:nvPr/>
        </p:nvSpPr>
        <p:spPr>
          <a:xfrm>
            <a:off x="4663440" y="1051560"/>
            <a:ext cx="4023360" cy="320040"/>
          </a:xfrm>
          <a:prstGeom prst="rect">
            <a:avLst/>
          </a:prstGeom>
          <a:solidFill>
            <a:srgbClr val="1E3A4F"/>
          </a:solidFill>
          <a:ln w="12700">
            <a:solidFill>
              <a:srgbClr val="0E9AA7"/>
            </a:solidFill>
            <a:prstDash val="solid"/>
          </a:ln>
        </p:spPr>
      </p:sp>
      <p:sp>
        <p:nvSpPr>
          <p:cNvPr id="8" name="Text 6"/>
          <p:cNvSpPr/>
          <p:nvPr/>
        </p:nvSpPr>
        <p:spPr>
          <a:xfrm>
            <a:off x="457200" y="1078992"/>
            <a:ext cx="4023360" cy="256032"/>
          </a:xfrm>
          <a:prstGeom prst="rect">
            <a:avLst/>
          </a:prstGeom>
          <a:noFill/>
          <a:ln/>
        </p:spPr>
        <p:txBody>
          <a:bodyPr wrap="square" lIns="0" tIns="0" rIns="0" bIns="0" rtlCol="0" anchor="ctr"/>
          <a:lstStyle/>
          <a:p>
            <a:pPr algn="ctr" indent="0" marL="0">
              <a:buNone/>
            </a:pPr>
            <a:r>
              <a:rPr lang="en-US" sz="1200" b="1" dirty="0">
                <a:solidFill>
                  <a:srgbClr val="0E9AA7"/>
                </a:solidFill>
                <a:latin typeface="Calibri" pitchFamily="34" charset="0"/>
                <a:ea typeface="Calibri" pitchFamily="34" charset="-122"/>
                <a:cs typeface="Calibri" pitchFamily="34" charset="-120"/>
              </a:rPr>
              <a:t>In This Lab</a:t>
            </a:r>
            <a:endParaRPr lang="en-US" sz="1200" dirty="0"/>
          </a:p>
        </p:txBody>
      </p:sp>
      <p:sp>
        <p:nvSpPr>
          <p:cNvPr id="9" name="Text 7"/>
          <p:cNvSpPr/>
          <p:nvPr/>
        </p:nvSpPr>
        <p:spPr>
          <a:xfrm>
            <a:off x="4663440" y="1078992"/>
            <a:ext cx="4023360" cy="256032"/>
          </a:xfrm>
          <a:prstGeom prst="rect">
            <a:avLst/>
          </a:prstGeom>
          <a:noFill/>
          <a:ln/>
        </p:spPr>
        <p:txBody>
          <a:bodyPr wrap="square" lIns="0" tIns="0" rIns="0" bIns="0" rtlCol="0" anchor="ctr"/>
          <a:lstStyle/>
          <a:p>
            <a:pPr algn="ctr" indent="0" marL="0">
              <a:buNone/>
            </a:pPr>
            <a:r>
              <a:rPr lang="en-US" sz="1200" b="1" dirty="0">
                <a:solidFill>
                  <a:srgbClr val="4CAF7D"/>
                </a:solidFill>
                <a:latin typeface="Calibri" pitchFamily="34" charset="0"/>
                <a:ea typeface="Calibri" pitchFamily="34" charset="-122"/>
                <a:cs typeface="Calibri" pitchFamily="34" charset="-120"/>
              </a:rPr>
              <a:t>In Production</a:t>
            </a:r>
            <a:endParaRPr lang="en-US" sz="1200" dirty="0"/>
          </a:p>
        </p:txBody>
      </p:sp>
      <p:sp>
        <p:nvSpPr>
          <p:cNvPr id="10" name="Shape 8"/>
          <p:cNvSpPr/>
          <p:nvPr/>
        </p:nvSpPr>
        <p:spPr>
          <a:xfrm>
            <a:off x="457200" y="1417320"/>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663440" y="1417320"/>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594360" y="1481328"/>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Hardcoded private IPs (10.0.1.100)</a:t>
            </a:r>
            <a:endParaRPr lang="en-US" sz="1000" dirty="0"/>
          </a:p>
        </p:txBody>
      </p:sp>
      <p:sp>
        <p:nvSpPr>
          <p:cNvPr id="13" name="Text 11"/>
          <p:cNvSpPr/>
          <p:nvPr/>
        </p:nvSpPr>
        <p:spPr>
          <a:xfrm>
            <a:off x="4800600" y="1481328"/>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Route 53 alias records pointing to ALBs in different AWS regions — not raw IPs</a:t>
            </a:r>
            <a:endParaRPr lang="en-US" sz="1000" dirty="0"/>
          </a:p>
        </p:txBody>
      </p:sp>
      <p:sp>
        <p:nvSpPr>
          <p:cNvPr id="14" name="Shape 12"/>
          <p:cNvSpPr/>
          <p:nvPr/>
        </p:nvSpPr>
        <p:spPr>
          <a:xfrm>
            <a:off x="457200" y="1984248"/>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663440" y="1984248"/>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594360" y="2048256"/>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HTTP health check on a private FQDN</a:t>
            </a:r>
            <a:endParaRPr lang="en-US" sz="1000" dirty="0"/>
          </a:p>
        </p:txBody>
      </p:sp>
      <p:sp>
        <p:nvSpPr>
          <p:cNvPr id="17" name="Text 15"/>
          <p:cNvSpPr/>
          <p:nvPr/>
        </p:nvSpPr>
        <p:spPr>
          <a:xfrm>
            <a:off x="4800600" y="2048256"/>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HTTPS health checks with valid TLS certs and string matching on the response body</a:t>
            </a:r>
            <a:endParaRPr lang="en-US" sz="1000" dirty="0"/>
          </a:p>
        </p:txBody>
      </p:sp>
      <p:sp>
        <p:nvSpPr>
          <p:cNvPr id="18" name="Shape 16"/>
          <p:cNvSpPr/>
          <p:nvPr/>
        </p:nvSpPr>
        <p:spPr>
          <a:xfrm>
            <a:off x="457200" y="2551176"/>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663440" y="2551176"/>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594360" y="2615184"/>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/health returns 200 if process is up</a:t>
            </a:r>
            <a:endParaRPr lang="en-US" sz="1000" dirty="0"/>
          </a:p>
        </p:txBody>
      </p:sp>
      <p:sp>
        <p:nvSpPr>
          <p:cNvPr id="21" name="Text 19"/>
          <p:cNvSpPr/>
          <p:nvPr/>
        </p:nvSpPr>
        <p:spPr>
          <a:xfrm>
            <a:off x="4800600" y="2615184"/>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Health endpoints verify database connectivity, downstream services, and queue depth — not just process liveness</a:t>
            </a:r>
            <a:endParaRPr lang="en-US" sz="1000" dirty="0"/>
          </a:p>
        </p:txBody>
      </p:sp>
      <p:sp>
        <p:nvSpPr>
          <p:cNvPr id="22" name="Shape 20"/>
          <p:cNvSpPr/>
          <p:nvPr/>
        </p:nvSpPr>
        <p:spPr>
          <a:xfrm>
            <a:off x="457200" y="3118104"/>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663440" y="3118104"/>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24" name="Text 22"/>
          <p:cNvSpPr/>
          <p:nvPr/>
        </p:nvSpPr>
        <p:spPr>
          <a:xfrm>
            <a:off x="594360" y="3182112"/>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Failover never tested until this lab</a:t>
            </a:r>
            <a:endParaRPr lang="en-US" sz="1000" dirty="0"/>
          </a:p>
        </p:txBody>
      </p:sp>
      <p:sp>
        <p:nvSpPr>
          <p:cNvPr id="25" name="Text 23"/>
          <p:cNvSpPr/>
          <p:nvPr/>
        </p:nvSpPr>
        <p:spPr>
          <a:xfrm>
            <a:off x="4800600" y="3182112"/>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Regular DR drills using AWS Fault Injection Simulator (FIS) or scheduled maintenance windows</a:t>
            </a:r>
            <a:endParaRPr lang="en-US" sz="1000" dirty="0"/>
          </a:p>
        </p:txBody>
      </p:sp>
      <p:sp>
        <p:nvSpPr>
          <p:cNvPr id="26" name="Shape 24"/>
          <p:cNvSpPr/>
          <p:nvPr/>
        </p:nvSpPr>
        <p:spPr>
          <a:xfrm>
            <a:off x="457200" y="3685032"/>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4663440" y="3685032"/>
            <a:ext cx="4023360" cy="502920"/>
          </a:xfrm>
          <a:prstGeom prst="rect">
            <a:avLst>
              <a:gd name="adj" fmla="val 9091"/>
            </a:avLst>
          </a:prstGeom>
          <a:solidFill>
            <a:srgbClr val="162535"/>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594360" y="3749040"/>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Active-passive: one region serves at a time</a:t>
            </a:r>
            <a:endParaRPr lang="en-US" sz="1000" dirty="0"/>
          </a:p>
        </p:txBody>
      </p:sp>
      <p:sp>
        <p:nvSpPr>
          <p:cNvPr id="29" name="Text 27"/>
          <p:cNvSpPr/>
          <p:nvPr/>
        </p:nvSpPr>
        <p:spPr>
          <a:xfrm>
            <a:off x="4800600" y="3749040"/>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Active-active patterns using weighted or latency-based routing across regions simultaneously</a:t>
            </a:r>
            <a:endParaRPr lang="en-US" sz="1000" dirty="0"/>
          </a:p>
        </p:txBody>
      </p:sp>
      <p:sp>
        <p:nvSpPr>
          <p:cNvPr id="30" name="Shape 28"/>
          <p:cNvSpPr/>
          <p:nvPr/>
        </p:nvSpPr>
        <p:spPr>
          <a:xfrm>
            <a:off x="457200" y="4251960"/>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4663440" y="4251960"/>
            <a:ext cx="4023360" cy="502920"/>
          </a:xfrm>
          <a:prstGeom prst="rect">
            <a:avLst>
              <a:gd name="adj" fmla="val 9091"/>
            </a:avLst>
          </a:prstGeom>
          <a:solidFill>
            <a:srgbClr val="1E3A4F"/>
          </a:solidFill>
          <a:ln w="12700">
            <a:solidFill>
              <a:srgbClr val="1E3A4F"/>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594360" y="4315968"/>
            <a:ext cx="3749040" cy="384048"/>
          </a:xfrm>
          <a:prstGeom prst="rect">
            <a:avLst/>
          </a:prstGeom>
          <a:noFill/>
          <a:ln/>
        </p:spPr>
        <p:txBody>
          <a:bodyPr wrap="square" lIns="0" tIns="0" rIns="0" bIns="0"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terraform destroy cleans everything up</a:t>
            </a:r>
            <a:endParaRPr lang="en-US" sz="1000" dirty="0"/>
          </a:p>
        </p:txBody>
      </p:sp>
      <p:sp>
        <p:nvSpPr>
          <p:cNvPr id="33" name="Text 31"/>
          <p:cNvSpPr/>
          <p:nvPr/>
        </p:nvSpPr>
        <p:spPr>
          <a:xfrm>
            <a:off x="4800600" y="4315968"/>
            <a:ext cx="3749040" cy="384048"/>
          </a:xfrm>
          <a:prstGeom prst="rect">
            <a:avLst/>
          </a:prstGeom>
          <a:noFill/>
          <a:ln/>
        </p:spPr>
        <p:txBody>
          <a:bodyPr wrap="square" lIns="0" tIns="0" rIns="0" bIns="0" rtlCol="0" anchor="ctr"/>
          <a:lstStyle/>
          <a:p>
            <a:pPr indent="0" marL="0">
              <a:buNone/>
            </a:pPr>
            <a:r>
              <a:rPr lang="en-US" sz="1000" dirty="0">
                <a:solidFill>
                  <a:srgbClr val="4CAF7D"/>
                </a:solidFill>
                <a:latin typeface="Calibri" pitchFamily="34" charset="0"/>
                <a:ea typeface="Calibri" pitchFamily="34" charset="-122"/>
                <a:cs typeface="Calibri" pitchFamily="34" charset="-120"/>
              </a:rPr>
              <a:t>Health checks cost ~$0.50/month (HTTPS ~$2/month). Always clean up unused checks in real projects.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9AA7"/>
          </a:solidFill>
          <a:ln w="12700">
            <a:solidFill>
              <a:srgbClr val="0E9AA7"/>
            </a:solidFill>
            <a:prstDash val="solid"/>
          </a:ln>
        </p:spPr>
      </p:sp>
      <p:sp>
        <p:nvSpPr>
          <p:cNvPr id="3" name="Text 1"/>
          <p:cNvSpPr/>
          <p:nvPr/>
        </p:nvSpPr>
        <p:spPr>
          <a:xfrm>
            <a:off x="457200" y="13716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4" name="Text 2"/>
          <p:cNvSpPr/>
          <p:nvPr/>
        </p:nvSpPr>
        <p:spPr>
          <a:xfrm>
            <a:off x="457200" y="621792"/>
            <a:ext cx="8229600" cy="274320"/>
          </a:xfrm>
          <a:prstGeom prst="rect">
            <a:avLst/>
          </a:prstGeom>
          <a:noFill/>
          <a:ln/>
        </p:spPr>
        <p:txBody>
          <a:bodyPr wrap="square" lIns="0" tIns="0" rIns="0" bIns="0" rtlCol="0" anchor="ctr"/>
          <a:lstStyle/>
          <a:p>
            <a:pPr indent="0" marL="0">
              <a:buNone/>
            </a:pPr>
            <a:r>
              <a:rPr lang="en-US" sz="1300" i="1" dirty="0">
                <a:solidFill>
                  <a:srgbClr val="0E9AA7"/>
                </a:solidFill>
                <a:latin typeface="Calibri" pitchFamily="34" charset="0"/>
                <a:ea typeface="Calibri" pitchFamily="34" charset="-122"/>
                <a:cs typeface="Calibri" pitchFamily="34" charset="-120"/>
              </a:rPr>
              <a:t>Lab 076 — Route 53 DNS Failover</a:t>
            </a:r>
            <a:endParaRPr lang="en-US" sz="1300" dirty="0"/>
          </a:p>
        </p:txBody>
      </p:sp>
      <p:sp>
        <p:nvSpPr>
          <p:cNvPr id="5" name="Shape 3"/>
          <p:cNvSpPr/>
          <p:nvPr/>
        </p:nvSpPr>
        <p:spPr>
          <a:xfrm>
            <a:off x="457200" y="932688"/>
            <a:ext cx="8229600" cy="22860"/>
          </a:xfrm>
          <a:prstGeom prst="rect">
            <a:avLst/>
          </a:prstGeom>
          <a:solidFill>
            <a:srgbClr val="1E3A4F"/>
          </a:solidFill>
          <a:ln w="12700">
            <a:solidFill>
              <a:srgbClr val="1E3A4F"/>
            </a:solidFill>
            <a:prstDash val="solid"/>
          </a:ln>
        </p:spPr>
      </p:sp>
      <p:sp>
        <p:nvSpPr>
          <p:cNvPr id="6" name="Shape 4"/>
          <p:cNvSpPr/>
          <p:nvPr/>
        </p:nvSpPr>
        <p:spPr>
          <a:xfrm>
            <a:off x="365760" y="1078992"/>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521208" y="1453896"/>
            <a:ext cx="384048" cy="384048"/>
          </a:xfrm>
          <a:prstGeom prst="ellipse">
            <a:avLst/>
          </a:prstGeom>
          <a:solidFill>
            <a:srgbClr val="0E9AA7"/>
          </a:solidFill>
          <a:ln/>
        </p:spPr>
      </p:sp>
      <p:pic>
        <p:nvPicPr>
          <p:cNvPr id="8" name="Image 0" descr="preencoded.png">    </p:cNvPr>
          <p:cNvPicPr>
            <a:picLocks noChangeAspect="1"/>
          </p:cNvPicPr>
          <p:nvPr/>
        </p:nvPicPr>
        <p:blipFill>
          <a:blip r:embed="rId1"/>
          <a:stretch>
            <a:fillRect/>
          </a:stretch>
        </p:blipFill>
        <p:spPr>
          <a:xfrm>
            <a:off x="598018" y="1530706"/>
            <a:ext cx="230429" cy="230429"/>
          </a:xfrm>
          <a:prstGeom prst="rect">
            <a:avLst/>
          </a:prstGeom>
        </p:spPr>
      </p:pic>
      <p:sp>
        <p:nvSpPr>
          <p:cNvPr id="9" name="Text 6"/>
          <p:cNvSpPr/>
          <p:nvPr/>
        </p:nvSpPr>
        <p:spPr>
          <a:xfrm>
            <a:off x="1051560" y="1170432"/>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The health check must monitor the right port and path. Wrong port = meaningless results. Always verify against the application's actual configuration or security group inbound rules.</a:t>
            </a:r>
            <a:endParaRPr lang="en-US" sz="1050" dirty="0"/>
          </a:p>
        </p:txBody>
      </p:sp>
      <p:sp>
        <p:nvSpPr>
          <p:cNvPr id="10" name="Shape 7"/>
          <p:cNvSpPr/>
          <p:nvPr/>
        </p:nvSpPr>
        <p:spPr>
          <a:xfrm>
            <a:off x="4846320" y="1078992"/>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001768" y="1453896"/>
            <a:ext cx="384048" cy="384048"/>
          </a:xfrm>
          <a:prstGeom prst="ellipse">
            <a:avLst/>
          </a:prstGeom>
          <a:solidFill>
            <a:srgbClr val="0E9AA7"/>
          </a:solidFill>
          <a:ln/>
        </p:spPr>
      </p:sp>
      <p:pic>
        <p:nvPicPr>
          <p:cNvPr id="12" name="Image 1" descr="preencoded.png">    </p:cNvPr>
          <p:cNvPicPr>
            <a:picLocks noChangeAspect="1"/>
          </p:cNvPicPr>
          <p:nvPr/>
        </p:nvPicPr>
        <p:blipFill>
          <a:blip r:embed="rId2"/>
          <a:stretch>
            <a:fillRect/>
          </a:stretch>
        </p:blipFill>
        <p:spPr>
          <a:xfrm>
            <a:off x="5078578" y="1530706"/>
            <a:ext cx="230429" cy="230429"/>
          </a:xfrm>
          <a:prstGeom prst="rect">
            <a:avLst/>
          </a:prstGeom>
        </p:spPr>
      </p:pic>
      <p:sp>
        <p:nvSpPr>
          <p:cNvPr id="13" name="Text 9"/>
          <p:cNvSpPr/>
          <p:nvPr/>
        </p:nvSpPr>
        <p:spPr>
          <a:xfrm>
            <a:off x="5532120" y="1170432"/>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Both PRIMARY and SECONDARY records need failover_routing_policy, set_identifier, and (for primary only) health_check_id. All three fields are required — missing any one of them breaks failover.</a:t>
            </a:r>
            <a:endParaRPr lang="en-US" sz="1050" dirty="0"/>
          </a:p>
        </p:txBody>
      </p:sp>
      <p:sp>
        <p:nvSpPr>
          <p:cNvPr id="14" name="Shape 10"/>
          <p:cNvSpPr/>
          <p:nvPr/>
        </p:nvSpPr>
        <p:spPr>
          <a:xfrm>
            <a:off x="365760" y="2340864"/>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5" name="Shape 11"/>
          <p:cNvSpPr/>
          <p:nvPr/>
        </p:nvSpPr>
        <p:spPr>
          <a:xfrm>
            <a:off x="521208" y="2715768"/>
            <a:ext cx="384048" cy="384048"/>
          </a:xfrm>
          <a:prstGeom prst="ellipse">
            <a:avLst/>
          </a:prstGeom>
          <a:solidFill>
            <a:srgbClr val="0E9AA7"/>
          </a:solidFill>
          <a:ln/>
        </p:spPr>
      </p:sp>
      <p:pic>
        <p:nvPicPr>
          <p:cNvPr id="16" name="Image 2" descr="preencoded.png">    </p:cNvPr>
          <p:cNvPicPr>
            <a:picLocks noChangeAspect="1"/>
          </p:cNvPicPr>
          <p:nvPr/>
        </p:nvPicPr>
        <p:blipFill>
          <a:blip r:embed="rId3"/>
          <a:stretch>
            <a:fillRect/>
          </a:stretch>
        </p:blipFill>
        <p:spPr>
          <a:xfrm>
            <a:off x="598018" y="2792578"/>
            <a:ext cx="230429" cy="230429"/>
          </a:xfrm>
          <a:prstGeom prst="rect">
            <a:avLst/>
          </a:prstGeom>
        </p:spPr>
      </p:pic>
      <p:sp>
        <p:nvSpPr>
          <p:cNvPr id="17" name="Text 12"/>
          <p:cNvSpPr/>
          <p:nvPr/>
        </p:nvSpPr>
        <p:spPr>
          <a:xfrm>
            <a:off x="1051560" y="2432304"/>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TTL directly controls failover speed. A 3600-second TTL means clients stay stuck for up to an hour after failover. Use 60 seconds on all failover records.</a:t>
            </a:r>
            <a:endParaRPr lang="en-US" sz="1050" dirty="0"/>
          </a:p>
        </p:txBody>
      </p:sp>
      <p:sp>
        <p:nvSpPr>
          <p:cNvPr id="18" name="Shape 13"/>
          <p:cNvSpPr/>
          <p:nvPr/>
        </p:nvSpPr>
        <p:spPr>
          <a:xfrm>
            <a:off x="4846320" y="2340864"/>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19" name="Shape 14"/>
          <p:cNvSpPr/>
          <p:nvPr/>
        </p:nvSpPr>
        <p:spPr>
          <a:xfrm>
            <a:off x="5001768" y="2715768"/>
            <a:ext cx="384048" cy="384048"/>
          </a:xfrm>
          <a:prstGeom prst="ellipse">
            <a:avLst/>
          </a:prstGeom>
          <a:solidFill>
            <a:srgbClr val="0E9AA7"/>
          </a:solidFill>
          <a:ln/>
        </p:spPr>
      </p:sp>
      <p:pic>
        <p:nvPicPr>
          <p:cNvPr id="20" name="Image 3" descr="preencoded.png">    </p:cNvPr>
          <p:cNvPicPr>
            <a:picLocks noChangeAspect="1"/>
          </p:cNvPicPr>
          <p:nvPr/>
        </p:nvPicPr>
        <p:blipFill>
          <a:blip r:embed="rId4"/>
          <a:stretch>
            <a:fillRect/>
          </a:stretch>
        </p:blipFill>
        <p:spPr>
          <a:xfrm>
            <a:off x="5078578" y="2792578"/>
            <a:ext cx="230429" cy="230429"/>
          </a:xfrm>
          <a:prstGeom prst="rect">
            <a:avLst/>
          </a:prstGeom>
        </p:spPr>
      </p:pic>
      <p:sp>
        <p:nvSpPr>
          <p:cNvPr id="21" name="Text 15"/>
          <p:cNvSpPr/>
          <p:nvPr/>
        </p:nvSpPr>
        <p:spPr>
          <a:xfrm>
            <a:off x="5532120" y="2432304"/>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The bugs compounded: the missing failover policy on the primary prevented the secondary from being created at all. One misconfig can cascade into multiple symptoms.</a:t>
            </a:r>
            <a:endParaRPr lang="en-US" sz="1050" dirty="0"/>
          </a:p>
        </p:txBody>
      </p:sp>
      <p:sp>
        <p:nvSpPr>
          <p:cNvPr id="22" name="Shape 16"/>
          <p:cNvSpPr/>
          <p:nvPr/>
        </p:nvSpPr>
        <p:spPr>
          <a:xfrm>
            <a:off x="365760" y="3602736"/>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3" name="Shape 17"/>
          <p:cNvSpPr/>
          <p:nvPr/>
        </p:nvSpPr>
        <p:spPr>
          <a:xfrm>
            <a:off x="521208" y="3977640"/>
            <a:ext cx="384048" cy="384048"/>
          </a:xfrm>
          <a:prstGeom prst="ellipse">
            <a:avLst/>
          </a:prstGeom>
          <a:solidFill>
            <a:srgbClr val="0E9AA7"/>
          </a:solidFill>
          <a:ln/>
        </p:spPr>
      </p:sp>
      <p:pic>
        <p:nvPicPr>
          <p:cNvPr id="24" name="Image 4" descr="preencoded.png">    </p:cNvPr>
          <p:cNvPicPr>
            <a:picLocks noChangeAspect="1"/>
          </p:cNvPicPr>
          <p:nvPr/>
        </p:nvPicPr>
        <p:blipFill>
          <a:blip r:embed="rId5"/>
          <a:stretch>
            <a:fillRect/>
          </a:stretch>
        </p:blipFill>
        <p:spPr>
          <a:xfrm>
            <a:off x="598018" y="4054450"/>
            <a:ext cx="230429" cy="230429"/>
          </a:xfrm>
          <a:prstGeom prst="rect">
            <a:avLst/>
          </a:prstGeom>
        </p:spPr>
      </p:pic>
      <p:sp>
        <p:nvSpPr>
          <p:cNvPr id="25" name="Text 18"/>
          <p:cNvSpPr/>
          <p:nvPr/>
        </p:nvSpPr>
        <p:spPr>
          <a:xfrm>
            <a:off x="1051560" y="3694176"/>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Confirm the fault in AWS via CLI before touching any files. list-health-checks and list-resource-record-sets showed all four bugs before main.tf was opened.</a:t>
            </a:r>
            <a:endParaRPr lang="en-US" sz="1050" dirty="0"/>
          </a:p>
        </p:txBody>
      </p:sp>
      <p:sp>
        <p:nvSpPr>
          <p:cNvPr id="26" name="Shape 19"/>
          <p:cNvSpPr/>
          <p:nvPr/>
        </p:nvSpPr>
        <p:spPr>
          <a:xfrm>
            <a:off x="4846320" y="3602736"/>
            <a:ext cx="4160520" cy="1143000"/>
          </a:xfrm>
          <a:prstGeom prst="rect">
            <a:avLst>
              <a:gd name="adj" fmla="val 4000"/>
            </a:avLst>
          </a:prstGeom>
          <a:solidFill>
            <a:srgbClr val="162535"/>
          </a:solidFill>
          <a:ln w="12700">
            <a:solidFill>
              <a:srgbClr val="0E9AA7"/>
            </a:solidFill>
            <a:prstDash val="solid"/>
          </a:ln>
          <a:effectLst>
            <a:outerShdw sx="100000" sy="100000" kx="0" ky="0" algn="bl" rotWithShape="0" blurRad="101600" dist="38100" dir="8100000">
              <a:srgbClr val="000000">
                <a:alpha val="18000"/>
              </a:srgbClr>
            </a:outerShdw>
          </a:effectLst>
        </p:spPr>
      </p:sp>
      <p:sp>
        <p:nvSpPr>
          <p:cNvPr id="27" name="Shape 20"/>
          <p:cNvSpPr/>
          <p:nvPr/>
        </p:nvSpPr>
        <p:spPr>
          <a:xfrm>
            <a:off x="5001768" y="3977640"/>
            <a:ext cx="384048" cy="384048"/>
          </a:xfrm>
          <a:prstGeom prst="ellipse">
            <a:avLst/>
          </a:prstGeom>
          <a:solidFill>
            <a:srgbClr val="0E9AA7"/>
          </a:solidFill>
          <a:ln/>
        </p:spPr>
      </p:sp>
      <p:pic>
        <p:nvPicPr>
          <p:cNvPr id="28" name="Image 5" descr="preencoded.png">    </p:cNvPr>
          <p:cNvPicPr>
            <a:picLocks noChangeAspect="1"/>
          </p:cNvPicPr>
          <p:nvPr/>
        </p:nvPicPr>
        <p:blipFill>
          <a:blip r:embed="rId6"/>
          <a:stretch>
            <a:fillRect/>
          </a:stretch>
        </p:blipFill>
        <p:spPr>
          <a:xfrm>
            <a:off x="5078578" y="4054450"/>
            <a:ext cx="230429" cy="230429"/>
          </a:xfrm>
          <a:prstGeom prst="rect">
            <a:avLst/>
          </a:prstGeom>
        </p:spPr>
      </p:pic>
      <p:sp>
        <p:nvSpPr>
          <p:cNvPr id="29" name="Text 21"/>
          <p:cNvSpPr/>
          <p:nvPr/>
        </p:nvSpPr>
        <p:spPr>
          <a:xfrm>
            <a:off x="5532120" y="3694176"/>
            <a:ext cx="3337560" cy="96012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Terraform parallelises changes by default. Use depends_on when resource creation order matters — particularly when converting existing records between routing policy types.</a:t>
            </a:r>
            <a:endParaRPr lang="en-US" sz="1050" dirty="0"/>
          </a:p>
        </p:txBody>
      </p:sp>
      <p:sp>
        <p:nvSpPr>
          <p:cNvPr id="30" name="Shape 22"/>
          <p:cNvSpPr/>
          <p:nvPr/>
        </p:nvSpPr>
        <p:spPr>
          <a:xfrm>
            <a:off x="0" y="4864608"/>
            <a:ext cx="9144000" cy="278892"/>
          </a:xfrm>
          <a:prstGeom prst="rect">
            <a:avLst/>
          </a:prstGeom>
          <a:solidFill>
            <a:srgbClr val="1E3A4F"/>
          </a:solidFill>
          <a:ln w="12700">
            <a:solidFill>
              <a:srgbClr val="1E3A4F"/>
            </a:solidFill>
            <a:prstDash val="solid"/>
          </a:ln>
        </p:spPr>
      </p:sp>
      <p:sp>
        <p:nvSpPr>
          <p:cNvPr id="31" name="Text 23"/>
          <p:cNvSpPr/>
          <p:nvPr/>
        </p:nvSpPr>
        <p:spPr>
          <a:xfrm>
            <a:off x="457200" y="4873752"/>
            <a:ext cx="82296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18/18 checks passed  •  terraform destroy -auto-approve  •  Revert main.tf to broken state before committing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076 — Route 53 DNS Failover</dc:title>
  <dc:subject>PptxGenJS Presentation</dc:subject>
  <dc:creator>PptxGenJS</dc:creator>
  <cp:lastModifiedBy>PptxGenJS</cp:lastModifiedBy>
  <cp:revision>1</cp:revision>
  <dcterms:created xsi:type="dcterms:W3CDTF">2026-04-13T07:16:59Z</dcterms:created>
  <dcterms:modified xsi:type="dcterms:W3CDTF">2026-04-13T07:16:59Z</dcterms:modified>
</cp:coreProperties>
</file>
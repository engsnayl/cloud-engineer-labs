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5641848" y="1920240"/>
            <a:ext cx="914400" cy="914400"/>
          </a:xfrm>
          <a:prstGeom prst="ellipse">
            <a:avLst/>
          </a:prstGeom>
          <a:solidFill>
            <a:srgbClr val="0D9488"/>
          </a:solidFill>
          <a:ln/>
        </p:spPr>
      </p:sp>
      <p:pic>
        <p:nvPicPr>
          <p:cNvPr id="3" name="Image 0" descr="preencoded.png">    </p:cNvPr>
          <p:cNvPicPr>
            <a:picLocks noChangeAspect="1"/>
          </p:cNvPicPr>
          <p:nvPr/>
        </p:nvPicPr>
        <p:blipFill>
          <a:blip r:embed="rId1"/>
          <a:stretch>
            <a:fillRect/>
          </a:stretch>
        </p:blipFill>
        <p:spPr>
          <a:xfrm>
            <a:off x="5843016" y="2121408"/>
            <a:ext cx="512064" cy="512064"/>
          </a:xfrm>
          <a:prstGeom prst="rect">
            <a:avLst/>
          </a:prstGeom>
        </p:spPr>
      </p:pic>
      <p:sp>
        <p:nvSpPr>
          <p:cNvPr id="4" name="Text 1"/>
          <p:cNvSpPr/>
          <p:nvPr/>
        </p:nvSpPr>
        <p:spPr>
          <a:xfrm>
            <a:off x="457200" y="3017520"/>
            <a:ext cx="11247120" cy="457200"/>
          </a:xfrm>
          <a:prstGeom prst="rect">
            <a:avLst/>
          </a:prstGeom>
          <a:noFill/>
          <a:ln/>
        </p:spPr>
        <p:txBody>
          <a:bodyPr wrap="square" rtlCol="0" anchor="ctr"/>
          <a:lstStyle/>
          <a:p>
            <a:pPr algn="ctr" indent="0" marL="0">
              <a:buNone/>
            </a:pPr>
            <a:r>
              <a:rPr lang="en-US" sz="1800" dirty="0">
                <a:solidFill>
                  <a:srgbClr val="14B8A6"/>
                </a:solidFill>
                <a:latin typeface="Calibri" pitchFamily="34" charset="0"/>
                <a:ea typeface="Calibri" pitchFamily="34" charset="-122"/>
                <a:cs typeface="Calibri" pitchFamily="34" charset="-120"/>
              </a:rPr>
              <a:t>Lab 083</a:t>
            </a:r>
            <a:endParaRPr lang="en-US" sz="1800" dirty="0"/>
          </a:p>
        </p:txBody>
      </p:sp>
      <p:sp>
        <p:nvSpPr>
          <p:cNvPr id="5" name="Text 2"/>
          <p:cNvSpPr/>
          <p:nvPr/>
        </p:nvSpPr>
        <p:spPr>
          <a:xfrm>
            <a:off x="457200" y="3474720"/>
            <a:ext cx="11247120" cy="822960"/>
          </a:xfrm>
          <a:prstGeom prst="rect">
            <a:avLst/>
          </a:prstGeom>
          <a:noFill/>
          <a:ln/>
        </p:spPr>
        <p:txBody>
          <a:bodyPr wrap="square"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WAF Blocking Legitimate Traffic</a:t>
            </a:r>
            <a:endParaRPr lang="en-US" sz="4400" dirty="0"/>
          </a:p>
        </p:txBody>
      </p:sp>
      <p:sp>
        <p:nvSpPr>
          <p:cNvPr id="6" name="Text 3"/>
          <p:cNvSpPr/>
          <p:nvPr/>
        </p:nvSpPr>
        <p:spPr>
          <a:xfrm>
            <a:off x="457200" y="4389120"/>
            <a:ext cx="11247120" cy="365760"/>
          </a:xfrm>
          <a:prstGeom prst="rect">
            <a:avLst/>
          </a:prstGeom>
          <a:noFill/>
          <a:ln/>
        </p:spPr>
        <p:txBody>
          <a:bodyPr wrap="square" rtlCol="0" anchor="ctr"/>
          <a:lstStyle/>
          <a:p>
            <a:pPr algn="ctr" indent="0" marL="0">
              <a:buNone/>
            </a:pPr>
            <a:r>
              <a:rPr lang="en-US" sz="1600" dirty="0">
                <a:solidFill>
                  <a:srgbClr val="94A3B8"/>
                </a:solidFill>
                <a:latin typeface="Calibri" pitchFamily="34" charset="0"/>
                <a:ea typeface="Calibri" pitchFamily="34" charset="-122"/>
                <a:cs typeface="Calibri" pitchFamily="34" charset="-120"/>
              </a:rPr>
              <a:t>AWS WAF  ·  Rule debugging  ·  Incident response</a:t>
            </a:r>
            <a:endParaRPr lang="en-US" sz="1600" dirty="0"/>
          </a:p>
        </p:txBody>
      </p:sp>
      <p:sp>
        <p:nvSpPr>
          <p:cNvPr id="7" name="Shape 4"/>
          <p:cNvSpPr/>
          <p:nvPr/>
        </p:nvSpPr>
        <p:spPr>
          <a:xfrm>
            <a:off x="5184648" y="4937760"/>
            <a:ext cx="1828800" cy="36576"/>
          </a:xfrm>
          <a:prstGeom prst="rect">
            <a:avLst/>
          </a:prstGeom>
          <a:solidFill>
            <a:srgbClr val="0D9488"/>
          </a:solidFill>
          <a:ln/>
        </p:spPr>
      </p:sp>
      <p:sp>
        <p:nvSpPr>
          <p:cNvPr id="8" name="Text 5"/>
          <p:cNvSpPr/>
          <p:nvPr/>
        </p:nvSpPr>
        <p:spPr>
          <a:xfrm>
            <a:off x="457200" y="5074920"/>
            <a:ext cx="11247120" cy="365760"/>
          </a:xfrm>
          <a:prstGeom prst="rect">
            <a:avLst/>
          </a:prstGeom>
          <a:noFill/>
          <a:ln/>
        </p:spPr>
        <p:txBody>
          <a:bodyPr wrap="square" rtlCol="0" anchor="ctr"/>
          <a:lstStyle/>
          <a:p>
            <a:pPr algn="ctr" indent="0" marL="0">
              <a:buNone/>
            </a:pPr>
            <a:r>
              <a:rPr lang="en-US" sz="1400" i="1" dirty="0">
                <a:solidFill>
                  <a:srgbClr val="94A3B8"/>
                </a:solidFill>
                <a:latin typeface="Calibri" pitchFamily="34" charset="0"/>
                <a:ea typeface="Calibri" pitchFamily="34" charset="-122"/>
                <a:cs typeface="Calibri" pitchFamily="34" charset="-120"/>
              </a:rPr>
              <a:t>Cloud Engineer Labs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is a Web Application Firewall?</a:t>
            </a:r>
            <a:endParaRPr lang="en-US" sz="2800" dirty="0"/>
          </a:p>
        </p:txBody>
      </p:sp>
      <p:sp>
        <p:nvSpPr>
          <p:cNvPr id="3" name="Text 1"/>
          <p:cNvSpPr/>
          <p:nvPr/>
        </p:nvSpPr>
        <p:spPr>
          <a:xfrm>
            <a:off x="457200" y="822960"/>
            <a:ext cx="11247120" cy="365760"/>
          </a:xfrm>
          <a:prstGeom prst="rect">
            <a:avLst/>
          </a:prstGeom>
          <a:noFill/>
          <a:ln/>
        </p:spPr>
        <p:txBody>
          <a:bodyPr wrap="square" rtlCol="0" anchor="ctr"/>
          <a:lstStyle/>
          <a:p>
            <a:pPr indent="0" marL="0">
              <a:buNone/>
            </a:pPr>
            <a:r>
              <a:rPr lang="en-US" sz="1400" dirty="0">
                <a:solidFill>
                  <a:srgbClr val="14B8A6"/>
                </a:solidFill>
                <a:latin typeface="Calibri" pitchFamily="34" charset="0"/>
                <a:ea typeface="Calibri" pitchFamily="34" charset="-122"/>
                <a:cs typeface="Calibri" pitchFamily="34" charset="-120"/>
              </a:rPr>
              <a:t>The layer between your users and your application</a:t>
            </a:r>
            <a:endParaRPr lang="en-US" sz="1400" dirty="0"/>
          </a:p>
        </p:txBody>
      </p:sp>
      <p:sp>
        <p:nvSpPr>
          <p:cNvPr id="4" name="Shape 2"/>
          <p:cNvSpPr/>
          <p:nvPr/>
        </p:nvSpPr>
        <p:spPr>
          <a:xfrm>
            <a:off x="457200" y="1234440"/>
            <a:ext cx="457200" cy="36576"/>
          </a:xfrm>
          <a:prstGeom prst="rect">
            <a:avLst/>
          </a:prstGeom>
          <a:solidFill>
            <a:srgbClr val="0D9488"/>
          </a:solidFill>
          <a:ln/>
        </p:spPr>
      </p:sp>
      <p:sp>
        <p:nvSpPr>
          <p:cNvPr id="5" name="Shape 3"/>
          <p:cNvSpPr/>
          <p:nvPr/>
        </p:nvSpPr>
        <p:spPr>
          <a:xfrm>
            <a:off x="457200" y="1554480"/>
            <a:ext cx="11247120" cy="1828800"/>
          </a:xfrm>
          <a:prstGeom prst="roundRect">
            <a:avLst>
              <a:gd name="adj" fmla="val 4000"/>
            </a:avLst>
          </a:prstGeom>
          <a:solidFill>
            <a:srgbClr val="1A2744"/>
          </a:solidFill>
          <a:ln/>
        </p:spPr>
      </p:sp>
      <p:sp>
        <p:nvSpPr>
          <p:cNvPr id="6" name="Shape 4"/>
          <p:cNvSpPr/>
          <p:nvPr/>
        </p:nvSpPr>
        <p:spPr>
          <a:xfrm>
            <a:off x="822960" y="1920240"/>
            <a:ext cx="640080" cy="64008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963778" y="2061058"/>
            <a:ext cx="358445" cy="358445"/>
          </a:xfrm>
          <a:prstGeom prst="rect">
            <a:avLst/>
          </a:prstGeom>
        </p:spPr>
      </p:pic>
      <p:sp>
        <p:nvSpPr>
          <p:cNvPr id="8" name="Text 5"/>
          <p:cNvSpPr/>
          <p:nvPr/>
        </p:nvSpPr>
        <p:spPr>
          <a:xfrm>
            <a:off x="1645920" y="1828800"/>
            <a:ext cx="9875520" cy="4572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 WAF inspects every HTTP request before it reaches your application</a:t>
            </a:r>
            <a:endParaRPr lang="en-US" sz="1800" dirty="0"/>
          </a:p>
        </p:txBody>
      </p:sp>
      <p:sp>
        <p:nvSpPr>
          <p:cNvPr id="9" name="Text 6"/>
          <p:cNvSpPr/>
          <p:nvPr/>
        </p:nvSpPr>
        <p:spPr>
          <a:xfrm>
            <a:off x="1645920" y="2331720"/>
            <a:ext cx="9875520" cy="1005840"/>
          </a:xfrm>
          <a:prstGeom prst="rect">
            <a:avLst/>
          </a:prstGeom>
          <a:noFill/>
          <a:ln/>
        </p:spPr>
        <p:txBody>
          <a:bodyPr wrap="square" rtlCol="0" anchor="ctr"/>
          <a:lstStyle/>
          <a:p>
            <a:pPr indent="0" marL="0">
              <a:buNone/>
            </a:pPr>
            <a:r>
              <a:rPr lang="en-US" sz="1400" dirty="0">
                <a:solidFill>
                  <a:srgbClr val="94A3B8"/>
                </a:solidFill>
                <a:latin typeface="Calibri" pitchFamily="34" charset="0"/>
                <a:ea typeface="Calibri" pitchFamily="34" charset="-122"/>
                <a:cs typeface="Calibri" pitchFamily="34" charset="-120"/>
              </a:rPr>
              <a:t>It applies rules to decide whether to Allow, Block, Count, or Challenge each request. It sits between the public internet and your origin (ALB, CloudFront, API Gateway, App Runner) and protects against common web attacks — SQL injection, XSS, bad bots, DDoS, and brute-force.</a:t>
            </a:r>
            <a:endParaRPr lang="en-US" sz="1400" dirty="0"/>
          </a:p>
        </p:txBody>
      </p:sp>
      <p:sp>
        <p:nvSpPr>
          <p:cNvPr id="10" name="Text 7"/>
          <p:cNvSpPr/>
          <p:nvPr/>
        </p:nvSpPr>
        <p:spPr>
          <a:xfrm>
            <a:off x="457200" y="3657600"/>
            <a:ext cx="11247120" cy="365760"/>
          </a:xfrm>
          <a:prstGeom prst="rect">
            <a:avLst/>
          </a:prstGeom>
          <a:noFill/>
          <a:ln/>
        </p:spPr>
        <p:txBody>
          <a:bodyPr wrap="square" rtlCol="0" anchor="ctr"/>
          <a:lstStyle/>
          <a:p>
            <a:pPr indent="0" marL="0">
              <a:buNone/>
            </a:pPr>
            <a:r>
              <a:rPr lang="en-US" sz="1600" b="1" dirty="0">
                <a:solidFill>
                  <a:srgbClr val="14B8A6"/>
                </a:solidFill>
                <a:latin typeface="Calibri" pitchFamily="34" charset="0"/>
                <a:ea typeface="Calibri" pitchFamily="34" charset="-122"/>
                <a:cs typeface="Calibri" pitchFamily="34" charset="-120"/>
              </a:rPr>
              <a:t>Typical request path</a:t>
            </a:r>
            <a:endParaRPr lang="en-US" sz="1600" dirty="0"/>
          </a:p>
        </p:txBody>
      </p:sp>
      <p:sp>
        <p:nvSpPr>
          <p:cNvPr id="11" name="Shape 8"/>
          <p:cNvSpPr/>
          <p:nvPr/>
        </p:nvSpPr>
        <p:spPr>
          <a:xfrm>
            <a:off x="928116" y="4343400"/>
            <a:ext cx="1737360" cy="1371600"/>
          </a:xfrm>
          <a:prstGeom prst="roundRect">
            <a:avLst>
              <a:gd name="adj" fmla="val 5333"/>
            </a:avLst>
          </a:prstGeom>
          <a:solidFill>
            <a:srgbClr val="1A2744"/>
          </a:solidFill>
          <a:ln/>
        </p:spPr>
      </p:sp>
      <p:sp>
        <p:nvSpPr>
          <p:cNvPr id="12" name="Shape 9"/>
          <p:cNvSpPr/>
          <p:nvPr/>
        </p:nvSpPr>
        <p:spPr>
          <a:xfrm>
            <a:off x="1476756" y="4526280"/>
            <a:ext cx="640080" cy="640080"/>
          </a:xfrm>
          <a:prstGeom prst="ellipse">
            <a:avLst/>
          </a:prstGeom>
          <a:solidFill>
            <a:srgbClr val="0D9488"/>
          </a:solidFill>
          <a:ln/>
        </p:spPr>
      </p:sp>
      <p:pic>
        <p:nvPicPr>
          <p:cNvPr id="13" name="Image 1" descr="preencoded.png">    </p:cNvPr>
          <p:cNvPicPr>
            <a:picLocks noChangeAspect="1"/>
          </p:cNvPicPr>
          <p:nvPr/>
        </p:nvPicPr>
        <p:blipFill>
          <a:blip r:embed="rId2"/>
          <a:stretch>
            <a:fillRect/>
          </a:stretch>
        </p:blipFill>
        <p:spPr>
          <a:xfrm>
            <a:off x="1617574" y="4667098"/>
            <a:ext cx="358445" cy="358445"/>
          </a:xfrm>
          <a:prstGeom prst="rect">
            <a:avLst/>
          </a:prstGeom>
        </p:spPr>
      </p:pic>
      <p:sp>
        <p:nvSpPr>
          <p:cNvPr id="14" name="Text 10"/>
          <p:cNvSpPr/>
          <p:nvPr/>
        </p:nvSpPr>
        <p:spPr>
          <a:xfrm>
            <a:off x="928116" y="5257800"/>
            <a:ext cx="17373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Client</a:t>
            </a:r>
            <a:endParaRPr lang="en-US" sz="1300" dirty="0"/>
          </a:p>
        </p:txBody>
      </p:sp>
      <p:pic>
        <p:nvPicPr>
          <p:cNvPr id="15" name="Image 2" descr="preencoded.png">    </p:cNvPr>
          <p:cNvPicPr>
            <a:picLocks noChangeAspect="1"/>
          </p:cNvPicPr>
          <p:nvPr/>
        </p:nvPicPr>
        <p:blipFill>
          <a:blip r:embed="rId3"/>
          <a:stretch>
            <a:fillRect/>
          </a:stretch>
        </p:blipFill>
        <p:spPr>
          <a:xfrm>
            <a:off x="2711196" y="4846320"/>
            <a:ext cx="320040" cy="320040"/>
          </a:xfrm>
          <a:prstGeom prst="rect">
            <a:avLst/>
          </a:prstGeom>
        </p:spPr>
      </p:pic>
      <p:sp>
        <p:nvSpPr>
          <p:cNvPr id="16" name="Shape 11"/>
          <p:cNvSpPr/>
          <p:nvPr/>
        </p:nvSpPr>
        <p:spPr>
          <a:xfrm>
            <a:off x="3076956" y="4343400"/>
            <a:ext cx="1737360" cy="1371600"/>
          </a:xfrm>
          <a:prstGeom prst="roundRect">
            <a:avLst>
              <a:gd name="adj" fmla="val 5333"/>
            </a:avLst>
          </a:prstGeom>
          <a:solidFill>
            <a:srgbClr val="1A2744"/>
          </a:solidFill>
          <a:ln/>
        </p:spPr>
      </p:sp>
      <p:sp>
        <p:nvSpPr>
          <p:cNvPr id="17" name="Shape 12"/>
          <p:cNvSpPr/>
          <p:nvPr/>
        </p:nvSpPr>
        <p:spPr>
          <a:xfrm>
            <a:off x="3625596" y="4526280"/>
            <a:ext cx="640080" cy="640080"/>
          </a:xfrm>
          <a:prstGeom prst="ellipse">
            <a:avLst/>
          </a:prstGeom>
          <a:solidFill>
            <a:srgbClr val="0D9488"/>
          </a:solidFill>
          <a:ln/>
        </p:spPr>
      </p:sp>
      <p:pic>
        <p:nvPicPr>
          <p:cNvPr id="18" name="Image 3" descr="preencoded.png">    </p:cNvPr>
          <p:cNvPicPr>
            <a:picLocks noChangeAspect="1"/>
          </p:cNvPicPr>
          <p:nvPr/>
        </p:nvPicPr>
        <p:blipFill>
          <a:blip r:embed="rId4"/>
          <a:stretch>
            <a:fillRect/>
          </a:stretch>
        </p:blipFill>
        <p:spPr>
          <a:xfrm>
            <a:off x="3766414" y="4667098"/>
            <a:ext cx="358445" cy="358445"/>
          </a:xfrm>
          <a:prstGeom prst="rect">
            <a:avLst/>
          </a:prstGeom>
        </p:spPr>
      </p:pic>
      <p:sp>
        <p:nvSpPr>
          <p:cNvPr id="19" name="Text 13"/>
          <p:cNvSpPr/>
          <p:nvPr/>
        </p:nvSpPr>
        <p:spPr>
          <a:xfrm>
            <a:off x="3076956" y="5257800"/>
            <a:ext cx="17373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DNS</a:t>
            </a:r>
            <a:endParaRPr lang="en-US" sz="1300" dirty="0"/>
          </a:p>
        </p:txBody>
      </p:sp>
      <p:pic>
        <p:nvPicPr>
          <p:cNvPr id="20" name="Image 4" descr="preencoded.png">    </p:cNvPr>
          <p:cNvPicPr>
            <a:picLocks noChangeAspect="1"/>
          </p:cNvPicPr>
          <p:nvPr/>
        </p:nvPicPr>
        <p:blipFill>
          <a:blip r:embed="rId5"/>
          <a:stretch>
            <a:fillRect/>
          </a:stretch>
        </p:blipFill>
        <p:spPr>
          <a:xfrm>
            <a:off x="4860036" y="4846320"/>
            <a:ext cx="320040" cy="320040"/>
          </a:xfrm>
          <a:prstGeom prst="rect">
            <a:avLst/>
          </a:prstGeom>
        </p:spPr>
      </p:pic>
      <p:sp>
        <p:nvSpPr>
          <p:cNvPr id="21" name="Shape 14"/>
          <p:cNvSpPr/>
          <p:nvPr/>
        </p:nvSpPr>
        <p:spPr>
          <a:xfrm>
            <a:off x="5225796" y="4343400"/>
            <a:ext cx="1737360" cy="1371600"/>
          </a:xfrm>
          <a:prstGeom prst="roundRect">
            <a:avLst>
              <a:gd name="adj" fmla="val 5333"/>
            </a:avLst>
          </a:prstGeom>
          <a:solidFill>
            <a:srgbClr val="1A2744"/>
          </a:solidFill>
          <a:ln/>
        </p:spPr>
      </p:sp>
      <p:sp>
        <p:nvSpPr>
          <p:cNvPr id="22" name="Shape 15"/>
          <p:cNvSpPr/>
          <p:nvPr/>
        </p:nvSpPr>
        <p:spPr>
          <a:xfrm>
            <a:off x="5774436" y="4526280"/>
            <a:ext cx="640080" cy="640080"/>
          </a:xfrm>
          <a:prstGeom prst="ellipse">
            <a:avLst/>
          </a:prstGeom>
          <a:solidFill>
            <a:srgbClr val="0D9488"/>
          </a:solidFill>
          <a:ln/>
        </p:spPr>
      </p:sp>
      <p:pic>
        <p:nvPicPr>
          <p:cNvPr id="23" name="Image 5" descr="preencoded.png">    </p:cNvPr>
          <p:cNvPicPr>
            <a:picLocks noChangeAspect="1"/>
          </p:cNvPicPr>
          <p:nvPr/>
        </p:nvPicPr>
        <p:blipFill>
          <a:blip r:embed="rId6"/>
          <a:stretch>
            <a:fillRect/>
          </a:stretch>
        </p:blipFill>
        <p:spPr>
          <a:xfrm>
            <a:off x="5915254" y="4667098"/>
            <a:ext cx="358445" cy="358445"/>
          </a:xfrm>
          <a:prstGeom prst="rect">
            <a:avLst/>
          </a:prstGeom>
        </p:spPr>
      </p:pic>
      <p:sp>
        <p:nvSpPr>
          <p:cNvPr id="24" name="Text 16"/>
          <p:cNvSpPr/>
          <p:nvPr/>
        </p:nvSpPr>
        <p:spPr>
          <a:xfrm>
            <a:off x="5225796" y="5257800"/>
            <a:ext cx="17373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WAF</a:t>
            </a:r>
            <a:endParaRPr lang="en-US" sz="1300" dirty="0"/>
          </a:p>
        </p:txBody>
      </p:sp>
      <p:pic>
        <p:nvPicPr>
          <p:cNvPr id="25" name="Image 6" descr="preencoded.png">    </p:cNvPr>
          <p:cNvPicPr>
            <a:picLocks noChangeAspect="1"/>
          </p:cNvPicPr>
          <p:nvPr/>
        </p:nvPicPr>
        <p:blipFill>
          <a:blip r:embed="rId7"/>
          <a:stretch>
            <a:fillRect/>
          </a:stretch>
        </p:blipFill>
        <p:spPr>
          <a:xfrm>
            <a:off x="7008876" y="4846320"/>
            <a:ext cx="320040" cy="320040"/>
          </a:xfrm>
          <a:prstGeom prst="rect">
            <a:avLst/>
          </a:prstGeom>
        </p:spPr>
      </p:pic>
      <p:sp>
        <p:nvSpPr>
          <p:cNvPr id="26" name="Shape 17"/>
          <p:cNvSpPr/>
          <p:nvPr/>
        </p:nvSpPr>
        <p:spPr>
          <a:xfrm>
            <a:off x="7374636" y="4343400"/>
            <a:ext cx="1737360" cy="1371600"/>
          </a:xfrm>
          <a:prstGeom prst="roundRect">
            <a:avLst>
              <a:gd name="adj" fmla="val 5333"/>
            </a:avLst>
          </a:prstGeom>
          <a:solidFill>
            <a:srgbClr val="1A2744"/>
          </a:solidFill>
          <a:ln/>
        </p:spPr>
      </p:sp>
      <p:sp>
        <p:nvSpPr>
          <p:cNvPr id="27" name="Shape 18"/>
          <p:cNvSpPr/>
          <p:nvPr/>
        </p:nvSpPr>
        <p:spPr>
          <a:xfrm>
            <a:off x="7923276" y="4526280"/>
            <a:ext cx="640080" cy="640080"/>
          </a:xfrm>
          <a:prstGeom prst="ellipse">
            <a:avLst/>
          </a:prstGeom>
          <a:solidFill>
            <a:srgbClr val="0D9488"/>
          </a:solidFill>
          <a:ln/>
        </p:spPr>
      </p:sp>
      <p:pic>
        <p:nvPicPr>
          <p:cNvPr id="28" name="Image 7" descr="preencoded.png">    </p:cNvPr>
          <p:cNvPicPr>
            <a:picLocks noChangeAspect="1"/>
          </p:cNvPicPr>
          <p:nvPr/>
        </p:nvPicPr>
        <p:blipFill>
          <a:blip r:embed="rId8"/>
          <a:stretch>
            <a:fillRect/>
          </a:stretch>
        </p:blipFill>
        <p:spPr>
          <a:xfrm>
            <a:off x="8064094" y="4667098"/>
            <a:ext cx="358445" cy="358445"/>
          </a:xfrm>
          <a:prstGeom prst="rect">
            <a:avLst/>
          </a:prstGeom>
        </p:spPr>
      </p:pic>
      <p:sp>
        <p:nvSpPr>
          <p:cNvPr id="29" name="Text 19"/>
          <p:cNvSpPr/>
          <p:nvPr/>
        </p:nvSpPr>
        <p:spPr>
          <a:xfrm>
            <a:off x="7374636" y="5257800"/>
            <a:ext cx="17373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Load Balancer</a:t>
            </a:r>
            <a:endParaRPr lang="en-US" sz="1300" dirty="0"/>
          </a:p>
        </p:txBody>
      </p:sp>
      <p:pic>
        <p:nvPicPr>
          <p:cNvPr id="30" name="Image 8" descr="preencoded.png">    </p:cNvPr>
          <p:cNvPicPr>
            <a:picLocks noChangeAspect="1"/>
          </p:cNvPicPr>
          <p:nvPr/>
        </p:nvPicPr>
        <p:blipFill>
          <a:blip r:embed="rId9"/>
          <a:stretch>
            <a:fillRect/>
          </a:stretch>
        </p:blipFill>
        <p:spPr>
          <a:xfrm>
            <a:off x="9157716" y="4846320"/>
            <a:ext cx="320040" cy="320040"/>
          </a:xfrm>
          <a:prstGeom prst="rect">
            <a:avLst/>
          </a:prstGeom>
        </p:spPr>
      </p:pic>
      <p:sp>
        <p:nvSpPr>
          <p:cNvPr id="31" name="Shape 20"/>
          <p:cNvSpPr/>
          <p:nvPr/>
        </p:nvSpPr>
        <p:spPr>
          <a:xfrm>
            <a:off x="9523476" y="4343400"/>
            <a:ext cx="1737360" cy="1371600"/>
          </a:xfrm>
          <a:prstGeom prst="roundRect">
            <a:avLst>
              <a:gd name="adj" fmla="val 5333"/>
            </a:avLst>
          </a:prstGeom>
          <a:solidFill>
            <a:srgbClr val="1A2744"/>
          </a:solidFill>
          <a:ln/>
        </p:spPr>
      </p:sp>
      <p:sp>
        <p:nvSpPr>
          <p:cNvPr id="32" name="Shape 21"/>
          <p:cNvSpPr/>
          <p:nvPr/>
        </p:nvSpPr>
        <p:spPr>
          <a:xfrm>
            <a:off x="10072116" y="4526280"/>
            <a:ext cx="640080" cy="640080"/>
          </a:xfrm>
          <a:prstGeom prst="ellipse">
            <a:avLst/>
          </a:prstGeom>
          <a:solidFill>
            <a:srgbClr val="0D9488"/>
          </a:solidFill>
          <a:ln/>
        </p:spPr>
      </p:sp>
      <p:pic>
        <p:nvPicPr>
          <p:cNvPr id="33" name="Image 9" descr="preencoded.png">    </p:cNvPr>
          <p:cNvPicPr>
            <a:picLocks noChangeAspect="1"/>
          </p:cNvPicPr>
          <p:nvPr/>
        </p:nvPicPr>
        <p:blipFill>
          <a:blip r:embed="rId10"/>
          <a:stretch>
            <a:fillRect/>
          </a:stretch>
        </p:blipFill>
        <p:spPr>
          <a:xfrm>
            <a:off x="10212934" y="4667098"/>
            <a:ext cx="358445" cy="358445"/>
          </a:xfrm>
          <a:prstGeom prst="rect">
            <a:avLst/>
          </a:prstGeom>
        </p:spPr>
      </p:pic>
      <p:sp>
        <p:nvSpPr>
          <p:cNvPr id="34" name="Text 22"/>
          <p:cNvSpPr/>
          <p:nvPr/>
        </p:nvSpPr>
        <p:spPr>
          <a:xfrm>
            <a:off x="9523476" y="5257800"/>
            <a:ext cx="17373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Application</a:t>
            </a:r>
            <a:endParaRPr lang="en-US" sz="1300" dirty="0"/>
          </a:p>
        </p:txBody>
      </p:sp>
      <p:sp>
        <p:nvSpPr>
          <p:cNvPr id="35" name="Text 23"/>
          <p:cNvSpPr/>
          <p:nvPr/>
        </p:nvSpPr>
        <p:spPr>
          <a:xfrm>
            <a:off x="457200" y="6492240"/>
            <a:ext cx="64008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Lab 083  —  WAF Blocking Legitimate Traffic</a:t>
            </a:r>
            <a:endParaRPr lang="en-US" sz="1000" dirty="0"/>
          </a:p>
        </p:txBody>
      </p:sp>
      <p:sp>
        <p:nvSpPr>
          <p:cNvPr id="36" name="Text 24"/>
          <p:cNvSpPr/>
          <p:nvPr/>
        </p:nvSpPr>
        <p:spPr>
          <a:xfrm>
            <a:off x="11247120"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AWS WAF at a glance</a:t>
            </a:r>
            <a:endParaRPr lang="en-US" sz="2800" dirty="0"/>
          </a:p>
        </p:txBody>
      </p:sp>
      <p:sp>
        <p:nvSpPr>
          <p:cNvPr id="3" name="Text 1"/>
          <p:cNvSpPr/>
          <p:nvPr/>
        </p:nvSpPr>
        <p:spPr>
          <a:xfrm>
            <a:off x="457200" y="822960"/>
            <a:ext cx="11247120" cy="365760"/>
          </a:xfrm>
          <a:prstGeom prst="rect">
            <a:avLst/>
          </a:prstGeom>
          <a:noFill/>
          <a:ln/>
        </p:spPr>
        <p:txBody>
          <a:bodyPr wrap="square" rtlCol="0" anchor="ctr"/>
          <a:lstStyle/>
          <a:p>
            <a:pPr indent="0" marL="0">
              <a:buNone/>
            </a:pPr>
            <a:r>
              <a:rPr lang="en-US" sz="1400" dirty="0">
                <a:solidFill>
                  <a:srgbClr val="14B8A6"/>
                </a:solidFill>
                <a:latin typeface="Calibri" pitchFamily="34" charset="0"/>
                <a:ea typeface="Calibri" pitchFamily="34" charset="-122"/>
                <a:cs typeface="Calibri" pitchFamily="34" charset="-120"/>
              </a:rPr>
              <a:t>The hierarchy of resources that make up a WAF deployment</a:t>
            </a:r>
            <a:endParaRPr lang="en-US" sz="1400" dirty="0"/>
          </a:p>
        </p:txBody>
      </p:sp>
      <p:sp>
        <p:nvSpPr>
          <p:cNvPr id="4" name="Shape 2"/>
          <p:cNvSpPr/>
          <p:nvPr/>
        </p:nvSpPr>
        <p:spPr>
          <a:xfrm>
            <a:off x="457200" y="1234440"/>
            <a:ext cx="457200" cy="36576"/>
          </a:xfrm>
          <a:prstGeom prst="rect">
            <a:avLst/>
          </a:prstGeom>
          <a:solidFill>
            <a:srgbClr val="0D9488"/>
          </a:solidFill>
          <a:ln/>
        </p:spPr>
      </p:sp>
      <p:sp>
        <p:nvSpPr>
          <p:cNvPr id="5" name="Shape 3"/>
          <p:cNvSpPr/>
          <p:nvPr/>
        </p:nvSpPr>
        <p:spPr>
          <a:xfrm>
            <a:off x="457200" y="1600200"/>
            <a:ext cx="3566160" cy="1691640"/>
          </a:xfrm>
          <a:prstGeom prst="roundRect">
            <a:avLst>
              <a:gd name="adj" fmla="val 4324"/>
            </a:avLst>
          </a:prstGeom>
          <a:solidFill>
            <a:srgbClr val="1A2744"/>
          </a:solidFill>
          <a:ln/>
        </p:spPr>
      </p:sp>
      <p:sp>
        <p:nvSpPr>
          <p:cNvPr id="6" name="Shape 4"/>
          <p:cNvSpPr/>
          <p:nvPr/>
        </p:nvSpPr>
        <p:spPr>
          <a:xfrm>
            <a:off x="685800" y="1828800"/>
            <a:ext cx="502920" cy="50292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796442" y="1939442"/>
            <a:ext cx="281635" cy="281635"/>
          </a:xfrm>
          <a:prstGeom prst="rect">
            <a:avLst/>
          </a:prstGeom>
        </p:spPr>
      </p:pic>
      <p:sp>
        <p:nvSpPr>
          <p:cNvPr id="8" name="Text 5"/>
          <p:cNvSpPr/>
          <p:nvPr/>
        </p:nvSpPr>
        <p:spPr>
          <a:xfrm>
            <a:off x="1325880" y="1828800"/>
            <a:ext cx="2560320" cy="365760"/>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Web ACL</a:t>
            </a:r>
            <a:endParaRPr lang="en-US" sz="1500" dirty="0"/>
          </a:p>
        </p:txBody>
      </p:sp>
      <p:sp>
        <p:nvSpPr>
          <p:cNvPr id="9" name="Text 6"/>
          <p:cNvSpPr/>
          <p:nvPr/>
        </p:nvSpPr>
        <p:spPr>
          <a:xfrm>
            <a:off x="685800" y="2377440"/>
            <a:ext cx="3108960" cy="8686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Top-level container. Attached to an ALB / CloudFront / API Gateway. Holds rules and a default action.</a:t>
            </a:r>
            <a:endParaRPr lang="en-US" sz="1100" dirty="0"/>
          </a:p>
        </p:txBody>
      </p:sp>
      <p:sp>
        <p:nvSpPr>
          <p:cNvPr id="10" name="Shape 7"/>
          <p:cNvSpPr/>
          <p:nvPr/>
        </p:nvSpPr>
        <p:spPr>
          <a:xfrm>
            <a:off x="4206240" y="1600200"/>
            <a:ext cx="3566160" cy="1691640"/>
          </a:xfrm>
          <a:prstGeom prst="roundRect">
            <a:avLst>
              <a:gd name="adj" fmla="val 4324"/>
            </a:avLst>
          </a:prstGeom>
          <a:solidFill>
            <a:srgbClr val="1A2744"/>
          </a:solidFill>
          <a:ln/>
        </p:spPr>
      </p:sp>
      <p:sp>
        <p:nvSpPr>
          <p:cNvPr id="11" name="Shape 8"/>
          <p:cNvSpPr/>
          <p:nvPr/>
        </p:nvSpPr>
        <p:spPr>
          <a:xfrm>
            <a:off x="4434840" y="1828800"/>
            <a:ext cx="502920" cy="502920"/>
          </a:xfrm>
          <a:prstGeom prst="ellipse">
            <a:avLst/>
          </a:prstGeom>
          <a:solidFill>
            <a:srgbClr val="0D9488"/>
          </a:solidFill>
          <a:ln/>
        </p:spPr>
      </p:sp>
      <p:pic>
        <p:nvPicPr>
          <p:cNvPr id="12" name="Image 1" descr="preencoded.png">    </p:cNvPr>
          <p:cNvPicPr>
            <a:picLocks noChangeAspect="1"/>
          </p:cNvPicPr>
          <p:nvPr/>
        </p:nvPicPr>
        <p:blipFill>
          <a:blip r:embed="rId2"/>
          <a:stretch>
            <a:fillRect/>
          </a:stretch>
        </p:blipFill>
        <p:spPr>
          <a:xfrm>
            <a:off x="4545482" y="1939442"/>
            <a:ext cx="281635" cy="281635"/>
          </a:xfrm>
          <a:prstGeom prst="rect">
            <a:avLst/>
          </a:prstGeom>
        </p:spPr>
      </p:pic>
      <p:sp>
        <p:nvSpPr>
          <p:cNvPr id="13" name="Text 9"/>
          <p:cNvSpPr/>
          <p:nvPr/>
        </p:nvSpPr>
        <p:spPr>
          <a:xfrm>
            <a:off x="5074920" y="1828800"/>
            <a:ext cx="2560320" cy="365760"/>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Rule</a:t>
            </a:r>
            <a:endParaRPr lang="en-US" sz="1500" dirty="0"/>
          </a:p>
        </p:txBody>
      </p:sp>
      <p:sp>
        <p:nvSpPr>
          <p:cNvPr id="14" name="Text 10"/>
          <p:cNvSpPr/>
          <p:nvPr/>
        </p:nvSpPr>
        <p:spPr>
          <a:xfrm>
            <a:off x="4434840" y="2377440"/>
            <a:ext cx="3108960" cy="8686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Has a name, priority, statement, and action (Allow / Block / Count / Captcha / Challenge).</a:t>
            </a:r>
            <a:endParaRPr lang="en-US" sz="1100" dirty="0"/>
          </a:p>
        </p:txBody>
      </p:sp>
      <p:sp>
        <p:nvSpPr>
          <p:cNvPr id="15" name="Shape 11"/>
          <p:cNvSpPr/>
          <p:nvPr/>
        </p:nvSpPr>
        <p:spPr>
          <a:xfrm>
            <a:off x="7955280" y="1600200"/>
            <a:ext cx="3566160" cy="1691640"/>
          </a:xfrm>
          <a:prstGeom prst="roundRect">
            <a:avLst>
              <a:gd name="adj" fmla="val 4324"/>
            </a:avLst>
          </a:prstGeom>
          <a:solidFill>
            <a:srgbClr val="1A2744"/>
          </a:solidFill>
          <a:ln/>
        </p:spPr>
      </p:sp>
      <p:sp>
        <p:nvSpPr>
          <p:cNvPr id="16" name="Shape 12"/>
          <p:cNvSpPr/>
          <p:nvPr/>
        </p:nvSpPr>
        <p:spPr>
          <a:xfrm>
            <a:off x="8183880" y="1828800"/>
            <a:ext cx="502920" cy="502920"/>
          </a:xfrm>
          <a:prstGeom prst="ellipse">
            <a:avLst/>
          </a:prstGeom>
          <a:solidFill>
            <a:srgbClr val="0D9488"/>
          </a:solidFill>
          <a:ln/>
        </p:spPr>
      </p:sp>
      <p:pic>
        <p:nvPicPr>
          <p:cNvPr id="17" name="Image 2" descr="preencoded.png">    </p:cNvPr>
          <p:cNvPicPr>
            <a:picLocks noChangeAspect="1"/>
          </p:cNvPicPr>
          <p:nvPr/>
        </p:nvPicPr>
        <p:blipFill>
          <a:blip r:embed="rId3"/>
          <a:stretch>
            <a:fillRect/>
          </a:stretch>
        </p:blipFill>
        <p:spPr>
          <a:xfrm>
            <a:off x="8294522" y="1939442"/>
            <a:ext cx="281635" cy="281635"/>
          </a:xfrm>
          <a:prstGeom prst="rect">
            <a:avLst/>
          </a:prstGeom>
        </p:spPr>
      </p:pic>
      <p:sp>
        <p:nvSpPr>
          <p:cNvPr id="18" name="Text 13"/>
          <p:cNvSpPr/>
          <p:nvPr/>
        </p:nvSpPr>
        <p:spPr>
          <a:xfrm>
            <a:off x="8823960" y="1828800"/>
            <a:ext cx="2560320" cy="365760"/>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Statement</a:t>
            </a:r>
            <a:endParaRPr lang="en-US" sz="1500" dirty="0"/>
          </a:p>
        </p:txBody>
      </p:sp>
      <p:sp>
        <p:nvSpPr>
          <p:cNvPr id="19" name="Text 14"/>
          <p:cNvSpPr/>
          <p:nvPr/>
        </p:nvSpPr>
        <p:spPr>
          <a:xfrm>
            <a:off x="8183880" y="2377440"/>
            <a:ext cx="3108960" cy="8686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The match logic — IP set, rate limit, geo match, regex, SQL injection, etc. Can be combined with AND/OR/NOT.</a:t>
            </a:r>
            <a:endParaRPr lang="en-US" sz="1100" dirty="0"/>
          </a:p>
        </p:txBody>
      </p:sp>
      <p:sp>
        <p:nvSpPr>
          <p:cNvPr id="20" name="Shape 15"/>
          <p:cNvSpPr/>
          <p:nvPr/>
        </p:nvSpPr>
        <p:spPr>
          <a:xfrm>
            <a:off x="457200" y="3566160"/>
            <a:ext cx="3566160" cy="1691640"/>
          </a:xfrm>
          <a:prstGeom prst="roundRect">
            <a:avLst>
              <a:gd name="adj" fmla="val 4324"/>
            </a:avLst>
          </a:prstGeom>
          <a:solidFill>
            <a:srgbClr val="1A2744"/>
          </a:solidFill>
          <a:ln/>
        </p:spPr>
      </p:sp>
      <p:sp>
        <p:nvSpPr>
          <p:cNvPr id="21" name="Shape 16"/>
          <p:cNvSpPr/>
          <p:nvPr/>
        </p:nvSpPr>
        <p:spPr>
          <a:xfrm>
            <a:off x="685800" y="3794760"/>
            <a:ext cx="502920" cy="502920"/>
          </a:xfrm>
          <a:prstGeom prst="ellipse">
            <a:avLst/>
          </a:prstGeom>
          <a:solidFill>
            <a:srgbClr val="0D9488"/>
          </a:solidFill>
          <a:ln/>
        </p:spPr>
      </p:sp>
      <p:pic>
        <p:nvPicPr>
          <p:cNvPr id="22" name="Image 3" descr="preencoded.png">    </p:cNvPr>
          <p:cNvPicPr>
            <a:picLocks noChangeAspect="1"/>
          </p:cNvPicPr>
          <p:nvPr/>
        </p:nvPicPr>
        <p:blipFill>
          <a:blip r:embed="rId4"/>
          <a:stretch>
            <a:fillRect/>
          </a:stretch>
        </p:blipFill>
        <p:spPr>
          <a:xfrm>
            <a:off x="796442" y="3905402"/>
            <a:ext cx="281635" cy="281635"/>
          </a:xfrm>
          <a:prstGeom prst="rect">
            <a:avLst/>
          </a:prstGeom>
        </p:spPr>
      </p:pic>
      <p:sp>
        <p:nvSpPr>
          <p:cNvPr id="23" name="Text 17"/>
          <p:cNvSpPr/>
          <p:nvPr/>
        </p:nvSpPr>
        <p:spPr>
          <a:xfrm>
            <a:off x="1325880" y="3794760"/>
            <a:ext cx="2560320" cy="365760"/>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IP Set</a:t>
            </a:r>
            <a:endParaRPr lang="en-US" sz="1500" dirty="0"/>
          </a:p>
        </p:txBody>
      </p:sp>
      <p:sp>
        <p:nvSpPr>
          <p:cNvPr id="24" name="Text 18"/>
          <p:cNvSpPr/>
          <p:nvPr/>
        </p:nvSpPr>
        <p:spPr>
          <a:xfrm>
            <a:off x="685800" y="4343400"/>
            <a:ext cx="3108960" cy="8686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 reusable, named list of CIDR ranges. Referenced by rules via ARN. Action is set by the rule, not the set.</a:t>
            </a:r>
            <a:endParaRPr lang="en-US" sz="1100" dirty="0"/>
          </a:p>
        </p:txBody>
      </p:sp>
      <p:sp>
        <p:nvSpPr>
          <p:cNvPr id="25" name="Shape 19"/>
          <p:cNvSpPr/>
          <p:nvPr/>
        </p:nvSpPr>
        <p:spPr>
          <a:xfrm>
            <a:off x="4206240" y="3566160"/>
            <a:ext cx="3566160" cy="1691640"/>
          </a:xfrm>
          <a:prstGeom prst="roundRect">
            <a:avLst>
              <a:gd name="adj" fmla="val 4324"/>
            </a:avLst>
          </a:prstGeom>
          <a:solidFill>
            <a:srgbClr val="1A2744"/>
          </a:solidFill>
          <a:ln/>
        </p:spPr>
      </p:sp>
      <p:sp>
        <p:nvSpPr>
          <p:cNvPr id="26" name="Shape 20"/>
          <p:cNvSpPr/>
          <p:nvPr/>
        </p:nvSpPr>
        <p:spPr>
          <a:xfrm>
            <a:off x="4434840" y="3794760"/>
            <a:ext cx="502920" cy="502920"/>
          </a:xfrm>
          <a:prstGeom prst="ellipse">
            <a:avLst/>
          </a:prstGeom>
          <a:solidFill>
            <a:srgbClr val="0D9488"/>
          </a:solidFill>
          <a:ln/>
        </p:spPr>
      </p:sp>
      <p:pic>
        <p:nvPicPr>
          <p:cNvPr id="27" name="Image 4" descr="preencoded.png">    </p:cNvPr>
          <p:cNvPicPr>
            <a:picLocks noChangeAspect="1"/>
          </p:cNvPicPr>
          <p:nvPr/>
        </p:nvPicPr>
        <p:blipFill>
          <a:blip r:embed="rId5"/>
          <a:stretch>
            <a:fillRect/>
          </a:stretch>
        </p:blipFill>
        <p:spPr>
          <a:xfrm>
            <a:off x="4545482" y="3905402"/>
            <a:ext cx="281635" cy="281635"/>
          </a:xfrm>
          <a:prstGeom prst="rect">
            <a:avLst/>
          </a:prstGeom>
        </p:spPr>
      </p:pic>
      <p:sp>
        <p:nvSpPr>
          <p:cNvPr id="28" name="Text 21"/>
          <p:cNvSpPr/>
          <p:nvPr/>
        </p:nvSpPr>
        <p:spPr>
          <a:xfrm>
            <a:off x="5074920" y="3794760"/>
            <a:ext cx="2560320" cy="365760"/>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Rule Group</a:t>
            </a:r>
            <a:endParaRPr lang="en-US" sz="1500" dirty="0"/>
          </a:p>
        </p:txBody>
      </p:sp>
      <p:sp>
        <p:nvSpPr>
          <p:cNvPr id="29" name="Text 22"/>
          <p:cNvSpPr/>
          <p:nvPr/>
        </p:nvSpPr>
        <p:spPr>
          <a:xfrm>
            <a:off x="4434840" y="4343400"/>
            <a:ext cx="3108960" cy="8686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 reusable bundle of rules. Can be shared across Web ACLs. AWS-managed rule groups exist for common threats.</a:t>
            </a:r>
            <a:endParaRPr lang="en-US" sz="1100" dirty="0"/>
          </a:p>
        </p:txBody>
      </p:sp>
      <p:sp>
        <p:nvSpPr>
          <p:cNvPr id="30" name="Shape 23"/>
          <p:cNvSpPr/>
          <p:nvPr/>
        </p:nvSpPr>
        <p:spPr>
          <a:xfrm>
            <a:off x="7955280" y="3566160"/>
            <a:ext cx="3566160" cy="1691640"/>
          </a:xfrm>
          <a:prstGeom prst="roundRect">
            <a:avLst>
              <a:gd name="adj" fmla="val 4324"/>
            </a:avLst>
          </a:prstGeom>
          <a:solidFill>
            <a:srgbClr val="1A2744"/>
          </a:solidFill>
          <a:ln/>
        </p:spPr>
      </p:sp>
      <p:sp>
        <p:nvSpPr>
          <p:cNvPr id="31" name="Shape 24"/>
          <p:cNvSpPr/>
          <p:nvPr/>
        </p:nvSpPr>
        <p:spPr>
          <a:xfrm>
            <a:off x="8183880" y="3794760"/>
            <a:ext cx="502920" cy="502920"/>
          </a:xfrm>
          <a:prstGeom prst="ellipse">
            <a:avLst/>
          </a:prstGeom>
          <a:solidFill>
            <a:srgbClr val="0D9488"/>
          </a:solidFill>
          <a:ln/>
        </p:spPr>
      </p:sp>
      <p:pic>
        <p:nvPicPr>
          <p:cNvPr id="32" name="Image 5" descr="preencoded.png">    </p:cNvPr>
          <p:cNvPicPr>
            <a:picLocks noChangeAspect="1"/>
          </p:cNvPicPr>
          <p:nvPr/>
        </p:nvPicPr>
        <p:blipFill>
          <a:blip r:embed="rId6"/>
          <a:stretch>
            <a:fillRect/>
          </a:stretch>
        </p:blipFill>
        <p:spPr>
          <a:xfrm>
            <a:off x="8294522" y="3905402"/>
            <a:ext cx="281635" cy="281635"/>
          </a:xfrm>
          <a:prstGeom prst="rect">
            <a:avLst/>
          </a:prstGeom>
        </p:spPr>
      </p:pic>
      <p:sp>
        <p:nvSpPr>
          <p:cNvPr id="33" name="Text 25"/>
          <p:cNvSpPr/>
          <p:nvPr/>
        </p:nvSpPr>
        <p:spPr>
          <a:xfrm>
            <a:off x="8823960" y="3794760"/>
            <a:ext cx="2560320" cy="365760"/>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Default Action</a:t>
            </a:r>
            <a:endParaRPr lang="en-US" sz="1500" dirty="0"/>
          </a:p>
        </p:txBody>
      </p:sp>
      <p:sp>
        <p:nvSpPr>
          <p:cNvPr id="34" name="Text 26"/>
          <p:cNvSpPr/>
          <p:nvPr/>
        </p:nvSpPr>
        <p:spPr>
          <a:xfrm>
            <a:off x="8183880" y="4343400"/>
            <a:ext cx="3108960" cy="8686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What happens if no rule matches. Usually Allow (default-allow, block-only-bad) but can be Block (default-block, allow-only-good).</a:t>
            </a:r>
            <a:endParaRPr lang="en-US" sz="1100" dirty="0"/>
          </a:p>
        </p:txBody>
      </p:sp>
      <p:sp>
        <p:nvSpPr>
          <p:cNvPr id="35" name="Text 27"/>
          <p:cNvSpPr/>
          <p:nvPr/>
        </p:nvSpPr>
        <p:spPr>
          <a:xfrm>
            <a:off x="457200" y="6492240"/>
            <a:ext cx="64008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Lab 083  —  WAF Blocking Legitimate Traffic</a:t>
            </a:r>
            <a:endParaRPr lang="en-US" sz="1000" dirty="0"/>
          </a:p>
        </p:txBody>
      </p:sp>
      <p:sp>
        <p:nvSpPr>
          <p:cNvPr id="36" name="Text 28"/>
          <p:cNvSpPr/>
          <p:nvPr/>
        </p:nvSpPr>
        <p:spPr>
          <a:xfrm>
            <a:off x="11247120"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is a Web ACL?</a:t>
            </a:r>
            <a:endParaRPr lang="en-US" sz="2800" dirty="0"/>
          </a:p>
        </p:txBody>
      </p:sp>
      <p:sp>
        <p:nvSpPr>
          <p:cNvPr id="3" name="Text 1"/>
          <p:cNvSpPr/>
          <p:nvPr/>
        </p:nvSpPr>
        <p:spPr>
          <a:xfrm>
            <a:off x="457200" y="822960"/>
            <a:ext cx="11247120" cy="365760"/>
          </a:xfrm>
          <a:prstGeom prst="rect">
            <a:avLst/>
          </a:prstGeom>
          <a:noFill/>
          <a:ln/>
        </p:spPr>
        <p:txBody>
          <a:bodyPr wrap="square" rtlCol="0" anchor="ctr"/>
          <a:lstStyle/>
          <a:p>
            <a:pPr indent="0" marL="0">
              <a:buNone/>
            </a:pPr>
            <a:r>
              <a:rPr lang="en-US" sz="1400" dirty="0">
                <a:solidFill>
                  <a:srgbClr val="14B8A6"/>
                </a:solidFill>
                <a:latin typeface="Calibri" pitchFamily="34" charset="0"/>
                <a:ea typeface="Calibri" pitchFamily="34" charset="-122"/>
                <a:cs typeface="Calibri" pitchFamily="34" charset="-120"/>
              </a:rPr>
              <a:t>The top-level container that holds your WAF configuration</a:t>
            </a:r>
            <a:endParaRPr lang="en-US" sz="1400" dirty="0"/>
          </a:p>
        </p:txBody>
      </p:sp>
      <p:sp>
        <p:nvSpPr>
          <p:cNvPr id="4" name="Shape 2"/>
          <p:cNvSpPr/>
          <p:nvPr/>
        </p:nvSpPr>
        <p:spPr>
          <a:xfrm>
            <a:off x="457200" y="1234440"/>
            <a:ext cx="457200" cy="36576"/>
          </a:xfrm>
          <a:prstGeom prst="rect">
            <a:avLst/>
          </a:prstGeom>
          <a:solidFill>
            <a:srgbClr val="0D9488"/>
          </a:solidFill>
          <a:ln/>
        </p:spPr>
      </p:sp>
      <p:sp>
        <p:nvSpPr>
          <p:cNvPr id="5" name="Shape 3"/>
          <p:cNvSpPr/>
          <p:nvPr/>
        </p:nvSpPr>
        <p:spPr>
          <a:xfrm>
            <a:off x="457200" y="1600200"/>
            <a:ext cx="5577840" cy="4572000"/>
          </a:xfrm>
          <a:prstGeom prst="roundRect">
            <a:avLst>
              <a:gd name="adj" fmla="val 1600"/>
            </a:avLst>
          </a:prstGeom>
          <a:solidFill>
            <a:srgbClr val="1A2744"/>
          </a:solidFill>
          <a:ln/>
        </p:spPr>
      </p:sp>
      <p:sp>
        <p:nvSpPr>
          <p:cNvPr id="6" name="Shape 4"/>
          <p:cNvSpPr/>
          <p:nvPr/>
        </p:nvSpPr>
        <p:spPr>
          <a:xfrm>
            <a:off x="685800" y="1828800"/>
            <a:ext cx="548640" cy="54864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806501" y="1949501"/>
            <a:ext cx="307238" cy="307238"/>
          </a:xfrm>
          <a:prstGeom prst="rect">
            <a:avLst/>
          </a:prstGeom>
        </p:spPr>
      </p:pic>
      <p:sp>
        <p:nvSpPr>
          <p:cNvPr id="8" name="Text 5"/>
          <p:cNvSpPr/>
          <p:nvPr/>
        </p:nvSpPr>
        <p:spPr>
          <a:xfrm>
            <a:off x="1371600" y="1874520"/>
            <a:ext cx="457200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`app-waf-acl` in this lab</a:t>
            </a:r>
            <a:endParaRPr lang="en-US" sz="1600" dirty="0"/>
          </a:p>
        </p:txBody>
      </p:sp>
      <p:sp>
        <p:nvSpPr>
          <p:cNvPr id="9" name="Text 6"/>
          <p:cNvSpPr/>
          <p:nvPr/>
        </p:nvSpPr>
        <p:spPr>
          <a:xfrm>
            <a:off x="731520" y="2377440"/>
            <a:ext cx="5029200" cy="3657600"/>
          </a:xfrm>
          <a:prstGeom prst="rect">
            <a:avLst/>
          </a:prstGeom>
          <a:noFill/>
          <a:ln/>
        </p:spPr>
        <p:txBody>
          <a:bodyPr wrap="square" rtlCol="0" anchor="ctr"/>
          <a:lstStyle/>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A Web ACL (Access Control List) is a container that:</a:t>
            </a:r>
            <a:endParaRPr lang="en-US" sz="1200" dirty="0"/>
          </a:p>
          <a:p>
            <a:pPr indent="0" marL="0">
              <a:lnSpc>
                <a:spcPct val="115000"/>
              </a:lnSpc>
              <a:buNone/>
            </a:pPr>
            <a:endParaRPr lang="en-US" sz="1200" dirty="0"/>
          </a:p>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  Is attached to one or more protected resources (ALB, CloudFront, API Gateway, App Runner)</a:t>
            </a:r>
            <a:endParaRPr lang="en-US" sz="1200" dirty="0"/>
          </a:p>
          <a:p>
            <a:pPr indent="0" marL="0">
              <a:lnSpc>
                <a:spcPct val="115000"/>
              </a:lnSpc>
              <a:buNone/>
            </a:pPr>
            <a:endParaRPr lang="en-US" sz="1200" dirty="0"/>
          </a:p>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  Contains a list of rules, each with a priority</a:t>
            </a:r>
            <a:endParaRPr lang="en-US" sz="1200" dirty="0"/>
          </a:p>
          <a:p>
            <a:pPr indent="0" marL="0">
              <a:lnSpc>
                <a:spcPct val="115000"/>
              </a:lnSpc>
              <a:buNone/>
            </a:pPr>
            <a:endParaRPr lang="en-US" sz="1200" dirty="0"/>
          </a:p>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  Has a default action (Allow or Block) used when no rule matches</a:t>
            </a:r>
            <a:endParaRPr lang="en-US" sz="1200" dirty="0"/>
          </a:p>
          <a:p>
            <a:pPr indent="0" marL="0">
              <a:lnSpc>
                <a:spcPct val="115000"/>
              </a:lnSpc>
              <a:buNone/>
            </a:pPr>
            <a:endParaRPr lang="en-US" sz="1200" dirty="0"/>
          </a:p>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  Has visibility config — CloudWatch metrics, sampled requests</a:t>
            </a:r>
            <a:endParaRPr lang="en-US" sz="1200" dirty="0"/>
          </a:p>
          <a:p>
            <a:pPr indent="0" marL="0">
              <a:lnSpc>
                <a:spcPct val="115000"/>
              </a:lnSpc>
              <a:buNone/>
            </a:pPr>
            <a:endParaRPr lang="en-US" sz="1200" dirty="0"/>
          </a:p>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  Has a scope — REGIONAL or CLOUDFRONT</a:t>
            </a:r>
            <a:endParaRPr lang="en-US" sz="1200" dirty="0"/>
          </a:p>
          <a:p>
            <a:pPr indent="0" marL="0">
              <a:lnSpc>
                <a:spcPct val="115000"/>
              </a:lnSpc>
              <a:buNone/>
            </a:pPr>
            <a:endParaRPr lang="en-US" sz="1200" dirty="0"/>
          </a:p>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  Has a WCU budget (Web ACL Capacity Units, max 1500)</a:t>
            </a:r>
            <a:endParaRPr lang="en-US" sz="1200" dirty="0"/>
          </a:p>
        </p:txBody>
      </p:sp>
      <p:sp>
        <p:nvSpPr>
          <p:cNvPr id="10" name="Shape 7"/>
          <p:cNvSpPr/>
          <p:nvPr/>
        </p:nvSpPr>
        <p:spPr>
          <a:xfrm>
            <a:off x="6263640" y="1600200"/>
            <a:ext cx="5486400" cy="4572000"/>
          </a:xfrm>
          <a:prstGeom prst="roundRect">
            <a:avLst>
              <a:gd name="adj" fmla="val 1600"/>
            </a:avLst>
          </a:prstGeom>
          <a:solidFill>
            <a:srgbClr val="1A2744"/>
          </a:solidFill>
          <a:ln/>
        </p:spPr>
      </p:sp>
      <p:sp>
        <p:nvSpPr>
          <p:cNvPr id="11" name="Text 8"/>
          <p:cNvSpPr/>
          <p:nvPr/>
        </p:nvSpPr>
        <p:spPr>
          <a:xfrm>
            <a:off x="6446520" y="1783080"/>
            <a:ext cx="5212080" cy="365760"/>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Scope: REGIONAL vs CLOUDFRONT</a:t>
            </a:r>
            <a:endParaRPr lang="en-US" sz="1500" dirty="0"/>
          </a:p>
        </p:txBody>
      </p:sp>
      <p:sp>
        <p:nvSpPr>
          <p:cNvPr id="12" name="Text 9"/>
          <p:cNvSpPr/>
          <p:nvPr/>
        </p:nvSpPr>
        <p:spPr>
          <a:xfrm>
            <a:off x="6446520" y="2240280"/>
            <a:ext cx="5212080" cy="1463040"/>
          </a:xfrm>
          <a:prstGeom prst="rect">
            <a:avLst/>
          </a:prstGeom>
          <a:noFill/>
          <a:ln/>
        </p:spPr>
        <p:txBody>
          <a:bodyPr wrap="square" rtlCol="0" anchor="ctr"/>
          <a:lstStyle/>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REGIONAL  —  for ALB, API Gateway, AppSync, App Runner, Cognito user pools. Scoped to a specific AWS region.</a:t>
            </a:r>
            <a:endParaRPr lang="en-US" sz="1200" dirty="0"/>
          </a:p>
          <a:p>
            <a:pPr indent="0" marL="0">
              <a:lnSpc>
                <a:spcPct val="115000"/>
              </a:lnSpc>
              <a:buNone/>
            </a:pPr>
            <a:endParaRPr lang="en-US" sz="1200" dirty="0"/>
          </a:p>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CLOUDFRONT  —  for CloudFront distributions (global). Must be created and queried from us-east-1.</a:t>
            </a:r>
            <a:endParaRPr lang="en-US" sz="1200" dirty="0"/>
          </a:p>
        </p:txBody>
      </p:sp>
      <p:sp>
        <p:nvSpPr>
          <p:cNvPr id="13" name="Text 10"/>
          <p:cNvSpPr/>
          <p:nvPr/>
        </p:nvSpPr>
        <p:spPr>
          <a:xfrm>
            <a:off x="6446520" y="3886200"/>
            <a:ext cx="5212080" cy="365760"/>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WCU (Web ACL Capacity Units)</a:t>
            </a:r>
            <a:endParaRPr lang="en-US" sz="1500" dirty="0"/>
          </a:p>
        </p:txBody>
      </p:sp>
      <p:sp>
        <p:nvSpPr>
          <p:cNvPr id="14" name="Text 11"/>
          <p:cNvSpPr/>
          <p:nvPr/>
        </p:nvSpPr>
        <p:spPr>
          <a:xfrm>
            <a:off x="6446520" y="4343400"/>
            <a:ext cx="5212080" cy="1828800"/>
          </a:xfrm>
          <a:prstGeom prst="rect">
            <a:avLst/>
          </a:prstGeom>
          <a:noFill/>
          <a:ln/>
        </p:spPr>
        <p:txBody>
          <a:bodyPr wrap="square" rtlCol="0" anchor="ctr"/>
          <a:lstStyle/>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Each rule type has a fixed WCU cost:</a:t>
            </a:r>
            <a:endParaRPr lang="en-US" sz="1200" dirty="0"/>
          </a:p>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  IP set reference — 1 WCU</a:t>
            </a:r>
            <a:endParaRPr lang="en-US" sz="1200" dirty="0"/>
          </a:p>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  Geo match — 1 WCU</a:t>
            </a:r>
            <a:endParaRPr lang="en-US" sz="1200" dirty="0"/>
          </a:p>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  Rate-based rule — 2 WCU</a:t>
            </a:r>
            <a:endParaRPr lang="en-US" sz="1200" dirty="0"/>
          </a:p>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  Managed rule groups — variable</a:t>
            </a:r>
            <a:endParaRPr lang="en-US" sz="1200" dirty="0"/>
          </a:p>
          <a:p>
            <a:pPr indent="0" marL="0">
              <a:lnSpc>
                <a:spcPct val="115000"/>
              </a:lnSpc>
              <a:buNone/>
            </a:pPr>
            <a:endParaRPr lang="en-US" sz="1200" dirty="0"/>
          </a:p>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A Web ACL can hold up to 1500 WCU total.</a:t>
            </a:r>
            <a:endParaRPr lang="en-US" sz="1200" dirty="0"/>
          </a:p>
        </p:txBody>
      </p:sp>
      <p:sp>
        <p:nvSpPr>
          <p:cNvPr id="15" name="Text 12"/>
          <p:cNvSpPr/>
          <p:nvPr/>
        </p:nvSpPr>
        <p:spPr>
          <a:xfrm>
            <a:off x="457200" y="6492240"/>
            <a:ext cx="64008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Lab 083  —  WAF Blocking Legitimate Traffic</a:t>
            </a:r>
            <a:endParaRPr lang="en-US" sz="1000" dirty="0"/>
          </a:p>
        </p:txBody>
      </p:sp>
      <p:sp>
        <p:nvSpPr>
          <p:cNvPr id="16" name="Text 13"/>
          <p:cNvSpPr/>
          <p:nvPr/>
        </p:nvSpPr>
        <p:spPr>
          <a:xfrm>
            <a:off x="11247120"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is an IP Set?</a:t>
            </a:r>
            <a:endParaRPr lang="en-US" sz="2800" dirty="0"/>
          </a:p>
        </p:txBody>
      </p:sp>
      <p:sp>
        <p:nvSpPr>
          <p:cNvPr id="3" name="Text 1"/>
          <p:cNvSpPr/>
          <p:nvPr/>
        </p:nvSpPr>
        <p:spPr>
          <a:xfrm>
            <a:off x="457200" y="822960"/>
            <a:ext cx="11247120" cy="365760"/>
          </a:xfrm>
          <a:prstGeom prst="rect">
            <a:avLst/>
          </a:prstGeom>
          <a:noFill/>
          <a:ln/>
        </p:spPr>
        <p:txBody>
          <a:bodyPr wrap="square" rtlCol="0" anchor="ctr"/>
          <a:lstStyle/>
          <a:p>
            <a:pPr indent="0" marL="0">
              <a:buNone/>
            </a:pPr>
            <a:r>
              <a:rPr lang="en-US" sz="1400" dirty="0">
                <a:solidFill>
                  <a:srgbClr val="14B8A6"/>
                </a:solidFill>
                <a:latin typeface="Calibri" pitchFamily="34" charset="0"/>
                <a:ea typeface="Calibri" pitchFamily="34" charset="-122"/>
                <a:cs typeface="Calibri" pitchFamily="34" charset="-120"/>
              </a:rPr>
              <a:t>A reusable list of CIDR ranges, referenced by rules via ARN</a:t>
            </a:r>
            <a:endParaRPr lang="en-US" sz="1400" dirty="0"/>
          </a:p>
        </p:txBody>
      </p:sp>
      <p:sp>
        <p:nvSpPr>
          <p:cNvPr id="4" name="Shape 2"/>
          <p:cNvSpPr/>
          <p:nvPr/>
        </p:nvSpPr>
        <p:spPr>
          <a:xfrm>
            <a:off x="457200" y="1234440"/>
            <a:ext cx="457200" cy="36576"/>
          </a:xfrm>
          <a:prstGeom prst="rect">
            <a:avLst/>
          </a:prstGeom>
          <a:solidFill>
            <a:srgbClr val="0D9488"/>
          </a:solidFill>
          <a:ln/>
        </p:spPr>
      </p:sp>
      <p:sp>
        <p:nvSpPr>
          <p:cNvPr id="5" name="Shape 3"/>
          <p:cNvSpPr/>
          <p:nvPr/>
        </p:nvSpPr>
        <p:spPr>
          <a:xfrm>
            <a:off x="457200" y="1600200"/>
            <a:ext cx="5577840" cy="4572000"/>
          </a:xfrm>
          <a:prstGeom prst="roundRect">
            <a:avLst>
              <a:gd name="adj" fmla="val 1600"/>
            </a:avLst>
          </a:prstGeom>
          <a:solidFill>
            <a:srgbClr val="1A2744"/>
          </a:solidFill>
          <a:ln/>
        </p:spPr>
      </p:sp>
      <p:sp>
        <p:nvSpPr>
          <p:cNvPr id="6" name="Shape 4"/>
          <p:cNvSpPr/>
          <p:nvPr/>
        </p:nvSpPr>
        <p:spPr>
          <a:xfrm>
            <a:off x="685800" y="1828800"/>
            <a:ext cx="548640" cy="54864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806501" y="1949501"/>
            <a:ext cx="307238" cy="307238"/>
          </a:xfrm>
          <a:prstGeom prst="rect">
            <a:avLst/>
          </a:prstGeom>
        </p:spPr>
      </p:pic>
      <p:sp>
        <p:nvSpPr>
          <p:cNvPr id="8" name="Text 5"/>
          <p:cNvSpPr/>
          <p:nvPr/>
        </p:nvSpPr>
        <p:spPr>
          <a:xfrm>
            <a:off x="1371600" y="1874520"/>
            <a:ext cx="457200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IP Set essentials</a:t>
            </a:r>
            <a:endParaRPr lang="en-US" sz="1600" dirty="0"/>
          </a:p>
        </p:txBody>
      </p:sp>
      <p:sp>
        <p:nvSpPr>
          <p:cNvPr id="9" name="Text 6"/>
          <p:cNvSpPr/>
          <p:nvPr/>
        </p:nvSpPr>
        <p:spPr>
          <a:xfrm>
            <a:off x="731520" y="2377440"/>
            <a:ext cx="5029200" cy="3657600"/>
          </a:xfrm>
          <a:prstGeom prst="rect">
            <a:avLst/>
          </a:prstGeom>
          <a:noFill/>
          <a:ln/>
        </p:spPr>
        <p:txBody>
          <a:bodyPr wrap="square" rtlCol="0" anchor="ctr"/>
          <a:lstStyle/>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  A named, standalone resource — separate from any rule or Web ACL</a:t>
            </a:r>
            <a:endParaRPr lang="en-US" sz="1200" dirty="0"/>
          </a:p>
          <a:p>
            <a:pPr indent="0" marL="0">
              <a:lnSpc>
                <a:spcPct val="115000"/>
              </a:lnSpc>
              <a:buNone/>
            </a:pPr>
            <a:endParaRPr lang="en-US" sz="1200" dirty="0"/>
          </a:p>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  Contains a list of IPv4 or IPv6 CIDRs (one version per set)</a:t>
            </a:r>
            <a:endParaRPr lang="en-US" sz="1200" dirty="0"/>
          </a:p>
          <a:p>
            <a:pPr indent="0" marL="0">
              <a:lnSpc>
                <a:spcPct val="115000"/>
              </a:lnSpc>
              <a:buNone/>
            </a:pPr>
            <a:endParaRPr lang="en-US" sz="1200" dirty="0"/>
          </a:p>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  Referenced by rules via ARN (pointer, not value)</a:t>
            </a:r>
            <a:endParaRPr lang="en-US" sz="1200" dirty="0"/>
          </a:p>
          <a:p>
            <a:pPr indent="0" marL="0">
              <a:lnSpc>
                <a:spcPct val="115000"/>
              </a:lnSpc>
              <a:buNone/>
            </a:pPr>
            <a:endParaRPr lang="en-US" sz="1200" dirty="0"/>
          </a:p>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  Can be updated without changing the rules that use it</a:t>
            </a:r>
            <a:endParaRPr lang="en-US" sz="1200" dirty="0"/>
          </a:p>
          <a:p>
            <a:pPr indent="0" marL="0">
              <a:lnSpc>
                <a:spcPct val="115000"/>
              </a:lnSpc>
              <a:buNone/>
            </a:pPr>
            <a:endParaRPr lang="en-US" sz="1200" dirty="0"/>
          </a:p>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  Has a scope (REGIONAL or CLOUDFRONT) matching the Web ACL</a:t>
            </a:r>
            <a:endParaRPr lang="en-US" sz="1200" dirty="0"/>
          </a:p>
          <a:p>
            <a:pPr indent="0" marL="0">
              <a:lnSpc>
                <a:spcPct val="115000"/>
              </a:lnSpc>
              <a:buNone/>
            </a:pPr>
            <a:endParaRPr lang="en-US" sz="1200" dirty="0"/>
          </a:p>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  Has its own LockToken for safe concurrent updates</a:t>
            </a:r>
            <a:endParaRPr lang="en-US" sz="1200" dirty="0"/>
          </a:p>
        </p:txBody>
      </p:sp>
      <p:sp>
        <p:nvSpPr>
          <p:cNvPr id="10" name="Shape 7"/>
          <p:cNvSpPr/>
          <p:nvPr/>
        </p:nvSpPr>
        <p:spPr>
          <a:xfrm>
            <a:off x="6263640" y="1600200"/>
            <a:ext cx="5486400" cy="4572000"/>
          </a:xfrm>
          <a:prstGeom prst="roundRect">
            <a:avLst>
              <a:gd name="adj" fmla="val 1600"/>
            </a:avLst>
          </a:prstGeom>
          <a:solidFill>
            <a:srgbClr val="1A2744"/>
          </a:solidFill>
          <a:ln/>
        </p:spPr>
      </p:sp>
      <p:sp>
        <p:nvSpPr>
          <p:cNvPr id="11" name="Shape 8"/>
          <p:cNvSpPr/>
          <p:nvPr/>
        </p:nvSpPr>
        <p:spPr>
          <a:xfrm>
            <a:off x="6492240" y="1828800"/>
            <a:ext cx="548640" cy="548640"/>
          </a:xfrm>
          <a:prstGeom prst="ellipse">
            <a:avLst/>
          </a:prstGeom>
          <a:solidFill>
            <a:srgbClr val="0D9488"/>
          </a:solidFill>
          <a:ln/>
        </p:spPr>
      </p:sp>
      <p:pic>
        <p:nvPicPr>
          <p:cNvPr id="12" name="Image 1" descr="preencoded.png">    </p:cNvPr>
          <p:cNvPicPr>
            <a:picLocks noChangeAspect="1"/>
          </p:cNvPicPr>
          <p:nvPr/>
        </p:nvPicPr>
        <p:blipFill>
          <a:blip r:embed="rId2"/>
          <a:stretch>
            <a:fillRect/>
          </a:stretch>
        </p:blipFill>
        <p:spPr>
          <a:xfrm>
            <a:off x="6612941" y="1949501"/>
            <a:ext cx="307238" cy="307238"/>
          </a:xfrm>
          <a:prstGeom prst="rect">
            <a:avLst/>
          </a:prstGeom>
        </p:spPr>
      </p:pic>
      <p:sp>
        <p:nvSpPr>
          <p:cNvPr id="13" name="Text 9"/>
          <p:cNvSpPr/>
          <p:nvPr/>
        </p:nvSpPr>
        <p:spPr>
          <a:xfrm>
            <a:off x="7178040" y="1874520"/>
            <a:ext cx="438912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critical concept</a:t>
            </a:r>
            <a:endParaRPr lang="en-US" sz="1600" dirty="0"/>
          </a:p>
        </p:txBody>
      </p:sp>
      <p:sp>
        <p:nvSpPr>
          <p:cNvPr id="14" name="Text 10"/>
          <p:cNvSpPr/>
          <p:nvPr/>
        </p:nvSpPr>
        <p:spPr>
          <a:xfrm>
            <a:off x="6446520" y="2423160"/>
            <a:ext cx="5212080" cy="731520"/>
          </a:xfrm>
          <a:prstGeom prst="rect">
            <a:avLst/>
          </a:prstGeom>
          <a:noFill/>
          <a:ln/>
        </p:spPr>
        <p:txBody>
          <a:bodyPr wrap="square" rtlCol="0" anchor="ctr"/>
          <a:lstStyle/>
          <a:p>
            <a:pPr indent="0" marL="0">
              <a:buNone/>
            </a:pPr>
            <a:r>
              <a:rPr lang="en-US" sz="1500" b="1" i="1" dirty="0">
                <a:solidFill>
                  <a:srgbClr val="14B8A6"/>
                </a:solidFill>
                <a:latin typeface="Calibri" pitchFamily="34" charset="0"/>
                <a:ea typeface="Calibri" pitchFamily="34" charset="-122"/>
                <a:cs typeface="Calibri" pitchFamily="34" charset="-120"/>
              </a:rPr>
              <a:t>The action (Allow / Block) is set by the RULE, not by the IP set.</a:t>
            </a:r>
            <a:endParaRPr lang="en-US" sz="1500" dirty="0"/>
          </a:p>
        </p:txBody>
      </p:sp>
      <p:sp>
        <p:nvSpPr>
          <p:cNvPr id="15" name="Text 11"/>
          <p:cNvSpPr/>
          <p:nvPr/>
        </p:nvSpPr>
        <p:spPr>
          <a:xfrm>
            <a:off x="6446520" y="3246120"/>
            <a:ext cx="5212080" cy="2743200"/>
          </a:xfrm>
          <a:prstGeom prst="rect">
            <a:avLst/>
          </a:prstGeom>
          <a:noFill/>
          <a:ln/>
        </p:spPr>
        <p:txBody>
          <a:bodyPr wrap="square" rtlCol="0" anchor="ctr"/>
          <a:lstStyle/>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An IP set called `trusted-ips` could be attached to a Block rule. AWS won't stop you. The name is just a label — the action comes from the rule.</a:t>
            </a:r>
            <a:endParaRPr lang="en-US" sz="1200" dirty="0"/>
          </a:p>
          <a:p>
            <a:pPr indent="0" marL="0">
              <a:lnSpc>
                <a:spcPct val="115000"/>
              </a:lnSpc>
              <a:buNone/>
            </a:pPr>
            <a:endParaRPr lang="en-US" sz="1200" dirty="0"/>
          </a:p>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This is why mixing trusted and malicious IPs in one set is so dangerous: whatever action the rule has, it applies to every IP in the set.</a:t>
            </a:r>
            <a:endParaRPr lang="en-US" sz="1200" dirty="0"/>
          </a:p>
          <a:p>
            <a:pPr indent="0" marL="0">
              <a:lnSpc>
                <a:spcPct val="115000"/>
              </a:lnSpc>
              <a:buNone/>
            </a:pPr>
            <a:endParaRPr lang="en-US" sz="1200" dirty="0"/>
          </a:p>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Separate IP sets, separate rules, separate actions.</a:t>
            </a:r>
            <a:endParaRPr lang="en-US" sz="1200" dirty="0"/>
          </a:p>
        </p:txBody>
      </p:sp>
      <p:sp>
        <p:nvSpPr>
          <p:cNvPr id="16" name="Text 12"/>
          <p:cNvSpPr/>
          <p:nvPr/>
        </p:nvSpPr>
        <p:spPr>
          <a:xfrm>
            <a:off x="457200" y="6492240"/>
            <a:ext cx="64008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Lab 083  —  WAF Blocking Legitimate Traffic</a:t>
            </a:r>
            <a:endParaRPr lang="en-US" sz="1000" dirty="0"/>
          </a:p>
        </p:txBody>
      </p:sp>
      <p:sp>
        <p:nvSpPr>
          <p:cNvPr id="17" name="Text 13"/>
          <p:cNvSpPr/>
          <p:nvPr/>
        </p:nvSpPr>
        <p:spPr>
          <a:xfrm>
            <a:off x="11247120"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CIDR refresher</a:t>
            </a:r>
            <a:endParaRPr lang="en-US" sz="2800" dirty="0"/>
          </a:p>
        </p:txBody>
      </p:sp>
      <p:sp>
        <p:nvSpPr>
          <p:cNvPr id="3" name="Text 1"/>
          <p:cNvSpPr/>
          <p:nvPr/>
        </p:nvSpPr>
        <p:spPr>
          <a:xfrm>
            <a:off x="457200" y="822960"/>
            <a:ext cx="11247120" cy="365760"/>
          </a:xfrm>
          <a:prstGeom prst="rect">
            <a:avLst/>
          </a:prstGeom>
          <a:noFill/>
          <a:ln/>
        </p:spPr>
        <p:txBody>
          <a:bodyPr wrap="square" rtlCol="0" anchor="ctr"/>
          <a:lstStyle/>
          <a:p>
            <a:pPr indent="0" marL="0">
              <a:buNone/>
            </a:pPr>
            <a:r>
              <a:rPr lang="en-US" sz="1400" dirty="0">
                <a:solidFill>
                  <a:srgbClr val="14B8A6"/>
                </a:solidFill>
                <a:latin typeface="Calibri" pitchFamily="34" charset="0"/>
                <a:ea typeface="Calibri" pitchFamily="34" charset="-122"/>
                <a:cs typeface="Calibri" pitchFamily="34" charset="-120"/>
              </a:rPr>
              <a:t>Why `10.0.0.0/8` means 'internal network'</a:t>
            </a:r>
            <a:endParaRPr lang="en-US" sz="1400" dirty="0"/>
          </a:p>
        </p:txBody>
      </p:sp>
      <p:sp>
        <p:nvSpPr>
          <p:cNvPr id="4" name="Shape 2"/>
          <p:cNvSpPr/>
          <p:nvPr/>
        </p:nvSpPr>
        <p:spPr>
          <a:xfrm>
            <a:off x="457200" y="1234440"/>
            <a:ext cx="457200" cy="36576"/>
          </a:xfrm>
          <a:prstGeom prst="rect">
            <a:avLst/>
          </a:prstGeom>
          <a:solidFill>
            <a:srgbClr val="0D9488"/>
          </a:solidFill>
          <a:ln/>
        </p:spPr>
      </p:sp>
      <p:sp>
        <p:nvSpPr>
          <p:cNvPr id="5" name="Shape 3"/>
          <p:cNvSpPr/>
          <p:nvPr/>
        </p:nvSpPr>
        <p:spPr>
          <a:xfrm>
            <a:off x="457200" y="1600200"/>
            <a:ext cx="5577840" cy="4572000"/>
          </a:xfrm>
          <a:prstGeom prst="roundRect">
            <a:avLst>
              <a:gd name="adj" fmla="val 1600"/>
            </a:avLst>
          </a:prstGeom>
          <a:solidFill>
            <a:srgbClr val="1A2744"/>
          </a:solidFill>
          <a:ln/>
        </p:spPr>
      </p:sp>
      <p:sp>
        <p:nvSpPr>
          <p:cNvPr id="6" name="Text 4"/>
          <p:cNvSpPr/>
          <p:nvPr/>
        </p:nvSpPr>
        <p:spPr>
          <a:xfrm>
            <a:off x="731520" y="1783080"/>
            <a:ext cx="5029200" cy="365760"/>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CIDR suffix = how many addresses</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2286000"/>
          <a:ext cx="5029200" cy="914400"/>
        </p:xfrm>
        <a:graphic>
          <a:graphicData uri="http://schemas.openxmlformats.org/drawingml/2006/table">
            <a:tbl>
              <a:tblPr/>
              <a:tblGrid>
                <a:gridCol w="1676400"/>
                <a:gridCol w="1676400"/>
                <a:gridCol w="1676400"/>
              </a:tblGrid>
              <a:tr h="41148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Suffix</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0D9488"/>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Addresses</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0D9488"/>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Typical use</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0D9488"/>
                    </a:solidFill>
                  </a:tcPr>
                </a:tc>
              </a:tr>
              <a:tr h="411480">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~16.7 million</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A whole private network block</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r>
              <a:tr h="411480">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65,536</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Large corporate network</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r>
              <a:tr h="411480">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/24</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256</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Typical home / small office subnet</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r>
              <a:tr h="411480">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/32</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1 (exact host)</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Block / allow a single IP</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r>
            </a:tbl>
          </a:graphicData>
        </a:graphic>
      </p:graphicFrame>
      <p:sp>
        <p:nvSpPr>
          <p:cNvPr id="8" name="Shape 5"/>
          <p:cNvSpPr/>
          <p:nvPr/>
        </p:nvSpPr>
        <p:spPr>
          <a:xfrm>
            <a:off x="6263640" y="1600200"/>
            <a:ext cx="5486400" cy="4572000"/>
          </a:xfrm>
          <a:prstGeom prst="roundRect">
            <a:avLst>
              <a:gd name="adj" fmla="val 1600"/>
            </a:avLst>
          </a:prstGeom>
          <a:solidFill>
            <a:srgbClr val="1A2744"/>
          </a:solidFill>
          <a:ln/>
        </p:spPr>
      </p:sp>
      <p:sp>
        <p:nvSpPr>
          <p:cNvPr id="9" name="Text 6"/>
          <p:cNvSpPr/>
          <p:nvPr/>
        </p:nvSpPr>
        <p:spPr>
          <a:xfrm>
            <a:off x="6446520" y="1783080"/>
            <a:ext cx="5212080" cy="365760"/>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RFC 1918 — private address space</a:t>
            </a:r>
            <a:endParaRPr lang="en-US" sz="1500" dirty="0"/>
          </a:p>
        </p:txBody>
      </p:sp>
      <p:sp>
        <p:nvSpPr>
          <p:cNvPr id="10" name="Text 7"/>
          <p:cNvSpPr/>
          <p:nvPr/>
        </p:nvSpPr>
        <p:spPr>
          <a:xfrm>
            <a:off x="6446520" y="2194560"/>
            <a:ext cx="5212080" cy="82296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IANA reserves three CIDR blocks that are never routable on the public internet — they only exist inside private networks.</a:t>
            </a:r>
            <a:endParaRPr lang="en-US" sz="12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446520" y="3017520"/>
          <a:ext cx="5212080" cy="914400"/>
        </p:xfrm>
        <a:graphic>
          <a:graphicData uri="http://schemas.openxmlformats.org/drawingml/2006/table">
            <a:tbl>
              <a:tblPr/>
              <a:tblGrid>
                <a:gridCol w="2606040"/>
                <a:gridCol w="2606040"/>
              </a:tblGrid>
              <a:tr h="41148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CIDR</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0D9488"/>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means</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0D9488"/>
                    </a:solidFill>
                  </a:tcPr>
                </a:tc>
              </a:tr>
              <a:tr h="411480">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10.0.0.0/8</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Corporate / VPC internal</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r>
              <a:tr h="411480">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172.16.0.0/12</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Docker default bridge range</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r>
              <a:tr h="411480">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192.168.0.0/16</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c>
                  <a:txBody>
                    <a:bodyPr/>
                    <a:lstStyle/>
                    <a:p>
                      <a:pPr indent="0" marL="0">
                        <a:buNone/>
                      </a:pPr>
                      <a:r>
                        <a:rPr lang="en-US" sz="1100" dirty="0">
                          <a:solidFill>
                            <a:srgbClr val="94A3B8"/>
                          </a:solidFill>
                          <a:latin typeface="Calibri" pitchFamily="34" charset="0"/>
                          <a:ea typeface="Calibri" pitchFamily="34" charset="-122"/>
                          <a:cs typeface="Calibri" pitchFamily="34" charset="-120"/>
                        </a:rPr>
                        <a:t>Home routers, small office</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r>
            </a:tbl>
          </a:graphicData>
        </a:graphic>
      </p:graphicFrame>
      <p:sp>
        <p:nvSpPr>
          <p:cNvPr id="12" name="Text 8"/>
          <p:cNvSpPr/>
          <p:nvPr/>
        </p:nvSpPr>
        <p:spPr>
          <a:xfrm>
            <a:off x="6446520" y="4846320"/>
            <a:ext cx="5212080" cy="1097280"/>
          </a:xfrm>
          <a:prstGeom prst="rect">
            <a:avLst/>
          </a:prstGeom>
          <a:noFill/>
          <a:ln/>
        </p:spPr>
        <p:txBody>
          <a:bodyPr wrap="square" rtlCol="0" anchor="ctr"/>
          <a:lstStyle/>
          <a:p>
            <a:pPr indent="0" marL="0">
              <a:buNone/>
            </a:pPr>
            <a:r>
              <a:rPr lang="en-US" sz="1200" i="1" dirty="0">
                <a:solidFill>
                  <a:srgbClr val="14B8A6"/>
                </a:solidFill>
                <a:latin typeface="Calibri" pitchFamily="34" charset="0"/>
                <a:ea typeface="Calibri" pitchFamily="34" charset="-122"/>
                <a:cs typeface="Calibri" pitchFamily="34" charset="-120"/>
              </a:rPr>
              <a:t>If traffic arrives at your WAF from one of these ranges, it's coming from INSIDE your trusted network — not the public internet.</a:t>
            </a:r>
            <a:endParaRPr lang="en-US" sz="1200" dirty="0"/>
          </a:p>
        </p:txBody>
      </p:sp>
      <p:sp>
        <p:nvSpPr>
          <p:cNvPr id="13" name="Text 9"/>
          <p:cNvSpPr/>
          <p:nvPr/>
        </p:nvSpPr>
        <p:spPr>
          <a:xfrm>
            <a:off x="457200" y="6492240"/>
            <a:ext cx="64008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Lab 083  —  WAF Blocking Legitimate Traffic</a:t>
            </a:r>
            <a:endParaRPr lang="en-US" sz="1000" dirty="0"/>
          </a:p>
        </p:txBody>
      </p:sp>
      <p:sp>
        <p:nvSpPr>
          <p:cNvPr id="14" name="Text 10"/>
          <p:cNvSpPr/>
          <p:nvPr/>
        </p:nvSpPr>
        <p:spPr>
          <a:xfrm>
            <a:off x="11247120"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Rule priority &amp; evaluation order</a:t>
            </a:r>
            <a:endParaRPr lang="en-US" sz="2800" dirty="0"/>
          </a:p>
        </p:txBody>
      </p:sp>
      <p:sp>
        <p:nvSpPr>
          <p:cNvPr id="3" name="Text 1"/>
          <p:cNvSpPr/>
          <p:nvPr/>
        </p:nvSpPr>
        <p:spPr>
          <a:xfrm>
            <a:off x="457200" y="822960"/>
            <a:ext cx="11247120" cy="365760"/>
          </a:xfrm>
          <a:prstGeom prst="rect">
            <a:avLst/>
          </a:prstGeom>
          <a:noFill/>
          <a:ln/>
        </p:spPr>
        <p:txBody>
          <a:bodyPr wrap="square" rtlCol="0" anchor="ctr"/>
          <a:lstStyle/>
          <a:p>
            <a:pPr indent="0" marL="0">
              <a:buNone/>
            </a:pPr>
            <a:r>
              <a:rPr lang="en-US" sz="1400" dirty="0">
                <a:solidFill>
                  <a:srgbClr val="14B8A6"/>
                </a:solidFill>
                <a:latin typeface="Calibri" pitchFamily="34" charset="0"/>
                <a:ea typeface="Calibri" pitchFamily="34" charset="-122"/>
                <a:cs typeface="Calibri" pitchFamily="34" charset="-120"/>
              </a:rPr>
              <a:t>Lower priority number = evaluated first. WAF stops at the first match.</a:t>
            </a:r>
            <a:endParaRPr lang="en-US" sz="1400" dirty="0"/>
          </a:p>
        </p:txBody>
      </p:sp>
      <p:sp>
        <p:nvSpPr>
          <p:cNvPr id="4" name="Shape 2"/>
          <p:cNvSpPr/>
          <p:nvPr/>
        </p:nvSpPr>
        <p:spPr>
          <a:xfrm>
            <a:off x="457200" y="1234440"/>
            <a:ext cx="457200" cy="36576"/>
          </a:xfrm>
          <a:prstGeom prst="rect">
            <a:avLst/>
          </a:prstGeom>
          <a:solidFill>
            <a:srgbClr val="0D9488"/>
          </a:solidFill>
          <a:ln/>
        </p:spPr>
      </p:sp>
      <p:sp>
        <p:nvSpPr>
          <p:cNvPr id="5" name="Shape 3"/>
          <p:cNvSpPr/>
          <p:nvPr/>
        </p:nvSpPr>
        <p:spPr>
          <a:xfrm>
            <a:off x="457200" y="1600200"/>
            <a:ext cx="11247120" cy="2103120"/>
          </a:xfrm>
          <a:prstGeom prst="roundRect">
            <a:avLst>
              <a:gd name="adj" fmla="val 3478"/>
            </a:avLst>
          </a:prstGeom>
          <a:solidFill>
            <a:srgbClr val="1A2744"/>
          </a:solidFill>
          <a:ln/>
        </p:spPr>
      </p:sp>
      <p:sp>
        <p:nvSpPr>
          <p:cNvPr id="6" name="Shape 4"/>
          <p:cNvSpPr/>
          <p:nvPr/>
        </p:nvSpPr>
        <p:spPr>
          <a:xfrm>
            <a:off x="685800" y="1828800"/>
            <a:ext cx="548640" cy="54864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806501" y="1949501"/>
            <a:ext cx="307238" cy="307238"/>
          </a:xfrm>
          <a:prstGeom prst="rect">
            <a:avLst/>
          </a:prstGeom>
        </p:spPr>
      </p:pic>
      <p:sp>
        <p:nvSpPr>
          <p:cNvPr id="8" name="Text 5"/>
          <p:cNvSpPr/>
          <p:nvPr/>
        </p:nvSpPr>
        <p:spPr>
          <a:xfrm>
            <a:off x="1371600" y="1874520"/>
            <a:ext cx="1014984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How WAF evaluates a request</a:t>
            </a:r>
            <a:endParaRPr lang="en-US" sz="1600" dirty="0"/>
          </a:p>
        </p:txBody>
      </p:sp>
      <p:sp>
        <p:nvSpPr>
          <p:cNvPr id="9" name="Text 6"/>
          <p:cNvSpPr/>
          <p:nvPr/>
        </p:nvSpPr>
        <p:spPr>
          <a:xfrm>
            <a:off x="731520" y="2423160"/>
            <a:ext cx="10698480" cy="1188720"/>
          </a:xfrm>
          <a:prstGeom prst="rect">
            <a:avLst/>
          </a:prstGeom>
          <a:noFill/>
          <a:ln/>
        </p:spPr>
        <p:txBody>
          <a:bodyPr wrap="square" rtlCol="0" anchor="ctr"/>
          <a:lstStyle/>
          <a:p>
            <a:pPr indent="0" marL="0">
              <a:lnSpc>
                <a:spcPct val="120000"/>
              </a:lnSpc>
              <a:buNone/>
            </a:pPr>
            <a:r>
              <a:rPr lang="en-US" sz="1300" dirty="0">
                <a:solidFill>
                  <a:srgbClr val="94A3B8"/>
                </a:solidFill>
                <a:latin typeface="Calibri" pitchFamily="34" charset="0"/>
                <a:ea typeface="Calibri" pitchFamily="34" charset="-122"/>
                <a:cs typeface="Calibri" pitchFamily="34" charset="-120"/>
              </a:rPr>
              <a:t>Rules are sorted by priority (ascending). WAF checks each rule in order. As soon as a rule matches, its action is applied and evaluation stops. If no rule matches, the Web ACL's default action is used.</a:t>
            </a:r>
            <a:endParaRPr lang="en-US" sz="1300" dirty="0"/>
          </a:p>
        </p:txBody>
      </p:sp>
      <p:sp>
        <p:nvSpPr>
          <p:cNvPr id="10" name="Shape 7"/>
          <p:cNvSpPr/>
          <p:nvPr/>
        </p:nvSpPr>
        <p:spPr>
          <a:xfrm>
            <a:off x="457200" y="3886200"/>
            <a:ext cx="11247120" cy="2286000"/>
          </a:xfrm>
          <a:prstGeom prst="roundRect">
            <a:avLst>
              <a:gd name="adj" fmla="val 3200"/>
            </a:avLst>
          </a:prstGeom>
          <a:solidFill>
            <a:srgbClr val="1A2744"/>
          </a:solidFill>
          <a:ln/>
        </p:spPr>
      </p:sp>
      <p:sp>
        <p:nvSpPr>
          <p:cNvPr id="11" name="Text 8"/>
          <p:cNvSpPr/>
          <p:nvPr/>
        </p:nvSpPr>
        <p:spPr>
          <a:xfrm>
            <a:off x="731520" y="4023360"/>
            <a:ext cx="10698480" cy="365760"/>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The standard design pattern</a:t>
            </a:r>
            <a:endParaRPr lang="en-US" sz="1500" dirty="0"/>
          </a:p>
        </p:txBody>
      </p:sp>
      <p:sp>
        <p:nvSpPr>
          <p:cNvPr id="12" name="Shape 9"/>
          <p:cNvSpPr/>
          <p:nvPr/>
        </p:nvSpPr>
        <p:spPr>
          <a:xfrm>
            <a:off x="745236" y="4572000"/>
            <a:ext cx="1920240" cy="1371600"/>
          </a:xfrm>
          <a:prstGeom prst="roundRect">
            <a:avLst>
              <a:gd name="adj" fmla="val 5333"/>
            </a:avLst>
          </a:prstGeom>
          <a:solidFill>
            <a:srgbClr val="1A2744"/>
          </a:solidFill>
          <a:ln/>
        </p:spPr>
      </p:sp>
      <p:sp>
        <p:nvSpPr>
          <p:cNvPr id="13" name="Shape 10"/>
          <p:cNvSpPr/>
          <p:nvPr/>
        </p:nvSpPr>
        <p:spPr>
          <a:xfrm>
            <a:off x="1453896" y="4754880"/>
            <a:ext cx="502920" cy="502920"/>
          </a:xfrm>
          <a:prstGeom prst="ellipse">
            <a:avLst/>
          </a:prstGeom>
          <a:solidFill>
            <a:srgbClr val="0D9488"/>
          </a:solidFill>
          <a:ln/>
        </p:spPr>
      </p:sp>
      <p:pic>
        <p:nvPicPr>
          <p:cNvPr id="14" name="Image 1" descr="preencoded.png">    </p:cNvPr>
          <p:cNvPicPr>
            <a:picLocks noChangeAspect="1"/>
          </p:cNvPicPr>
          <p:nvPr/>
        </p:nvPicPr>
        <p:blipFill>
          <a:blip r:embed="rId2"/>
          <a:stretch>
            <a:fillRect/>
          </a:stretch>
        </p:blipFill>
        <p:spPr>
          <a:xfrm>
            <a:off x="1564538" y="4865522"/>
            <a:ext cx="281635" cy="281635"/>
          </a:xfrm>
          <a:prstGeom prst="rect">
            <a:avLst/>
          </a:prstGeom>
        </p:spPr>
      </p:pic>
      <p:sp>
        <p:nvSpPr>
          <p:cNvPr id="15" name="Text 11"/>
          <p:cNvSpPr/>
          <p:nvPr/>
        </p:nvSpPr>
        <p:spPr>
          <a:xfrm>
            <a:off x="745236" y="5321808"/>
            <a:ext cx="1920240" cy="274320"/>
          </a:xfrm>
          <a:prstGeom prst="rect">
            <a:avLst/>
          </a:prstGeom>
          <a:noFill/>
          <a:ln/>
        </p:spPr>
        <p:txBody>
          <a:bodyPr wrap="square" rtlCol="0" anchor="ctr"/>
          <a:lstStyle/>
          <a:p>
            <a:pPr algn="ctr" indent="0" marL="0">
              <a:buNone/>
            </a:pPr>
            <a:r>
              <a:rPr lang="en-US" sz="1000" dirty="0">
                <a:solidFill>
                  <a:srgbClr val="14B8A6"/>
                </a:solidFill>
                <a:latin typeface="Calibri" pitchFamily="34" charset="0"/>
                <a:ea typeface="Calibri" pitchFamily="34" charset="-122"/>
                <a:cs typeface="Calibri" pitchFamily="34" charset="-120"/>
              </a:rPr>
              <a:t>Priority 1</a:t>
            </a:r>
            <a:endParaRPr lang="en-US" sz="1000" dirty="0"/>
          </a:p>
        </p:txBody>
      </p:sp>
      <p:sp>
        <p:nvSpPr>
          <p:cNvPr id="16" name="Text 12"/>
          <p:cNvSpPr/>
          <p:nvPr/>
        </p:nvSpPr>
        <p:spPr>
          <a:xfrm>
            <a:off x="745236" y="5532120"/>
            <a:ext cx="192024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Allow</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trusted</a:t>
            </a:r>
            <a:endParaRPr lang="en-US" sz="1200" dirty="0"/>
          </a:p>
        </p:txBody>
      </p:sp>
      <p:sp>
        <p:nvSpPr>
          <p:cNvPr id="17" name="Shape 13"/>
          <p:cNvSpPr/>
          <p:nvPr/>
        </p:nvSpPr>
        <p:spPr>
          <a:xfrm>
            <a:off x="2939796" y="4572000"/>
            <a:ext cx="1920240" cy="1371600"/>
          </a:xfrm>
          <a:prstGeom prst="roundRect">
            <a:avLst>
              <a:gd name="adj" fmla="val 5333"/>
            </a:avLst>
          </a:prstGeom>
          <a:solidFill>
            <a:srgbClr val="1A2744"/>
          </a:solidFill>
          <a:ln/>
        </p:spPr>
      </p:sp>
      <p:sp>
        <p:nvSpPr>
          <p:cNvPr id="18" name="Shape 14"/>
          <p:cNvSpPr/>
          <p:nvPr/>
        </p:nvSpPr>
        <p:spPr>
          <a:xfrm>
            <a:off x="3648456" y="4754880"/>
            <a:ext cx="502920" cy="502920"/>
          </a:xfrm>
          <a:prstGeom prst="ellipse">
            <a:avLst/>
          </a:prstGeom>
          <a:solidFill>
            <a:srgbClr val="0D9488"/>
          </a:solidFill>
          <a:ln/>
        </p:spPr>
      </p:sp>
      <p:pic>
        <p:nvPicPr>
          <p:cNvPr id="19" name="Image 2" descr="preencoded.png">    </p:cNvPr>
          <p:cNvPicPr>
            <a:picLocks noChangeAspect="1"/>
          </p:cNvPicPr>
          <p:nvPr/>
        </p:nvPicPr>
        <p:blipFill>
          <a:blip r:embed="rId3"/>
          <a:stretch>
            <a:fillRect/>
          </a:stretch>
        </p:blipFill>
        <p:spPr>
          <a:xfrm>
            <a:off x="3759098" y="4865522"/>
            <a:ext cx="281635" cy="281635"/>
          </a:xfrm>
          <a:prstGeom prst="rect">
            <a:avLst/>
          </a:prstGeom>
        </p:spPr>
      </p:pic>
      <p:sp>
        <p:nvSpPr>
          <p:cNvPr id="20" name="Text 15"/>
          <p:cNvSpPr/>
          <p:nvPr/>
        </p:nvSpPr>
        <p:spPr>
          <a:xfrm>
            <a:off x="2939796" y="5321808"/>
            <a:ext cx="1920240" cy="274320"/>
          </a:xfrm>
          <a:prstGeom prst="rect">
            <a:avLst/>
          </a:prstGeom>
          <a:noFill/>
          <a:ln/>
        </p:spPr>
        <p:txBody>
          <a:bodyPr wrap="square" rtlCol="0" anchor="ctr"/>
          <a:lstStyle/>
          <a:p>
            <a:pPr algn="ctr" indent="0" marL="0">
              <a:buNone/>
            </a:pPr>
            <a:r>
              <a:rPr lang="en-US" sz="1000" dirty="0">
                <a:solidFill>
                  <a:srgbClr val="14B8A6"/>
                </a:solidFill>
                <a:latin typeface="Calibri" pitchFamily="34" charset="0"/>
                <a:ea typeface="Calibri" pitchFamily="34" charset="-122"/>
                <a:cs typeface="Calibri" pitchFamily="34" charset="-120"/>
              </a:rPr>
              <a:t>Priority 2</a:t>
            </a:r>
            <a:endParaRPr lang="en-US" sz="1000" dirty="0"/>
          </a:p>
        </p:txBody>
      </p:sp>
      <p:sp>
        <p:nvSpPr>
          <p:cNvPr id="21" name="Text 16"/>
          <p:cNvSpPr/>
          <p:nvPr/>
        </p:nvSpPr>
        <p:spPr>
          <a:xfrm>
            <a:off x="2939796" y="5532120"/>
            <a:ext cx="192024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Block</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known bad</a:t>
            </a:r>
            <a:endParaRPr lang="en-US" sz="1200" dirty="0"/>
          </a:p>
        </p:txBody>
      </p:sp>
      <p:sp>
        <p:nvSpPr>
          <p:cNvPr id="22" name="Shape 17"/>
          <p:cNvSpPr/>
          <p:nvPr/>
        </p:nvSpPr>
        <p:spPr>
          <a:xfrm>
            <a:off x="5134356" y="4572000"/>
            <a:ext cx="1920240" cy="1371600"/>
          </a:xfrm>
          <a:prstGeom prst="roundRect">
            <a:avLst>
              <a:gd name="adj" fmla="val 5333"/>
            </a:avLst>
          </a:prstGeom>
          <a:solidFill>
            <a:srgbClr val="1A2744"/>
          </a:solidFill>
          <a:ln/>
        </p:spPr>
      </p:sp>
      <p:sp>
        <p:nvSpPr>
          <p:cNvPr id="23" name="Shape 18"/>
          <p:cNvSpPr/>
          <p:nvPr/>
        </p:nvSpPr>
        <p:spPr>
          <a:xfrm>
            <a:off x="5843016" y="4754880"/>
            <a:ext cx="502920" cy="502920"/>
          </a:xfrm>
          <a:prstGeom prst="ellipse">
            <a:avLst/>
          </a:prstGeom>
          <a:solidFill>
            <a:srgbClr val="0D9488"/>
          </a:solidFill>
          <a:ln/>
        </p:spPr>
      </p:sp>
      <p:pic>
        <p:nvPicPr>
          <p:cNvPr id="24" name="Image 3" descr="preencoded.png">    </p:cNvPr>
          <p:cNvPicPr>
            <a:picLocks noChangeAspect="1"/>
          </p:cNvPicPr>
          <p:nvPr/>
        </p:nvPicPr>
        <p:blipFill>
          <a:blip r:embed="rId4"/>
          <a:stretch>
            <a:fillRect/>
          </a:stretch>
        </p:blipFill>
        <p:spPr>
          <a:xfrm>
            <a:off x="5953658" y="4865522"/>
            <a:ext cx="281635" cy="281635"/>
          </a:xfrm>
          <a:prstGeom prst="rect">
            <a:avLst/>
          </a:prstGeom>
        </p:spPr>
      </p:pic>
      <p:sp>
        <p:nvSpPr>
          <p:cNvPr id="25" name="Text 19"/>
          <p:cNvSpPr/>
          <p:nvPr/>
        </p:nvSpPr>
        <p:spPr>
          <a:xfrm>
            <a:off x="5134356" y="5321808"/>
            <a:ext cx="1920240" cy="274320"/>
          </a:xfrm>
          <a:prstGeom prst="rect">
            <a:avLst/>
          </a:prstGeom>
          <a:noFill/>
          <a:ln/>
        </p:spPr>
        <p:txBody>
          <a:bodyPr wrap="square" rtlCol="0" anchor="ctr"/>
          <a:lstStyle/>
          <a:p>
            <a:pPr algn="ctr" indent="0" marL="0">
              <a:buNone/>
            </a:pPr>
            <a:r>
              <a:rPr lang="en-US" sz="1000" dirty="0">
                <a:solidFill>
                  <a:srgbClr val="14B8A6"/>
                </a:solidFill>
                <a:latin typeface="Calibri" pitchFamily="34" charset="0"/>
                <a:ea typeface="Calibri" pitchFamily="34" charset="-122"/>
                <a:cs typeface="Calibri" pitchFamily="34" charset="-120"/>
              </a:rPr>
              <a:t>Priority 3</a:t>
            </a:r>
            <a:endParaRPr lang="en-US" sz="1000" dirty="0"/>
          </a:p>
        </p:txBody>
      </p:sp>
      <p:sp>
        <p:nvSpPr>
          <p:cNvPr id="26" name="Text 20"/>
          <p:cNvSpPr/>
          <p:nvPr/>
        </p:nvSpPr>
        <p:spPr>
          <a:xfrm>
            <a:off x="5134356" y="5532120"/>
            <a:ext cx="192024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Rate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limit</a:t>
            </a:r>
            <a:endParaRPr lang="en-US" sz="1200" dirty="0"/>
          </a:p>
        </p:txBody>
      </p:sp>
      <p:sp>
        <p:nvSpPr>
          <p:cNvPr id="27" name="Shape 21"/>
          <p:cNvSpPr/>
          <p:nvPr/>
        </p:nvSpPr>
        <p:spPr>
          <a:xfrm>
            <a:off x="7328916" y="4572000"/>
            <a:ext cx="1920240" cy="1371600"/>
          </a:xfrm>
          <a:prstGeom prst="roundRect">
            <a:avLst>
              <a:gd name="adj" fmla="val 5333"/>
            </a:avLst>
          </a:prstGeom>
          <a:solidFill>
            <a:srgbClr val="1A2744"/>
          </a:solidFill>
          <a:ln/>
        </p:spPr>
      </p:sp>
      <p:sp>
        <p:nvSpPr>
          <p:cNvPr id="28" name="Shape 22"/>
          <p:cNvSpPr/>
          <p:nvPr/>
        </p:nvSpPr>
        <p:spPr>
          <a:xfrm>
            <a:off x="8037576" y="4754880"/>
            <a:ext cx="502920" cy="502920"/>
          </a:xfrm>
          <a:prstGeom prst="ellipse">
            <a:avLst/>
          </a:prstGeom>
          <a:solidFill>
            <a:srgbClr val="0D9488"/>
          </a:solidFill>
          <a:ln/>
        </p:spPr>
      </p:sp>
      <p:pic>
        <p:nvPicPr>
          <p:cNvPr id="29" name="Image 4" descr="preencoded.png">    </p:cNvPr>
          <p:cNvPicPr>
            <a:picLocks noChangeAspect="1"/>
          </p:cNvPicPr>
          <p:nvPr/>
        </p:nvPicPr>
        <p:blipFill>
          <a:blip r:embed="rId5"/>
          <a:stretch>
            <a:fillRect/>
          </a:stretch>
        </p:blipFill>
        <p:spPr>
          <a:xfrm>
            <a:off x="8148218" y="4865522"/>
            <a:ext cx="281635" cy="281635"/>
          </a:xfrm>
          <a:prstGeom prst="rect">
            <a:avLst/>
          </a:prstGeom>
        </p:spPr>
      </p:pic>
      <p:sp>
        <p:nvSpPr>
          <p:cNvPr id="30" name="Text 23"/>
          <p:cNvSpPr/>
          <p:nvPr/>
        </p:nvSpPr>
        <p:spPr>
          <a:xfrm>
            <a:off x="7328916" y="5321808"/>
            <a:ext cx="1920240" cy="274320"/>
          </a:xfrm>
          <a:prstGeom prst="rect">
            <a:avLst/>
          </a:prstGeom>
          <a:noFill/>
          <a:ln/>
        </p:spPr>
        <p:txBody>
          <a:bodyPr wrap="square" rtlCol="0" anchor="ctr"/>
          <a:lstStyle/>
          <a:p>
            <a:pPr algn="ctr" indent="0" marL="0">
              <a:buNone/>
            </a:pPr>
            <a:r>
              <a:rPr lang="en-US" sz="1000" dirty="0">
                <a:solidFill>
                  <a:srgbClr val="14B8A6"/>
                </a:solidFill>
                <a:latin typeface="Calibri" pitchFamily="34" charset="0"/>
                <a:ea typeface="Calibri" pitchFamily="34" charset="-122"/>
                <a:cs typeface="Calibri" pitchFamily="34" charset="-120"/>
              </a:rPr>
              <a:t>Priority 4</a:t>
            </a:r>
            <a:endParaRPr lang="en-US" sz="1000" dirty="0"/>
          </a:p>
        </p:txBody>
      </p:sp>
      <p:sp>
        <p:nvSpPr>
          <p:cNvPr id="31" name="Text 24"/>
          <p:cNvSpPr/>
          <p:nvPr/>
        </p:nvSpPr>
        <p:spPr>
          <a:xfrm>
            <a:off x="7328916" y="5532120"/>
            <a:ext cx="192024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Geo</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rule</a:t>
            </a:r>
            <a:endParaRPr lang="en-US" sz="1200" dirty="0"/>
          </a:p>
        </p:txBody>
      </p:sp>
      <p:sp>
        <p:nvSpPr>
          <p:cNvPr id="32" name="Shape 25"/>
          <p:cNvSpPr/>
          <p:nvPr/>
        </p:nvSpPr>
        <p:spPr>
          <a:xfrm>
            <a:off x="9523476" y="4572000"/>
            <a:ext cx="1920240" cy="1371600"/>
          </a:xfrm>
          <a:prstGeom prst="roundRect">
            <a:avLst>
              <a:gd name="adj" fmla="val 5333"/>
            </a:avLst>
          </a:prstGeom>
          <a:solidFill>
            <a:srgbClr val="1A2744"/>
          </a:solidFill>
          <a:ln/>
        </p:spPr>
      </p:sp>
      <p:sp>
        <p:nvSpPr>
          <p:cNvPr id="33" name="Shape 26"/>
          <p:cNvSpPr/>
          <p:nvPr/>
        </p:nvSpPr>
        <p:spPr>
          <a:xfrm>
            <a:off x="10232136" y="4754880"/>
            <a:ext cx="502920" cy="502920"/>
          </a:xfrm>
          <a:prstGeom prst="ellipse">
            <a:avLst/>
          </a:prstGeom>
          <a:solidFill>
            <a:srgbClr val="0D9488"/>
          </a:solidFill>
          <a:ln/>
        </p:spPr>
      </p:sp>
      <p:pic>
        <p:nvPicPr>
          <p:cNvPr id="34" name="Image 5" descr="preencoded.png">    </p:cNvPr>
          <p:cNvPicPr>
            <a:picLocks noChangeAspect="1"/>
          </p:cNvPicPr>
          <p:nvPr/>
        </p:nvPicPr>
        <p:blipFill>
          <a:blip r:embed="rId6"/>
          <a:stretch>
            <a:fillRect/>
          </a:stretch>
        </p:blipFill>
        <p:spPr>
          <a:xfrm>
            <a:off x="10342778" y="4865522"/>
            <a:ext cx="281635" cy="281635"/>
          </a:xfrm>
          <a:prstGeom prst="rect">
            <a:avLst/>
          </a:prstGeom>
        </p:spPr>
      </p:pic>
      <p:sp>
        <p:nvSpPr>
          <p:cNvPr id="35" name="Text 27"/>
          <p:cNvSpPr/>
          <p:nvPr/>
        </p:nvSpPr>
        <p:spPr>
          <a:xfrm>
            <a:off x="9523476" y="5321808"/>
            <a:ext cx="1920240" cy="274320"/>
          </a:xfrm>
          <a:prstGeom prst="rect">
            <a:avLst/>
          </a:prstGeom>
          <a:noFill/>
          <a:ln/>
        </p:spPr>
        <p:txBody>
          <a:bodyPr wrap="square" rtlCol="0" anchor="ctr"/>
          <a:lstStyle/>
          <a:p>
            <a:pPr algn="ctr" indent="0" marL="0">
              <a:buNone/>
            </a:pPr>
            <a:r>
              <a:rPr lang="en-US" sz="1000" dirty="0">
                <a:solidFill>
                  <a:srgbClr val="14B8A6"/>
                </a:solidFill>
                <a:latin typeface="Calibri" pitchFamily="34" charset="0"/>
                <a:ea typeface="Calibri" pitchFamily="34" charset="-122"/>
                <a:cs typeface="Calibri" pitchFamily="34" charset="-120"/>
              </a:rPr>
              <a:t>Priority —</a:t>
            </a:r>
            <a:endParaRPr lang="en-US" sz="1000" dirty="0"/>
          </a:p>
        </p:txBody>
      </p:sp>
      <p:sp>
        <p:nvSpPr>
          <p:cNvPr id="36" name="Text 28"/>
          <p:cNvSpPr/>
          <p:nvPr/>
        </p:nvSpPr>
        <p:spPr>
          <a:xfrm>
            <a:off x="9523476" y="5532120"/>
            <a:ext cx="192024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Default</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p>
        </p:txBody>
      </p:sp>
      <p:sp>
        <p:nvSpPr>
          <p:cNvPr id="37" name="Text 29"/>
          <p:cNvSpPr/>
          <p:nvPr/>
        </p:nvSpPr>
        <p:spPr>
          <a:xfrm>
            <a:off x="457200" y="6492240"/>
            <a:ext cx="64008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Lab 083  —  WAF Blocking Legitimate Traffic</a:t>
            </a:r>
            <a:endParaRPr lang="en-US" sz="1000" dirty="0"/>
          </a:p>
        </p:txBody>
      </p:sp>
      <p:sp>
        <p:nvSpPr>
          <p:cNvPr id="38" name="Text 30"/>
          <p:cNvSpPr/>
          <p:nvPr/>
        </p:nvSpPr>
        <p:spPr>
          <a:xfrm>
            <a:off x="11247120"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The ticket</a:t>
            </a:r>
            <a:endParaRPr lang="en-US" sz="2800" dirty="0"/>
          </a:p>
        </p:txBody>
      </p:sp>
      <p:sp>
        <p:nvSpPr>
          <p:cNvPr id="3" name="Text 1"/>
          <p:cNvSpPr/>
          <p:nvPr/>
        </p:nvSpPr>
        <p:spPr>
          <a:xfrm>
            <a:off x="457200" y="822960"/>
            <a:ext cx="11247120" cy="365760"/>
          </a:xfrm>
          <a:prstGeom prst="rect">
            <a:avLst/>
          </a:prstGeom>
          <a:noFill/>
          <a:ln/>
        </p:spPr>
        <p:txBody>
          <a:bodyPr wrap="square" rtlCol="0" anchor="ctr"/>
          <a:lstStyle/>
          <a:p>
            <a:pPr indent="0" marL="0">
              <a:buNone/>
            </a:pPr>
            <a:r>
              <a:rPr lang="en-US" sz="1400" dirty="0">
                <a:solidFill>
                  <a:srgbClr val="14B8A6"/>
                </a:solidFill>
                <a:latin typeface="Calibri" pitchFamily="34" charset="0"/>
                <a:ea typeface="Calibri" pitchFamily="34" charset="-122"/>
                <a:cs typeface="Calibri" pitchFamily="34" charset="-120"/>
              </a:rPr>
              <a:t>INCIDENT-WAF-001 — you're on call</a:t>
            </a:r>
            <a:endParaRPr lang="en-US" sz="1400" dirty="0"/>
          </a:p>
        </p:txBody>
      </p:sp>
      <p:sp>
        <p:nvSpPr>
          <p:cNvPr id="4" name="Shape 2"/>
          <p:cNvSpPr/>
          <p:nvPr/>
        </p:nvSpPr>
        <p:spPr>
          <a:xfrm>
            <a:off x="457200" y="1234440"/>
            <a:ext cx="457200" cy="36576"/>
          </a:xfrm>
          <a:prstGeom prst="rect">
            <a:avLst/>
          </a:prstGeom>
          <a:solidFill>
            <a:srgbClr val="0D9488"/>
          </a:solidFill>
          <a:ln/>
        </p:spPr>
      </p:sp>
      <p:sp>
        <p:nvSpPr>
          <p:cNvPr id="5" name="Shape 3"/>
          <p:cNvSpPr/>
          <p:nvPr/>
        </p:nvSpPr>
        <p:spPr>
          <a:xfrm>
            <a:off x="457200" y="1600200"/>
            <a:ext cx="11247120" cy="2011680"/>
          </a:xfrm>
          <a:prstGeom prst="roundRect">
            <a:avLst>
              <a:gd name="adj" fmla="val 3636"/>
            </a:avLst>
          </a:prstGeom>
          <a:solidFill>
            <a:srgbClr val="1A2744"/>
          </a:solidFill>
          <a:ln/>
        </p:spPr>
      </p:sp>
      <p:sp>
        <p:nvSpPr>
          <p:cNvPr id="6" name="Shape 4"/>
          <p:cNvSpPr/>
          <p:nvPr/>
        </p:nvSpPr>
        <p:spPr>
          <a:xfrm>
            <a:off x="685800" y="1828800"/>
            <a:ext cx="548640" cy="54864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806501" y="1949501"/>
            <a:ext cx="307238" cy="307238"/>
          </a:xfrm>
          <a:prstGeom prst="rect">
            <a:avLst/>
          </a:prstGeom>
        </p:spPr>
      </p:pic>
      <p:sp>
        <p:nvSpPr>
          <p:cNvPr id="8" name="Text 5"/>
          <p:cNvSpPr/>
          <p:nvPr/>
        </p:nvSpPr>
        <p:spPr>
          <a:xfrm>
            <a:off x="1371600" y="1828800"/>
            <a:ext cx="10149840" cy="365760"/>
          </a:xfrm>
          <a:prstGeom prst="rect">
            <a:avLst/>
          </a:prstGeom>
          <a:noFill/>
          <a:ln/>
        </p:spPr>
        <p:txBody>
          <a:bodyPr wrap="square" rtlCol="0" anchor="ctr"/>
          <a:lstStyle/>
          <a:p>
            <a:pPr indent="0" marL="0">
              <a:buNone/>
            </a:pPr>
            <a:r>
              <a:rPr lang="en-US" sz="1400" dirty="0">
                <a:solidFill>
                  <a:srgbClr val="14B8A6"/>
                </a:solidFill>
                <a:latin typeface="Calibri" pitchFamily="34" charset="0"/>
                <a:ea typeface="Calibri" pitchFamily="34" charset="-122"/>
                <a:cs typeface="Calibri" pitchFamily="34" charset="-120"/>
              </a:rPr>
              <a:t>Monday, 08:47 GMT</a:t>
            </a:r>
            <a:endParaRPr lang="en-US" sz="1400" dirty="0"/>
          </a:p>
        </p:txBody>
      </p:sp>
      <p:sp>
        <p:nvSpPr>
          <p:cNvPr id="9" name="Text 6"/>
          <p:cNvSpPr/>
          <p:nvPr/>
        </p:nvSpPr>
        <p:spPr>
          <a:xfrm>
            <a:off x="1371600" y="2240280"/>
            <a:ext cx="10149840" cy="1280160"/>
          </a:xfrm>
          <a:prstGeom prst="rect">
            <a:avLst/>
          </a:prstGeom>
          <a:noFill/>
          <a:ln/>
        </p:spPr>
        <p:txBody>
          <a:bodyPr wrap="square" rtlCol="0" anchor="ctr"/>
          <a:lstStyle/>
          <a:p>
            <a:pPr indent="0" marL="0">
              <a:lnSpc>
                <a:spcPct val="120000"/>
              </a:lnSpc>
              <a:buNone/>
            </a:pPr>
            <a:r>
              <a:rPr lang="en-US" sz="1300" i="1" dirty="0">
                <a:solidFill>
                  <a:srgbClr val="FFFFFF"/>
                </a:solidFill>
                <a:latin typeface="Calibri" pitchFamily="34" charset="0"/>
                <a:ea typeface="Calibri" pitchFamily="34" charset="-122"/>
                <a:cs typeface="Calibri" pitchFamily="34" charset="-120"/>
              </a:rPr>
              <a:t>Customer support reporting a 60% increase in "Access Denied" complaints since the weekend's WAF rule deployment. Office staff, UK customers, US customers all getting 403 Forbidden. The security engineer who wrote the new rules is on annual leave.</a:t>
            </a:r>
            <a:endParaRPr lang="en-US" sz="1300" dirty="0"/>
          </a:p>
        </p:txBody>
      </p:sp>
      <p:sp>
        <p:nvSpPr>
          <p:cNvPr id="10" name="Shape 7"/>
          <p:cNvSpPr/>
          <p:nvPr/>
        </p:nvSpPr>
        <p:spPr>
          <a:xfrm>
            <a:off x="457200" y="3840480"/>
            <a:ext cx="5577840" cy="2331720"/>
          </a:xfrm>
          <a:prstGeom prst="roundRect">
            <a:avLst>
              <a:gd name="adj" fmla="val 3137"/>
            </a:avLst>
          </a:prstGeom>
          <a:solidFill>
            <a:srgbClr val="1A2744"/>
          </a:solidFill>
          <a:ln/>
        </p:spPr>
      </p:sp>
      <p:sp>
        <p:nvSpPr>
          <p:cNvPr id="11" name="Text 8"/>
          <p:cNvSpPr/>
          <p:nvPr/>
        </p:nvSpPr>
        <p:spPr>
          <a:xfrm>
            <a:off x="685800" y="3977640"/>
            <a:ext cx="5212080" cy="36576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What's confirmed</a:t>
            </a:r>
            <a:endParaRPr lang="en-US" sz="1400" dirty="0"/>
          </a:p>
        </p:txBody>
      </p:sp>
      <p:sp>
        <p:nvSpPr>
          <p:cNvPr id="12" name="Text 9"/>
          <p:cNvSpPr/>
          <p:nvPr/>
        </p:nvSpPr>
        <p:spPr>
          <a:xfrm>
            <a:off x="685800" y="4434840"/>
            <a:ext cx="5212080" cy="1920240"/>
          </a:xfrm>
          <a:prstGeom prst="rect">
            <a:avLst/>
          </a:prstGeom>
          <a:noFill/>
          <a:ln/>
        </p:spPr>
        <p:txBody>
          <a:bodyPr wrap="square" rtlCol="0" anchor="ctr"/>
          <a:lstStyle/>
          <a:p>
            <a:pPr indent="0" marL="0">
              <a:lnSpc>
                <a:spcPct val="125000"/>
              </a:lnSpc>
              <a:buNone/>
            </a:pPr>
            <a:r>
              <a:rPr lang="en-US" sz="1200" dirty="0">
                <a:solidFill>
                  <a:srgbClr val="94A3B8"/>
                </a:solidFill>
                <a:latin typeface="Calibri" pitchFamily="34" charset="0"/>
                <a:ea typeface="Calibri" pitchFamily="34" charset="-122"/>
                <a:cs typeface="Calibri" pitchFamily="34" charset="-120"/>
              </a:rPr>
              <a:t>•  Application health checks passing</a:t>
            </a:r>
            <a:endParaRPr lang="en-US" sz="1200" dirty="0"/>
          </a:p>
          <a:p>
            <a:pPr indent="0" marL="0">
              <a:lnSpc>
                <a:spcPct val="125000"/>
              </a:lnSpc>
              <a:buNone/>
            </a:pPr>
            <a:r>
              <a:rPr lang="en-US" sz="1200" dirty="0">
                <a:solidFill>
                  <a:srgbClr val="94A3B8"/>
                </a:solidFill>
                <a:latin typeface="Calibri" pitchFamily="34" charset="0"/>
                <a:ea typeface="Calibri" pitchFamily="34" charset="-122"/>
                <a:cs typeface="Calibri" pitchFamily="34" charset="-120"/>
              </a:rPr>
              <a:t>•  Load balancer healthy</a:t>
            </a:r>
            <a:endParaRPr lang="en-US" sz="1200" dirty="0"/>
          </a:p>
          <a:p>
            <a:pPr indent="0" marL="0">
              <a:lnSpc>
                <a:spcPct val="125000"/>
              </a:lnSpc>
              <a:buNone/>
            </a:pPr>
            <a:r>
              <a:rPr lang="en-US" sz="1200" dirty="0">
                <a:solidFill>
                  <a:srgbClr val="94A3B8"/>
                </a:solidFill>
                <a:latin typeface="Calibri" pitchFamily="34" charset="0"/>
                <a:ea typeface="Calibri" pitchFamily="34" charset="-122"/>
                <a:cs typeface="Calibri" pitchFamily="34" charset="-120"/>
              </a:rPr>
              <a:t>•  Backend services healthy</a:t>
            </a:r>
            <a:endParaRPr lang="en-US" sz="1200" dirty="0"/>
          </a:p>
          <a:p>
            <a:pPr indent="0" marL="0">
              <a:lnSpc>
                <a:spcPct val="125000"/>
              </a:lnSpc>
              <a:buNone/>
            </a:pPr>
            <a:r>
              <a:rPr lang="en-US" sz="1200" dirty="0">
                <a:solidFill>
                  <a:srgbClr val="94A3B8"/>
                </a:solidFill>
                <a:latin typeface="Calibri" pitchFamily="34" charset="0"/>
                <a:ea typeface="Calibri" pitchFamily="34" charset="-122"/>
                <a:cs typeface="Calibri" pitchFamily="34" charset="-120"/>
              </a:rPr>
              <a:t>•  Real user traffic getting 403 Forbidden</a:t>
            </a:r>
            <a:endParaRPr lang="en-US" sz="1200" dirty="0"/>
          </a:p>
          <a:p>
            <a:pPr indent="0" marL="0">
              <a:lnSpc>
                <a:spcPct val="125000"/>
              </a:lnSpc>
              <a:buNone/>
            </a:pPr>
            <a:r>
              <a:rPr lang="en-US" sz="1200" dirty="0">
                <a:solidFill>
                  <a:srgbClr val="94A3B8"/>
                </a:solidFill>
                <a:latin typeface="Calibri" pitchFamily="34" charset="0"/>
                <a:ea typeface="Calibri" pitchFamily="34" charset="-122"/>
                <a:cs typeface="Calibri" pitchFamily="34" charset="-120"/>
              </a:rPr>
              <a:t>•  Started after weekend WAF deployment</a:t>
            </a:r>
            <a:endParaRPr lang="en-US" sz="1200" dirty="0"/>
          </a:p>
        </p:txBody>
      </p:sp>
      <p:sp>
        <p:nvSpPr>
          <p:cNvPr id="13" name="Shape 10"/>
          <p:cNvSpPr/>
          <p:nvPr/>
        </p:nvSpPr>
        <p:spPr>
          <a:xfrm>
            <a:off x="6172200" y="3840480"/>
            <a:ext cx="5577840" cy="2331720"/>
          </a:xfrm>
          <a:prstGeom prst="roundRect">
            <a:avLst>
              <a:gd name="adj" fmla="val 3137"/>
            </a:avLst>
          </a:prstGeom>
          <a:solidFill>
            <a:srgbClr val="1A2744"/>
          </a:solidFill>
          <a:ln/>
        </p:spPr>
      </p:sp>
      <p:sp>
        <p:nvSpPr>
          <p:cNvPr id="14" name="Text 11"/>
          <p:cNvSpPr/>
          <p:nvPr/>
        </p:nvSpPr>
        <p:spPr>
          <a:xfrm>
            <a:off x="6400800" y="3977640"/>
            <a:ext cx="5212080" cy="36576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What you don't know yet</a:t>
            </a:r>
            <a:endParaRPr lang="en-US" sz="1400" dirty="0"/>
          </a:p>
        </p:txBody>
      </p:sp>
      <p:sp>
        <p:nvSpPr>
          <p:cNvPr id="15" name="Text 12"/>
          <p:cNvSpPr/>
          <p:nvPr/>
        </p:nvSpPr>
        <p:spPr>
          <a:xfrm>
            <a:off x="6400800" y="4434840"/>
            <a:ext cx="5212080" cy="1920240"/>
          </a:xfrm>
          <a:prstGeom prst="rect">
            <a:avLst/>
          </a:prstGeom>
          <a:noFill/>
          <a:ln/>
        </p:spPr>
        <p:txBody>
          <a:bodyPr wrap="square" rtlCol="0" anchor="ctr"/>
          <a:lstStyle/>
          <a:p>
            <a:pPr indent="0" marL="0">
              <a:lnSpc>
                <a:spcPct val="125000"/>
              </a:lnSpc>
              <a:buNone/>
            </a:pPr>
            <a:r>
              <a:rPr lang="en-US" sz="1200" dirty="0">
                <a:solidFill>
                  <a:srgbClr val="94A3B8"/>
                </a:solidFill>
                <a:latin typeface="Calibri" pitchFamily="34" charset="0"/>
                <a:ea typeface="Calibri" pitchFamily="34" charset="-122"/>
                <a:cs typeface="Calibri" pitchFamily="34" charset="-120"/>
              </a:rPr>
              <a:t>•  Which WAF rule is blocking which users</a:t>
            </a:r>
            <a:endParaRPr lang="en-US" sz="1200" dirty="0"/>
          </a:p>
          <a:p>
            <a:pPr indent="0" marL="0">
              <a:lnSpc>
                <a:spcPct val="125000"/>
              </a:lnSpc>
              <a:buNone/>
            </a:pPr>
            <a:r>
              <a:rPr lang="en-US" sz="1200" dirty="0">
                <a:solidFill>
                  <a:srgbClr val="94A3B8"/>
                </a:solidFill>
                <a:latin typeface="Calibri" pitchFamily="34" charset="0"/>
                <a:ea typeface="Calibri" pitchFamily="34" charset="-122"/>
                <a:cs typeface="Calibri" pitchFamily="34" charset="-120"/>
              </a:rPr>
              <a:t>•  Whether it's config or a traffic spike</a:t>
            </a:r>
            <a:endParaRPr lang="en-US" sz="1200" dirty="0"/>
          </a:p>
          <a:p>
            <a:pPr indent="0" marL="0">
              <a:lnSpc>
                <a:spcPct val="125000"/>
              </a:lnSpc>
              <a:buNone/>
            </a:pPr>
            <a:r>
              <a:rPr lang="en-US" sz="1200" dirty="0">
                <a:solidFill>
                  <a:srgbClr val="94A3B8"/>
                </a:solidFill>
                <a:latin typeface="Calibri" pitchFamily="34" charset="0"/>
                <a:ea typeface="Calibri" pitchFamily="34" charset="-122"/>
                <a:cs typeface="Calibri" pitchFamily="34" charset="-120"/>
              </a:rPr>
              <a:t>•  How the rules are ordered</a:t>
            </a:r>
            <a:endParaRPr lang="en-US" sz="1200" dirty="0"/>
          </a:p>
          <a:p>
            <a:pPr indent="0" marL="0">
              <a:lnSpc>
                <a:spcPct val="125000"/>
              </a:lnSpc>
              <a:buNone/>
            </a:pPr>
            <a:r>
              <a:rPr lang="en-US" sz="1200" dirty="0">
                <a:solidFill>
                  <a:srgbClr val="94A3B8"/>
                </a:solidFill>
                <a:latin typeface="Calibri" pitchFamily="34" charset="0"/>
                <a:ea typeface="Calibri" pitchFamily="34" charset="-122"/>
                <a:cs typeface="Calibri" pitchFamily="34" charset="-120"/>
              </a:rPr>
              <a:t>•  What's in the IP sets</a:t>
            </a:r>
            <a:endParaRPr lang="en-US" sz="1200" dirty="0"/>
          </a:p>
          <a:p>
            <a:pPr indent="0" marL="0">
              <a:lnSpc>
                <a:spcPct val="125000"/>
              </a:lnSpc>
              <a:buNone/>
            </a:pPr>
            <a:r>
              <a:rPr lang="en-US" sz="1200" dirty="0">
                <a:solidFill>
                  <a:srgbClr val="94A3B8"/>
                </a:solidFill>
                <a:latin typeface="Calibri" pitchFamily="34" charset="0"/>
                <a:ea typeface="Calibri" pitchFamily="34" charset="-122"/>
                <a:cs typeface="Calibri" pitchFamily="34" charset="-120"/>
              </a:rPr>
              <a:t>•  What intent the security engineer had</a:t>
            </a:r>
            <a:endParaRPr lang="en-US" sz="1200" dirty="0"/>
          </a:p>
        </p:txBody>
      </p:sp>
      <p:sp>
        <p:nvSpPr>
          <p:cNvPr id="16" name="Text 13"/>
          <p:cNvSpPr/>
          <p:nvPr/>
        </p:nvSpPr>
        <p:spPr>
          <a:xfrm>
            <a:off x="457200" y="6492240"/>
            <a:ext cx="64008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Lab 083  —  WAF Blocking Legitimate Traffic</a:t>
            </a:r>
            <a:endParaRPr lang="en-US" sz="1000" dirty="0"/>
          </a:p>
        </p:txBody>
      </p:sp>
      <p:sp>
        <p:nvSpPr>
          <p:cNvPr id="17" name="Text 14"/>
          <p:cNvSpPr/>
          <p:nvPr/>
        </p:nvSpPr>
        <p:spPr>
          <a:xfrm>
            <a:off x="11247120"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Console → CLI → Terraform</a:t>
            </a:r>
            <a:endParaRPr lang="en-US" sz="2800" dirty="0"/>
          </a:p>
        </p:txBody>
      </p:sp>
      <p:sp>
        <p:nvSpPr>
          <p:cNvPr id="3" name="Text 1"/>
          <p:cNvSpPr/>
          <p:nvPr/>
        </p:nvSpPr>
        <p:spPr>
          <a:xfrm>
            <a:off x="457200" y="822960"/>
            <a:ext cx="11247120" cy="365760"/>
          </a:xfrm>
          <a:prstGeom prst="rect">
            <a:avLst/>
          </a:prstGeom>
          <a:noFill/>
          <a:ln/>
        </p:spPr>
        <p:txBody>
          <a:bodyPr wrap="square" rtlCol="0" anchor="ctr"/>
          <a:lstStyle/>
          <a:p>
            <a:pPr indent="0" marL="0">
              <a:buNone/>
            </a:pPr>
            <a:r>
              <a:rPr lang="en-US" sz="1400" dirty="0">
                <a:solidFill>
                  <a:srgbClr val="14B8A6"/>
                </a:solidFill>
                <a:latin typeface="Calibri" pitchFamily="34" charset="0"/>
                <a:ea typeface="Calibri" pitchFamily="34" charset="-122"/>
                <a:cs typeface="Calibri" pitchFamily="34" charset="-120"/>
              </a:rPr>
              <a:t>The right tool depends on the phase of work, not a blanket rule</a:t>
            </a:r>
            <a:endParaRPr lang="en-US" sz="1400" dirty="0"/>
          </a:p>
        </p:txBody>
      </p:sp>
      <p:sp>
        <p:nvSpPr>
          <p:cNvPr id="4" name="Shape 2"/>
          <p:cNvSpPr/>
          <p:nvPr/>
        </p:nvSpPr>
        <p:spPr>
          <a:xfrm>
            <a:off x="457200" y="1234440"/>
            <a:ext cx="457200" cy="36576"/>
          </a:xfrm>
          <a:prstGeom prst="rect">
            <a:avLst/>
          </a:prstGeom>
          <a:solidFill>
            <a:srgbClr val="0D9488"/>
          </a:solidFill>
          <a:ln/>
        </p:spPr>
      </p:sp>
      <p:sp>
        <p:nvSpPr>
          <p:cNvPr id="5" name="Shape 3"/>
          <p:cNvSpPr/>
          <p:nvPr/>
        </p:nvSpPr>
        <p:spPr>
          <a:xfrm>
            <a:off x="457200" y="1600200"/>
            <a:ext cx="11247120" cy="1280160"/>
          </a:xfrm>
          <a:prstGeom prst="roundRect">
            <a:avLst>
              <a:gd name="adj" fmla="val 5714"/>
            </a:avLst>
          </a:prstGeom>
          <a:solidFill>
            <a:srgbClr val="1A2744"/>
          </a:solidFill>
          <a:ln/>
        </p:spPr>
      </p:sp>
      <p:sp>
        <p:nvSpPr>
          <p:cNvPr id="6" name="Shape 4"/>
          <p:cNvSpPr/>
          <p:nvPr/>
        </p:nvSpPr>
        <p:spPr>
          <a:xfrm>
            <a:off x="685800" y="1783080"/>
            <a:ext cx="548640" cy="54864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806501" y="1903781"/>
            <a:ext cx="307238" cy="307238"/>
          </a:xfrm>
          <a:prstGeom prst="rect">
            <a:avLst/>
          </a:prstGeom>
        </p:spPr>
      </p:pic>
      <p:sp>
        <p:nvSpPr>
          <p:cNvPr id="8" name="Text 5"/>
          <p:cNvSpPr/>
          <p:nvPr/>
        </p:nvSpPr>
        <p:spPr>
          <a:xfrm>
            <a:off x="1371600" y="1737360"/>
            <a:ext cx="101498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Myth: "Real engineers never use the AWS Console."</a:t>
            </a:r>
            <a:endParaRPr lang="en-US" sz="1500" dirty="0"/>
          </a:p>
        </p:txBody>
      </p:sp>
      <p:sp>
        <p:nvSpPr>
          <p:cNvPr id="9" name="Text 6"/>
          <p:cNvSpPr/>
          <p:nvPr/>
        </p:nvSpPr>
        <p:spPr>
          <a:xfrm>
            <a:off x="1371600" y="2148840"/>
            <a:ext cx="10149840" cy="640080"/>
          </a:xfrm>
          <a:prstGeom prst="rect">
            <a:avLst/>
          </a:prstGeom>
          <a:noFill/>
          <a:ln/>
        </p:spPr>
        <p:txBody>
          <a:bodyPr wrap="square" rtlCol="0" anchor="ctr"/>
          <a:lstStyle/>
          <a:p>
            <a:pPr indent="0" marL="0">
              <a:buNone/>
            </a:pPr>
            <a:r>
              <a:rPr lang="en-US" sz="1300" dirty="0">
                <a:solidFill>
                  <a:srgbClr val="14B8A6"/>
                </a:solidFill>
                <a:latin typeface="Calibri" pitchFamily="34" charset="0"/>
                <a:ea typeface="Calibri" pitchFamily="34" charset="-122"/>
                <a:cs typeface="Calibri" pitchFamily="34" charset="-120"/>
              </a:rPr>
              <a:t>Reality: never use the console to MAKE CHANGES. Reading from the console is just using the right tool for the job.</a:t>
            </a:r>
            <a:endParaRPr lang="en-US" sz="1300" dirty="0"/>
          </a:p>
        </p:txBody>
      </p:sp>
      <p:sp>
        <p:nvSpPr>
          <p:cNvPr id="10" name="Shape 7"/>
          <p:cNvSpPr/>
          <p:nvPr/>
        </p:nvSpPr>
        <p:spPr>
          <a:xfrm>
            <a:off x="493776" y="3063240"/>
            <a:ext cx="3611880" cy="3063240"/>
          </a:xfrm>
          <a:prstGeom prst="roundRect">
            <a:avLst>
              <a:gd name="adj" fmla="val 2388"/>
            </a:avLst>
          </a:prstGeom>
          <a:solidFill>
            <a:srgbClr val="1A2744"/>
          </a:solidFill>
          <a:ln/>
        </p:spPr>
      </p:sp>
      <p:sp>
        <p:nvSpPr>
          <p:cNvPr id="11" name="Shape 8"/>
          <p:cNvSpPr/>
          <p:nvPr/>
        </p:nvSpPr>
        <p:spPr>
          <a:xfrm>
            <a:off x="1933956" y="3337560"/>
            <a:ext cx="731520" cy="731520"/>
          </a:xfrm>
          <a:prstGeom prst="ellipse">
            <a:avLst/>
          </a:prstGeom>
          <a:solidFill>
            <a:srgbClr val="0D9488"/>
          </a:solidFill>
          <a:ln/>
        </p:spPr>
      </p:sp>
      <p:pic>
        <p:nvPicPr>
          <p:cNvPr id="12" name="Image 1" descr="preencoded.png">    </p:cNvPr>
          <p:cNvPicPr>
            <a:picLocks noChangeAspect="1"/>
          </p:cNvPicPr>
          <p:nvPr/>
        </p:nvPicPr>
        <p:blipFill>
          <a:blip r:embed="rId2"/>
          <a:stretch>
            <a:fillRect/>
          </a:stretch>
        </p:blipFill>
        <p:spPr>
          <a:xfrm>
            <a:off x="2094890" y="3498494"/>
            <a:ext cx="409651" cy="409651"/>
          </a:xfrm>
          <a:prstGeom prst="rect">
            <a:avLst/>
          </a:prstGeom>
        </p:spPr>
      </p:pic>
      <p:sp>
        <p:nvSpPr>
          <p:cNvPr id="13" name="Text 9"/>
          <p:cNvSpPr/>
          <p:nvPr/>
        </p:nvSpPr>
        <p:spPr>
          <a:xfrm>
            <a:off x="493776" y="4206240"/>
            <a:ext cx="3611880" cy="3657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Console</a:t>
            </a:r>
            <a:endParaRPr lang="en-US" sz="1800" dirty="0"/>
          </a:p>
        </p:txBody>
      </p:sp>
      <p:sp>
        <p:nvSpPr>
          <p:cNvPr id="14" name="Text 10"/>
          <p:cNvSpPr/>
          <p:nvPr/>
        </p:nvSpPr>
        <p:spPr>
          <a:xfrm>
            <a:off x="493776" y="4572000"/>
            <a:ext cx="3611880" cy="320040"/>
          </a:xfrm>
          <a:prstGeom prst="rect">
            <a:avLst/>
          </a:prstGeom>
          <a:noFill/>
          <a:ln/>
        </p:spPr>
        <p:txBody>
          <a:bodyPr wrap="square" rtlCol="0" anchor="ctr"/>
          <a:lstStyle/>
          <a:p>
            <a:pPr algn="ctr" indent="0" marL="0">
              <a:buNone/>
            </a:pPr>
            <a:r>
              <a:rPr lang="en-US" sz="1200" dirty="0">
                <a:solidFill>
                  <a:srgbClr val="14B8A6"/>
                </a:solidFill>
                <a:latin typeface="Calibri" pitchFamily="34" charset="0"/>
                <a:ea typeface="Calibri" pitchFamily="34" charset="-122"/>
                <a:cs typeface="Calibri" pitchFamily="34" charset="-120"/>
              </a:rPr>
              <a:t>For INVESTIGATING</a:t>
            </a:r>
            <a:endParaRPr lang="en-US" sz="1200" dirty="0"/>
          </a:p>
        </p:txBody>
      </p:sp>
      <p:sp>
        <p:nvSpPr>
          <p:cNvPr id="15" name="Text 11"/>
          <p:cNvSpPr/>
          <p:nvPr/>
        </p:nvSpPr>
        <p:spPr>
          <a:xfrm>
            <a:off x="768096" y="4983480"/>
            <a:ext cx="3063240" cy="1097280"/>
          </a:xfrm>
          <a:prstGeom prst="rect">
            <a:avLst/>
          </a:prstGeom>
          <a:noFill/>
          <a:ln/>
        </p:spPr>
        <p:txBody>
          <a:bodyPr wrap="square" rtlCol="0" anchor="ctr"/>
          <a:lstStyle/>
          <a:p>
            <a:pPr algn="ctr" indent="0" marL="0">
              <a:lnSpc>
                <a:spcPct val="120000"/>
              </a:lnSpc>
              <a:buNone/>
            </a:pPr>
            <a:r>
              <a:rPr lang="en-US" sz="1100" dirty="0">
                <a:solidFill>
                  <a:srgbClr val="94A3B8"/>
                </a:solidFill>
                <a:latin typeface="Calibri" pitchFamily="34" charset="0"/>
                <a:ea typeface="Calibri" pitchFamily="34" charset="-122"/>
                <a:cs typeface="Calibri" pitchFamily="34" charset="-120"/>
              </a:rPr>
              <a:t>Time-series data, logs, sampled requests, visual relationships. Exploring unfamiliar services. Incident response when speed matters.</a:t>
            </a:r>
            <a:endParaRPr lang="en-US" sz="1100" dirty="0"/>
          </a:p>
        </p:txBody>
      </p:sp>
      <p:sp>
        <p:nvSpPr>
          <p:cNvPr id="16" name="Shape 12"/>
          <p:cNvSpPr/>
          <p:nvPr/>
        </p:nvSpPr>
        <p:spPr>
          <a:xfrm>
            <a:off x="4288536" y="3063240"/>
            <a:ext cx="3611880" cy="3063240"/>
          </a:xfrm>
          <a:prstGeom prst="roundRect">
            <a:avLst>
              <a:gd name="adj" fmla="val 2388"/>
            </a:avLst>
          </a:prstGeom>
          <a:solidFill>
            <a:srgbClr val="1A2744"/>
          </a:solidFill>
          <a:ln/>
        </p:spPr>
      </p:sp>
      <p:sp>
        <p:nvSpPr>
          <p:cNvPr id="17" name="Shape 13"/>
          <p:cNvSpPr/>
          <p:nvPr/>
        </p:nvSpPr>
        <p:spPr>
          <a:xfrm>
            <a:off x="5728716" y="3337560"/>
            <a:ext cx="731520" cy="731520"/>
          </a:xfrm>
          <a:prstGeom prst="ellipse">
            <a:avLst/>
          </a:prstGeom>
          <a:solidFill>
            <a:srgbClr val="0D9488"/>
          </a:solidFill>
          <a:ln/>
        </p:spPr>
      </p:sp>
      <p:pic>
        <p:nvPicPr>
          <p:cNvPr id="18" name="Image 2" descr="preencoded.png">    </p:cNvPr>
          <p:cNvPicPr>
            <a:picLocks noChangeAspect="1"/>
          </p:cNvPicPr>
          <p:nvPr/>
        </p:nvPicPr>
        <p:blipFill>
          <a:blip r:embed="rId3"/>
          <a:stretch>
            <a:fillRect/>
          </a:stretch>
        </p:blipFill>
        <p:spPr>
          <a:xfrm>
            <a:off x="5889650" y="3498494"/>
            <a:ext cx="409651" cy="409651"/>
          </a:xfrm>
          <a:prstGeom prst="rect">
            <a:avLst/>
          </a:prstGeom>
        </p:spPr>
      </p:pic>
      <p:sp>
        <p:nvSpPr>
          <p:cNvPr id="19" name="Text 14"/>
          <p:cNvSpPr/>
          <p:nvPr/>
        </p:nvSpPr>
        <p:spPr>
          <a:xfrm>
            <a:off x="4288536" y="4206240"/>
            <a:ext cx="3611880" cy="3657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AWS CLI</a:t>
            </a:r>
            <a:endParaRPr lang="en-US" sz="1800" dirty="0"/>
          </a:p>
        </p:txBody>
      </p:sp>
      <p:sp>
        <p:nvSpPr>
          <p:cNvPr id="20" name="Text 15"/>
          <p:cNvSpPr/>
          <p:nvPr/>
        </p:nvSpPr>
        <p:spPr>
          <a:xfrm>
            <a:off x="4288536" y="4572000"/>
            <a:ext cx="3611880" cy="320040"/>
          </a:xfrm>
          <a:prstGeom prst="rect">
            <a:avLst/>
          </a:prstGeom>
          <a:noFill/>
          <a:ln/>
        </p:spPr>
        <p:txBody>
          <a:bodyPr wrap="square" rtlCol="0" anchor="ctr"/>
          <a:lstStyle/>
          <a:p>
            <a:pPr algn="ctr" indent="0" marL="0">
              <a:buNone/>
            </a:pPr>
            <a:r>
              <a:rPr lang="en-US" sz="1200" dirty="0">
                <a:solidFill>
                  <a:srgbClr val="14B8A6"/>
                </a:solidFill>
                <a:latin typeface="Calibri" pitchFamily="34" charset="0"/>
                <a:ea typeface="Calibri" pitchFamily="34" charset="-122"/>
                <a:cs typeface="Calibri" pitchFamily="34" charset="-120"/>
              </a:rPr>
              <a:t>For SCRIPTING &amp; EVIDENCE</a:t>
            </a:r>
            <a:endParaRPr lang="en-US" sz="1200" dirty="0"/>
          </a:p>
        </p:txBody>
      </p:sp>
      <p:sp>
        <p:nvSpPr>
          <p:cNvPr id="21" name="Text 16"/>
          <p:cNvSpPr/>
          <p:nvPr/>
        </p:nvSpPr>
        <p:spPr>
          <a:xfrm>
            <a:off x="4562856" y="4983480"/>
            <a:ext cx="3063240" cy="1097280"/>
          </a:xfrm>
          <a:prstGeom prst="rect">
            <a:avLst/>
          </a:prstGeom>
          <a:noFill/>
          <a:ln/>
        </p:spPr>
        <p:txBody>
          <a:bodyPr wrap="square" rtlCol="0" anchor="ctr"/>
          <a:lstStyle/>
          <a:p>
            <a:pPr algn="ctr" indent="0" marL="0">
              <a:lnSpc>
                <a:spcPct val="120000"/>
              </a:lnSpc>
              <a:buNone/>
            </a:pPr>
            <a:r>
              <a:rPr lang="en-US" sz="1100" dirty="0">
                <a:solidFill>
                  <a:srgbClr val="94A3B8"/>
                </a:solidFill>
                <a:latin typeface="Calibri" pitchFamily="34" charset="0"/>
                <a:ea typeface="Calibri" pitchFamily="34" charset="-122"/>
                <a:cs typeface="Calibri" pitchFamily="34" charset="-120"/>
              </a:rPr>
              <a:t>Exact config dumps, repeatable queries, automation, CI/CD. Paste-able output for tickets and postmortems.</a:t>
            </a:r>
            <a:endParaRPr lang="en-US" sz="1100" dirty="0"/>
          </a:p>
        </p:txBody>
      </p:sp>
      <p:sp>
        <p:nvSpPr>
          <p:cNvPr id="22" name="Shape 17"/>
          <p:cNvSpPr/>
          <p:nvPr/>
        </p:nvSpPr>
        <p:spPr>
          <a:xfrm>
            <a:off x="8083296" y="3063240"/>
            <a:ext cx="3611880" cy="3063240"/>
          </a:xfrm>
          <a:prstGeom prst="roundRect">
            <a:avLst>
              <a:gd name="adj" fmla="val 2388"/>
            </a:avLst>
          </a:prstGeom>
          <a:solidFill>
            <a:srgbClr val="1A2744"/>
          </a:solidFill>
          <a:ln/>
        </p:spPr>
      </p:sp>
      <p:sp>
        <p:nvSpPr>
          <p:cNvPr id="23" name="Shape 18"/>
          <p:cNvSpPr/>
          <p:nvPr/>
        </p:nvSpPr>
        <p:spPr>
          <a:xfrm>
            <a:off x="9523476" y="3337560"/>
            <a:ext cx="731520" cy="731520"/>
          </a:xfrm>
          <a:prstGeom prst="ellipse">
            <a:avLst/>
          </a:prstGeom>
          <a:solidFill>
            <a:srgbClr val="0D9488"/>
          </a:solidFill>
          <a:ln/>
        </p:spPr>
      </p:sp>
      <p:pic>
        <p:nvPicPr>
          <p:cNvPr id="24" name="Image 3" descr="preencoded.png">    </p:cNvPr>
          <p:cNvPicPr>
            <a:picLocks noChangeAspect="1"/>
          </p:cNvPicPr>
          <p:nvPr/>
        </p:nvPicPr>
        <p:blipFill>
          <a:blip r:embed="rId4"/>
          <a:stretch>
            <a:fillRect/>
          </a:stretch>
        </p:blipFill>
        <p:spPr>
          <a:xfrm>
            <a:off x="9684410" y="3498494"/>
            <a:ext cx="409651" cy="409651"/>
          </a:xfrm>
          <a:prstGeom prst="rect">
            <a:avLst/>
          </a:prstGeom>
        </p:spPr>
      </p:pic>
      <p:sp>
        <p:nvSpPr>
          <p:cNvPr id="25" name="Text 19"/>
          <p:cNvSpPr/>
          <p:nvPr/>
        </p:nvSpPr>
        <p:spPr>
          <a:xfrm>
            <a:off x="8083296" y="4206240"/>
            <a:ext cx="3611880" cy="3657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Terraform</a:t>
            </a:r>
            <a:endParaRPr lang="en-US" sz="1800" dirty="0"/>
          </a:p>
        </p:txBody>
      </p:sp>
      <p:sp>
        <p:nvSpPr>
          <p:cNvPr id="26" name="Text 20"/>
          <p:cNvSpPr/>
          <p:nvPr/>
        </p:nvSpPr>
        <p:spPr>
          <a:xfrm>
            <a:off x="8083296" y="4572000"/>
            <a:ext cx="3611880" cy="320040"/>
          </a:xfrm>
          <a:prstGeom prst="rect">
            <a:avLst/>
          </a:prstGeom>
          <a:noFill/>
          <a:ln/>
        </p:spPr>
        <p:txBody>
          <a:bodyPr wrap="square" rtlCol="0" anchor="ctr"/>
          <a:lstStyle/>
          <a:p>
            <a:pPr algn="ctr" indent="0" marL="0">
              <a:buNone/>
            </a:pPr>
            <a:r>
              <a:rPr lang="en-US" sz="1200" dirty="0">
                <a:solidFill>
                  <a:srgbClr val="14B8A6"/>
                </a:solidFill>
                <a:latin typeface="Calibri" pitchFamily="34" charset="0"/>
                <a:ea typeface="Calibri" pitchFamily="34" charset="-122"/>
                <a:cs typeface="Calibri" pitchFamily="34" charset="-120"/>
              </a:rPr>
              <a:t>For CHANGING things</a:t>
            </a:r>
            <a:endParaRPr lang="en-US" sz="1200" dirty="0"/>
          </a:p>
        </p:txBody>
      </p:sp>
      <p:sp>
        <p:nvSpPr>
          <p:cNvPr id="27" name="Text 21"/>
          <p:cNvSpPr/>
          <p:nvPr/>
        </p:nvSpPr>
        <p:spPr>
          <a:xfrm>
            <a:off x="8357616" y="4983480"/>
            <a:ext cx="3063240" cy="1097280"/>
          </a:xfrm>
          <a:prstGeom prst="rect">
            <a:avLst/>
          </a:prstGeom>
          <a:noFill/>
          <a:ln/>
        </p:spPr>
        <p:txBody>
          <a:bodyPr wrap="square" rtlCol="0" anchor="ctr"/>
          <a:lstStyle/>
          <a:p>
            <a:pPr algn="ctr" indent="0" marL="0">
              <a:lnSpc>
                <a:spcPct val="120000"/>
              </a:lnSpc>
              <a:buNone/>
            </a:pPr>
            <a:r>
              <a:rPr lang="en-US" sz="1100" dirty="0">
                <a:solidFill>
                  <a:srgbClr val="94A3B8"/>
                </a:solidFill>
                <a:latin typeface="Calibri" pitchFamily="34" charset="0"/>
                <a:ea typeface="Calibri" pitchFamily="34" charset="-122"/>
                <a:cs typeface="Calibri" pitchFamily="34" charset="-120"/>
              </a:rPr>
              <a:t>All create, update, delete operations. Reproducible, reviewed, version-controlled. Click-ops creates drift — avoid.</a:t>
            </a:r>
            <a:endParaRPr lang="en-US" sz="1100" dirty="0"/>
          </a:p>
        </p:txBody>
      </p:sp>
      <p:sp>
        <p:nvSpPr>
          <p:cNvPr id="28" name="Text 22"/>
          <p:cNvSpPr/>
          <p:nvPr/>
        </p:nvSpPr>
        <p:spPr>
          <a:xfrm>
            <a:off x="457200" y="6492240"/>
            <a:ext cx="64008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Lab 083  —  WAF Blocking Legitimate Traffic</a:t>
            </a:r>
            <a:endParaRPr lang="en-US" sz="1000" dirty="0"/>
          </a:p>
        </p:txBody>
      </p:sp>
      <p:sp>
        <p:nvSpPr>
          <p:cNvPr id="29" name="Text 23"/>
          <p:cNvSpPr/>
          <p:nvPr/>
        </p:nvSpPr>
        <p:spPr>
          <a:xfrm>
            <a:off x="11247120"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Bug #1 — Rate limit too aggressive</a:t>
            </a:r>
            <a:endParaRPr lang="en-US" sz="2800" dirty="0"/>
          </a:p>
        </p:txBody>
      </p:sp>
      <p:sp>
        <p:nvSpPr>
          <p:cNvPr id="3" name="Text 1"/>
          <p:cNvSpPr/>
          <p:nvPr/>
        </p:nvSpPr>
        <p:spPr>
          <a:xfrm>
            <a:off x="457200" y="822960"/>
            <a:ext cx="11247120" cy="365760"/>
          </a:xfrm>
          <a:prstGeom prst="rect">
            <a:avLst/>
          </a:prstGeom>
          <a:noFill/>
          <a:ln/>
        </p:spPr>
        <p:txBody>
          <a:bodyPr wrap="square" rtlCol="0" anchor="ctr"/>
          <a:lstStyle/>
          <a:p>
            <a:pPr indent="0" marL="0">
              <a:buNone/>
            </a:pPr>
            <a:r>
              <a:rPr lang="en-US" sz="1400" dirty="0">
                <a:solidFill>
                  <a:srgbClr val="14B8A6"/>
                </a:solidFill>
                <a:latin typeface="Calibri" pitchFamily="34" charset="0"/>
                <a:ea typeface="Calibri" pitchFamily="34" charset="-122"/>
                <a:cs typeface="Calibri" pitchFamily="34" charset="-120"/>
              </a:rPr>
              <a:t>100 requests per 5 minutes is not a real-world threshold</a:t>
            </a:r>
            <a:endParaRPr lang="en-US" sz="1400" dirty="0"/>
          </a:p>
        </p:txBody>
      </p:sp>
      <p:sp>
        <p:nvSpPr>
          <p:cNvPr id="4" name="Shape 2"/>
          <p:cNvSpPr/>
          <p:nvPr/>
        </p:nvSpPr>
        <p:spPr>
          <a:xfrm>
            <a:off x="457200" y="1234440"/>
            <a:ext cx="457200" cy="36576"/>
          </a:xfrm>
          <a:prstGeom prst="rect">
            <a:avLst/>
          </a:prstGeom>
          <a:solidFill>
            <a:srgbClr val="0D9488"/>
          </a:solidFill>
          <a:ln/>
        </p:spPr>
      </p:sp>
      <p:sp>
        <p:nvSpPr>
          <p:cNvPr id="5" name="Shape 3"/>
          <p:cNvSpPr/>
          <p:nvPr/>
        </p:nvSpPr>
        <p:spPr>
          <a:xfrm>
            <a:off x="457200" y="1600200"/>
            <a:ext cx="5577840" cy="4572000"/>
          </a:xfrm>
          <a:prstGeom prst="roundRect">
            <a:avLst>
              <a:gd name="adj" fmla="val 1600"/>
            </a:avLst>
          </a:prstGeom>
          <a:solidFill>
            <a:srgbClr val="1A2744"/>
          </a:solidFill>
          <a:ln/>
        </p:spPr>
      </p:sp>
      <p:sp>
        <p:nvSpPr>
          <p:cNvPr id="6" name="Shape 4"/>
          <p:cNvSpPr/>
          <p:nvPr/>
        </p:nvSpPr>
        <p:spPr>
          <a:xfrm>
            <a:off x="685800" y="1828800"/>
            <a:ext cx="548640" cy="54864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806501" y="1949501"/>
            <a:ext cx="307238" cy="307238"/>
          </a:xfrm>
          <a:prstGeom prst="rect">
            <a:avLst/>
          </a:prstGeom>
        </p:spPr>
      </p:pic>
      <p:sp>
        <p:nvSpPr>
          <p:cNvPr id="8" name="Text 5"/>
          <p:cNvSpPr/>
          <p:nvPr/>
        </p:nvSpPr>
        <p:spPr>
          <a:xfrm>
            <a:off x="1371600" y="1874520"/>
            <a:ext cx="45720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config</a:t>
            </a:r>
            <a:endParaRPr lang="en-US" sz="1500" dirty="0"/>
          </a:p>
        </p:txBody>
      </p:sp>
      <p:sp>
        <p:nvSpPr>
          <p:cNvPr id="9" name="Text 6"/>
          <p:cNvSpPr/>
          <p:nvPr/>
        </p:nvSpPr>
        <p:spPr>
          <a:xfrm>
            <a:off x="731520" y="2468880"/>
            <a:ext cx="5029200" cy="1645920"/>
          </a:xfrm>
          <a:prstGeom prst="rect">
            <a:avLst/>
          </a:prstGeom>
          <a:noFill/>
          <a:ln/>
        </p:spPr>
        <p:txBody>
          <a:bodyPr wrap="square" rtlCol="0" anchor="ctr"/>
          <a:lstStyle/>
          <a:p>
            <a:pPr indent="0" marL="0">
              <a:buNone/>
            </a:pPr>
            <a:r>
              <a:rPr lang="en-US" sz="1300" dirty="0">
                <a:solidFill>
                  <a:srgbClr val="14B8A6"/>
                </a:solidFill>
                <a:latin typeface="Courier New" pitchFamily="34" charset="0"/>
                <a:ea typeface="Courier New" pitchFamily="34" charset="-122"/>
                <a:cs typeface="Courier New" pitchFamily="34" charset="-120"/>
              </a:rPr>
              <a:t>rate_based_statement {</a:t>
            </a:r>
            <a:endParaRPr lang="en-US" sz="1300" dirty="0"/>
          </a:p>
          <a:p>
            <a:pPr indent="0" marL="0">
              <a:buNone/>
            </a:pPr>
            <a:r>
              <a:rPr lang="en-US" sz="1300" dirty="0">
                <a:solidFill>
                  <a:srgbClr val="14B8A6"/>
                </a:solidFill>
                <a:latin typeface="Courier New" pitchFamily="34" charset="0"/>
                <a:ea typeface="Courier New" pitchFamily="34" charset="-122"/>
                <a:cs typeface="Courier New" pitchFamily="34" charset="-120"/>
              </a:rPr>
              <a:t>  limit              = 100</a:t>
            </a:r>
            <a:endParaRPr lang="en-US" sz="1300" dirty="0"/>
          </a:p>
          <a:p>
            <a:pPr indent="0" marL="0">
              <a:buNone/>
            </a:pPr>
            <a:r>
              <a:rPr lang="en-US" sz="1300" dirty="0">
                <a:solidFill>
                  <a:srgbClr val="14B8A6"/>
                </a:solidFill>
                <a:latin typeface="Courier New" pitchFamily="34" charset="0"/>
                <a:ea typeface="Courier New" pitchFamily="34" charset="-122"/>
                <a:cs typeface="Courier New" pitchFamily="34" charset="-120"/>
              </a:rPr>
              <a:t>  aggregate_key_type = "IP"</a:t>
            </a:r>
            <a:endParaRPr lang="en-US" sz="1300" dirty="0"/>
          </a:p>
          <a:p>
            <a:pPr indent="0" marL="0">
              <a:buNone/>
            </a:pPr>
            <a:r>
              <a:rPr lang="en-US" sz="1300" dirty="0">
                <a:solidFill>
                  <a:srgbClr val="14B8A6"/>
                </a:solidFill>
                <a:latin typeface="Courier New" pitchFamily="34" charset="0"/>
                <a:ea typeface="Courier New" pitchFamily="34" charset="-122"/>
                <a:cs typeface="Courier New" pitchFamily="34" charset="-120"/>
              </a:rPr>
              <a:t>}</a:t>
            </a:r>
            <a:endParaRPr lang="en-US" sz="1300" dirty="0"/>
          </a:p>
        </p:txBody>
      </p:sp>
      <p:sp>
        <p:nvSpPr>
          <p:cNvPr id="10" name="Text 7"/>
          <p:cNvSpPr/>
          <p:nvPr/>
        </p:nvSpPr>
        <p:spPr>
          <a:xfrm>
            <a:off x="731520" y="4297680"/>
            <a:ext cx="5029200" cy="36576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What this says</a:t>
            </a:r>
            <a:endParaRPr lang="en-US" sz="1400" dirty="0"/>
          </a:p>
        </p:txBody>
      </p:sp>
      <p:sp>
        <p:nvSpPr>
          <p:cNvPr id="11" name="Text 8"/>
          <p:cNvSpPr/>
          <p:nvPr/>
        </p:nvSpPr>
        <p:spPr>
          <a:xfrm>
            <a:off x="731520" y="4709160"/>
            <a:ext cx="5029200" cy="1188720"/>
          </a:xfrm>
          <a:prstGeom prst="rect">
            <a:avLst/>
          </a:prstGeom>
          <a:noFill/>
          <a:ln/>
        </p:spPr>
        <p:txBody>
          <a:bodyPr wrap="square" rtlCol="0" anchor="ctr"/>
          <a:lstStyle/>
          <a:p>
            <a:pPr indent="0" marL="0">
              <a:lnSpc>
                <a:spcPct val="120000"/>
              </a:lnSpc>
              <a:buNone/>
            </a:pPr>
            <a:r>
              <a:rPr lang="en-US" sz="1200" dirty="0">
                <a:solidFill>
                  <a:srgbClr val="94A3B8"/>
                </a:solidFill>
                <a:latin typeface="Calibri" pitchFamily="34" charset="0"/>
                <a:ea typeface="Calibri" pitchFamily="34" charset="-122"/>
                <a:cs typeface="Calibri" pitchFamily="34" charset="-120"/>
              </a:rPr>
              <a:t>Block any IP that makes more than 100 requests in a rolling 5-minute window.</a:t>
            </a:r>
            <a:endParaRPr lang="en-US" sz="1200" dirty="0"/>
          </a:p>
        </p:txBody>
      </p:sp>
      <p:sp>
        <p:nvSpPr>
          <p:cNvPr id="12" name="Shape 9"/>
          <p:cNvSpPr/>
          <p:nvPr/>
        </p:nvSpPr>
        <p:spPr>
          <a:xfrm>
            <a:off x="6263640" y="1600200"/>
            <a:ext cx="5486400" cy="4572000"/>
          </a:xfrm>
          <a:prstGeom prst="roundRect">
            <a:avLst>
              <a:gd name="adj" fmla="val 1600"/>
            </a:avLst>
          </a:prstGeom>
          <a:solidFill>
            <a:srgbClr val="1A2744"/>
          </a:solidFill>
          <a:ln/>
        </p:spPr>
      </p:sp>
      <p:sp>
        <p:nvSpPr>
          <p:cNvPr id="13" name="Shape 10"/>
          <p:cNvSpPr/>
          <p:nvPr/>
        </p:nvSpPr>
        <p:spPr>
          <a:xfrm>
            <a:off x="6492240" y="1828800"/>
            <a:ext cx="548640" cy="548640"/>
          </a:xfrm>
          <a:prstGeom prst="ellipse">
            <a:avLst/>
          </a:prstGeom>
          <a:solidFill>
            <a:srgbClr val="0D9488"/>
          </a:solidFill>
          <a:ln/>
        </p:spPr>
      </p:sp>
      <p:pic>
        <p:nvPicPr>
          <p:cNvPr id="14" name="Image 1" descr="preencoded.png">    </p:cNvPr>
          <p:cNvPicPr>
            <a:picLocks noChangeAspect="1"/>
          </p:cNvPicPr>
          <p:nvPr/>
        </p:nvPicPr>
        <p:blipFill>
          <a:blip r:embed="rId2"/>
          <a:stretch>
            <a:fillRect/>
          </a:stretch>
        </p:blipFill>
        <p:spPr>
          <a:xfrm>
            <a:off x="6612941" y="1949501"/>
            <a:ext cx="307238" cy="307238"/>
          </a:xfrm>
          <a:prstGeom prst="rect">
            <a:avLst/>
          </a:prstGeom>
        </p:spPr>
      </p:pic>
      <p:sp>
        <p:nvSpPr>
          <p:cNvPr id="15" name="Text 11"/>
          <p:cNvSpPr/>
          <p:nvPr/>
        </p:nvSpPr>
        <p:spPr>
          <a:xfrm>
            <a:off x="7178040" y="1874520"/>
            <a:ext cx="45720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maths</a:t>
            </a:r>
            <a:endParaRPr lang="en-US" sz="1500" dirty="0"/>
          </a:p>
        </p:txBody>
      </p:sp>
      <p:sp>
        <p:nvSpPr>
          <p:cNvPr id="16" name="Text 12"/>
          <p:cNvSpPr/>
          <p:nvPr/>
        </p:nvSpPr>
        <p:spPr>
          <a:xfrm>
            <a:off x="6446520" y="2423160"/>
            <a:ext cx="5212080" cy="457200"/>
          </a:xfrm>
          <a:prstGeom prst="rect">
            <a:avLst/>
          </a:prstGeom>
          <a:noFill/>
          <a:ln/>
        </p:spPr>
        <p:txBody>
          <a:bodyPr wrap="square"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100 requests / 300 seconds  =  0.33 requests per second</a:t>
            </a:r>
            <a:endParaRPr lang="en-US" sz="1300" dirty="0"/>
          </a:p>
        </p:txBody>
      </p:sp>
      <p:sp>
        <p:nvSpPr>
          <p:cNvPr id="17" name="Text 13"/>
          <p:cNvSpPr/>
          <p:nvPr/>
        </p:nvSpPr>
        <p:spPr>
          <a:xfrm>
            <a:off x="6446520" y="3108960"/>
            <a:ext cx="5212080" cy="2286000"/>
          </a:xfrm>
          <a:prstGeom prst="rect">
            <a:avLst/>
          </a:prstGeom>
          <a:noFill/>
          <a:ln/>
        </p:spPr>
        <p:txBody>
          <a:bodyPr wrap="square" rtlCol="0" anchor="ctr"/>
          <a:lstStyle/>
          <a:p>
            <a:pPr indent="0" marL="0">
              <a:lnSpc>
                <a:spcPct val="125000"/>
              </a:lnSpc>
              <a:buNone/>
            </a:pPr>
            <a:r>
              <a:rPr lang="en-US" sz="1200" dirty="0">
                <a:solidFill>
                  <a:srgbClr val="94A3B8"/>
                </a:solidFill>
                <a:latin typeface="Calibri" pitchFamily="34" charset="0"/>
                <a:ea typeface="Calibri" pitchFamily="34" charset="-122"/>
                <a:cs typeface="Calibri" pitchFamily="34" charset="-120"/>
              </a:rPr>
              <a:t>•  A modern page loads 20–50 assets</a:t>
            </a:r>
            <a:endParaRPr lang="en-US" sz="1200" dirty="0"/>
          </a:p>
          <a:p>
            <a:pPr indent="0" marL="0">
              <a:lnSpc>
                <a:spcPct val="125000"/>
              </a:lnSpc>
              <a:buNone/>
            </a:pPr>
            <a:r>
              <a:rPr lang="en-US" sz="1200" dirty="0">
                <a:solidFill>
                  <a:srgbClr val="94A3B8"/>
                </a:solidFill>
                <a:latin typeface="Calibri" pitchFamily="34" charset="0"/>
                <a:ea typeface="Calibri" pitchFamily="34" charset="-122"/>
                <a:cs typeface="Calibri" pitchFamily="34" charset="-120"/>
              </a:rPr>
              <a:t>   (HTML, CSS, JS bundles, images, fonts, API calls)</a:t>
            </a:r>
            <a:endParaRPr lang="en-US" sz="1200" dirty="0"/>
          </a:p>
          <a:p>
            <a:pPr indent="0" marL="0">
              <a:lnSpc>
                <a:spcPct val="125000"/>
              </a:lnSpc>
              <a:buNone/>
            </a:pPr>
            <a:endParaRPr lang="en-US" sz="1200" dirty="0"/>
          </a:p>
          <a:p>
            <a:pPr indent="0" marL="0">
              <a:lnSpc>
                <a:spcPct val="125000"/>
              </a:lnSpc>
              <a:buNone/>
            </a:pPr>
            <a:r>
              <a:rPr lang="en-US" sz="1200" dirty="0">
                <a:solidFill>
                  <a:srgbClr val="94A3B8"/>
                </a:solidFill>
                <a:latin typeface="Calibri" pitchFamily="34" charset="0"/>
                <a:ea typeface="Calibri" pitchFamily="34" charset="-122"/>
                <a:cs typeface="Calibri" pitchFamily="34" charset="-120"/>
              </a:rPr>
              <a:t>•  A user clicking through 3 pages in 5 min  ≈  60–150 requests</a:t>
            </a:r>
            <a:endParaRPr lang="en-US" sz="1200" dirty="0"/>
          </a:p>
          <a:p>
            <a:pPr indent="0" marL="0">
              <a:lnSpc>
                <a:spcPct val="125000"/>
              </a:lnSpc>
              <a:buNone/>
            </a:pPr>
            <a:endParaRPr lang="en-US" sz="1200" dirty="0"/>
          </a:p>
          <a:p>
            <a:pPr indent="0" marL="0">
              <a:lnSpc>
                <a:spcPct val="125000"/>
              </a:lnSpc>
              <a:buNone/>
            </a:pPr>
            <a:r>
              <a:rPr lang="en-US" sz="1200" dirty="0">
                <a:solidFill>
                  <a:srgbClr val="94A3B8"/>
                </a:solidFill>
                <a:latin typeface="Calibri" pitchFamily="34" charset="0"/>
                <a:ea typeface="Calibri" pitchFamily="34" charset="-122"/>
                <a:cs typeface="Calibri" pitchFamily="34" charset="-120"/>
              </a:rPr>
              <a:t>•  Background polling (chat, notifications, analytics) adds more</a:t>
            </a:r>
            <a:endParaRPr lang="en-US" sz="1200" dirty="0"/>
          </a:p>
          <a:p>
            <a:pPr indent="0" marL="0">
              <a:lnSpc>
                <a:spcPct val="125000"/>
              </a:lnSpc>
              <a:buNone/>
            </a:pPr>
            <a:endParaRPr lang="en-US" sz="1200" dirty="0"/>
          </a:p>
          <a:p>
            <a:pPr indent="0" marL="0">
              <a:lnSpc>
                <a:spcPct val="125000"/>
              </a:lnSpc>
              <a:buNone/>
            </a:pPr>
            <a:r>
              <a:rPr lang="en-US" sz="1200" dirty="0">
                <a:solidFill>
                  <a:srgbClr val="94A3B8"/>
                </a:solidFill>
                <a:latin typeface="Calibri" pitchFamily="34" charset="0"/>
                <a:ea typeface="Calibri" pitchFamily="34" charset="-122"/>
                <a:cs typeface="Calibri" pitchFamily="34" charset="-120"/>
              </a:rPr>
              <a:t>•  Normal users trip the limit within 1–2 pages</a:t>
            </a:r>
            <a:endParaRPr lang="en-US" sz="1200" dirty="0"/>
          </a:p>
        </p:txBody>
      </p:sp>
      <p:sp>
        <p:nvSpPr>
          <p:cNvPr id="18" name="Text 14"/>
          <p:cNvSpPr/>
          <p:nvPr/>
        </p:nvSpPr>
        <p:spPr>
          <a:xfrm>
            <a:off x="6446520" y="5440680"/>
            <a:ext cx="5212080" cy="640080"/>
          </a:xfrm>
          <a:prstGeom prst="rect">
            <a:avLst/>
          </a:prstGeom>
          <a:noFill/>
          <a:ln/>
        </p:spPr>
        <p:txBody>
          <a:bodyPr wrap="square" rtlCol="0" anchor="ctr"/>
          <a:lstStyle/>
          <a:p>
            <a:pPr indent="0" marL="0">
              <a:buNone/>
            </a:pPr>
            <a:r>
              <a:rPr lang="en-US" sz="1200" i="1" dirty="0">
                <a:solidFill>
                  <a:srgbClr val="14B8A6"/>
                </a:solidFill>
                <a:latin typeface="Calibri" pitchFamily="34" charset="0"/>
                <a:ea typeface="Calibri" pitchFamily="34" charset="-122"/>
                <a:cs typeface="Calibri" pitchFamily="34" charset="-120"/>
              </a:rPr>
              <a:t>A sensible starting point: 2000 per 5 min (~6.7 req/sec per IP). Tune from observed traffic.</a:t>
            </a:r>
            <a:endParaRPr lang="en-US" sz="1200" dirty="0"/>
          </a:p>
        </p:txBody>
      </p:sp>
      <p:sp>
        <p:nvSpPr>
          <p:cNvPr id="19" name="Text 15"/>
          <p:cNvSpPr/>
          <p:nvPr/>
        </p:nvSpPr>
        <p:spPr>
          <a:xfrm>
            <a:off x="457200" y="6492240"/>
            <a:ext cx="64008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Lab 083  —  WAF Blocking Legitimate Traffic</a:t>
            </a:r>
            <a:endParaRPr lang="en-US" sz="1000" dirty="0"/>
          </a:p>
        </p:txBody>
      </p:sp>
      <p:sp>
        <p:nvSpPr>
          <p:cNvPr id="20" name="Text 16"/>
          <p:cNvSpPr/>
          <p:nvPr/>
        </p:nvSpPr>
        <p:spPr>
          <a:xfrm>
            <a:off x="11247120"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Bug #2 — Rule priority ordering</a:t>
            </a:r>
            <a:endParaRPr lang="en-US" sz="2800" dirty="0"/>
          </a:p>
        </p:txBody>
      </p:sp>
      <p:sp>
        <p:nvSpPr>
          <p:cNvPr id="3" name="Text 1"/>
          <p:cNvSpPr/>
          <p:nvPr/>
        </p:nvSpPr>
        <p:spPr>
          <a:xfrm>
            <a:off x="457200" y="822960"/>
            <a:ext cx="11247120" cy="365760"/>
          </a:xfrm>
          <a:prstGeom prst="rect">
            <a:avLst/>
          </a:prstGeom>
          <a:noFill/>
          <a:ln/>
        </p:spPr>
        <p:txBody>
          <a:bodyPr wrap="square" rtlCol="0" anchor="ctr"/>
          <a:lstStyle/>
          <a:p>
            <a:pPr indent="0" marL="0">
              <a:buNone/>
            </a:pPr>
            <a:r>
              <a:rPr lang="en-US" sz="1400" dirty="0">
                <a:solidFill>
                  <a:srgbClr val="14B8A6"/>
                </a:solidFill>
                <a:latin typeface="Calibri" pitchFamily="34" charset="0"/>
                <a:ea typeface="Calibri" pitchFamily="34" charset="-122"/>
                <a:cs typeface="Calibri" pitchFamily="34" charset="-120"/>
              </a:rPr>
              <a:t>Block rule at priority 1 means no Allow rule can ever save a legitimate user</a:t>
            </a:r>
            <a:endParaRPr lang="en-US" sz="1400" dirty="0"/>
          </a:p>
        </p:txBody>
      </p:sp>
      <p:sp>
        <p:nvSpPr>
          <p:cNvPr id="4" name="Shape 2"/>
          <p:cNvSpPr/>
          <p:nvPr/>
        </p:nvSpPr>
        <p:spPr>
          <a:xfrm>
            <a:off x="457200" y="1234440"/>
            <a:ext cx="457200" cy="36576"/>
          </a:xfrm>
          <a:prstGeom prst="rect">
            <a:avLst/>
          </a:prstGeom>
          <a:solidFill>
            <a:srgbClr val="0D9488"/>
          </a:solidFill>
          <a:ln/>
        </p:spPr>
      </p:sp>
      <p:sp>
        <p:nvSpPr>
          <p:cNvPr id="5" name="Shape 3"/>
          <p:cNvSpPr/>
          <p:nvPr/>
        </p:nvSpPr>
        <p:spPr>
          <a:xfrm>
            <a:off x="457200" y="1600200"/>
            <a:ext cx="11247120" cy="2103120"/>
          </a:xfrm>
          <a:prstGeom prst="roundRect">
            <a:avLst>
              <a:gd name="adj" fmla="val 3478"/>
            </a:avLst>
          </a:prstGeom>
          <a:solidFill>
            <a:srgbClr val="1A2744"/>
          </a:solidFill>
          <a:ln/>
        </p:spPr>
      </p:sp>
      <p:sp>
        <p:nvSpPr>
          <p:cNvPr id="6" name="Shape 4"/>
          <p:cNvSpPr/>
          <p:nvPr/>
        </p:nvSpPr>
        <p:spPr>
          <a:xfrm>
            <a:off x="685800" y="1828800"/>
            <a:ext cx="548640" cy="54864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806501" y="1949501"/>
            <a:ext cx="307238" cy="307238"/>
          </a:xfrm>
          <a:prstGeom prst="rect">
            <a:avLst/>
          </a:prstGeom>
        </p:spPr>
      </p:pic>
      <p:sp>
        <p:nvSpPr>
          <p:cNvPr id="8" name="Text 5"/>
          <p:cNvSpPr/>
          <p:nvPr/>
        </p:nvSpPr>
        <p:spPr>
          <a:xfrm>
            <a:off x="1371600" y="1874520"/>
            <a:ext cx="101498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before state</a:t>
            </a:r>
            <a:endParaRPr lang="en-US" sz="1500" dirty="0"/>
          </a:p>
        </p:txBody>
      </p:sp>
      <p:sp>
        <p:nvSpPr>
          <p:cNvPr id="9" name="Text 6"/>
          <p:cNvSpPr/>
          <p:nvPr/>
        </p:nvSpPr>
        <p:spPr>
          <a:xfrm>
            <a:off x="1371600" y="2331720"/>
            <a:ext cx="10149840" cy="1280160"/>
          </a:xfrm>
          <a:prstGeom prst="rect">
            <a:avLst/>
          </a:prstGeom>
          <a:noFill/>
          <a:ln/>
        </p:spPr>
        <p:txBody>
          <a:bodyPr wrap="square" rtlCol="0" anchor="ctr"/>
          <a:lstStyle/>
          <a:p>
            <a:pPr indent="0" marL="0">
              <a:lnSpc>
                <a:spcPct val="125000"/>
              </a:lnSpc>
              <a:buNone/>
            </a:pPr>
            <a:r>
              <a:rPr lang="en-US" sz="1200" dirty="0">
                <a:solidFill>
                  <a:srgbClr val="94A3B8"/>
                </a:solidFill>
                <a:latin typeface="Courier New" pitchFamily="34" charset="0"/>
                <a:ea typeface="Courier New" pitchFamily="34" charset="-122"/>
                <a:cs typeface="Courier New" pitchFamily="34" charset="-120"/>
              </a:rPr>
              <a:t>rate-limit (Block)  →  priority 1</a:t>
            </a:r>
            <a:endParaRPr lang="en-US" sz="1200" dirty="0"/>
          </a:p>
          <a:p>
            <a:pPr indent="0" marL="0">
              <a:lnSpc>
                <a:spcPct val="125000"/>
              </a:lnSpc>
              <a:buNone/>
            </a:pPr>
            <a:r>
              <a:rPr lang="en-US" sz="1200" dirty="0">
                <a:solidFill>
                  <a:srgbClr val="94A3B8"/>
                </a:solidFill>
                <a:latin typeface="Courier New" pitchFamily="34" charset="0"/>
                <a:ea typeface="Courier New" pitchFamily="34" charset="-122"/>
                <a:cs typeface="Courier New" pitchFamily="34" charset="-120"/>
              </a:rPr>
              <a:t>ip-blocklist (Block)  →  priority 2</a:t>
            </a:r>
            <a:endParaRPr lang="en-US" sz="1200" dirty="0"/>
          </a:p>
          <a:p>
            <a:pPr indent="0" marL="0">
              <a:lnSpc>
                <a:spcPct val="125000"/>
              </a:lnSpc>
              <a:buNone/>
            </a:pPr>
            <a:r>
              <a:rPr lang="en-US" sz="1200" dirty="0">
                <a:solidFill>
                  <a:srgbClr val="94A3B8"/>
                </a:solidFill>
                <a:latin typeface="Courier New" pitchFamily="34" charset="0"/>
                <a:ea typeface="Courier New" pitchFamily="34" charset="-122"/>
                <a:cs typeface="Courier New" pitchFamily="34" charset="-120"/>
              </a:rPr>
              <a:t>geo-block (Block)  →  priority 3</a:t>
            </a:r>
            <a:endParaRPr lang="en-US" sz="1200" dirty="0"/>
          </a:p>
          <a:p>
            <a:pPr indent="0" marL="0">
              <a:lnSpc>
                <a:spcPct val="125000"/>
              </a:lnSpc>
              <a:buNone/>
            </a:pPr>
            <a:r>
              <a:rPr lang="en-US" sz="1200" dirty="0">
                <a:solidFill>
                  <a:srgbClr val="94A3B8"/>
                </a:solidFill>
                <a:latin typeface="Courier New" pitchFamily="34" charset="0"/>
                <a:ea typeface="Courier New" pitchFamily="34" charset="-122"/>
                <a:cs typeface="Courier New" pitchFamily="34" charset="-120"/>
              </a:rPr>
              <a:t>default action  →  Allow (unreachable — rate-limit already blocks)</a:t>
            </a:r>
            <a:endParaRPr lang="en-US" sz="1200" dirty="0"/>
          </a:p>
        </p:txBody>
      </p:sp>
      <p:sp>
        <p:nvSpPr>
          <p:cNvPr id="10" name="Shape 7"/>
          <p:cNvSpPr/>
          <p:nvPr/>
        </p:nvSpPr>
        <p:spPr>
          <a:xfrm>
            <a:off x="457200" y="3886200"/>
            <a:ext cx="11247120" cy="2286000"/>
          </a:xfrm>
          <a:prstGeom prst="roundRect">
            <a:avLst>
              <a:gd name="adj" fmla="val 3200"/>
            </a:avLst>
          </a:prstGeom>
          <a:solidFill>
            <a:srgbClr val="1A2744"/>
          </a:solidFill>
          <a:ln/>
        </p:spPr>
      </p:sp>
      <p:sp>
        <p:nvSpPr>
          <p:cNvPr id="11" name="Shape 8"/>
          <p:cNvSpPr/>
          <p:nvPr/>
        </p:nvSpPr>
        <p:spPr>
          <a:xfrm>
            <a:off x="685800" y="4114800"/>
            <a:ext cx="548640" cy="548640"/>
          </a:xfrm>
          <a:prstGeom prst="ellipse">
            <a:avLst/>
          </a:prstGeom>
          <a:solidFill>
            <a:srgbClr val="0D9488"/>
          </a:solidFill>
          <a:ln/>
        </p:spPr>
      </p:sp>
      <p:pic>
        <p:nvPicPr>
          <p:cNvPr id="12" name="Image 1" descr="preencoded.png">    </p:cNvPr>
          <p:cNvPicPr>
            <a:picLocks noChangeAspect="1"/>
          </p:cNvPicPr>
          <p:nvPr/>
        </p:nvPicPr>
        <p:blipFill>
          <a:blip r:embed="rId2"/>
          <a:stretch>
            <a:fillRect/>
          </a:stretch>
        </p:blipFill>
        <p:spPr>
          <a:xfrm>
            <a:off x="806501" y="4235501"/>
            <a:ext cx="307238" cy="307238"/>
          </a:xfrm>
          <a:prstGeom prst="rect">
            <a:avLst/>
          </a:prstGeom>
        </p:spPr>
      </p:pic>
      <p:sp>
        <p:nvSpPr>
          <p:cNvPr id="13" name="Text 9"/>
          <p:cNvSpPr/>
          <p:nvPr/>
        </p:nvSpPr>
        <p:spPr>
          <a:xfrm>
            <a:off x="1371600" y="4114800"/>
            <a:ext cx="10149840" cy="365760"/>
          </a:xfrm>
          <a:prstGeom prst="rect">
            <a:avLst/>
          </a:prstGeom>
          <a:noFill/>
          <a:ln/>
        </p:spPr>
        <p:txBody>
          <a:bodyPr wrap="square" rtlCol="0" anchor="ctr"/>
          <a:lstStyle/>
          <a:p>
            <a:pPr indent="0" marL="0">
              <a:buNone/>
            </a:pPr>
            <a:r>
              <a:rPr lang="en-US" sz="1500" b="1" dirty="0">
                <a:solidFill>
                  <a:srgbClr val="EF4444"/>
                </a:solidFill>
                <a:latin typeface="Calibri" pitchFamily="34" charset="0"/>
                <a:ea typeface="Calibri" pitchFamily="34" charset="-122"/>
                <a:cs typeface="Calibri" pitchFamily="34" charset="-120"/>
              </a:rPr>
              <a:t>Why this fails</a:t>
            </a:r>
            <a:endParaRPr lang="en-US" sz="1500" dirty="0"/>
          </a:p>
        </p:txBody>
      </p:sp>
      <p:sp>
        <p:nvSpPr>
          <p:cNvPr id="14" name="Text 10"/>
          <p:cNvSpPr/>
          <p:nvPr/>
        </p:nvSpPr>
        <p:spPr>
          <a:xfrm>
            <a:off x="1371600" y="4526280"/>
            <a:ext cx="10149840" cy="1554480"/>
          </a:xfrm>
          <a:prstGeom prst="rect">
            <a:avLst/>
          </a:prstGeom>
          <a:noFill/>
          <a:ln/>
        </p:spPr>
        <p:txBody>
          <a:bodyPr wrap="square" rtlCol="0" anchor="ctr"/>
          <a:lstStyle/>
          <a:p>
            <a:pPr indent="0" marL="0">
              <a:lnSpc>
                <a:spcPct val="120000"/>
              </a:lnSpc>
              <a:buNone/>
            </a:pPr>
            <a:r>
              <a:rPr lang="en-US" sz="1200" dirty="0">
                <a:solidFill>
                  <a:srgbClr val="94A3B8"/>
                </a:solidFill>
                <a:latin typeface="Calibri" pitchFamily="34" charset="0"/>
                <a:ea typeface="Calibri" pitchFamily="34" charset="-122"/>
                <a:cs typeface="Calibri" pitchFamily="34" charset="-120"/>
              </a:rPr>
              <a:t>There are no Allow rules at all — and the Block rules fire immediately. Every request that crosses the rate-limit threshold (which normal users do in 1–2 pages) is blocked with no chance of whitelist. Even if we fix the rate limit, office traffic has no explicit protection from future Block rules.</a:t>
            </a:r>
            <a:endParaRPr lang="en-US" sz="1200" dirty="0"/>
          </a:p>
          <a:p>
            <a:pPr indent="0" marL="0">
              <a:lnSpc>
                <a:spcPct val="120000"/>
              </a:lnSpc>
              <a:buNone/>
            </a:pPr>
            <a:endParaRPr lang="en-US" sz="1200" dirty="0"/>
          </a:p>
          <a:p>
            <a:pPr indent="0" marL="0">
              <a:lnSpc>
                <a:spcPct val="120000"/>
              </a:lnSpc>
              <a:buNone/>
            </a:pPr>
            <a:r>
              <a:rPr lang="en-US" sz="1200" dirty="0">
                <a:solidFill>
                  <a:srgbClr val="94A3B8"/>
                </a:solidFill>
                <a:latin typeface="Calibri" pitchFamily="34" charset="0"/>
                <a:ea typeface="Calibri" pitchFamily="34" charset="-122"/>
                <a:cs typeface="Calibri" pitchFamily="34" charset="-120"/>
              </a:rPr>
              <a:t>The design needs an explicit `allow-trusted-ips` rule at priority 1 — whitelisting trusted traffic BEFORE any Block rule can catch it.</a:t>
            </a:r>
            <a:endParaRPr lang="en-US" sz="1200" dirty="0"/>
          </a:p>
        </p:txBody>
      </p:sp>
      <p:sp>
        <p:nvSpPr>
          <p:cNvPr id="15" name="Text 11"/>
          <p:cNvSpPr/>
          <p:nvPr/>
        </p:nvSpPr>
        <p:spPr>
          <a:xfrm>
            <a:off x="457200" y="6492240"/>
            <a:ext cx="64008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Lab 083  —  WAF Blocking Legitimate Traffic</a:t>
            </a:r>
            <a:endParaRPr lang="en-US" sz="1000" dirty="0"/>
          </a:p>
        </p:txBody>
      </p:sp>
      <p:sp>
        <p:nvSpPr>
          <p:cNvPr id="16" name="Text 12"/>
          <p:cNvSpPr/>
          <p:nvPr/>
        </p:nvSpPr>
        <p:spPr>
          <a:xfrm>
            <a:off x="11247120"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Bug #3 — Trusted and malicious IPs in one Block set</a:t>
            </a:r>
            <a:endParaRPr lang="en-US" sz="2800" dirty="0"/>
          </a:p>
        </p:txBody>
      </p:sp>
      <p:sp>
        <p:nvSpPr>
          <p:cNvPr id="3" name="Text 1"/>
          <p:cNvSpPr/>
          <p:nvPr/>
        </p:nvSpPr>
        <p:spPr>
          <a:xfrm>
            <a:off x="457200" y="822960"/>
            <a:ext cx="11247120" cy="365760"/>
          </a:xfrm>
          <a:prstGeom prst="rect">
            <a:avLst/>
          </a:prstGeom>
          <a:noFill/>
          <a:ln/>
        </p:spPr>
        <p:txBody>
          <a:bodyPr wrap="square" rtlCol="0" anchor="ctr"/>
          <a:lstStyle/>
          <a:p>
            <a:pPr indent="0" marL="0">
              <a:buNone/>
            </a:pPr>
            <a:r>
              <a:rPr lang="en-US" sz="1400" dirty="0">
                <a:solidFill>
                  <a:srgbClr val="14B8A6"/>
                </a:solidFill>
                <a:latin typeface="Calibri" pitchFamily="34" charset="0"/>
                <a:ea typeface="Calibri" pitchFamily="34" charset="-122"/>
                <a:cs typeface="Calibri" pitchFamily="34" charset="-120"/>
              </a:rPr>
              <a:t>The set is called `office-ip-set` and its rule action is BLOCK</a:t>
            </a:r>
            <a:endParaRPr lang="en-US" sz="1400" dirty="0"/>
          </a:p>
        </p:txBody>
      </p:sp>
      <p:sp>
        <p:nvSpPr>
          <p:cNvPr id="4" name="Shape 2"/>
          <p:cNvSpPr/>
          <p:nvPr/>
        </p:nvSpPr>
        <p:spPr>
          <a:xfrm>
            <a:off x="457200" y="1234440"/>
            <a:ext cx="457200" cy="36576"/>
          </a:xfrm>
          <a:prstGeom prst="rect">
            <a:avLst/>
          </a:prstGeom>
          <a:solidFill>
            <a:srgbClr val="0D9488"/>
          </a:solidFill>
          <a:ln/>
        </p:spPr>
      </p:sp>
      <p:sp>
        <p:nvSpPr>
          <p:cNvPr id="5" name="Shape 3"/>
          <p:cNvSpPr/>
          <p:nvPr/>
        </p:nvSpPr>
        <p:spPr>
          <a:xfrm>
            <a:off x="457200" y="1600200"/>
            <a:ext cx="5577840" cy="4572000"/>
          </a:xfrm>
          <a:prstGeom prst="roundRect">
            <a:avLst>
              <a:gd name="adj" fmla="val 1600"/>
            </a:avLst>
          </a:prstGeom>
          <a:solidFill>
            <a:srgbClr val="1A2744"/>
          </a:solidFill>
          <a:ln/>
        </p:spPr>
      </p:sp>
      <p:sp>
        <p:nvSpPr>
          <p:cNvPr id="6" name="Text 4"/>
          <p:cNvSpPr/>
          <p:nvPr/>
        </p:nvSpPr>
        <p:spPr>
          <a:xfrm>
            <a:off x="731520" y="1783080"/>
            <a:ext cx="5029200" cy="365760"/>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Contents of office-ip-set</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31520" y="2286000"/>
          <a:ext cx="5029200" cy="914400"/>
        </p:xfrm>
        <a:graphic>
          <a:graphicData uri="http://schemas.openxmlformats.org/drawingml/2006/table">
            <a:tbl>
              <a:tblPr/>
              <a:tblGrid>
                <a:gridCol w="2514600"/>
                <a:gridCol w="2514600"/>
              </a:tblGrid>
              <a:tr h="5486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CIDR</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0D9488"/>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Classification</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0D9488"/>
                    </a:solidFill>
                  </a:tcPr>
                </a:tc>
              </a:tr>
              <a:tr h="548640">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10.0.0.0/8</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c>
                  <a:txBody>
                    <a:bodyPr/>
                    <a:lstStyle/>
                    <a:p>
                      <a:pPr indent="0" marL="0">
                        <a:buNone/>
                      </a:pPr>
                      <a:r>
                        <a:rPr lang="en-US" sz="1100" dirty="0">
                          <a:solidFill>
                            <a:srgbClr val="14B8A6"/>
                          </a:solidFill>
                          <a:latin typeface="Calibri" pitchFamily="34" charset="0"/>
                          <a:ea typeface="Calibri" pitchFamily="34" charset="-122"/>
                          <a:cs typeface="Calibri" pitchFamily="34" charset="-120"/>
                        </a:rPr>
                        <a:t>TRUSTED — RFC 1918 internal</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r>
              <a:tr h="548640">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192.168.1.0/24</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c>
                  <a:txBody>
                    <a:bodyPr/>
                    <a:lstStyle/>
                    <a:p>
                      <a:pPr indent="0" marL="0">
                        <a:buNone/>
                      </a:pPr>
                      <a:r>
                        <a:rPr lang="en-US" sz="1100" dirty="0">
                          <a:solidFill>
                            <a:srgbClr val="14B8A6"/>
                          </a:solidFill>
                          <a:latin typeface="Calibri" pitchFamily="34" charset="0"/>
                          <a:ea typeface="Calibri" pitchFamily="34" charset="-122"/>
                          <a:cs typeface="Calibri" pitchFamily="34" charset="-120"/>
                        </a:rPr>
                        <a:t>TRUSTED — RFC 1918 internal</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r>
              <a:tr h="548640">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203.0.113.50/32</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c>
                  <a:txBody>
                    <a:bodyPr/>
                    <a:lstStyle/>
                    <a:p>
                      <a:pPr indent="0" marL="0">
                        <a:buNone/>
                      </a:pPr>
                      <a:r>
                        <a:rPr lang="en-US" sz="1100" dirty="0">
                          <a:solidFill>
                            <a:srgbClr val="EF4444"/>
                          </a:solidFill>
                          <a:latin typeface="Calibri" pitchFamily="34" charset="0"/>
                          <a:ea typeface="Calibri" pitchFamily="34" charset="-122"/>
                          <a:cs typeface="Calibri" pitchFamily="34" charset="-120"/>
                        </a:rPr>
                        <a:t>MALICIOUS — single attacker</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r>
              <a:tr h="548640">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198.51.100.100/32</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c>
                  <a:txBody>
                    <a:bodyPr/>
                    <a:lstStyle/>
                    <a:p>
                      <a:pPr indent="0" marL="0">
                        <a:buNone/>
                      </a:pPr>
                      <a:r>
                        <a:rPr lang="en-US" sz="1100" dirty="0">
                          <a:solidFill>
                            <a:srgbClr val="EF4444"/>
                          </a:solidFill>
                          <a:latin typeface="Calibri" pitchFamily="34" charset="0"/>
                          <a:ea typeface="Calibri" pitchFamily="34" charset="-122"/>
                          <a:cs typeface="Calibri" pitchFamily="34" charset="-120"/>
                        </a:rPr>
                        <a:t>MALICIOUS — single attacker</a:t>
                      </a:r>
                      <a:endParaRPr lang="en-US" sz="1100" dirty="0">
                        <a:latin typeface="Calibri" charset="0"/>
                        <a:ea typeface="Calibri" charset="0"/>
                        <a:cs typeface="Calibri" charset="0"/>
                      </a:endParaRPr>
                    </a:p>
                  </a:txBody>
                  <a:tcPr marL="91440" marR="91440" marT="45720" marB="45720">
                    <a:lnL w="6350" cap="flat" cmpd="sng" algn="ctr">
                      <a:solidFill>
                        <a:srgbClr val="0F1B2D"/>
                      </a:solidFill>
                      <a:prstDash val="solid"/>
                      <a:round/>
                      <a:headEnd type="none" w="med" len="med"/>
                      <a:tailEnd type="none" w="med" len="med"/>
                    </a:lnL>
                    <a:lnR w="6350" cap="flat" cmpd="sng" algn="ctr">
                      <a:solidFill>
                        <a:srgbClr val="0F1B2D"/>
                      </a:solidFill>
                      <a:prstDash val="solid"/>
                      <a:round/>
                      <a:headEnd type="none" w="med" len="med"/>
                      <a:tailEnd type="none" w="med" len="med"/>
                    </a:lnR>
                    <a:lnT w="6350" cap="flat" cmpd="sng" algn="ctr">
                      <a:solidFill>
                        <a:srgbClr val="0F1B2D"/>
                      </a:solidFill>
                      <a:prstDash val="solid"/>
                      <a:round/>
                      <a:headEnd type="none" w="med" len="med"/>
                      <a:tailEnd type="none" w="med" len="med"/>
                    </a:lnT>
                    <a:lnB w="6350" cap="flat" cmpd="sng" algn="ctr">
                      <a:solidFill>
                        <a:srgbClr val="0F1B2D"/>
                      </a:solidFill>
                      <a:prstDash val="solid"/>
                      <a:round/>
                      <a:headEnd type="none" w="med" len="med"/>
                      <a:tailEnd type="none" w="med" len="med"/>
                    </a:lnB>
                    <a:solidFill>
                      <a:srgbClr val="1A2744"/>
                    </a:solidFill>
                  </a:tcPr>
                </a:tc>
              </a:tr>
            </a:tbl>
          </a:graphicData>
        </a:graphic>
      </p:graphicFrame>
      <p:sp>
        <p:nvSpPr>
          <p:cNvPr id="8" name="Text 5"/>
          <p:cNvSpPr/>
          <p:nvPr/>
        </p:nvSpPr>
        <p:spPr>
          <a:xfrm>
            <a:off x="731520" y="5212080"/>
            <a:ext cx="5029200" cy="822960"/>
          </a:xfrm>
          <a:prstGeom prst="rect">
            <a:avLst/>
          </a:prstGeom>
          <a:noFill/>
          <a:ln/>
        </p:spPr>
        <p:txBody>
          <a:bodyPr wrap="square" rtlCol="0" anchor="ctr"/>
          <a:lstStyle/>
          <a:p>
            <a:pPr indent="0" marL="0">
              <a:buNone/>
            </a:pPr>
            <a:r>
              <a:rPr lang="en-US" sz="1200" i="1" dirty="0">
                <a:solidFill>
                  <a:srgbClr val="EF4444"/>
                </a:solidFill>
                <a:latin typeface="Calibri" pitchFamily="34" charset="0"/>
                <a:ea typeface="Calibri" pitchFamily="34" charset="-122"/>
                <a:cs typeface="Calibri" pitchFamily="34" charset="-120"/>
              </a:rPr>
              <a:t>Rule `ip-blocklist` references this set with action = Block.</a:t>
            </a:r>
            <a:endParaRPr lang="en-US" sz="1200" dirty="0"/>
          </a:p>
          <a:p>
            <a:pPr indent="0" marL="0">
              <a:buNone/>
            </a:pPr>
            <a:r>
              <a:rPr lang="en-US" sz="1200" i="1" dirty="0">
                <a:solidFill>
                  <a:srgbClr val="EF4444"/>
                </a:solidFill>
                <a:latin typeface="Calibri" pitchFamily="34" charset="0"/>
                <a:ea typeface="Calibri" pitchFamily="34" charset="-122"/>
                <a:cs typeface="Calibri" pitchFamily="34" charset="-120"/>
              </a:rPr>
              <a:t>Result: every office worker is blocked.</a:t>
            </a:r>
            <a:endParaRPr lang="en-US" sz="1200" dirty="0"/>
          </a:p>
        </p:txBody>
      </p:sp>
      <p:sp>
        <p:nvSpPr>
          <p:cNvPr id="9" name="Shape 6"/>
          <p:cNvSpPr/>
          <p:nvPr/>
        </p:nvSpPr>
        <p:spPr>
          <a:xfrm>
            <a:off x="6263640" y="1600200"/>
            <a:ext cx="5486400" cy="4572000"/>
          </a:xfrm>
          <a:prstGeom prst="roundRect">
            <a:avLst>
              <a:gd name="adj" fmla="val 1600"/>
            </a:avLst>
          </a:prstGeom>
          <a:solidFill>
            <a:srgbClr val="1A2744"/>
          </a:solidFill>
          <a:ln/>
        </p:spPr>
      </p:sp>
      <p:sp>
        <p:nvSpPr>
          <p:cNvPr id="10" name="Shape 7"/>
          <p:cNvSpPr/>
          <p:nvPr/>
        </p:nvSpPr>
        <p:spPr>
          <a:xfrm>
            <a:off x="6492240" y="1828800"/>
            <a:ext cx="548640" cy="548640"/>
          </a:xfrm>
          <a:prstGeom prst="ellipse">
            <a:avLst/>
          </a:prstGeom>
          <a:solidFill>
            <a:srgbClr val="0D9488"/>
          </a:solidFill>
          <a:ln/>
        </p:spPr>
      </p:sp>
      <p:pic>
        <p:nvPicPr>
          <p:cNvPr id="11" name="Image 0" descr="preencoded.png">    </p:cNvPr>
          <p:cNvPicPr>
            <a:picLocks noChangeAspect="1"/>
          </p:cNvPicPr>
          <p:nvPr/>
        </p:nvPicPr>
        <p:blipFill>
          <a:blip r:embed="rId1"/>
          <a:stretch>
            <a:fillRect/>
          </a:stretch>
        </p:blipFill>
        <p:spPr>
          <a:xfrm>
            <a:off x="6612941" y="1949501"/>
            <a:ext cx="307238" cy="307238"/>
          </a:xfrm>
          <a:prstGeom prst="rect">
            <a:avLst/>
          </a:prstGeom>
        </p:spPr>
      </p:pic>
      <p:sp>
        <p:nvSpPr>
          <p:cNvPr id="12" name="Text 8"/>
          <p:cNvSpPr/>
          <p:nvPr/>
        </p:nvSpPr>
        <p:spPr>
          <a:xfrm>
            <a:off x="7178040" y="1874520"/>
            <a:ext cx="45720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fix pattern</a:t>
            </a:r>
            <a:endParaRPr lang="en-US" sz="1500" dirty="0"/>
          </a:p>
        </p:txBody>
      </p:sp>
      <p:sp>
        <p:nvSpPr>
          <p:cNvPr id="13" name="Text 9"/>
          <p:cNvSpPr/>
          <p:nvPr/>
        </p:nvSpPr>
        <p:spPr>
          <a:xfrm>
            <a:off x="6446520" y="2468880"/>
            <a:ext cx="5212080" cy="45720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Split into two IP sets with clear names and opposite actions:</a:t>
            </a:r>
            <a:endParaRPr lang="en-US" sz="1200" dirty="0"/>
          </a:p>
        </p:txBody>
      </p:sp>
      <p:sp>
        <p:nvSpPr>
          <p:cNvPr id="14" name="Text 10"/>
          <p:cNvSpPr/>
          <p:nvPr/>
        </p:nvSpPr>
        <p:spPr>
          <a:xfrm>
            <a:off x="6446520" y="2971800"/>
            <a:ext cx="5212080" cy="2286000"/>
          </a:xfrm>
          <a:prstGeom prst="rect">
            <a:avLst/>
          </a:prstGeom>
          <a:noFill/>
          <a:ln/>
        </p:spPr>
        <p:txBody>
          <a:bodyPr wrap="square" rtlCol="0" anchor="ctr"/>
          <a:lstStyle/>
          <a:p>
            <a:pPr indent="0" marL="0">
              <a:lnSpc>
                <a:spcPct val="120000"/>
              </a:lnSpc>
              <a:buNone/>
            </a:pPr>
            <a:r>
              <a:rPr lang="en-US" sz="1200" dirty="0">
                <a:solidFill>
                  <a:srgbClr val="14B8A6"/>
                </a:solidFill>
                <a:latin typeface="Courier New" pitchFamily="34" charset="0"/>
                <a:ea typeface="Courier New" pitchFamily="34" charset="-122"/>
                <a:cs typeface="Courier New" pitchFamily="34" charset="-120"/>
              </a:rPr>
              <a:t>trusted_ips  →  Allow rule  (priority 1)</a:t>
            </a:r>
            <a:endParaRPr lang="en-US" sz="1200" dirty="0"/>
          </a:p>
          <a:p>
            <a:pPr indent="0" marL="0">
              <a:lnSpc>
                <a:spcPct val="120000"/>
              </a:lnSpc>
              <a:buNone/>
            </a:pPr>
            <a:r>
              <a:rPr lang="en-US" sz="1200" dirty="0">
                <a:solidFill>
                  <a:srgbClr val="14B8A6"/>
                </a:solidFill>
                <a:latin typeface="Courier New" pitchFamily="34" charset="0"/>
                <a:ea typeface="Courier New" pitchFamily="34" charset="-122"/>
                <a:cs typeface="Courier New" pitchFamily="34" charset="-120"/>
              </a:rPr>
              <a:t>   •  10.0.0.0/8</a:t>
            </a:r>
            <a:endParaRPr lang="en-US" sz="1200" dirty="0"/>
          </a:p>
          <a:p>
            <a:pPr indent="0" marL="0">
              <a:lnSpc>
                <a:spcPct val="120000"/>
              </a:lnSpc>
              <a:buNone/>
            </a:pPr>
            <a:r>
              <a:rPr lang="en-US" sz="1200" dirty="0">
                <a:solidFill>
                  <a:srgbClr val="14B8A6"/>
                </a:solidFill>
                <a:latin typeface="Courier New" pitchFamily="34" charset="0"/>
                <a:ea typeface="Courier New" pitchFamily="34" charset="-122"/>
                <a:cs typeface="Courier New" pitchFamily="34" charset="-120"/>
              </a:rPr>
              <a:t>   •  192.168.1.0/24</a:t>
            </a:r>
            <a:endParaRPr lang="en-US" sz="1200" dirty="0"/>
          </a:p>
          <a:p>
            <a:pPr indent="0" marL="0">
              <a:lnSpc>
                <a:spcPct val="120000"/>
              </a:lnSpc>
              <a:buNone/>
            </a:pPr>
            <a:endParaRPr lang="en-US" sz="1200" dirty="0"/>
          </a:p>
          <a:p>
            <a:pPr indent="0" marL="0">
              <a:lnSpc>
                <a:spcPct val="120000"/>
              </a:lnSpc>
              <a:buNone/>
            </a:pPr>
            <a:r>
              <a:rPr lang="en-US" sz="1200" dirty="0">
                <a:solidFill>
                  <a:srgbClr val="14B8A6"/>
                </a:solidFill>
                <a:latin typeface="Courier New" pitchFamily="34" charset="0"/>
                <a:ea typeface="Courier New" pitchFamily="34" charset="-122"/>
                <a:cs typeface="Courier New" pitchFamily="34" charset="-120"/>
              </a:rPr>
              <a:t>malicious_ips  →  Block rule  (priority 2)</a:t>
            </a:r>
            <a:endParaRPr lang="en-US" sz="1200" dirty="0"/>
          </a:p>
          <a:p>
            <a:pPr indent="0" marL="0">
              <a:lnSpc>
                <a:spcPct val="120000"/>
              </a:lnSpc>
              <a:buNone/>
            </a:pPr>
            <a:r>
              <a:rPr lang="en-US" sz="1200" dirty="0">
                <a:solidFill>
                  <a:srgbClr val="14B8A6"/>
                </a:solidFill>
                <a:latin typeface="Courier New" pitchFamily="34" charset="0"/>
                <a:ea typeface="Courier New" pitchFamily="34" charset="-122"/>
                <a:cs typeface="Courier New" pitchFamily="34" charset="-120"/>
              </a:rPr>
              <a:t>   •  203.0.113.50/32</a:t>
            </a:r>
            <a:endParaRPr lang="en-US" sz="1200" dirty="0"/>
          </a:p>
          <a:p>
            <a:pPr indent="0" marL="0">
              <a:lnSpc>
                <a:spcPct val="120000"/>
              </a:lnSpc>
              <a:buNone/>
            </a:pPr>
            <a:r>
              <a:rPr lang="en-US" sz="1200" dirty="0">
                <a:solidFill>
                  <a:srgbClr val="14B8A6"/>
                </a:solidFill>
                <a:latin typeface="Courier New" pitchFamily="34" charset="0"/>
                <a:ea typeface="Courier New" pitchFamily="34" charset="-122"/>
                <a:cs typeface="Courier New" pitchFamily="34" charset="-120"/>
              </a:rPr>
              <a:t>   •  198.51.100.100/32</a:t>
            </a:r>
            <a:endParaRPr lang="en-US" sz="1200" dirty="0"/>
          </a:p>
        </p:txBody>
      </p:sp>
      <p:sp>
        <p:nvSpPr>
          <p:cNvPr id="15" name="Text 11"/>
          <p:cNvSpPr/>
          <p:nvPr/>
        </p:nvSpPr>
        <p:spPr>
          <a:xfrm>
            <a:off x="6446520" y="5303520"/>
            <a:ext cx="5212080" cy="822960"/>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Never mix trusted and malicious in one set. The action is on the RULE, not the set — so putting both kinds in one set forces you to pick one action for both.</a:t>
            </a:r>
            <a:endParaRPr lang="en-US" sz="1100" dirty="0"/>
          </a:p>
        </p:txBody>
      </p:sp>
      <p:sp>
        <p:nvSpPr>
          <p:cNvPr id="16" name="Text 12"/>
          <p:cNvSpPr/>
          <p:nvPr/>
        </p:nvSpPr>
        <p:spPr>
          <a:xfrm>
            <a:off x="457200" y="6492240"/>
            <a:ext cx="64008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Lab 083  —  WAF Blocking Legitimate Traffic</a:t>
            </a:r>
            <a:endParaRPr lang="en-US" sz="1000" dirty="0"/>
          </a:p>
        </p:txBody>
      </p:sp>
      <p:sp>
        <p:nvSpPr>
          <p:cNvPr id="17" name="Text 13"/>
          <p:cNvSpPr/>
          <p:nvPr/>
        </p:nvSpPr>
        <p:spPr>
          <a:xfrm>
            <a:off x="11247120"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Bug #4 — Geo rule blocks your own markets</a:t>
            </a:r>
            <a:endParaRPr lang="en-US" sz="2800" dirty="0"/>
          </a:p>
        </p:txBody>
      </p:sp>
      <p:sp>
        <p:nvSpPr>
          <p:cNvPr id="3" name="Text 1"/>
          <p:cNvSpPr/>
          <p:nvPr/>
        </p:nvSpPr>
        <p:spPr>
          <a:xfrm>
            <a:off x="457200" y="822960"/>
            <a:ext cx="11247120" cy="365760"/>
          </a:xfrm>
          <a:prstGeom prst="rect">
            <a:avLst/>
          </a:prstGeom>
          <a:noFill/>
          <a:ln/>
        </p:spPr>
        <p:txBody>
          <a:bodyPr wrap="square" rtlCol="0" anchor="ctr"/>
          <a:lstStyle/>
          <a:p>
            <a:pPr indent="0" marL="0">
              <a:buNone/>
            </a:pPr>
            <a:r>
              <a:rPr lang="en-US" sz="1400" dirty="0">
                <a:solidFill>
                  <a:srgbClr val="14B8A6"/>
                </a:solidFill>
                <a:latin typeface="Calibri" pitchFamily="34" charset="0"/>
                <a:ea typeface="Calibri" pitchFamily="34" charset="-122"/>
                <a:cs typeface="Calibri" pitchFamily="34" charset="-120"/>
              </a:rPr>
              <a:t>country_codes = ["GB", "IE", "US"] with action = Block</a:t>
            </a:r>
            <a:endParaRPr lang="en-US" sz="1400" dirty="0"/>
          </a:p>
        </p:txBody>
      </p:sp>
      <p:sp>
        <p:nvSpPr>
          <p:cNvPr id="4" name="Shape 2"/>
          <p:cNvSpPr/>
          <p:nvPr/>
        </p:nvSpPr>
        <p:spPr>
          <a:xfrm>
            <a:off x="457200" y="1234440"/>
            <a:ext cx="457200" cy="36576"/>
          </a:xfrm>
          <a:prstGeom prst="rect">
            <a:avLst/>
          </a:prstGeom>
          <a:solidFill>
            <a:srgbClr val="0D9488"/>
          </a:solidFill>
          <a:ln/>
        </p:spPr>
      </p:sp>
      <p:sp>
        <p:nvSpPr>
          <p:cNvPr id="5" name="Shape 3"/>
          <p:cNvSpPr/>
          <p:nvPr/>
        </p:nvSpPr>
        <p:spPr>
          <a:xfrm>
            <a:off x="457200" y="1600200"/>
            <a:ext cx="11247120" cy="1920240"/>
          </a:xfrm>
          <a:prstGeom prst="roundRect">
            <a:avLst>
              <a:gd name="adj" fmla="val 3810"/>
            </a:avLst>
          </a:prstGeom>
          <a:solidFill>
            <a:srgbClr val="1A2744"/>
          </a:solidFill>
          <a:ln/>
        </p:spPr>
      </p:sp>
      <p:sp>
        <p:nvSpPr>
          <p:cNvPr id="6" name="Shape 4"/>
          <p:cNvSpPr/>
          <p:nvPr/>
        </p:nvSpPr>
        <p:spPr>
          <a:xfrm>
            <a:off x="685800" y="1828800"/>
            <a:ext cx="548640" cy="54864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806501" y="1949501"/>
            <a:ext cx="307238" cy="307238"/>
          </a:xfrm>
          <a:prstGeom prst="rect">
            <a:avLst/>
          </a:prstGeom>
        </p:spPr>
      </p:pic>
      <p:sp>
        <p:nvSpPr>
          <p:cNvPr id="8" name="Text 5"/>
          <p:cNvSpPr/>
          <p:nvPr/>
        </p:nvSpPr>
        <p:spPr>
          <a:xfrm>
            <a:off x="1371600" y="1874520"/>
            <a:ext cx="101498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Cross-reference with the ticket</a:t>
            </a:r>
            <a:endParaRPr lang="en-US" sz="1500" dirty="0"/>
          </a:p>
        </p:txBody>
      </p:sp>
      <p:sp>
        <p:nvSpPr>
          <p:cNvPr id="9" name="Text 6"/>
          <p:cNvSpPr/>
          <p:nvPr/>
        </p:nvSpPr>
        <p:spPr>
          <a:xfrm>
            <a:off x="1371600" y="2286000"/>
            <a:ext cx="10149840" cy="1097280"/>
          </a:xfrm>
          <a:prstGeom prst="rect">
            <a:avLst/>
          </a:prstGeom>
          <a:noFill/>
          <a:ln/>
        </p:spPr>
        <p:txBody>
          <a:bodyPr wrap="square" rtlCol="0" anchor="ctr"/>
          <a:lstStyle/>
          <a:p>
            <a:pPr indent="0" marL="0">
              <a:lnSpc>
                <a:spcPct val="120000"/>
              </a:lnSpc>
              <a:buNone/>
            </a:pPr>
            <a:r>
              <a:rPr lang="en-US" sz="1300" dirty="0">
                <a:solidFill>
                  <a:srgbClr val="94A3B8"/>
                </a:solidFill>
                <a:latin typeface="Calibri" pitchFamily="34" charset="0"/>
                <a:ea typeface="Calibri" pitchFamily="34" charset="-122"/>
                <a:cs typeface="Calibri" pitchFamily="34" charset="-120"/>
              </a:rPr>
              <a:t>Ticket says: "UK customers, US customers getting 403 Forbidden."   Rule blocks: GB, IE, US.</a:t>
            </a:r>
            <a:endParaRPr lang="en-US" sz="1300" dirty="0"/>
          </a:p>
          <a:p>
            <a:pPr indent="0" marL="0">
              <a:lnSpc>
                <a:spcPct val="120000"/>
              </a:lnSpc>
              <a:buNone/>
            </a:pPr>
            <a:r>
              <a:rPr lang="en-US" sz="1300" dirty="0">
                <a:solidFill>
                  <a:srgbClr val="94A3B8"/>
                </a:solidFill>
                <a:latin typeface="Calibri" pitchFamily="34" charset="0"/>
                <a:ea typeface="Calibri" pitchFamily="34" charset="-122"/>
                <a:cs typeface="Calibri" pitchFamily="34" charset="-120"/>
              </a:rPr>
              <a:t>The rule is literally blocking the countries the ticket names as legitimate markets.</a:t>
            </a:r>
            <a:endParaRPr lang="en-US" sz="1300" dirty="0"/>
          </a:p>
        </p:txBody>
      </p:sp>
      <p:sp>
        <p:nvSpPr>
          <p:cNvPr id="10" name="Shape 7"/>
          <p:cNvSpPr/>
          <p:nvPr/>
        </p:nvSpPr>
        <p:spPr>
          <a:xfrm>
            <a:off x="457200" y="3703320"/>
            <a:ext cx="5577840" cy="2468880"/>
          </a:xfrm>
          <a:prstGeom prst="roundRect">
            <a:avLst>
              <a:gd name="adj" fmla="val 2963"/>
            </a:avLst>
          </a:prstGeom>
          <a:solidFill>
            <a:srgbClr val="1A2744"/>
          </a:solidFill>
          <a:ln/>
        </p:spPr>
      </p:sp>
      <p:sp>
        <p:nvSpPr>
          <p:cNvPr id="11" name="Text 8"/>
          <p:cNvSpPr/>
          <p:nvPr/>
        </p:nvSpPr>
        <p:spPr>
          <a:xfrm>
            <a:off x="685800" y="3840480"/>
            <a:ext cx="5212080" cy="365760"/>
          </a:xfrm>
          <a:prstGeom prst="rect">
            <a:avLst/>
          </a:prstGeom>
          <a:noFill/>
          <a:ln/>
        </p:spPr>
        <p:txBody>
          <a:bodyPr wrap="square" rtlCol="0" anchor="ctr"/>
          <a:lstStyle/>
          <a:p>
            <a:pPr indent="0" marL="0">
              <a:buNone/>
            </a:pPr>
            <a:r>
              <a:rPr lang="en-US" sz="1400" b="1" dirty="0">
                <a:solidFill>
                  <a:srgbClr val="EF4444"/>
                </a:solidFill>
                <a:latin typeface="Calibri" pitchFamily="34" charset="0"/>
                <a:ea typeface="Calibri" pitchFamily="34" charset="-122"/>
                <a:cs typeface="Calibri" pitchFamily="34" charset="-120"/>
              </a:rPr>
              <a:t>Pattern A — Fail open</a:t>
            </a:r>
            <a:endParaRPr lang="en-US" sz="1400" dirty="0"/>
          </a:p>
        </p:txBody>
      </p:sp>
      <p:sp>
        <p:nvSpPr>
          <p:cNvPr id="12" name="Text 9"/>
          <p:cNvSpPr/>
          <p:nvPr/>
        </p:nvSpPr>
        <p:spPr>
          <a:xfrm>
            <a:off x="685800" y="4251960"/>
            <a:ext cx="5212080" cy="32004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Block specific countries</a:t>
            </a:r>
            <a:endParaRPr lang="en-US" sz="1200" dirty="0"/>
          </a:p>
        </p:txBody>
      </p:sp>
      <p:sp>
        <p:nvSpPr>
          <p:cNvPr id="13" name="Text 10"/>
          <p:cNvSpPr/>
          <p:nvPr/>
        </p:nvSpPr>
        <p:spPr>
          <a:xfrm>
            <a:off x="685800" y="4617720"/>
            <a:ext cx="5212080" cy="1005840"/>
          </a:xfrm>
          <a:prstGeom prst="rect">
            <a:avLst/>
          </a:prstGeom>
          <a:noFill/>
          <a:ln/>
        </p:spPr>
        <p:txBody>
          <a:bodyPr wrap="square" rtlCol="0" anchor="ctr"/>
          <a:lstStyle/>
          <a:p>
            <a:pPr indent="0" marL="0">
              <a:lnSpc>
                <a:spcPct val="115000"/>
              </a:lnSpc>
              <a:buNone/>
            </a:pPr>
            <a:r>
              <a:rPr lang="en-US" sz="1100" dirty="0">
                <a:solidFill>
                  <a:srgbClr val="14B8A6"/>
                </a:solidFill>
                <a:latin typeface="Courier New" pitchFamily="34" charset="0"/>
                <a:ea typeface="Courier New" pitchFamily="34" charset="-122"/>
                <a:cs typeface="Courier New" pitchFamily="34" charset="-120"/>
              </a:rPr>
              <a:t>geo_match_statement {</a:t>
            </a:r>
            <a:endParaRPr lang="en-US" sz="1100" dirty="0"/>
          </a:p>
          <a:p>
            <a:pPr indent="0" marL="0">
              <a:lnSpc>
                <a:spcPct val="115000"/>
              </a:lnSpc>
              <a:buNone/>
            </a:pPr>
            <a:r>
              <a:rPr lang="en-US" sz="1100" dirty="0">
                <a:solidFill>
                  <a:srgbClr val="14B8A6"/>
                </a:solidFill>
                <a:latin typeface="Courier New" pitchFamily="34" charset="0"/>
                <a:ea typeface="Courier New" pitchFamily="34" charset="-122"/>
                <a:cs typeface="Courier New" pitchFamily="34" charset="-120"/>
              </a:rPr>
              <a:t>  country_codes = ["RU", "KP"]</a:t>
            </a:r>
            <a:endParaRPr lang="en-US" sz="1100" dirty="0"/>
          </a:p>
          <a:p>
            <a:pPr indent="0" marL="0">
              <a:lnSpc>
                <a:spcPct val="115000"/>
              </a:lnSpc>
              <a:buNone/>
            </a:pPr>
            <a:r>
              <a:rPr lang="en-US" sz="1100" dirty="0">
                <a:solidFill>
                  <a:srgbClr val="14B8A6"/>
                </a:solidFill>
                <a:latin typeface="Courier New" pitchFamily="34" charset="0"/>
                <a:ea typeface="Courier New" pitchFamily="34" charset="-122"/>
                <a:cs typeface="Courier New" pitchFamily="34" charset="-120"/>
              </a:rPr>
              <a:t>}   →  action { block {} }</a:t>
            </a:r>
            <a:endParaRPr lang="en-US" sz="1100" dirty="0"/>
          </a:p>
        </p:txBody>
      </p:sp>
      <p:sp>
        <p:nvSpPr>
          <p:cNvPr id="14" name="Text 11"/>
          <p:cNvSpPr/>
          <p:nvPr/>
        </p:nvSpPr>
        <p:spPr>
          <a:xfrm>
            <a:off x="685800" y="5669280"/>
            <a:ext cx="5212080" cy="365760"/>
          </a:xfrm>
          <a:prstGeom prst="rect">
            <a:avLst/>
          </a:prstGeom>
          <a:noFill/>
          <a:ln/>
        </p:spPr>
        <p:txBody>
          <a:bodyPr wrap="square"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Any country NOT in the list is allowed. Easy to forget to add new threats.</a:t>
            </a:r>
            <a:endParaRPr lang="en-US" sz="1000" dirty="0"/>
          </a:p>
        </p:txBody>
      </p:sp>
      <p:sp>
        <p:nvSpPr>
          <p:cNvPr id="15" name="Shape 12"/>
          <p:cNvSpPr/>
          <p:nvPr/>
        </p:nvSpPr>
        <p:spPr>
          <a:xfrm>
            <a:off x="6172200" y="3703320"/>
            <a:ext cx="5577840" cy="2468880"/>
          </a:xfrm>
          <a:prstGeom prst="roundRect">
            <a:avLst>
              <a:gd name="adj" fmla="val 2963"/>
            </a:avLst>
          </a:prstGeom>
          <a:solidFill>
            <a:srgbClr val="1A2744"/>
          </a:solidFill>
          <a:ln/>
        </p:spPr>
      </p:sp>
      <p:sp>
        <p:nvSpPr>
          <p:cNvPr id="16" name="Text 13"/>
          <p:cNvSpPr/>
          <p:nvPr/>
        </p:nvSpPr>
        <p:spPr>
          <a:xfrm>
            <a:off x="6400800" y="3840480"/>
            <a:ext cx="5212080" cy="36576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Pattern B — Fail closed (preferred)</a:t>
            </a:r>
            <a:endParaRPr lang="en-US" sz="1400" dirty="0"/>
          </a:p>
        </p:txBody>
      </p:sp>
      <p:sp>
        <p:nvSpPr>
          <p:cNvPr id="17" name="Text 14"/>
          <p:cNvSpPr/>
          <p:nvPr/>
        </p:nvSpPr>
        <p:spPr>
          <a:xfrm>
            <a:off x="6400800" y="4251960"/>
            <a:ext cx="5212080" cy="32004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Block everyone except allowed countries</a:t>
            </a:r>
            <a:endParaRPr lang="en-US" sz="1200" dirty="0"/>
          </a:p>
        </p:txBody>
      </p:sp>
      <p:sp>
        <p:nvSpPr>
          <p:cNvPr id="18" name="Text 15"/>
          <p:cNvSpPr/>
          <p:nvPr/>
        </p:nvSpPr>
        <p:spPr>
          <a:xfrm>
            <a:off x="6400800" y="4617720"/>
            <a:ext cx="5212080" cy="1280160"/>
          </a:xfrm>
          <a:prstGeom prst="rect">
            <a:avLst/>
          </a:prstGeom>
          <a:noFill/>
          <a:ln/>
        </p:spPr>
        <p:txBody>
          <a:bodyPr wrap="square" rtlCol="0" anchor="ctr"/>
          <a:lstStyle/>
          <a:p>
            <a:pPr indent="0" marL="0">
              <a:lnSpc>
                <a:spcPct val="110000"/>
              </a:lnSpc>
              <a:buNone/>
            </a:pPr>
            <a:r>
              <a:rPr lang="en-US" sz="1000" dirty="0">
                <a:solidFill>
                  <a:srgbClr val="14B8A6"/>
                </a:solidFill>
                <a:latin typeface="Courier New" pitchFamily="34" charset="0"/>
                <a:ea typeface="Courier New" pitchFamily="34" charset="-122"/>
                <a:cs typeface="Courier New" pitchFamily="34" charset="-120"/>
              </a:rPr>
              <a:t>not_statement {</a:t>
            </a:r>
            <a:endParaRPr lang="en-US" sz="1000" dirty="0"/>
          </a:p>
          <a:p>
            <a:pPr indent="0" marL="0">
              <a:lnSpc>
                <a:spcPct val="110000"/>
              </a:lnSpc>
              <a:buNone/>
            </a:pPr>
            <a:r>
              <a:rPr lang="en-US" sz="1000" dirty="0">
                <a:solidFill>
                  <a:srgbClr val="14B8A6"/>
                </a:solidFill>
                <a:latin typeface="Courier New" pitchFamily="34" charset="0"/>
                <a:ea typeface="Courier New" pitchFamily="34" charset="-122"/>
                <a:cs typeface="Courier New" pitchFamily="34" charset="-120"/>
              </a:rPr>
              <a:t>  statement {</a:t>
            </a:r>
            <a:endParaRPr lang="en-US" sz="1000" dirty="0"/>
          </a:p>
          <a:p>
            <a:pPr indent="0" marL="0">
              <a:lnSpc>
                <a:spcPct val="110000"/>
              </a:lnSpc>
              <a:buNone/>
            </a:pPr>
            <a:r>
              <a:rPr lang="en-US" sz="1000" dirty="0">
                <a:solidFill>
                  <a:srgbClr val="14B8A6"/>
                </a:solidFill>
                <a:latin typeface="Courier New" pitchFamily="34" charset="0"/>
                <a:ea typeface="Courier New" pitchFamily="34" charset="-122"/>
                <a:cs typeface="Courier New" pitchFamily="34" charset="-120"/>
              </a:rPr>
              <a:t>    geo_match_statement {</a:t>
            </a:r>
            <a:endParaRPr lang="en-US" sz="1000" dirty="0"/>
          </a:p>
          <a:p>
            <a:pPr indent="0" marL="0">
              <a:lnSpc>
                <a:spcPct val="110000"/>
              </a:lnSpc>
              <a:buNone/>
            </a:pPr>
            <a:r>
              <a:rPr lang="en-US" sz="1000" dirty="0">
                <a:solidFill>
                  <a:srgbClr val="14B8A6"/>
                </a:solidFill>
                <a:latin typeface="Courier New" pitchFamily="34" charset="0"/>
                <a:ea typeface="Courier New" pitchFamily="34" charset="-122"/>
                <a:cs typeface="Courier New" pitchFamily="34" charset="-120"/>
              </a:rPr>
              <a:t>      country_codes = ["GB","IE","US"]</a:t>
            </a:r>
            <a:endParaRPr lang="en-US" sz="1000" dirty="0"/>
          </a:p>
          <a:p>
            <a:pPr indent="0" marL="0">
              <a:lnSpc>
                <a:spcPct val="110000"/>
              </a:lnSpc>
              <a:buNone/>
            </a:pPr>
            <a:r>
              <a:rPr lang="en-US" sz="1000" dirty="0">
                <a:solidFill>
                  <a:srgbClr val="14B8A6"/>
                </a:solidFill>
                <a:latin typeface="Courier New" pitchFamily="34" charset="0"/>
                <a:ea typeface="Courier New" pitchFamily="34" charset="-122"/>
                <a:cs typeface="Courier New" pitchFamily="34" charset="-120"/>
              </a:rPr>
              <a:t>    }</a:t>
            </a:r>
            <a:endParaRPr lang="en-US" sz="1000" dirty="0"/>
          </a:p>
          <a:p>
            <a:pPr indent="0" marL="0">
              <a:lnSpc>
                <a:spcPct val="110000"/>
              </a:lnSpc>
              <a:buNone/>
            </a:pPr>
            <a:r>
              <a:rPr lang="en-US" sz="1000" dirty="0">
                <a:solidFill>
                  <a:srgbClr val="14B8A6"/>
                </a:solidFill>
                <a:latin typeface="Courier New" pitchFamily="34" charset="0"/>
                <a:ea typeface="Courier New" pitchFamily="34" charset="-122"/>
                <a:cs typeface="Courier New" pitchFamily="34" charset="-120"/>
              </a:rPr>
              <a:t>  }</a:t>
            </a:r>
            <a:endParaRPr lang="en-US" sz="1000" dirty="0"/>
          </a:p>
          <a:p>
            <a:pPr indent="0" marL="0">
              <a:lnSpc>
                <a:spcPct val="110000"/>
              </a:lnSpc>
              <a:buNone/>
            </a:pPr>
            <a:r>
              <a:rPr lang="en-US" sz="1000" dirty="0">
                <a:solidFill>
                  <a:srgbClr val="14B8A6"/>
                </a:solidFill>
                <a:latin typeface="Courier New" pitchFamily="34" charset="0"/>
                <a:ea typeface="Courier New" pitchFamily="34" charset="-122"/>
                <a:cs typeface="Courier New" pitchFamily="34" charset="-120"/>
              </a:rPr>
              <a:t>}   →  action { block {} }</a:t>
            </a:r>
            <a:endParaRPr lang="en-US" sz="1000" dirty="0"/>
          </a:p>
        </p:txBody>
      </p:sp>
      <p:sp>
        <p:nvSpPr>
          <p:cNvPr id="19" name="Text 16"/>
          <p:cNvSpPr/>
          <p:nvPr/>
        </p:nvSpPr>
        <p:spPr>
          <a:xfrm>
            <a:off x="457200" y="6492240"/>
            <a:ext cx="64008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Lab 083  —  WAF Blocking Legitimate Traffic</a:t>
            </a:r>
            <a:endParaRPr lang="en-US" sz="1000" dirty="0"/>
          </a:p>
        </p:txBody>
      </p:sp>
      <p:sp>
        <p:nvSpPr>
          <p:cNvPr id="20" name="Text 17"/>
          <p:cNvSpPr/>
          <p:nvPr/>
        </p:nvSpPr>
        <p:spPr>
          <a:xfrm>
            <a:off x="11247120"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The fixed design</a:t>
            </a:r>
            <a:endParaRPr lang="en-US" sz="2800" dirty="0"/>
          </a:p>
        </p:txBody>
      </p:sp>
      <p:sp>
        <p:nvSpPr>
          <p:cNvPr id="3" name="Text 1"/>
          <p:cNvSpPr/>
          <p:nvPr/>
        </p:nvSpPr>
        <p:spPr>
          <a:xfrm>
            <a:off x="457200" y="822960"/>
            <a:ext cx="11247120" cy="365760"/>
          </a:xfrm>
          <a:prstGeom prst="rect">
            <a:avLst/>
          </a:prstGeom>
          <a:noFill/>
          <a:ln/>
        </p:spPr>
        <p:txBody>
          <a:bodyPr wrap="square" rtlCol="0" anchor="ctr"/>
          <a:lstStyle/>
          <a:p>
            <a:pPr indent="0" marL="0">
              <a:buNone/>
            </a:pPr>
            <a:r>
              <a:rPr lang="en-US" sz="1400" dirty="0">
                <a:solidFill>
                  <a:srgbClr val="14B8A6"/>
                </a:solidFill>
                <a:latin typeface="Calibri" pitchFamily="34" charset="0"/>
                <a:ea typeface="Calibri" pitchFamily="34" charset="-122"/>
                <a:cs typeface="Calibri" pitchFamily="34" charset="-120"/>
              </a:rPr>
              <a:t>All four bugs resolved, standard evaluation order applied</a:t>
            </a:r>
            <a:endParaRPr lang="en-US" sz="1400" dirty="0"/>
          </a:p>
        </p:txBody>
      </p:sp>
      <p:sp>
        <p:nvSpPr>
          <p:cNvPr id="4" name="Shape 2"/>
          <p:cNvSpPr/>
          <p:nvPr/>
        </p:nvSpPr>
        <p:spPr>
          <a:xfrm>
            <a:off x="457200" y="1234440"/>
            <a:ext cx="457200" cy="36576"/>
          </a:xfrm>
          <a:prstGeom prst="rect">
            <a:avLst/>
          </a:prstGeom>
          <a:solidFill>
            <a:srgbClr val="0D9488"/>
          </a:solidFill>
          <a:ln/>
        </p:spPr>
      </p:sp>
      <p:sp>
        <p:nvSpPr>
          <p:cNvPr id="5" name="Shape 3"/>
          <p:cNvSpPr/>
          <p:nvPr/>
        </p:nvSpPr>
        <p:spPr>
          <a:xfrm>
            <a:off x="457200" y="1600200"/>
            <a:ext cx="11247120" cy="4114800"/>
          </a:xfrm>
          <a:prstGeom prst="roundRect">
            <a:avLst>
              <a:gd name="adj" fmla="val 1778"/>
            </a:avLst>
          </a:prstGeom>
          <a:solidFill>
            <a:srgbClr val="1A2744"/>
          </a:solidFill>
          <a:ln/>
        </p:spPr>
      </p:sp>
      <p:sp>
        <p:nvSpPr>
          <p:cNvPr id="6" name="Shape 4"/>
          <p:cNvSpPr/>
          <p:nvPr/>
        </p:nvSpPr>
        <p:spPr>
          <a:xfrm>
            <a:off x="685800" y="1828800"/>
            <a:ext cx="548640" cy="54864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806501" y="1949501"/>
            <a:ext cx="307238" cy="307238"/>
          </a:xfrm>
          <a:prstGeom prst="rect">
            <a:avLst/>
          </a:prstGeom>
        </p:spPr>
      </p:pic>
      <p:sp>
        <p:nvSpPr>
          <p:cNvPr id="8" name="Text 5"/>
          <p:cNvSpPr/>
          <p:nvPr/>
        </p:nvSpPr>
        <p:spPr>
          <a:xfrm>
            <a:off x="1371600" y="1874520"/>
            <a:ext cx="101498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app-waf-acl  —  fixed state</a:t>
            </a:r>
            <a:endParaRPr lang="en-US" sz="1500" dirty="0"/>
          </a:p>
        </p:txBody>
      </p:sp>
      <p:sp>
        <p:nvSpPr>
          <p:cNvPr id="9" name="Text 6"/>
          <p:cNvSpPr/>
          <p:nvPr/>
        </p:nvSpPr>
        <p:spPr>
          <a:xfrm>
            <a:off x="731520" y="2468880"/>
            <a:ext cx="548640" cy="594360"/>
          </a:xfrm>
          <a:prstGeom prst="rect">
            <a:avLst/>
          </a:prstGeom>
          <a:noFill/>
          <a:ln/>
        </p:spPr>
        <p:txBody>
          <a:bodyPr wrap="square" rtlCol="0" anchor="ctr"/>
          <a:lstStyle/>
          <a:p>
            <a:pPr algn="ctr" indent="0" marL="0">
              <a:buNone/>
            </a:pPr>
            <a:r>
              <a:rPr lang="en-US" sz="1300" b="1" dirty="0">
                <a:solidFill>
                  <a:srgbClr val="14B8A6"/>
                </a:solidFill>
                <a:latin typeface="Calibri" pitchFamily="34" charset="0"/>
                <a:ea typeface="Calibri" pitchFamily="34" charset="-122"/>
                <a:cs typeface="Calibri" pitchFamily="34" charset="-120"/>
              </a:rPr>
              <a:t>1</a:t>
            </a:r>
            <a:endParaRPr lang="en-US" sz="1300" dirty="0"/>
          </a:p>
        </p:txBody>
      </p:sp>
      <p:sp>
        <p:nvSpPr>
          <p:cNvPr id="10" name="Text 7"/>
          <p:cNvSpPr/>
          <p:nvPr/>
        </p:nvSpPr>
        <p:spPr>
          <a:xfrm>
            <a:off x="1371600" y="2468880"/>
            <a:ext cx="3200400" cy="594360"/>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allow-trusted-ips</a:t>
            </a:r>
            <a:endParaRPr lang="en-US" sz="1300" dirty="0"/>
          </a:p>
        </p:txBody>
      </p:sp>
      <p:sp>
        <p:nvSpPr>
          <p:cNvPr id="11" name="Shape 8"/>
          <p:cNvSpPr/>
          <p:nvPr/>
        </p:nvSpPr>
        <p:spPr>
          <a:xfrm>
            <a:off x="4663440" y="2578608"/>
            <a:ext cx="1097280" cy="365760"/>
          </a:xfrm>
          <a:prstGeom prst="roundRect">
            <a:avLst>
              <a:gd name="adj" fmla="val 12500"/>
            </a:avLst>
          </a:prstGeom>
          <a:solidFill>
            <a:srgbClr val="14B8A6"/>
          </a:solidFill>
          <a:ln/>
        </p:spPr>
      </p:sp>
      <p:sp>
        <p:nvSpPr>
          <p:cNvPr id="12" name="Text 9"/>
          <p:cNvSpPr/>
          <p:nvPr/>
        </p:nvSpPr>
        <p:spPr>
          <a:xfrm>
            <a:off x="4663440" y="2578608"/>
            <a:ext cx="1097280" cy="365760"/>
          </a:xfrm>
          <a:prstGeom prst="rect">
            <a:avLst/>
          </a:prstGeom>
          <a:noFill/>
          <a:ln/>
        </p:spPr>
        <p:txBody>
          <a:bodyPr wrap="square" rtlCol="0" anchor="ctr"/>
          <a:lstStyle/>
          <a:p>
            <a:pPr algn="ctr" indent="0" marL="0">
              <a:buNone/>
            </a:pPr>
            <a:r>
              <a:rPr lang="en-US" sz="1100" b="1" dirty="0">
                <a:solidFill>
                  <a:srgbClr val="0F1B2D"/>
                </a:solidFill>
                <a:latin typeface="Calibri" pitchFamily="34" charset="0"/>
                <a:ea typeface="Calibri" pitchFamily="34" charset="-122"/>
                <a:cs typeface="Calibri" pitchFamily="34" charset="-120"/>
              </a:rPr>
              <a:t>ALLOW</a:t>
            </a:r>
            <a:endParaRPr lang="en-US" sz="1100" dirty="0"/>
          </a:p>
        </p:txBody>
      </p:sp>
      <p:sp>
        <p:nvSpPr>
          <p:cNvPr id="13" name="Text 10"/>
          <p:cNvSpPr/>
          <p:nvPr/>
        </p:nvSpPr>
        <p:spPr>
          <a:xfrm>
            <a:off x="5943600" y="2468880"/>
            <a:ext cx="5577840" cy="59436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Whitelist office / VPC traffic first</a:t>
            </a:r>
            <a:endParaRPr lang="en-US" sz="1200" dirty="0"/>
          </a:p>
        </p:txBody>
      </p:sp>
      <p:sp>
        <p:nvSpPr>
          <p:cNvPr id="14" name="Text 11"/>
          <p:cNvSpPr/>
          <p:nvPr/>
        </p:nvSpPr>
        <p:spPr>
          <a:xfrm>
            <a:off x="731520" y="3063240"/>
            <a:ext cx="548640" cy="594360"/>
          </a:xfrm>
          <a:prstGeom prst="rect">
            <a:avLst/>
          </a:prstGeom>
          <a:noFill/>
          <a:ln/>
        </p:spPr>
        <p:txBody>
          <a:bodyPr wrap="square" rtlCol="0" anchor="ctr"/>
          <a:lstStyle/>
          <a:p>
            <a:pPr algn="ctr" indent="0" marL="0">
              <a:buNone/>
            </a:pPr>
            <a:r>
              <a:rPr lang="en-US" sz="1300" b="1" dirty="0">
                <a:solidFill>
                  <a:srgbClr val="14B8A6"/>
                </a:solidFill>
                <a:latin typeface="Calibri" pitchFamily="34" charset="0"/>
                <a:ea typeface="Calibri" pitchFamily="34" charset="-122"/>
                <a:cs typeface="Calibri" pitchFamily="34" charset="-120"/>
              </a:rPr>
              <a:t>2</a:t>
            </a:r>
            <a:endParaRPr lang="en-US" sz="1300" dirty="0"/>
          </a:p>
        </p:txBody>
      </p:sp>
      <p:sp>
        <p:nvSpPr>
          <p:cNvPr id="15" name="Text 12"/>
          <p:cNvSpPr/>
          <p:nvPr/>
        </p:nvSpPr>
        <p:spPr>
          <a:xfrm>
            <a:off x="1371600" y="3063240"/>
            <a:ext cx="3200400" cy="594360"/>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ip-blocklist</a:t>
            </a:r>
            <a:endParaRPr lang="en-US" sz="1300" dirty="0"/>
          </a:p>
        </p:txBody>
      </p:sp>
      <p:sp>
        <p:nvSpPr>
          <p:cNvPr id="16" name="Shape 13"/>
          <p:cNvSpPr/>
          <p:nvPr/>
        </p:nvSpPr>
        <p:spPr>
          <a:xfrm>
            <a:off x="4663440" y="3172968"/>
            <a:ext cx="1097280" cy="365760"/>
          </a:xfrm>
          <a:prstGeom prst="roundRect">
            <a:avLst>
              <a:gd name="adj" fmla="val 12500"/>
            </a:avLst>
          </a:prstGeom>
          <a:solidFill>
            <a:srgbClr val="EF4444"/>
          </a:solidFill>
          <a:ln/>
        </p:spPr>
      </p:sp>
      <p:sp>
        <p:nvSpPr>
          <p:cNvPr id="17" name="Text 14"/>
          <p:cNvSpPr/>
          <p:nvPr/>
        </p:nvSpPr>
        <p:spPr>
          <a:xfrm>
            <a:off x="4663440" y="3172968"/>
            <a:ext cx="1097280" cy="365760"/>
          </a:xfrm>
          <a:prstGeom prst="rect">
            <a:avLst/>
          </a:prstGeom>
          <a:noFill/>
          <a:ln/>
        </p:spPr>
        <p:txBody>
          <a:bodyPr wrap="square" rtlCol="0" anchor="ctr"/>
          <a:lstStyle/>
          <a:p>
            <a:pPr algn="ctr" indent="0" marL="0">
              <a:buNone/>
            </a:pPr>
            <a:r>
              <a:rPr lang="en-US" sz="1100" b="1" dirty="0">
                <a:solidFill>
                  <a:srgbClr val="0F1B2D"/>
                </a:solidFill>
                <a:latin typeface="Calibri" pitchFamily="34" charset="0"/>
                <a:ea typeface="Calibri" pitchFamily="34" charset="-122"/>
                <a:cs typeface="Calibri" pitchFamily="34" charset="-120"/>
              </a:rPr>
              <a:t>BLOCK</a:t>
            </a:r>
            <a:endParaRPr lang="en-US" sz="1100" dirty="0"/>
          </a:p>
        </p:txBody>
      </p:sp>
      <p:sp>
        <p:nvSpPr>
          <p:cNvPr id="18" name="Text 15"/>
          <p:cNvSpPr/>
          <p:nvPr/>
        </p:nvSpPr>
        <p:spPr>
          <a:xfrm>
            <a:off x="5943600" y="3063240"/>
            <a:ext cx="5577840" cy="59436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Block known malicious IPs</a:t>
            </a:r>
            <a:endParaRPr lang="en-US" sz="1200" dirty="0"/>
          </a:p>
        </p:txBody>
      </p:sp>
      <p:sp>
        <p:nvSpPr>
          <p:cNvPr id="19" name="Text 16"/>
          <p:cNvSpPr/>
          <p:nvPr/>
        </p:nvSpPr>
        <p:spPr>
          <a:xfrm>
            <a:off x="731520" y="3657600"/>
            <a:ext cx="548640" cy="594360"/>
          </a:xfrm>
          <a:prstGeom prst="rect">
            <a:avLst/>
          </a:prstGeom>
          <a:noFill/>
          <a:ln/>
        </p:spPr>
        <p:txBody>
          <a:bodyPr wrap="square" rtlCol="0" anchor="ctr"/>
          <a:lstStyle/>
          <a:p>
            <a:pPr algn="ctr" indent="0" marL="0">
              <a:buNone/>
            </a:pPr>
            <a:r>
              <a:rPr lang="en-US" sz="1300" b="1" dirty="0">
                <a:solidFill>
                  <a:srgbClr val="14B8A6"/>
                </a:solidFill>
                <a:latin typeface="Calibri" pitchFamily="34" charset="0"/>
                <a:ea typeface="Calibri" pitchFamily="34" charset="-122"/>
                <a:cs typeface="Calibri" pitchFamily="34" charset="-120"/>
              </a:rPr>
              <a:t>3</a:t>
            </a:r>
            <a:endParaRPr lang="en-US" sz="1300" dirty="0"/>
          </a:p>
        </p:txBody>
      </p:sp>
      <p:sp>
        <p:nvSpPr>
          <p:cNvPr id="20" name="Text 17"/>
          <p:cNvSpPr/>
          <p:nvPr/>
        </p:nvSpPr>
        <p:spPr>
          <a:xfrm>
            <a:off x="1371600" y="3657600"/>
            <a:ext cx="3200400" cy="594360"/>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rate-limit</a:t>
            </a:r>
            <a:endParaRPr lang="en-US" sz="1300" dirty="0"/>
          </a:p>
        </p:txBody>
      </p:sp>
      <p:sp>
        <p:nvSpPr>
          <p:cNvPr id="21" name="Shape 18"/>
          <p:cNvSpPr/>
          <p:nvPr/>
        </p:nvSpPr>
        <p:spPr>
          <a:xfrm>
            <a:off x="4663440" y="3767328"/>
            <a:ext cx="1097280" cy="365760"/>
          </a:xfrm>
          <a:prstGeom prst="roundRect">
            <a:avLst>
              <a:gd name="adj" fmla="val 12500"/>
            </a:avLst>
          </a:prstGeom>
          <a:solidFill>
            <a:srgbClr val="EF4444"/>
          </a:solidFill>
          <a:ln/>
        </p:spPr>
      </p:sp>
      <p:sp>
        <p:nvSpPr>
          <p:cNvPr id="22" name="Text 19"/>
          <p:cNvSpPr/>
          <p:nvPr/>
        </p:nvSpPr>
        <p:spPr>
          <a:xfrm>
            <a:off x="4663440" y="3767328"/>
            <a:ext cx="1097280" cy="365760"/>
          </a:xfrm>
          <a:prstGeom prst="rect">
            <a:avLst/>
          </a:prstGeom>
          <a:noFill/>
          <a:ln/>
        </p:spPr>
        <p:txBody>
          <a:bodyPr wrap="square" rtlCol="0" anchor="ctr"/>
          <a:lstStyle/>
          <a:p>
            <a:pPr algn="ctr" indent="0" marL="0">
              <a:buNone/>
            </a:pPr>
            <a:r>
              <a:rPr lang="en-US" sz="1100" b="1" dirty="0">
                <a:solidFill>
                  <a:srgbClr val="0F1B2D"/>
                </a:solidFill>
                <a:latin typeface="Calibri" pitchFamily="34" charset="0"/>
                <a:ea typeface="Calibri" pitchFamily="34" charset="-122"/>
                <a:cs typeface="Calibri" pitchFamily="34" charset="-120"/>
              </a:rPr>
              <a:t>BLOCK</a:t>
            </a:r>
            <a:endParaRPr lang="en-US" sz="1100" dirty="0"/>
          </a:p>
        </p:txBody>
      </p:sp>
      <p:sp>
        <p:nvSpPr>
          <p:cNvPr id="23" name="Text 20"/>
          <p:cNvSpPr/>
          <p:nvPr/>
        </p:nvSpPr>
        <p:spPr>
          <a:xfrm>
            <a:off x="5943600" y="3657600"/>
            <a:ext cx="5577840" cy="59436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Catch scrapers and brute-force (2000/5min)</a:t>
            </a:r>
            <a:endParaRPr lang="en-US" sz="1200" dirty="0"/>
          </a:p>
        </p:txBody>
      </p:sp>
      <p:sp>
        <p:nvSpPr>
          <p:cNvPr id="24" name="Text 21"/>
          <p:cNvSpPr/>
          <p:nvPr/>
        </p:nvSpPr>
        <p:spPr>
          <a:xfrm>
            <a:off x="731520" y="4251960"/>
            <a:ext cx="548640" cy="594360"/>
          </a:xfrm>
          <a:prstGeom prst="rect">
            <a:avLst/>
          </a:prstGeom>
          <a:noFill/>
          <a:ln/>
        </p:spPr>
        <p:txBody>
          <a:bodyPr wrap="square" rtlCol="0" anchor="ctr"/>
          <a:lstStyle/>
          <a:p>
            <a:pPr algn="ctr" indent="0" marL="0">
              <a:buNone/>
            </a:pPr>
            <a:r>
              <a:rPr lang="en-US" sz="1300" b="1" dirty="0">
                <a:solidFill>
                  <a:srgbClr val="14B8A6"/>
                </a:solidFill>
                <a:latin typeface="Calibri" pitchFamily="34" charset="0"/>
                <a:ea typeface="Calibri" pitchFamily="34" charset="-122"/>
                <a:cs typeface="Calibri" pitchFamily="34" charset="-120"/>
              </a:rPr>
              <a:t>4</a:t>
            </a:r>
            <a:endParaRPr lang="en-US" sz="1300" dirty="0"/>
          </a:p>
        </p:txBody>
      </p:sp>
      <p:sp>
        <p:nvSpPr>
          <p:cNvPr id="25" name="Text 22"/>
          <p:cNvSpPr/>
          <p:nvPr/>
        </p:nvSpPr>
        <p:spPr>
          <a:xfrm>
            <a:off x="1371600" y="4251960"/>
            <a:ext cx="3200400" cy="594360"/>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geo-block</a:t>
            </a:r>
            <a:endParaRPr lang="en-US" sz="1300" dirty="0"/>
          </a:p>
        </p:txBody>
      </p:sp>
      <p:sp>
        <p:nvSpPr>
          <p:cNvPr id="26" name="Shape 23"/>
          <p:cNvSpPr/>
          <p:nvPr/>
        </p:nvSpPr>
        <p:spPr>
          <a:xfrm>
            <a:off x="4663440" y="4361688"/>
            <a:ext cx="1097280" cy="365760"/>
          </a:xfrm>
          <a:prstGeom prst="roundRect">
            <a:avLst>
              <a:gd name="adj" fmla="val 12500"/>
            </a:avLst>
          </a:prstGeom>
          <a:solidFill>
            <a:srgbClr val="EF4444"/>
          </a:solidFill>
          <a:ln/>
        </p:spPr>
      </p:sp>
      <p:sp>
        <p:nvSpPr>
          <p:cNvPr id="27" name="Text 24"/>
          <p:cNvSpPr/>
          <p:nvPr/>
        </p:nvSpPr>
        <p:spPr>
          <a:xfrm>
            <a:off x="4663440" y="4361688"/>
            <a:ext cx="1097280" cy="365760"/>
          </a:xfrm>
          <a:prstGeom prst="rect">
            <a:avLst/>
          </a:prstGeom>
          <a:noFill/>
          <a:ln/>
        </p:spPr>
        <p:txBody>
          <a:bodyPr wrap="square" rtlCol="0" anchor="ctr"/>
          <a:lstStyle/>
          <a:p>
            <a:pPr algn="ctr" indent="0" marL="0">
              <a:buNone/>
            </a:pPr>
            <a:r>
              <a:rPr lang="en-US" sz="1100" b="1" dirty="0">
                <a:solidFill>
                  <a:srgbClr val="0F1B2D"/>
                </a:solidFill>
                <a:latin typeface="Calibri" pitchFamily="34" charset="0"/>
                <a:ea typeface="Calibri" pitchFamily="34" charset="-122"/>
                <a:cs typeface="Calibri" pitchFamily="34" charset="-120"/>
              </a:rPr>
              <a:t>BLOCK</a:t>
            </a:r>
            <a:endParaRPr lang="en-US" sz="1100" dirty="0"/>
          </a:p>
        </p:txBody>
      </p:sp>
      <p:sp>
        <p:nvSpPr>
          <p:cNvPr id="28" name="Text 25"/>
          <p:cNvSpPr/>
          <p:nvPr/>
        </p:nvSpPr>
        <p:spPr>
          <a:xfrm>
            <a:off x="5943600" y="4251960"/>
            <a:ext cx="5577840" cy="59436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Fail-closed: allow only GB/IE/US</a:t>
            </a:r>
            <a:endParaRPr lang="en-US" sz="1200" dirty="0"/>
          </a:p>
        </p:txBody>
      </p:sp>
      <p:sp>
        <p:nvSpPr>
          <p:cNvPr id="29" name="Text 26"/>
          <p:cNvSpPr/>
          <p:nvPr/>
        </p:nvSpPr>
        <p:spPr>
          <a:xfrm>
            <a:off x="731520" y="4846320"/>
            <a:ext cx="548640" cy="594360"/>
          </a:xfrm>
          <a:prstGeom prst="rect">
            <a:avLst/>
          </a:prstGeom>
          <a:noFill/>
          <a:ln/>
        </p:spPr>
        <p:txBody>
          <a:bodyPr wrap="square" rtlCol="0" anchor="ctr"/>
          <a:lstStyle/>
          <a:p>
            <a:pPr algn="ctr" indent="0" marL="0">
              <a:buNone/>
            </a:pPr>
            <a:r>
              <a:rPr lang="en-US" sz="1300" b="1" dirty="0">
                <a:solidFill>
                  <a:srgbClr val="14B8A6"/>
                </a:solidFill>
                <a:latin typeface="Calibri" pitchFamily="34" charset="0"/>
                <a:ea typeface="Calibri" pitchFamily="34" charset="-122"/>
                <a:cs typeface="Calibri" pitchFamily="34" charset="-120"/>
              </a:rPr>
              <a:t>—</a:t>
            </a:r>
            <a:endParaRPr lang="en-US" sz="1300" dirty="0"/>
          </a:p>
        </p:txBody>
      </p:sp>
      <p:sp>
        <p:nvSpPr>
          <p:cNvPr id="30" name="Text 27"/>
          <p:cNvSpPr/>
          <p:nvPr/>
        </p:nvSpPr>
        <p:spPr>
          <a:xfrm>
            <a:off x="1371600" y="4846320"/>
            <a:ext cx="3200400" cy="594360"/>
          </a:xfrm>
          <a:prstGeom prst="rect">
            <a:avLst/>
          </a:prstGeom>
          <a:noFill/>
          <a:ln/>
        </p:spPr>
        <p:txBody>
          <a:bodyPr wrap="square"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default action</a:t>
            </a:r>
            <a:endParaRPr lang="en-US" sz="1300" dirty="0"/>
          </a:p>
        </p:txBody>
      </p:sp>
      <p:sp>
        <p:nvSpPr>
          <p:cNvPr id="31" name="Shape 28"/>
          <p:cNvSpPr/>
          <p:nvPr/>
        </p:nvSpPr>
        <p:spPr>
          <a:xfrm>
            <a:off x="4663440" y="4956048"/>
            <a:ext cx="1097280" cy="365760"/>
          </a:xfrm>
          <a:prstGeom prst="roundRect">
            <a:avLst>
              <a:gd name="adj" fmla="val 12500"/>
            </a:avLst>
          </a:prstGeom>
          <a:solidFill>
            <a:srgbClr val="14B8A6"/>
          </a:solidFill>
          <a:ln/>
        </p:spPr>
      </p:sp>
      <p:sp>
        <p:nvSpPr>
          <p:cNvPr id="32" name="Text 29"/>
          <p:cNvSpPr/>
          <p:nvPr/>
        </p:nvSpPr>
        <p:spPr>
          <a:xfrm>
            <a:off x="4663440" y="4956048"/>
            <a:ext cx="1097280" cy="365760"/>
          </a:xfrm>
          <a:prstGeom prst="rect">
            <a:avLst/>
          </a:prstGeom>
          <a:noFill/>
          <a:ln/>
        </p:spPr>
        <p:txBody>
          <a:bodyPr wrap="square" rtlCol="0" anchor="ctr"/>
          <a:lstStyle/>
          <a:p>
            <a:pPr algn="ctr" indent="0" marL="0">
              <a:buNone/>
            </a:pPr>
            <a:r>
              <a:rPr lang="en-US" sz="1100" b="1" dirty="0">
                <a:solidFill>
                  <a:srgbClr val="0F1B2D"/>
                </a:solidFill>
                <a:latin typeface="Calibri" pitchFamily="34" charset="0"/>
                <a:ea typeface="Calibri" pitchFamily="34" charset="-122"/>
                <a:cs typeface="Calibri" pitchFamily="34" charset="-120"/>
              </a:rPr>
              <a:t>ALLOW</a:t>
            </a:r>
            <a:endParaRPr lang="en-US" sz="1100" dirty="0"/>
          </a:p>
        </p:txBody>
      </p:sp>
      <p:sp>
        <p:nvSpPr>
          <p:cNvPr id="33" name="Text 30"/>
          <p:cNvSpPr/>
          <p:nvPr/>
        </p:nvSpPr>
        <p:spPr>
          <a:xfrm>
            <a:off x="5943600" y="4846320"/>
            <a:ext cx="5577840" cy="59436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Anything reaching here is good</a:t>
            </a:r>
            <a:endParaRPr lang="en-US" sz="1200" dirty="0"/>
          </a:p>
        </p:txBody>
      </p:sp>
      <p:sp>
        <p:nvSpPr>
          <p:cNvPr id="34" name="Shape 31"/>
          <p:cNvSpPr/>
          <p:nvPr/>
        </p:nvSpPr>
        <p:spPr>
          <a:xfrm>
            <a:off x="457200" y="5852160"/>
            <a:ext cx="11247120" cy="457200"/>
          </a:xfrm>
          <a:prstGeom prst="roundRect">
            <a:avLst>
              <a:gd name="adj" fmla="val 16000"/>
            </a:avLst>
          </a:prstGeom>
          <a:solidFill>
            <a:srgbClr val="1A2744"/>
          </a:solidFill>
          <a:ln/>
        </p:spPr>
      </p:sp>
      <p:sp>
        <p:nvSpPr>
          <p:cNvPr id="35" name="Text 32"/>
          <p:cNvSpPr/>
          <p:nvPr/>
        </p:nvSpPr>
        <p:spPr>
          <a:xfrm>
            <a:off x="685800" y="5897880"/>
            <a:ext cx="10789920" cy="365760"/>
          </a:xfrm>
          <a:prstGeom prst="rect">
            <a:avLst/>
          </a:prstGeom>
          <a:noFill/>
          <a:ln/>
        </p:spPr>
        <p:txBody>
          <a:bodyPr wrap="square" rtlCol="0" anchor="ctr"/>
          <a:lstStyle/>
          <a:p>
            <a:pPr algn="ctr" indent="0" marL="0">
              <a:buNone/>
            </a:pPr>
            <a:r>
              <a:rPr lang="en-US" sz="1200" i="1" dirty="0">
                <a:solidFill>
                  <a:srgbClr val="14B8A6"/>
                </a:solidFill>
                <a:latin typeface="Calibri" pitchFamily="34" charset="0"/>
                <a:ea typeface="Calibri" pitchFamily="34" charset="-122"/>
                <a:cs typeface="Calibri" pitchFamily="34" charset="-120"/>
              </a:rPr>
              <a:t>Design pattern:  allow trusted  →  block known bad  →  rate limit  →  geo  →  default</a:t>
            </a:r>
            <a:endParaRPr lang="en-US" sz="1200" dirty="0"/>
          </a:p>
        </p:txBody>
      </p:sp>
      <p:sp>
        <p:nvSpPr>
          <p:cNvPr id="36" name="Text 33"/>
          <p:cNvSpPr/>
          <p:nvPr/>
        </p:nvSpPr>
        <p:spPr>
          <a:xfrm>
            <a:off x="457200" y="6492240"/>
            <a:ext cx="64008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Lab 083  —  WAF Blocking Legitimate Traffic</a:t>
            </a:r>
            <a:endParaRPr lang="en-US" sz="1000" dirty="0"/>
          </a:p>
        </p:txBody>
      </p:sp>
      <p:sp>
        <p:nvSpPr>
          <p:cNvPr id="37" name="Text 34"/>
          <p:cNvSpPr/>
          <p:nvPr/>
        </p:nvSpPr>
        <p:spPr>
          <a:xfrm>
            <a:off x="11247120"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Real-world gotcha — the apply that didn't</a:t>
            </a:r>
            <a:endParaRPr lang="en-US" sz="2800" dirty="0"/>
          </a:p>
        </p:txBody>
      </p:sp>
      <p:sp>
        <p:nvSpPr>
          <p:cNvPr id="3" name="Text 1"/>
          <p:cNvSpPr/>
          <p:nvPr/>
        </p:nvSpPr>
        <p:spPr>
          <a:xfrm>
            <a:off x="457200" y="822960"/>
            <a:ext cx="11247120" cy="365760"/>
          </a:xfrm>
          <a:prstGeom prst="rect">
            <a:avLst/>
          </a:prstGeom>
          <a:noFill/>
          <a:ln/>
        </p:spPr>
        <p:txBody>
          <a:bodyPr wrap="square" rtlCol="0" anchor="ctr"/>
          <a:lstStyle/>
          <a:p>
            <a:pPr indent="0" marL="0">
              <a:buNone/>
            </a:pPr>
            <a:r>
              <a:rPr lang="en-US" sz="1400" dirty="0">
                <a:solidFill>
                  <a:srgbClr val="14B8A6"/>
                </a:solidFill>
                <a:latin typeface="Calibri" pitchFamily="34" charset="0"/>
                <a:ea typeface="Calibri" pitchFamily="34" charset="-122"/>
                <a:cs typeface="Calibri" pitchFamily="34" charset="-120"/>
              </a:rPr>
              <a:t>Terraform's dependency graph has edge cases</a:t>
            </a:r>
            <a:endParaRPr lang="en-US" sz="1400" dirty="0"/>
          </a:p>
        </p:txBody>
      </p:sp>
      <p:sp>
        <p:nvSpPr>
          <p:cNvPr id="4" name="Shape 2"/>
          <p:cNvSpPr/>
          <p:nvPr/>
        </p:nvSpPr>
        <p:spPr>
          <a:xfrm>
            <a:off x="457200" y="1234440"/>
            <a:ext cx="457200" cy="36576"/>
          </a:xfrm>
          <a:prstGeom prst="rect">
            <a:avLst/>
          </a:prstGeom>
          <a:solidFill>
            <a:srgbClr val="0D9488"/>
          </a:solidFill>
          <a:ln/>
        </p:spPr>
      </p:sp>
      <p:sp>
        <p:nvSpPr>
          <p:cNvPr id="5" name="Shape 3"/>
          <p:cNvSpPr/>
          <p:nvPr/>
        </p:nvSpPr>
        <p:spPr>
          <a:xfrm>
            <a:off x="457200" y="1600200"/>
            <a:ext cx="11247120" cy="2103120"/>
          </a:xfrm>
          <a:prstGeom prst="roundRect">
            <a:avLst>
              <a:gd name="adj" fmla="val 3478"/>
            </a:avLst>
          </a:prstGeom>
          <a:solidFill>
            <a:srgbClr val="1A2744"/>
          </a:solidFill>
          <a:ln/>
        </p:spPr>
      </p:sp>
      <p:sp>
        <p:nvSpPr>
          <p:cNvPr id="6" name="Shape 4"/>
          <p:cNvSpPr/>
          <p:nvPr/>
        </p:nvSpPr>
        <p:spPr>
          <a:xfrm>
            <a:off x="685800" y="1828800"/>
            <a:ext cx="548640" cy="54864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806501" y="1949501"/>
            <a:ext cx="307238" cy="307238"/>
          </a:xfrm>
          <a:prstGeom prst="rect">
            <a:avLst/>
          </a:prstGeom>
        </p:spPr>
      </p:pic>
      <p:sp>
        <p:nvSpPr>
          <p:cNvPr id="8" name="Text 5"/>
          <p:cNvSpPr/>
          <p:nvPr/>
        </p:nvSpPr>
        <p:spPr>
          <a:xfrm>
            <a:off x="1371600" y="1874520"/>
            <a:ext cx="10149840" cy="365760"/>
          </a:xfrm>
          <a:prstGeom prst="rect">
            <a:avLst/>
          </a:prstGeom>
          <a:noFill/>
          <a:ln/>
        </p:spPr>
        <p:txBody>
          <a:bodyPr wrap="square" rtlCol="0" anchor="ctr"/>
          <a:lstStyle/>
          <a:p>
            <a:pPr indent="0" marL="0">
              <a:buNone/>
            </a:pPr>
            <a:r>
              <a:rPr lang="en-US" sz="1500" b="1" dirty="0">
                <a:solidFill>
                  <a:srgbClr val="EF4444"/>
                </a:solidFill>
                <a:latin typeface="Calibri" pitchFamily="34" charset="0"/>
                <a:ea typeface="Calibri" pitchFamily="34" charset="-122"/>
                <a:cs typeface="Calibri" pitchFamily="34" charset="-120"/>
              </a:rPr>
              <a:t>WAFAssociatedItemException</a:t>
            </a:r>
            <a:endParaRPr lang="en-US" sz="1500" dirty="0"/>
          </a:p>
        </p:txBody>
      </p:sp>
      <p:sp>
        <p:nvSpPr>
          <p:cNvPr id="9" name="Text 6"/>
          <p:cNvSpPr/>
          <p:nvPr/>
        </p:nvSpPr>
        <p:spPr>
          <a:xfrm>
            <a:off x="1371600" y="2331720"/>
            <a:ext cx="10149840" cy="1280160"/>
          </a:xfrm>
          <a:prstGeom prst="rect">
            <a:avLst/>
          </a:prstGeom>
          <a:noFill/>
          <a:ln/>
        </p:spPr>
        <p:txBody>
          <a:bodyPr wrap="square" rtlCol="0" anchor="ctr"/>
          <a:lstStyle/>
          <a:p>
            <a:pPr indent="0" marL="0">
              <a:lnSpc>
                <a:spcPct val="120000"/>
              </a:lnSpc>
              <a:buNone/>
            </a:pPr>
            <a:r>
              <a:rPr lang="en-US" sz="1200" dirty="0">
                <a:solidFill>
                  <a:srgbClr val="94A3B8"/>
                </a:solidFill>
                <a:latin typeface="Calibri" pitchFamily="34" charset="0"/>
                <a:ea typeface="Calibri" pitchFamily="34" charset="-122"/>
                <a:cs typeface="Calibri" pitchFamily="34" charset="-120"/>
              </a:rPr>
              <a:t>During the fix apply, Terraform tried to destroy the old `office_ips` IP set in parallel with updating the Web ACL. AWS refused: the IP set was still referenced by the Web ACL's old `ip-blocklist` rule at the moment of the delete call. Terraform's graph didn't enforce the ordering because the dependency existed in the live state, not the new config.</a:t>
            </a:r>
            <a:endParaRPr lang="en-US" sz="1200" dirty="0"/>
          </a:p>
        </p:txBody>
      </p:sp>
      <p:sp>
        <p:nvSpPr>
          <p:cNvPr id="10" name="Shape 7"/>
          <p:cNvSpPr/>
          <p:nvPr/>
        </p:nvSpPr>
        <p:spPr>
          <a:xfrm>
            <a:off x="457200" y="3886200"/>
            <a:ext cx="11247120" cy="2286000"/>
          </a:xfrm>
          <a:prstGeom prst="roundRect">
            <a:avLst>
              <a:gd name="adj" fmla="val 3200"/>
            </a:avLst>
          </a:prstGeom>
          <a:solidFill>
            <a:srgbClr val="1A2744"/>
          </a:solidFill>
          <a:ln/>
        </p:spPr>
      </p:sp>
      <p:sp>
        <p:nvSpPr>
          <p:cNvPr id="11" name="Shape 8"/>
          <p:cNvSpPr/>
          <p:nvPr/>
        </p:nvSpPr>
        <p:spPr>
          <a:xfrm>
            <a:off x="685800" y="4114800"/>
            <a:ext cx="548640" cy="548640"/>
          </a:xfrm>
          <a:prstGeom prst="ellipse">
            <a:avLst/>
          </a:prstGeom>
          <a:solidFill>
            <a:srgbClr val="0D9488"/>
          </a:solidFill>
          <a:ln/>
        </p:spPr>
      </p:sp>
      <p:pic>
        <p:nvPicPr>
          <p:cNvPr id="12" name="Image 1" descr="preencoded.png">    </p:cNvPr>
          <p:cNvPicPr>
            <a:picLocks noChangeAspect="1"/>
          </p:cNvPicPr>
          <p:nvPr/>
        </p:nvPicPr>
        <p:blipFill>
          <a:blip r:embed="rId2"/>
          <a:stretch>
            <a:fillRect/>
          </a:stretch>
        </p:blipFill>
        <p:spPr>
          <a:xfrm>
            <a:off x="806501" y="4235501"/>
            <a:ext cx="307238" cy="307238"/>
          </a:xfrm>
          <a:prstGeom prst="rect">
            <a:avLst/>
          </a:prstGeom>
        </p:spPr>
      </p:pic>
      <p:sp>
        <p:nvSpPr>
          <p:cNvPr id="13" name="Text 9"/>
          <p:cNvSpPr/>
          <p:nvPr/>
        </p:nvSpPr>
        <p:spPr>
          <a:xfrm>
            <a:off x="1371600" y="4114800"/>
            <a:ext cx="10149840" cy="365760"/>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Recovery with -target</a:t>
            </a:r>
            <a:endParaRPr lang="en-US" sz="1500" dirty="0"/>
          </a:p>
        </p:txBody>
      </p:sp>
      <p:sp>
        <p:nvSpPr>
          <p:cNvPr id="14" name="Text 10"/>
          <p:cNvSpPr/>
          <p:nvPr/>
        </p:nvSpPr>
        <p:spPr>
          <a:xfrm>
            <a:off x="1371600" y="4526280"/>
            <a:ext cx="10149840" cy="1645920"/>
          </a:xfrm>
          <a:prstGeom prst="rect">
            <a:avLst/>
          </a:prstGeom>
          <a:noFill/>
          <a:ln/>
        </p:spPr>
        <p:txBody>
          <a:bodyPr wrap="square" rtlCol="0" anchor="ctr"/>
          <a:lstStyle/>
          <a:p>
            <a:pPr indent="0" marL="0">
              <a:lnSpc>
                <a:spcPct val="115000"/>
              </a:lnSpc>
              <a:buNone/>
            </a:pPr>
            <a:r>
              <a:rPr lang="en-US" sz="1100" dirty="0">
                <a:solidFill>
                  <a:srgbClr val="FFFFFF"/>
                </a:solidFill>
                <a:latin typeface="Courier New" pitchFamily="34" charset="0"/>
                <a:ea typeface="Courier New" pitchFamily="34" charset="-122"/>
                <a:cs typeface="Courier New" pitchFamily="34" charset="-120"/>
              </a:rPr>
              <a:t># Step 1 — force Web ACL update first</a:t>
            </a:r>
            <a:endParaRPr lang="en-US" sz="1100" dirty="0"/>
          </a:p>
          <a:p>
            <a:pPr indent="0" marL="0">
              <a:lnSpc>
                <a:spcPct val="115000"/>
              </a:lnSpc>
              <a:buNone/>
            </a:pPr>
            <a:r>
              <a:rPr lang="en-US" sz="1100" dirty="0">
                <a:solidFill>
                  <a:srgbClr val="FFFFFF"/>
                </a:solidFill>
                <a:latin typeface="Courier New" pitchFamily="34" charset="0"/>
                <a:ea typeface="Courier New" pitchFamily="34" charset="-122"/>
                <a:cs typeface="Courier New" pitchFamily="34" charset="-120"/>
              </a:rPr>
              <a:t>terraform apply -target=aws_wafv2_web_acl.main</a:t>
            </a:r>
            <a:endParaRPr lang="en-US" sz="1100" dirty="0"/>
          </a:p>
          <a:p>
            <a:pPr indent="0" marL="0">
              <a:lnSpc>
                <a:spcPct val="115000"/>
              </a:lnSpc>
              <a:buNone/>
            </a:pPr>
            <a:endParaRPr lang="en-US" sz="1100" dirty="0"/>
          </a:p>
          <a:p>
            <a:pPr indent="0" marL="0">
              <a:lnSpc>
                <a:spcPct val="115000"/>
              </a:lnSpc>
              <a:buNone/>
            </a:pPr>
            <a:r>
              <a:rPr lang="en-US" sz="1100" dirty="0">
                <a:solidFill>
                  <a:srgbClr val="FFFFFF"/>
                </a:solidFill>
                <a:latin typeface="Courier New" pitchFamily="34" charset="0"/>
                <a:ea typeface="Courier New" pitchFamily="34" charset="-122"/>
                <a:cs typeface="Courier New" pitchFamily="34" charset="-120"/>
              </a:rPr>
              <a:t># Step 2 — verify in AWS (rules now point at new sets)</a:t>
            </a:r>
            <a:endParaRPr lang="en-US" sz="1100" dirty="0"/>
          </a:p>
          <a:p>
            <a:pPr indent="0" marL="0">
              <a:lnSpc>
                <a:spcPct val="115000"/>
              </a:lnSpc>
              <a:buNone/>
            </a:pPr>
            <a:r>
              <a:rPr lang="en-US" sz="1100" dirty="0">
                <a:solidFill>
                  <a:srgbClr val="FFFFFF"/>
                </a:solidFill>
                <a:latin typeface="Courier New" pitchFamily="34" charset="0"/>
                <a:ea typeface="Courier New" pitchFamily="34" charset="-122"/>
                <a:cs typeface="Courier New" pitchFamily="34" charset="-120"/>
              </a:rPr>
              <a:t>aws wafv2 get-web-acl ...</a:t>
            </a:r>
            <a:endParaRPr lang="en-US" sz="1100" dirty="0"/>
          </a:p>
          <a:p>
            <a:pPr indent="0" marL="0">
              <a:lnSpc>
                <a:spcPct val="115000"/>
              </a:lnSpc>
              <a:buNone/>
            </a:pPr>
            <a:endParaRPr lang="en-US" sz="1100" dirty="0"/>
          </a:p>
          <a:p>
            <a:pPr indent="0" marL="0">
              <a:lnSpc>
                <a:spcPct val="115000"/>
              </a:lnSpc>
              <a:buNone/>
            </a:pPr>
            <a:r>
              <a:rPr lang="en-US" sz="1100" dirty="0">
                <a:solidFill>
                  <a:srgbClr val="FFFFFF"/>
                </a:solidFill>
                <a:latin typeface="Courier New" pitchFamily="34" charset="0"/>
                <a:ea typeface="Courier New" pitchFamily="34" charset="-122"/>
                <a:cs typeface="Courier New" pitchFamily="34" charset="-120"/>
              </a:rPr>
              <a:t># Step 3 — plain apply to clean up the orphan</a:t>
            </a:r>
            <a:endParaRPr lang="en-US" sz="1100" dirty="0"/>
          </a:p>
          <a:p>
            <a:pPr indent="0" marL="0">
              <a:lnSpc>
                <a:spcPct val="115000"/>
              </a:lnSpc>
              <a:buNone/>
            </a:pPr>
            <a:r>
              <a:rPr lang="en-US" sz="1100" dirty="0">
                <a:solidFill>
                  <a:srgbClr val="FFFFFF"/>
                </a:solidFill>
                <a:latin typeface="Courier New" pitchFamily="34" charset="0"/>
                <a:ea typeface="Courier New" pitchFamily="34" charset="-122"/>
                <a:cs typeface="Courier New" pitchFamily="34" charset="-120"/>
              </a:rPr>
              <a:t>terraform apply</a:t>
            </a:r>
            <a:endParaRPr lang="en-US" sz="1100" dirty="0"/>
          </a:p>
        </p:txBody>
      </p:sp>
      <p:sp>
        <p:nvSpPr>
          <p:cNvPr id="15" name="Text 11"/>
          <p:cNvSpPr/>
          <p:nvPr/>
        </p:nvSpPr>
        <p:spPr>
          <a:xfrm>
            <a:off x="457200" y="6492240"/>
            <a:ext cx="64008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Lab 083  —  WAF Blocking Legitimate Traffic</a:t>
            </a:r>
            <a:endParaRPr lang="en-US" sz="1000" dirty="0"/>
          </a:p>
        </p:txBody>
      </p:sp>
      <p:sp>
        <p:nvSpPr>
          <p:cNvPr id="16" name="Text 12"/>
          <p:cNvSpPr/>
          <p:nvPr/>
        </p:nvSpPr>
        <p:spPr>
          <a:xfrm>
            <a:off x="11247120"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-target is a workaround, not a habit</a:t>
            </a:r>
            <a:endParaRPr lang="en-US" sz="2800" dirty="0"/>
          </a:p>
        </p:txBody>
      </p:sp>
      <p:sp>
        <p:nvSpPr>
          <p:cNvPr id="3" name="Text 1"/>
          <p:cNvSpPr/>
          <p:nvPr/>
        </p:nvSpPr>
        <p:spPr>
          <a:xfrm>
            <a:off x="457200" y="822960"/>
            <a:ext cx="11247120" cy="365760"/>
          </a:xfrm>
          <a:prstGeom prst="rect">
            <a:avLst/>
          </a:prstGeom>
          <a:noFill/>
          <a:ln/>
        </p:spPr>
        <p:txBody>
          <a:bodyPr wrap="square" rtlCol="0" anchor="ctr"/>
          <a:lstStyle/>
          <a:p>
            <a:pPr indent="0" marL="0">
              <a:buNone/>
            </a:pPr>
            <a:r>
              <a:rPr lang="en-US" sz="1400" dirty="0">
                <a:solidFill>
                  <a:srgbClr val="14B8A6"/>
                </a:solidFill>
                <a:latin typeface="Calibri" pitchFamily="34" charset="0"/>
                <a:ea typeface="Calibri" pitchFamily="34" charset="-122"/>
                <a:cs typeface="Calibri" pitchFamily="34" charset="-120"/>
              </a:rPr>
              <a:t>Use for recovery, not for routine operations</a:t>
            </a:r>
            <a:endParaRPr lang="en-US" sz="1400" dirty="0"/>
          </a:p>
        </p:txBody>
      </p:sp>
      <p:sp>
        <p:nvSpPr>
          <p:cNvPr id="4" name="Shape 2"/>
          <p:cNvSpPr/>
          <p:nvPr/>
        </p:nvSpPr>
        <p:spPr>
          <a:xfrm>
            <a:off x="457200" y="1234440"/>
            <a:ext cx="457200" cy="36576"/>
          </a:xfrm>
          <a:prstGeom prst="rect">
            <a:avLst/>
          </a:prstGeom>
          <a:solidFill>
            <a:srgbClr val="0D9488"/>
          </a:solidFill>
          <a:ln/>
        </p:spPr>
      </p:sp>
      <p:sp>
        <p:nvSpPr>
          <p:cNvPr id="5" name="Shape 3"/>
          <p:cNvSpPr/>
          <p:nvPr/>
        </p:nvSpPr>
        <p:spPr>
          <a:xfrm>
            <a:off x="457200" y="1600200"/>
            <a:ext cx="5577840" cy="4572000"/>
          </a:xfrm>
          <a:prstGeom prst="roundRect">
            <a:avLst>
              <a:gd name="adj" fmla="val 1600"/>
            </a:avLst>
          </a:prstGeom>
          <a:solidFill>
            <a:srgbClr val="1A2744"/>
          </a:solidFill>
          <a:ln/>
        </p:spPr>
      </p:sp>
      <p:sp>
        <p:nvSpPr>
          <p:cNvPr id="6" name="Shape 4"/>
          <p:cNvSpPr/>
          <p:nvPr/>
        </p:nvSpPr>
        <p:spPr>
          <a:xfrm>
            <a:off x="685800" y="1828800"/>
            <a:ext cx="548640" cy="54864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806501" y="1949501"/>
            <a:ext cx="307238" cy="307238"/>
          </a:xfrm>
          <a:prstGeom prst="rect">
            <a:avLst/>
          </a:prstGeom>
        </p:spPr>
      </p:pic>
      <p:sp>
        <p:nvSpPr>
          <p:cNvPr id="8" name="Text 5"/>
          <p:cNvSpPr/>
          <p:nvPr/>
        </p:nvSpPr>
        <p:spPr>
          <a:xfrm>
            <a:off x="1371600" y="1874520"/>
            <a:ext cx="4572000" cy="365760"/>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Valid uses</a:t>
            </a:r>
            <a:endParaRPr lang="en-US" sz="1500" dirty="0"/>
          </a:p>
        </p:txBody>
      </p:sp>
      <p:sp>
        <p:nvSpPr>
          <p:cNvPr id="9" name="Text 6"/>
          <p:cNvSpPr/>
          <p:nvPr/>
        </p:nvSpPr>
        <p:spPr>
          <a:xfrm>
            <a:off x="731520" y="2514600"/>
            <a:ext cx="5029200" cy="3474720"/>
          </a:xfrm>
          <a:prstGeom prst="rect">
            <a:avLst/>
          </a:prstGeom>
          <a:noFill/>
          <a:ln/>
        </p:spPr>
        <p:txBody>
          <a:bodyPr wrap="square" rtlCol="0" anchor="ctr"/>
          <a:lstStyle/>
          <a:p>
            <a:pPr indent="0" marL="0">
              <a:lnSpc>
                <a:spcPct val="130000"/>
              </a:lnSpc>
              <a:buNone/>
            </a:pPr>
            <a:r>
              <a:rPr lang="en-US" sz="1200" dirty="0">
                <a:solidFill>
                  <a:srgbClr val="94A3B8"/>
                </a:solidFill>
                <a:latin typeface="Calibri" pitchFamily="34" charset="0"/>
                <a:ea typeface="Calibri" pitchFamily="34" charset="-122"/>
                <a:cs typeface="Calibri" pitchFamily="34" charset="-120"/>
              </a:rPr>
              <a:t>•  Recovering from a failed apply where one resource blocks others</a:t>
            </a:r>
            <a:endParaRPr lang="en-US" sz="1200" dirty="0"/>
          </a:p>
          <a:p>
            <a:pPr indent="0" marL="0">
              <a:lnSpc>
                <a:spcPct val="130000"/>
              </a:lnSpc>
              <a:buNone/>
            </a:pPr>
            <a:endParaRPr lang="en-US" sz="1200" dirty="0"/>
          </a:p>
          <a:p>
            <a:pPr indent="0" marL="0">
              <a:lnSpc>
                <a:spcPct val="130000"/>
              </a:lnSpc>
              <a:buNone/>
            </a:pPr>
            <a:r>
              <a:rPr lang="en-US" sz="1200" dirty="0">
                <a:solidFill>
                  <a:srgbClr val="94A3B8"/>
                </a:solidFill>
                <a:latin typeface="Calibri" pitchFamily="34" charset="0"/>
                <a:ea typeface="Calibri" pitchFamily="34" charset="-122"/>
                <a:cs typeface="Calibri" pitchFamily="34" charset="-120"/>
              </a:rPr>
              <a:t>•  Forcing a specific update order when Terraform's graph is wrong</a:t>
            </a:r>
            <a:endParaRPr lang="en-US" sz="1200" dirty="0"/>
          </a:p>
          <a:p>
            <a:pPr indent="0" marL="0">
              <a:lnSpc>
                <a:spcPct val="130000"/>
              </a:lnSpc>
              <a:buNone/>
            </a:pPr>
            <a:endParaRPr lang="en-US" sz="1200" dirty="0"/>
          </a:p>
          <a:p>
            <a:pPr indent="0" marL="0">
              <a:lnSpc>
                <a:spcPct val="130000"/>
              </a:lnSpc>
              <a:buNone/>
            </a:pPr>
            <a:r>
              <a:rPr lang="en-US" sz="1200" dirty="0">
                <a:solidFill>
                  <a:srgbClr val="94A3B8"/>
                </a:solidFill>
                <a:latin typeface="Calibri" pitchFamily="34" charset="0"/>
                <a:ea typeface="Calibri" pitchFamily="34" charset="-122"/>
                <a:cs typeface="Calibri" pitchFamily="34" charset="-120"/>
              </a:rPr>
              <a:t>•  Debugging — applying one resource at a time to isolate errors</a:t>
            </a:r>
            <a:endParaRPr lang="en-US" sz="1200" dirty="0"/>
          </a:p>
          <a:p>
            <a:pPr indent="0" marL="0">
              <a:lnSpc>
                <a:spcPct val="130000"/>
              </a:lnSpc>
              <a:buNone/>
            </a:pPr>
            <a:endParaRPr lang="en-US" sz="1200" dirty="0"/>
          </a:p>
          <a:p>
            <a:pPr indent="0" marL="0">
              <a:lnSpc>
                <a:spcPct val="130000"/>
              </a:lnSpc>
              <a:buNone/>
            </a:pPr>
            <a:r>
              <a:rPr lang="en-US" sz="1200" dirty="0">
                <a:solidFill>
                  <a:srgbClr val="94A3B8"/>
                </a:solidFill>
                <a:latin typeface="Calibri" pitchFamily="34" charset="0"/>
                <a:ea typeface="Calibri" pitchFamily="34" charset="-122"/>
                <a:cs typeface="Calibri" pitchFamily="34" charset="-120"/>
              </a:rPr>
              <a:t>•  Emergency breaking-glass situations where speed matters more than purity</a:t>
            </a:r>
            <a:endParaRPr lang="en-US" sz="1200" dirty="0"/>
          </a:p>
        </p:txBody>
      </p:sp>
      <p:sp>
        <p:nvSpPr>
          <p:cNvPr id="10" name="Shape 7"/>
          <p:cNvSpPr/>
          <p:nvPr/>
        </p:nvSpPr>
        <p:spPr>
          <a:xfrm>
            <a:off x="6263640" y="1600200"/>
            <a:ext cx="5486400" cy="4572000"/>
          </a:xfrm>
          <a:prstGeom prst="roundRect">
            <a:avLst>
              <a:gd name="adj" fmla="val 1600"/>
            </a:avLst>
          </a:prstGeom>
          <a:solidFill>
            <a:srgbClr val="1A2744"/>
          </a:solidFill>
          <a:ln/>
        </p:spPr>
      </p:sp>
      <p:sp>
        <p:nvSpPr>
          <p:cNvPr id="11" name="Shape 8"/>
          <p:cNvSpPr/>
          <p:nvPr/>
        </p:nvSpPr>
        <p:spPr>
          <a:xfrm>
            <a:off x="6492240" y="1828800"/>
            <a:ext cx="548640" cy="548640"/>
          </a:xfrm>
          <a:prstGeom prst="ellipse">
            <a:avLst/>
          </a:prstGeom>
          <a:solidFill>
            <a:srgbClr val="0D9488"/>
          </a:solidFill>
          <a:ln/>
        </p:spPr>
      </p:sp>
      <p:pic>
        <p:nvPicPr>
          <p:cNvPr id="12" name="Image 1" descr="preencoded.png">    </p:cNvPr>
          <p:cNvPicPr>
            <a:picLocks noChangeAspect="1"/>
          </p:cNvPicPr>
          <p:nvPr/>
        </p:nvPicPr>
        <p:blipFill>
          <a:blip r:embed="rId2"/>
          <a:stretch>
            <a:fillRect/>
          </a:stretch>
        </p:blipFill>
        <p:spPr>
          <a:xfrm>
            <a:off x="6612941" y="1949501"/>
            <a:ext cx="307238" cy="307238"/>
          </a:xfrm>
          <a:prstGeom prst="rect">
            <a:avLst/>
          </a:prstGeom>
        </p:spPr>
      </p:pic>
      <p:sp>
        <p:nvSpPr>
          <p:cNvPr id="13" name="Text 9"/>
          <p:cNvSpPr/>
          <p:nvPr/>
        </p:nvSpPr>
        <p:spPr>
          <a:xfrm>
            <a:off x="7178040" y="1874520"/>
            <a:ext cx="4572000" cy="365760"/>
          </a:xfrm>
          <a:prstGeom prst="rect">
            <a:avLst/>
          </a:prstGeom>
          <a:noFill/>
          <a:ln/>
        </p:spPr>
        <p:txBody>
          <a:bodyPr wrap="square" rtlCol="0" anchor="ctr"/>
          <a:lstStyle/>
          <a:p>
            <a:pPr indent="0" marL="0">
              <a:buNone/>
            </a:pPr>
            <a:r>
              <a:rPr lang="en-US" sz="1500" b="1" dirty="0">
                <a:solidFill>
                  <a:srgbClr val="EF4444"/>
                </a:solidFill>
                <a:latin typeface="Calibri" pitchFamily="34" charset="0"/>
                <a:ea typeface="Calibri" pitchFamily="34" charset="-122"/>
                <a:cs typeface="Calibri" pitchFamily="34" charset="-120"/>
              </a:rPr>
              <a:t>Never use it for</a:t>
            </a:r>
            <a:endParaRPr lang="en-US" sz="1500" dirty="0"/>
          </a:p>
        </p:txBody>
      </p:sp>
      <p:sp>
        <p:nvSpPr>
          <p:cNvPr id="14" name="Text 10"/>
          <p:cNvSpPr/>
          <p:nvPr/>
        </p:nvSpPr>
        <p:spPr>
          <a:xfrm>
            <a:off x="6446520" y="2514600"/>
            <a:ext cx="5212080" cy="3474720"/>
          </a:xfrm>
          <a:prstGeom prst="rect">
            <a:avLst/>
          </a:prstGeom>
          <a:noFill/>
          <a:ln/>
        </p:spPr>
        <p:txBody>
          <a:bodyPr wrap="square" rtlCol="0" anchor="ctr"/>
          <a:lstStyle/>
          <a:p>
            <a:pPr indent="0" marL="0">
              <a:lnSpc>
                <a:spcPct val="130000"/>
              </a:lnSpc>
              <a:buNone/>
            </a:pPr>
            <a:r>
              <a:rPr lang="en-US" sz="1200" dirty="0">
                <a:solidFill>
                  <a:srgbClr val="94A3B8"/>
                </a:solidFill>
                <a:latin typeface="Calibri" pitchFamily="34" charset="0"/>
                <a:ea typeface="Calibri" pitchFamily="34" charset="-122"/>
                <a:cs typeface="Calibri" pitchFamily="34" charset="-120"/>
              </a:rPr>
              <a:t>•  Routine workflows</a:t>
            </a:r>
            <a:endParaRPr lang="en-US" sz="1200" dirty="0"/>
          </a:p>
          <a:p>
            <a:pPr indent="0" marL="0">
              <a:lnSpc>
                <a:spcPct val="130000"/>
              </a:lnSpc>
              <a:buNone/>
            </a:pPr>
            <a:endParaRPr lang="en-US" sz="1200" dirty="0"/>
          </a:p>
          <a:p>
            <a:pPr indent="0" marL="0">
              <a:lnSpc>
                <a:spcPct val="130000"/>
              </a:lnSpc>
              <a:buNone/>
            </a:pPr>
            <a:r>
              <a:rPr lang="en-US" sz="1200" dirty="0">
                <a:solidFill>
                  <a:srgbClr val="94A3B8"/>
                </a:solidFill>
                <a:latin typeface="Calibri" pitchFamily="34" charset="0"/>
                <a:ea typeface="Calibri" pitchFamily="34" charset="-122"/>
                <a:cs typeface="Calibri" pitchFamily="34" charset="-120"/>
              </a:rPr>
              <a:t>•  Avoiding plan output you don't understand (investigate instead)</a:t>
            </a:r>
            <a:endParaRPr lang="en-US" sz="1200" dirty="0"/>
          </a:p>
          <a:p>
            <a:pPr indent="0" marL="0">
              <a:lnSpc>
                <a:spcPct val="130000"/>
              </a:lnSpc>
              <a:buNone/>
            </a:pPr>
            <a:endParaRPr lang="en-US" sz="1200" dirty="0"/>
          </a:p>
          <a:p>
            <a:pPr indent="0" marL="0">
              <a:lnSpc>
                <a:spcPct val="130000"/>
              </a:lnSpc>
              <a:buNone/>
            </a:pPr>
            <a:r>
              <a:rPr lang="en-US" sz="1200" dirty="0">
                <a:solidFill>
                  <a:srgbClr val="94A3B8"/>
                </a:solidFill>
                <a:latin typeface="Calibri" pitchFamily="34" charset="0"/>
                <a:ea typeface="Calibri" pitchFamily="34" charset="-122"/>
                <a:cs typeface="Calibri" pitchFamily="34" charset="-120"/>
              </a:rPr>
              <a:t>•  Skipping changes you don't want to apply (edit the config instead)</a:t>
            </a:r>
            <a:endParaRPr lang="en-US" sz="1200" dirty="0"/>
          </a:p>
          <a:p>
            <a:pPr indent="0" marL="0">
              <a:lnSpc>
                <a:spcPct val="130000"/>
              </a:lnSpc>
              <a:buNone/>
            </a:pPr>
            <a:endParaRPr lang="en-US" sz="1200" dirty="0"/>
          </a:p>
          <a:p>
            <a:pPr indent="0" marL="0">
              <a:lnSpc>
                <a:spcPct val="130000"/>
              </a:lnSpc>
              <a:buNone/>
            </a:pPr>
            <a:r>
              <a:rPr lang="en-US" sz="1200" dirty="0">
                <a:solidFill>
                  <a:srgbClr val="94A3B8"/>
                </a:solidFill>
                <a:latin typeface="Calibri" pitchFamily="34" charset="0"/>
                <a:ea typeface="Calibri" pitchFamily="34" charset="-122"/>
                <a:cs typeface="Calibri" pitchFamily="34" charset="-120"/>
              </a:rPr>
              <a:t>•  Working around drift you caused by earlier -target usage</a:t>
            </a:r>
            <a:endParaRPr lang="en-US" sz="1200" dirty="0"/>
          </a:p>
        </p:txBody>
      </p:sp>
      <p:sp>
        <p:nvSpPr>
          <p:cNvPr id="15" name="Text 11"/>
          <p:cNvSpPr/>
          <p:nvPr/>
        </p:nvSpPr>
        <p:spPr>
          <a:xfrm>
            <a:off x="457200" y="6492240"/>
            <a:ext cx="64008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Lab 083  —  WAF Blocking Legitimate Traffic</a:t>
            </a:r>
            <a:endParaRPr lang="en-US" sz="1000" dirty="0"/>
          </a:p>
        </p:txBody>
      </p:sp>
      <p:sp>
        <p:nvSpPr>
          <p:cNvPr id="16" name="Text 12"/>
          <p:cNvSpPr/>
          <p:nvPr/>
        </p:nvSpPr>
        <p:spPr>
          <a:xfrm>
            <a:off x="11247120"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LockTokens — WAF's concurrency model</a:t>
            </a:r>
            <a:endParaRPr lang="en-US" sz="2800" dirty="0"/>
          </a:p>
        </p:txBody>
      </p:sp>
      <p:sp>
        <p:nvSpPr>
          <p:cNvPr id="3" name="Text 1"/>
          <p:cNvSpPr/>
          <p:nvPr/>
        </p:nvSpPr>
        <p:spPr>
          <a:xfrm>
            <a:off x="457200" y="822960"/>
            <a:ext cx="11247120" cy="365760"/>
          </a:xfrm>
          <a:prstGeom prst="rect">
            <a:avLst/>
          </a:prstGeom>
          <a:noFill/>
          <a:ln/>
        </p:spPr>
        <p:txBody>
          <a:bodyPr wrap="square" rtlCol="0" anchor="ctr"/>
          <a:lstStyle/>
          <a:p>
            <a:pPr indent="0" marL="0">
              <a:buNone/>
            </a:pPr>
            <a:r>
              <a:rPr lang="en-US" sz="1400" dirty="0">
                <a:solidFill>
                  <a:srgbClr val="14B8A6"/>
                </a:solidFill>
                <a:latin typeface="Calibri" pitchFamily="34" charset="0"/>
                <a:ea typeface="Calibri" pitchFamily="34" charset="-122"/>
                <a:cs typeface="Calibri" pitchFamily="34" charset="-120"/>
              </a:rPr>
              <a:t>Optimistic concurrency control, not pessimistic locking</a:t>
            </a:r>
            <a:endParaRPr lang="en-US" sz="1400" dirty="0"/>
          </a:p>
        </p:txBody>
      </p:sp>
      <p:sp>
        <p:nvSpPr>
          <p:cNvPr id="4" name="Shape 2"/>
          <p:cNvSpPr/>
          <p:nvPr/>
        </p:nvSpPr>
        <p:spPr>
          <a:xfrm>
            <a:off x="457200" y="1234440"/>
            <a:ext cx="457200" cy="36576"/>
          </a:xfrm>
          <a:prstGeom prst="rect">
            <a:avLst/>
          </a:prstGeom>
          <a:solidFill>
            <a:srgbClr val="0D9488"/>
          </a:solidFill>
          <a:ln/>
        </p:spPr>
      </p:sp>
      <p:sp>
        <p:nvSpPr>
          <p:cNvPr id="5" name="Shape 3"/>
          <p:cNvSpPr/>
          <p:nvPr/>
        </p:nvSpPr>
        <p:spPr>
          <a:xfrm>
            <a:off x="457200" y="1600200"/>
            <a:ext cx="11247120" cy="2103120"/>
          </a:xfrm>
          <a:prstGeom prst="roundRect">
            <a:avLst>
              <a:gd name="adj" fmla="val 3478"/>
            </a:avLst>
          </a:prstGeom>
          <a:solidFill>
            <a:srgbClr val="1A2744"/>
          </a:solidFill>
          <a:ln/>
        </p:spPr>
      </p:sp>
      <p:sp>
        <p:nvSpPr>
          <p:cNvPr id="6" name="Shape 4"/>
          <p:cNvSpPr/>
          <p:nvPr/>
        </p:nvSpPr>
        <p:spPr>
          <a:xfrm>
            <a:off x="685800" y="1828800"/>
            <a:ext cx="548640" cy="54864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806501" y="1949501"/>
            <a:ext cx="307238" cy="307238"/>
          </a:xfrm>
          <a:prstGeom prst="rect">
            <a:avLst/>
          </a:prstGeom>
        </p:spPr>
      </p:pic>
      <p:sp>
        <p:nvSpPr>
          <p:cNvPr id="8" name="Text 5"/>
          <p:cNvSpPr/>
          <p:nvPr/>
        </p:nvSpPr>
        <p:spPr>
          <a:xfrm>
            <a:off x="1371600" y="1874520"/>
            <a:ext cx="101498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How it works</a:t>
            </a:r>
            <a:endParaRPr lang="en-US" sz="1500" dirty="0"/>
          </a:p>
        </p:txBody>
      </p:sp>
      <p:sp>
        <p:nvSpPr>
          <p:cNvPr id="9" name="Text 6"/>
          <p:cNvSpPr/>
          <p:nvPr/>
        </p:nvSpPr>
        <p:spPr>
          <a:xfrm>
            <a:off x="1371600" y="2331720"/>
            <a:ext cx="10149840" cy="1188720"/>
          </a:xfrm>
          <a:prstGeom prst="rect">
            <a:avLst/>
          </a:prstGeom>
          <a:noFill/>
          <a:ln/>
        </p:spPr>
        <p:txBody>
          <a:bodyPr wrap="square" rtlCol="0" anchor="ctr"/>
          <a:lstStyle/>
          <a:p>
            <a:pPr indent="0" marL="0">
              <a:lnSpc>
                <a:spcPct val="120000"/>
              </a:lnSpc>
              <a:buNone/>
            </a:pPr>
            <a:r>
              <a:rPr lang="en-US" sz="1200" dirty="0">
                <a:solidFill>
                  <a:srgbClr val="94A3B8"/>
                </a:solidFill>
                <a:latin typeface="Calibri" pitchFamily="34" charset="0"/>
                <a:ea typeface="Calibri" pitchFamily="34" charset="-122"/>
                <a:cs typeface="Calibri" pitchFamily="34" charset="-120"/>
              </a:rPr>
              <a:t>Every read of a WAF resource (IP set, Web ACL, rule group) returns a LockToken. Every mutation must send the current LockToken back — if someone else modified the resource since your read, the token is stale and AWS rejects the call.</a:t>
            </a:r>
            <a:endParaRPr lang="en-US" sz="1200" dirty="0"/>
          </a:p>
        </p:txBody>
      </p:sp>
      <p:sp>
        <p:nvSpPr>
          <p:cNvPr id="10" name="Shape 7"/>
          <p:cNvSpPr/>
          <p:nvPr/>
        </p:nvSpPr>
        <p:spPr>
          <a:xfrm>
            <a:off x="457200" y="3886200"/>
            <a:ext cx="11247120" cy="2286000"/>
          </a:xfrm>
          <a:prstGeom prst="roundRect">
            <a:avLst>
              <a:gd name="adj" fmla="val 3200"/>
            </a:avLst>
          </a:prstGeom>
          <a:solidFill>
            <a:srgbClr val="1A2744"/>
          </a:solidFill>
          <a:ln/>
        </p:spPr>
      </p:sp>
      <p:sp>
        <p:nvSpPr>
          <p:cNvPr id="11" name="Shape 8"/>
          <p:cNvSpPr/>
          <p:nvPr/>
        </p:nvSpPr>
        <p:spPr>
          <a:xfrm>
            <a:off x="685800" y="4114800"/>
            <a:ext cx="548640" cy="548640"/>
          </a:xfrm>
          <a:prstGeom prst="ellipse">
            <a:avLst/>
          </a:prstGeom>
          <a:solidFill>
            <a:srgbClr val="0D9488"/>
          </a:solidFill>
          <a:ln/>
        </p:spPr>
      </p:sp>
      <p:pic>
        <p:nvPicPr>
          <p:cNvPr id="12" name="Image 1" descr="preencoded.png">    </p:cNvPr>
          <p:cNvPicPr>
            <a:picLocks noChangeAspect="1"/>
          </p:cNvPicPr>
          <p:nvPr/>
        </p:nvPicPr>
        <p:blipFill>
          <a:blip r:embed="rId2"/>
          <a:stretch>
            <a:fillRect/>
          </a:stretch>
        </p:blipFill>
        <p:spPr>
          <a:xfrm>
            <a:off x="806501" y="4235501"/>
            <a:ext cx="307238" cy="307238"/>
          </a:xfrm>
          <a:prstGeom prst="rect">
            <a:avLst/>
          </a:prstGeom>
        </p:spPr>
      </p:pic>
      <p:sp>
        <p:nvSpPr>
          <p:cNvPr id="13" name="Text 9"/>
          <p:cNvSpPr/>
          <p:nvPr/>
        </p:nvSpPr>
        <p:spPr>
          <a:xfrm>
            <a:off x="1371600" y="4114800"/>
            <a:ext cx="10149840" cy="365760"/>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Direct CLI usage (Terraform hides this)</a:t>
            </a:r>
            <a:endParaRPr lang="en-US" sz="1500" dirty="0"/>
          </a:p>
        </p:txBody>
      </p:sp>
      <p:sp>
        <p:nvSpPr>
          <p:cNvPr id="14" name="Text 10"/>
          <p:cNvSpPr/>
          <p:nvPr/>
        </p:nvSpPr>
        <p:spPr>
          <a:xfrm>
            <a:off x="1371600" y="4526280"/>
            <a:ext cx="10149840" cy="1645920"/>
          </a:xfrm>
          <a:prstGeom prst="rect">
            <a:avLst/>
          </a:prstGeom>
          <a:noFill/>
          <a:ln/>
        </p:spPr>
        <p:txBody>
          <a:bodyPr wrap="square" rtlCol="0" anchor="ctr"/>
          <a:lstStyle/>
          <a:p>
            <a:pPr indent="0" marL="0">
              <a:lnSpc>
                <a:spcPct val="115000"/>
              </a:lnSpc>
              <a:buNone/>
            </a:pPr>
            <a:r>
              <a:rPr lang="en-US" sz="1100" dirty="0">
                <a:solidFill>
                  <a:srgbClr val="FFFFFF"/>
                </a:solidFill>
                <a:latin typeface="Courier New" pitchFamily="34" charset="0"/>
                <a:ea typeface="Courier New" pitchFamily="34" charset="-122"/>
                <a:cs typeface="Courier New" pitchFamily="34" charset="-120"/>
              </a:rPr>
              <a:t># Fetch current LockToken</a:t>
            </a:r>
            <a:endParaRPr lang="en-US" sz="1100" dirty="0"/>
          </a:p>
          <a:p>
            <a:pPr indent="0" marL="0">
              <a:lnSpc>
                <a:spcPct val="115000"/>
              </a:lnSpc>
              <a:buNone/>
            </a:pPr>
            <a:r>
              <a:rPr lang="en-US" sz="1100" dirty="0">
                <a:solidFill>
                  <a:srgbClr val="FFFFFF"/>
                </a:solidFill>
                <a:latin typeface="Courier New" pitchFamily="34" charset="0"/>
                <a:ea typeface="Courier New" pitchFamily="34" charset="-122"/>
                <a:cs typeface="Courier New" pitchFamily="34" charset="-120"/>
              </a:rPr>
              <a:t>LOCK=$(aws wafv2 get-ip-set --name my-set --scope REGIONAL \</a:t>
            </a:r>
            <a:endParaRPr lang="en-US" sz="1100" dirty="0"/>
          </a:p>
          <a:p>
            <a:pPr indent="0" marL="0">
              <a:lnSpc>
                <a:spcPct val="115000"/>
              </a:lnSpc>
              <a:buNone/>
            </a:pPr>
            <a:r>
              <a:rPr lang="en-US" sz="1100" dirty="0">
                <a:solidFill>
                  <a:srgbClr val="FFFFFF"/>
                </a:solidFill>
                <a:latin typeface="Courier New" pitchFamily="34" charset="0"/>
                <a:ea typeface="Courier New" pitchFamily="34" charset="-122"/>
                <a:cs typeface="Courier New" pitchFamily="34" charset="-120"/>
              </a:rPr>
              <a:t>  --id &lt;id&gt; --region eu-west-2 --query 'LockToken' --output text)</a:t>
            </a:r>
            <a:endParaRPr lang="en-US" sz="1100" dirty="0"/>
          </a:p>
          <a:p>
            <a:pPr indent="0" marL="0">
              <a:lnSpc>
                <a:spcPct val="115000"/>
              </a:lnSpc>
              <a:buNone/>
            </a:pPr>
            <a:endParaRPr lang="en-US" sz="1100" dirty="0"/>
          </a:p>
          <a:p>
            <a:pPr indent="0" marL="0">
              <a:lnSpc>
                <a:spcPct val="115000"/>
              </a:lnSpc>
              <a:buNone/>
            </a:pPr>
            <a:r>
              <a:rPr lang="en-US" sz="1100" dirty="0">
                <a:solidFill>
                  <a:srgbClr val="FFFFFF"/>
                </a:solidFill>
                <a:latin typeface="Courier New" pitchFamily="34" charset="0"/>
                <a:ea typeface="Courier New" pitchFamily="34" charset="-122"/>
                <a:cs typeface="Courier New" pitchFamily="34" charset="-120"/>
              </a:rPr>
              <a:t># Use it for delete or update</a:t>
            </a:r>
            <a:endParaRPr lang="en-US" sz="1100" dirty="0"/>
          </a:p>
          <a:p>
            <a:pPr indent="0" marL="0">
              <a:lnSpc>
                <a:spcPct val="115000"/>
              </a:lnSpc>
              <a:buNone/>
            </a:pPr>
            <a:r>
              <a:rPr lang="en-US" sz="1100" dirty="0">
                <a:solidFill>
                  <a:srgbClr val="FFFFFF"/>
                </a:solidFill>
                <a:latin typeface="Courier New" pitchFamily="34" charset="0"/>
                <a:ea typeface="Courier New" pitchFamily="34" charset="-122"/>
                <a:cs typeface="Courier New" pitchFamily="34" charset="-120"/>
              </a:rPr>
              <a:t>aws wafv2 delete-ip-set --name my-set --scope REGIONAL \</a:t>
            </a:r>
            <a:endParaRPr lang="en-US" sz="1100" dirty="0"/>
          </a:p>
          <a:p>
            <a:pPr indent="0" marL="0">
              <a:lnSpc>
                <a:spcPct val="115000"/>
              </a:lnSpc>
              <a:buNone/>
            </a:pPr>
            <a:r>
              <a:rPr lang="en-US" sz="1100" dirty="0">
                <a:solidFill>
                  <a:srgbClr val="FFFFFF"/>
                </a:solidFill>
                <a:latin typeface="Courier New" pitchFamily="34" charset="0"/>
                <a:ea typeface="Courier New" pitchFamily="34" charset="-122"/>
                <a:cs typeface="Courier New" pitchFamily="34" charset="-120"/>
              </a:rPr>
              <a:t>  --id &lt;id&gt; --lock-token "$LOCK" --region eu-west-2</a:t>
            </a:r>
            <a:endParaRPr lang="en-US" sz="1100" dirty="0"/>
          </a:p>
        </p:txBody>
      </p:sp>
      <p:sp>
        <p:nvSpPr>
          <p:cNvPr id="15" name="Text 11"/>
          <p:cNvSpPr/>
          <p:nvPr/>
        </p:nvSpPr>
        <p:spPr>
          <a:xfrm>
            <a:off x="457200" y="6492240"/>
            <a:ext cx="64008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Lab 083  —  WAF Blocking Legitimate Traffic</a:t>
            </a:r>
            <a:endParaRPr lang="en-US" sz="1000" dirty="0"/>
          </a:p>
        </p:txBody>
      </p:sp>
      <p:sp>
        <p:nvSpPr>
          <p:cNvPr id="16" name="Text 12"/>
          <p:cNvSpPr/>
          <p:nvPr/>
        </p:nvSpPr>
        <p:spPr>
          <a:xfrm>
            <a:off x="11247120"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Observability is how you diagnose WAF incidents</a:t>
            </a:r>
            <a:endParaRPr lang="en-US" sz="2800" dirty="0"/>
          </a:p>
        </p:txBody>
      </p:sp>
      <p:sp>
        <p:nvSpPr>
          <p:cNvPr id="3" name="Text 1"/>
          <p:cNvSpPr/>
          <p:nvPr/>
        </p:nvSpPr>
        <p:spPr>
          <a:xfrm>
            <a:off x="457200" y="822960"/>
            <a:ext cx="11247120" cy="365760"/>
          </a:xfrm>
          <a:prstGeom prst="rect">
            <a:avLst/>
          </a:prstGeom>
          <a:noFill/>
          <a:ln/>
        </p:spPr>
        <p:txBody>
          <a:bodyPr wrap="square" rtlCol="0" anchor="ctr"/>
          <a:lstStyle/>
          <a:p>
            <a:pPr indent="0" marL="0">
              <a:buNone/>
            </a:pPr>
            <a:r>
              <a:rPr lang="en-US" sz="1400" dirty="0">
                <a:solidFill>
                  <a:srgbClr val="14B8A6"/>
                </a:solidFill>
                <a:latin typeface="Calibri" pitchFamily="34" charset="0"/>
                <a:ea typeface="Calibri" pitchFamily="34" charset="-122"/>
                <a:cs typeface="Calibri" pitchFamily="34" charset="-120"/>
              </a:rPr>
              <a:t>Without it, you're guessing</a:t>
            </a:r>
            <a:endParaRPr lang="en-US" sz="1400" dirty="0"/>
          </a:p>
        </p:txBody>
      </p:sp>
      <p:sp>
        <p:nvSpPr>
          <p:cNvPr id="4" name="Shape 2"/>
          <p:cNvSpPr/>
          <p:nvPr/>
        </p:nvSpPr>
        <p:spPr>
          <a:xfrm>
            <a:off x="457200" y="1234440"/>
            <a:ext cx="457200" cy="36576"/>
          </a:xfrm>
          <a:prstGeom prst="rect">
            <a:avLst/>
          </a:prstGeom>
          <a:solidFill>
            <a:srgbClr val="0D9488"/>
          </a:solidFill>
          <a:ln/>
        </p:spPr>
      </p:sp>
      <p:sp>
        <p:nvSpPr>
          <p:cNvPr id="5" name="Shape 3"/>
          <p:cNvSpPr/>
          <p:nvPr/>
        </p:nvSpPr>
        <p:spPr>
          <a:xfrm>
            <a:off x="457200" y="1600200"/>
            <a:ext cx="5486400" cy="2286000"/>
          </a:xfrm>
          <a:prstGeom prst="roundRect">
            <a:avLst>
              <a:gd name="adj" fmla="val 3200"/>
            </a:avLst>
          </a:prstGeom>
          <a:solidFill>
            <a:srgbClr val="1A2744"/>
          </a:solidFill>
          <a:ln/>
        </p:spPr>
      </p:sp>
      <p:sp>
        <p:nvSpPr>
          <p:cNvPr id="6" name="Shape 4"/>
          <p:cNvSpPr/>
          <p:nvPr/>
        </p:nvSpPr>
        <p:spPr>
          <a:xfrm>
            <a:off x="685800" y="1828800"/>
            <a:ext cx="502920" cy="50292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796442" y="1939442"/>
            <a:ext cx="281635" cy="281635"/>
          </a:xfrm>
          <a:prstGeom prst="rect">
            <a:avLst/>
          </a:prstGeom>
        </p:spPr>
      </p:pic>
      <p:sp>
        <p:nvSpPr>
          <p:cNvPr id="8" name="Text 5"/>
          <p:cNvSpPr/>
          <p:nvPr/>
        </p:nvSpPr>
        <p:spPr>
          <a:xfrm>
            <a:off x="1325880" y="1828800"/>
            <a:ext cx="4480560" cy="36576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CloudWatch metrics</a:t>
            </a:r>
            <a:endParaRPr lang="en-US" sz="1400" dirty="0"/>
          </a:p>
        </p:txBody>
      </p:sp>
      <p:sp>
        <p:nvSpPr>
          <p:cNvPr id="9" name="Text 6"/>
          <p:cNvSpPr/>
          <p:nvPr/>
        </p:nvSpPr>
        <p:spPr>
          <a:xfrm>
            <a:off x="685800" y="2423160"/>
            <a:ext cx="5029200" cy="1371600"/>
          </a:xfrm>
          <a:prstGeom prst="rect">
            <a:avLst/>
          </a:prstGeom>
          <a:noFill/>
          <a:ln/>
        </p:spPr>
        <p:txBody>
          <a:bodyPr wrap="square" rtlCol="0" anchor="ctr"/>
          <a:lstStyle/>
          <a:p>
            <a:pPr indent="0" marL="0">
              <a:lnSpc>
                <a:spcPct val="120000"/>
              </a:lnSpc>
              <a:buNone/>
            </a:pPr>
            <a:r>
              <a:rPr lang="en-US" sz="1100" dirty="0">
                <a:solidFill>
                  <a:srgbClr val="94A3B8"/>
                </a:solidFill>
                <a:latin typeface="Calibri" pitchFamily="34" charset="0"/>
                <a:ea typeface="Calibri" pitchFamily="34" charset="-122"/>
                <a:cs typeface="Calibri" pitchFamily="34" charset="-120"/>
              </a:rPr>
              <a:t>`cloudwatch_metrics_enabled = true` on each rule. Gives BlockedRequests, AllowedRequests, CountedRequests — per rule, per Web ACL.</a:t>
            </a:r>
            <a:endParaRPr lang="en-US" sz="1100" dirty="0"/>
          </a:p>
        </p:txBody>
      </p:sp>
      <p:sp>
        <p:nvSpPr>
          <p:cNvPr id="10" name="Shape 7"/>
          <p:cNvSpPr/>
          <p:nvPr/>
        </p:nvSpPr>
        <p:spPr>
          <a:xfrm>
            <a:off x="6217920" y="1600200"/>
            <a:ext cx="5486400" cy="2286000"/>
          </a:xfrm>
          <a:prstGeom prst="roundRect">
            <a:avLst>
              <a:gd name="adj" fmla="val 3200"/>
            </a:avLst>
          </a:prstGeom>
          <a:solidFill>
            <a:srgbClr val="1A2744"/>
          </a:solidFill>
          <a:ln/>
        </p:spPr>
      </p:sp>
      <p:sp>
        <p:nvSpPr>
          <p:cNvPr id="11" name="Shape 8"/>
          <p:cNvSpPr/>
          <p:nvPr/>
        </p:nvSpPr>
        <p:spPr>
          <a:xfrm>
            <a:off x="6446520" y="1828800"/>
            <a:ext cx="502920" cy="502920"/>
          </a:xfrm>
          <a:prstGeom prst="ellipse">
            <a:avLst/>
          </a:prstGeom>
          <a:solidFill>
            <a:srgbClr val="0D9488"/>
          </a:solidFill>
          <a:ln/>
        </p:spPr>
      </p:sp>
      <p:pic>
        <p:nvPicPr>
          <p:cNvPr id="12" name="Image 1" descr="preencoded.png">    </p:cNvPr>
          <p:cNvPicPr>
            <a:picLocks noChangeAspect="1"/>
          </p:cNvPicPr>
          <p:nvPr/>
        </p:nvPicPr>
        <p:blipFill>
          <a:blip r:embed="rId2"/>
          <a:stretch>
            <a:fillRect/>
          </a:stretch>
        </p:blipFill>
        <p:spPr>
          <a:xfrm>
            <a:off x="6557162" y="1939442"/>
            <a:ext cx="281635" cy="281635"/>
          </a:xfrm>
          <a:prstGeom prst="rect">
            <a:avLst/>
          </a:prstGeom>
        </p:spPr>
      </p:pic>
      <p:sp>
        <p:nvSpPr>
          <p:cNvPr id="13" name="Text 9"/>
          <p:cNvSpPr/>
          <p:nvPr/>
        </p:nvSpPr>
        <p:spPr>
          <a:xfrm>
            <a:off x="7086600" y="1828800"/>
            <a:ext cx="4480560" cy="36576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Sampled requests</a:t>
            </a:r>
            <a:endParaRPr lang="en-US" sz="1400" dirty="0"/>
          </a:p>
        </p:txBody>
      </p:sp>
      <p:sp>
        <p:nvSpPr>
          <p:cNvPr id="14" name="Text 10"/>
          <p:cNvSpPr/>
          <p:nvPr/>
        </p:nvSpPr>
        <p:spPr>
          <a:xfrm>
            <a:off x="6446520" y="2423160"/>
            <a:ext cx="5029200" cy="1371600"/>
          </a:xfrm>
          <a:prstGeom prst="rect">
            <a:avLst/>
          </a:prstGeom>
          <a:noFill/>
          <a:ln/>
        </p:spPr>
        <p:txBody>
          <a:bodyPr wrap="square" rtlCol="0" anchor="ctr"/>
          <a:lstStyle/>
          <a:p>
            <a:pPr indent="0" marL="0">
              <a:lnSpc>
                <a:spcPct val="120000"/>
              </a:lnSpc>
              <a:buNone/>
            </a:pPr>
            <a:r>
              <a:rPr lang="en-US" sz="1100" dirty="0">
                <a:solidFill>
                  <a:srgbClr val="94A3B8"/>
                </a:solidFill>
                <a:latin typeface="Calibri" pitchFamily="34" charset="0"/>
                <a:ea typeface="Calibri" pitchFamily="34" charset="-122"/>
                <a:cs typeface="Calibri" pitchFamily="34" charset="-120"/>
              </a:rPr>
              <a:t>`sampled_requests_enabled = true`. WAF captures a sample of matched requests — IPs, URIs, headers, timestamps. Visible in the console and via get-sampled-requests.</a:t>
            </a:r>
            <a:endParaRPr lang="en-US" sz="1100" dirty="0"/>
          </a:p>
        </p:txBody>
      </p:sp>
      <p:sp>
        <p:nvSpPr>
          <p:cNvPr id="15" name="Shape 11"/>
          <p:cNvSpPr/>
          <p:nvPr/>
        </p:nvSpPr>
        <p:spPr>
          <a:xfrm>
            <a:off x="457200" y="4114800"/>
            <a:ext cx="5486400" cy="2286000"/>
          </a:xfrm>
          <a:prstGeom prst="roundRect">
            <a:avLst>
              <a:gd name="adj" fmla="val 3200"/>
            </a:avLst>
          </a:prstGeom>
          <a:solidFill>
            <a:srgbClr val="1A2744"/>
          </a:solidFill>
          <a:ln/>
        </p:spPr>
      </p:sp>
      <p:sp>
        <p:nvSpPr>
          <p:cNvPr id="16" name="Shape 12"/>
          <p:cNvSpPr/>
          <p:nvPr/>
        </p:nvSpPr>
        <p:spPr>
          <a:xfrm>
            <a:off x="685800" y="4343400"/>
            <a:ext cx="502920" cy="502920"/>
          </a:xfrm>
          <a:prstGeom prst="ellipse">
            <a:avLst/>
          </a:prstGeom>
          <a:solidFill>
            <a:srgbClr val="0D9488"/>
          </a:solidFill>
          <a:ln/>
        </p:spPr>
      </p:sp>
      <p:pic>
        <p:nvPicPr>
          <p:cNvPr id="17" name="Image 2" descr="preencoded.png">    </p:cNvPr>
          <p:cNvPicPr>
            <a:picLocks noChangeAspect="1"/>
          </p:cNvPicPr>
          <p:nvPr/>
        </p:nvPicPr>
        <p:blipFill>
          <a:blip r:embed="rId3"/>
          <a:stretch>
            <a:fillRect/>
          </a:stretch>
        </p:blipFill>
        <p:spPr>
          <a:xfrm>
            <a:off x="796442" y="4454042"/>
            <a:ext cx="281635" cy="281635"/>
          </a:xfrm>
          <a:prstGeom prst="rect">
            <a:avLst/>
          </a:prstGeom>
        </p:spPr>
      </p:pic>
      <p:sp>
        <p:nvSpPr>
          <p:cNvPr id="18" name="Text 13"/>
          <p:cNvSpPr/>
          <p:nvPr/>
        </p:nvSpPr>
        <p:spPr>
          <a:xfrm>
            <a:off x="1325880" y="4343400"/>
            <a:ext cx="4480560" cy="36576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WAF full logging</a:t>
            </a:r>
            <a:endParaRPr lang="en-US" sz="1400" dirty="0"/>
          </a:p>
        </p:txBody>
      </p:sp>
      <p:sp>
        <p:nvSpPr>
          <p:cNvPr id="19" name="Text 14"/>
          <p:cNvSpPr/>
          <p:nvPr/>
        </p:nvSpPr>
        <p:spPr>
          <a:xfrm>
            <a:off x="685800" y="4937760"/>
            <a:ext cx="5029200" cy="1371600"/>
          </a:xfrm>
          <a:prstGeom prst="rect">
            <a:avLst/>
          </a:prstGeom>
          <a:noFill/>
          <a:ln/>
        </p:spPr>
        <p:txBody>
          <a:bodyPr wrap="square" rtlCol="0" anchor="ctr"/>
          <a:lstStyle/>
          <a:p>
            <a:pPr indent="0" marL="0">
              <a:lnSpc>
                <a:spcPct val="120000"/>
              </a:lnSpc>
              <a:buNone/>
            </a:pPr>
            <a:r>
              <a:rPr lang="en-US" sz="1100" dirty="0">
                <a:solidFill>
                  <a:srgbClr val="94A3B8"/>
                </a:solidFill>
                <a:latin typeface="Calibri" pitchFamily="34" charset="0"/>
                <a:ea typeface="Calibri" pitchFamily="34" charset="-122"/>
                <a:cs typeface="Calibri" pitchFamily="34" charset="-120"/>
              </a:rPr>
              <a:t>Stream all request records to S3, Kinesis Firehose, or CloudWatch Logs. Enables long-term analysis, Athena queries, Splunk ingestion, etc. Costs more — use selectively.</a:t>
            </a:r>
            <a:endParaRPr lang="en-US" sz="1100" dirty="0"/>
          </a:p>
        </p:txBody>
      </p:sp>
      <p:sp>
        <p:nvSpPr>
          <p:cNvPr id="20" name="Shape 15"/>
          <p:cNvSpPr/>
          <p:nvPr/>
        </p:nvSpPr>
        <p:spPr>
          <a:xfrm>
            <a:off x="6217920" y="4114800"/>
            <a:ext cx="5486400" cy="2286000"/>
          </a:xfrm>
          <a:prstGeom prst="roundRect">
            <a:avLst>
              <a:gd name="adj" fmla="val 3200"/>
            </a:avLst>
          </a:prstGeom>
          <a:solidFill>
            <a:srgbClr val="1A2744"/>
          </a:solidFill>
          <a:ln/>
        </p:spPr>
      </p:sp>
      <p:sp>
        <p:nvSpPr>
          <p:cNvPr id="21" name="Shape 16"/>
          <p:cNvSpPr/>
          <p:nvPr/>
        </p:nvSpPr>
        <p:spPr>
          <a:xfrm>
            <a:off x="6446520" y="4343400"/>
            <a:ext cx="502920" cy="502920"/>
          </a:xfrm>
          <a:prstGeom prst="ellipse">
            <a:avLst/>
          </a:prstGeom>
          <a:solidFill>
            <a:srgbClr val="0D9488"/>
          </a:solidFill>
          <a:ln/>
        </p:spPr>
      </p:sp>
      <p:pic>
        <p:nvPicPr>
          <p:cNvPr id="22" name="Image 3" descr="preencoded.png">    </p:cNvPr>
          <p:cNvPicPr>
            <a:picLocks noChangeAspect="1"/>
          </p:cNvPicPr>
          <p:nvPr/>
        </p:nvPicPr>
        <p:blipFill>
          <a:blip r:embed="rId4"/>
          <a:stretch>
            <a:fillRect/>
          </a:stretch>
        </p:blipFill>
        <p:spPr>
          <a:xfrm>
            <a:off x="6557162" y="4454042"/>
            <a:ext cx="281635" cy="281635"/>
          </a:xfrm>
          <a:prstGeom prst="rect">
            <a:avLst/>
          </a:prstGeom>
        </p:spPr>
      </p:pic>
      <p:sp>
        <p:nvSpPr>
          <p:cNvPr id="23" name="Text 17"/>
          <p:cNvSpPr/>
          <p:nvPr/>
        </p:nvSpPr>
        <p:spPr>
          <a:xfrm>
            <a:off x="7086600" y="4343400"/>
            <a:ext cx="4480560" cy="36576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COUNT mode before BLOCK</a:t>
            </a:r>
            <a:endParaRPr lang="en-US" sz="1400" dirty="0"/>
          </a:p>
        </p:txBody>
      </p:sp>
      <p:sp>
        <p:nvSpPr>
          <p:cNvPr id="24" name="Text 18"/>
          <p:cNvSpPr/>
          <p:nvPr/>
        </p:nvSpPr>
        <p:spPr>
          <a:xfrm>
            <a:off x="6446520" y="4937760"/>
            <a:ext cx="5029200" cy="1371600"/>
          </a:xfrm>
          <a:prstGeom prst="rect">
            <a:avLst/>
          </a:prstGeom>
          <a:noFill/>
          <a:ln/>
        </p:spPr>
        <p:txBody>
          <a:bodyPr wrap="square" rtlCol="0" anchor="ctr"/>
          <a:lstStyle/>
          <a:p>
            <a:pPr indent="0" marL="0">
              <a:lnSpc>
                <a:spcPct val="120000"/>
              </a:lnSpc>
              <a:buNone/>
            </a:pPr>
            <a:r>
              <a:rPr lang="en-US" sz="1100" dirty="0">
                <a:solidFill>
                  <a:srgbClr val="94A3B8"/>
                </a:solidFill>
                <a:latin typeface="Calibri" pitchFamily="34" charset="0"/>
                <a:ea typeface="Calibri" pitchFamily="34" charset="-122"/>
                <a:cs typeface="Calibri" pitchFamily="34" charset="-120"/>
              </a:rPr>
              <a:t>Deploy new rules with action { count {} } first. Observe metrics for a day or two. Switch to Block only when you're confident matches are what you expect.</a:t>
            </a:r>
            <a:endParaRPr lang="en-US" sz="1100" dirty="0"/>
          </a:p>
        </p:txBody>
      </p:sp>
      <p:sp>
        <p:nvSpPr>
          <p:cNvPr id="25" name="Text 19"/>
          <p:cNvSpPr/>
          <p:nvPr/>
        </p:nvSpPr>
        <p:spPr>
          <a:xfrm>
            <a:off x="457200" y="6492240"/>
            <a:ext cx="64008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Lab 083  —  WAF Blocking Legitimate Traffic</a:t>
            </a:r>
            <a:endParaRPr lang="en-US" sz="1000" dirty="0"/>
          </a:p>
        </p:txBody>
      </p:sp>
      <p:sp>
        <p:nvSpPr>
          <p:cNvPr id="26" name="Text 20"/>
          <p:cNvSpPr/>
          <p:nvPr/>
        </p:nvSpPr>
        <p:spPr>
          <a:xfrm>
            <a:off x="11247120"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Lab vs Real Life</a:t>
            </a:r>
            <a:endParaRPr lang="en-US" sz="2800" dirty="0"/>
          </a:p>
        </p:txBody>
      </p:sp>
      <p:sp>
        <p:nvSpPr>
          <p:cNvPr id="3" name="Text 1"/>
          <p:cNvSpPr/>
          <p:nvPr/>
        </p:nvSpPr>
        <p:spPr>
          <a:xfrm>
            <a:off x="457200" y="822960"/>
            <a:ext cx="11247120" cy="365760"/>
          </a:xfrm>
          <a:prstGeom prst="rect">
            <a:avLst/>
          </a:prstGeom>
          <a:noFill/>
          <a:ln/>
        </p:spPr>
        <p:txBody>
          <a:bodyPr wrap="square" rtlCol="0" anchor="ctr"/>
          <a:lstStyle/>
          <a:p>
            <a:pPr indent="0" marL="0">
              <a:buNone/>
            </a:pPr>
            <a:r>
              <a:rPr lang="en-US" sz="1400" dirty="0">
                <a:solidFill>
                  <a:srgbClr val="14B8A6"/>
                </a:solidFill>
                <a:latin typeface="Calibri" pitchFamily="34" charset="0"/>
                <a:ea typeface="Calibri" pitchFamily="34" charset="-122"/>
                <a:cs typeface="Calibri" pitchFamily="34" charset="-120"/>
              </a:rPr>
              <a:t>Where this lab simplifies, and where the messiness lives</a:t>
            </a:r>
            <a:endParaRPr lang="en-US" sz="1400" dirty="0"/>
          </a:p>
        </p:txBody>
      </p:sp>
      <p:sp>
        <p:nvSpPr>
          <p:cNvPr id="4" name="Shape 2"/>
          <p:cNvSpPr/>
          <p:nvPr/>
        </p:nvSpPr>
        <p:spPr>
          <a:xfrm>
            <a:off x="457200" y="1234440"/>
            <a:ext cx="457200" cy="36576"/>
          </a:xfrm>
          <a:prstGeom prst="rect">
            <a:avLst/>
          </a:prstGeom>
          <a:solidFill>
            <a:srgbClr val="0D9488"/>
          </a:solidFill>
          <a:ln/>
        </p:spPr>
      </p:sp>
      <p:sp>
        <p:nvSpPr>
          <p:cNvPr id="5" name="Shape 3"/>
          <p:cNvSpPr/>
          <p:nvPr/>
        </p:nvSpPr>
        <p:spPr>
          <a:xfrm>
            <a:off x="457200" y="1600200"/>
            <a:ext cx="11247120" cy="4572000"/>
          </a:xfrm>
          <a:prstGeom prst="roundRect">
            <a:avLst>
              <a:gd name="adj" fmla="val 1600"/>
            </a:avLst>
          </a:prstGeom>
          <a:solidFill>
            <a:srgbClr val="1A2744"/>
          </a:solidFill>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31520" y="1828800"/>
          <a:ext cx="10698480" cy="914400"/>
        </p:xfrm>
        <a:graphic>
          <a:graphicData uri="http://schemas.openxmlformats.org/drawingml/2006/table">
            <a:tbl>
              <a:tblPr/>
              <a:tblGrid>
                <a:gridCol w="5349240"/>
                <a:gridCol w="5349240"/>
              </a:tblGrid>
              <a:tr h="5943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In this lab</a:t>
                      </a:r>
                      <a:endParaRPr lang="en-US" sz="1300" dirty="0">
                        <a:latin typeface="Calibri" charset="0"/>
                        <a:ea typeface="Calibri" charset="0"/>
                        <a:cs typeface="Calibri" charset="0"/>
                      </a:endParaRPr>
                    </a:p>
                  </a:txBody>
                  <a:tcPr marL="91440" marR="91440" marT="45720" marB="45720" anchor="ctr">
                    <a:lnL w="12700" cap="flat" cmpd="sng" algn="ctr">
                      <a:solidFill>
                        <a:srgbClr val="0F1B2D"/>
                      </a:solidFill>
                      <a:prstDash val="solid"/>
                      <a:round/>
                      <a:headEnd type="none" w="med" len="med"/>
                      <a:tailEnd type="none" w="med" len="med"/>
                    </a:lnL>
                    <a:lnR w="12700" cap="flat" cmpd="sng" algn="ctr">
                      <a:solidFill>
                        <a:srgbClr val="0F1B2D"/>
                      </a:solidFill>
                      <a:prstDash val="solid"/>
                      <a:round/>
                      <a:headEnd type="none" w="med" len="med"/>
                      <a:tailEnd type="none" w="med" len="med"/>
                    </a:lnR>
                    <a:lnT w="12700" cap="flat" cmpd="sng" algn="ctr">
                      <a:solidFill>
                        <a:srgbClr val="0F1B2D"/>
                      </a:solidFill>
                      <a:prstDash val="solid"/>
                      <a:round/>
                      <a:headEnd type="none" w="med" len="med"/>
                      <a:tailEnd type="none" w="med" len="med"/>
                    </a:lnT>
                    <a:lnB w="12700" cap="flat" cmpd="sng" algn="ctr">
                      <a:solidFill>
                        <a:srgbClr val="0F1B2D"/>
                      </a:solidFill>
                      <a:prstDash val="solid"/>
                      <a:round/>
                      <a:headEnd type="none" w="med" len="med"/>
                      <a:tailEnd type="none" w="med" len="med"/>
                    </a:lnB>
                    <a:solidFill>
                      <a:srgbClr val="0D948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In production</a:t>
                      </a:r>
                      <a:endParaRPr lang="en-US" sz="1300" dirty="0">
                        <a:latin typeface="Calibri" charset="0"/>
                        <a:ea typeface="Calibri" charset="0"/>
                        <a:cs typeface="Calibri" charset="0"/>
                      </a:endParaRPr>
                    </a:p>
                  </a:txBody>
                  <a:tcPr marL="91440" marR="91440" marT="45720" marB="45720" anchor="ctr">
                    <a:lnL w="12700" cap="flat" cmpd="sng" algn="ctr">
                      <a:solidFill>
                        <a:srgbClr val="0F1B2D"/>
                      </a:solidFill>
                      <a:prstDash val="solid"/>
                      <a:round/>
                      <a:headEnd type="none" w="med" len="med"/>
                      <a:tailEnd type="none" w="med" len="med"/>
                    </a:lnL>
                    <a:lnR w="12700" cap="flat" cmpd="sng" algn="ctr">
                      <a:solidFill>
                        <a:srgbClr val="0F1B2D"/>
                      </a:solidFill>
                      <a:prstDash val="solid"/>
                      <a:round/>
                      <a:headEnd type="none" w="med" len="med"/>
                      <a:tailEnd type="none" w="med" len="med"/>
                    </a:lnR>
                    <a:lnT w="12700" cap="flat" cmpd="sng" algn="ctr">
                      <a:solidFill>
                        <a:srgbClr val="0F1B2D"/>
                      </a:solidFill>
                      <a:prstDash val="solid"/>
                      <a:round/>
                      <a:headEnd type="none" w="med" len="med"/>
                      <a:tailEnd type="none" w="med" len="med"/>
                    </a:lnT>
                    <a:lnB w="12700" cap="flat" cmpd="sng" algn="ctr">
                      <a:solidFill>
                        <a:srgbClr val="0F1B2D"/>
                      </a:solidFill>
                      <a:prstDash val="solid"/>
                      <a:round/>
                      <a:headEnd type="none" w="med" len="med"/>
                      <a:tailEnd type="none" w="med" len="med"/>
                    </a:lnB>
                    <a:solidFill>
                      <a:srgbClr val="0D9488"/>
                    </a:solidFill>
                  </a:tcPr>
                </a:tc>
              </a:tr>
              <a:tr h="594360">
                <a:tc>
                  <a:txBody>
                    <a:bodyPr/>
                    <a:lstStyle/>
                    <a:p>
                      <a:pPr indent="0" marL="0">
                        <a:buNone/>
                      </a:pPr>
                      <a:r>
                        <a:rPr lang="en-US" sz="1300" dirty="0">
                          <a:solidFill>
                            <a:srgbClr val="94A3B8"/>
                          </a:solidFill>
                          <a:latin typeface="Calibri" pitchFamily="34" charset="0"/>
                          <a:ea typeface="Calibri" pitchFamily="34" charset="-122"/>
                          <a:cs typeface="Calibri" pitchFamily="34" charset="-120"/>
                        </a:rPr>
                        <a:t>Four bugs in one visible file</a:t>
                      </a:r>
                      <a:endParaRPr lang="en-US" sz="1300" dirty="0">
                        <a:latin typeface="Calibri" charset="0"/>
                        <a:ea typeface="Calibri" charset="0"/>
                        <a:cs typeface="Calibri" charset="0"/>
                      </a:endParaRPr>
                    </a:p>
                  </a:txBody>
                  <a:tcPr marL="91440" marR="91440" marT="45720" marB="45720" anchor="ctr">
                    <a:lnL w="12700" cap="flat" cmpd="sng" algn="ctr">
                      <a:solidFill>
                        <a:srgbClr val="0F1B2D"/>
                      </a:solidFill>
                      <a:prstDash val="solid"/>
                      <a:round/>
                      <a:headEnd type="none" w="med" len="med"/>
                      <a:tailEnd type="none" w="med" len="med"/>
                    </a:lnL>
                    <a:lnR w="12700" cap="flat" cmpd="sng" algn="ctr">
                      <a:solidFill>
                        <a:srgbClr val="0F1B2D"/>
                      </a:solidFill>
                      <a:prstDash val="solid"/>
                      <a:round/>
                      <a:headEnd type="none" w="med" len="med"/>
                      <a:tailEnd type="none" w="med" len="med"/>
                    </a:lnR>
                    <a:lnT w="12700" cap="flat" cmpd="sng" algn="ctr">
                      <a:solidFill>
                        <a:srgbClr val="0F1B2D"/>
                      </a:solidFill>
                      <a:prstDash val="solid"/>
                      <a:round/>
                      <a:headEnd type="none" w="med" len="med"/>
                      <a:tailEnd type="none" w="med" len="med"/>
                    </a:lnT>
                    <a:lnB w="12700" cap="flat" cmpd="sng" algn="ctr">
                      <a:solidFill>
                        <a:srgbClr val="0F1B2D"/>
                      </a:solidFill>
                      <a:prstDash val="solid"/>
                      <a:round/>
                      <a:headEnd type="none" w="med" len="med"/>
                      <a:tailEnd type="none" w="med" len="med"/>
                    </a:lnB>
                    <a:solidFill>
                      <a:srgbClr val="1A2744"/>
                    </a:solidFill>
                  </a:tcPr>
                </a:tc>
                <a:tc>
                  <a:txBody>
                    <a:bodyPr/>
                    <a:lstStyle/>
                    <a:p>
                      <a:pPr indent="0" marL="0">
                        <a:buNone/>
                      </a:pPr>
                      <a:r>
                        <a:rPr lang="en-US" sz="1300" dirty="0">
                          <a:solidFill>
                            <a:srgbClr val="94A3B8"/>
                          </a:solidFill>
                          <a:latin typeface="Calibri" pitchFamily="34" charset="0"/>
                          <a:ea typeface="Calibri" pitchFamily="34" charset="-122"/>
                          <a:cs typeface="Calibri" pitchFamily="34" charset="-120"/>
                        </a:rPr>
                        <a:t>Bugs spread across modules, repos, stale PRs</a:t>
                      </a:r>
                      <a:endParaRPr lang="en-US" sz="1300" dirty="0">
                        <a:latin typeface="Calibri" charset="0"/>
                        <a:ea typeface="Calibri" charset="0"/>
                        <a:cs typeface="Calibri" charset="0"/>
                      </a:endParaRPr>
                    </a:p>
                  </a:txBody>
                  <a:tcPr marL="91440" marR="91440" marT="45720" marB="45720" anchor="ctr">
                    <a:lnL w="12700" cap="flat" cmpd="sng" algn="ctr">
                      <a:solidFill>
                        <a:srgbClr val="0F1B2D"/>
                      </a:solidFill>
                      <a:prstDash val="solid"/>
                      <a:round/>
                      <a:headEnd type="none" w="med" len="med"/>
                      <a:tailEnd type="none" w="med" len="med"/>
                    </a:lnL>
                    <a:lnR w="12700" cap="flat" cmpd="sng" algn="ctr">
                      <a:solidFill>
                        <a:srgbClr val="0F1B2D"/>
                      </a:solidFill>
                      <a:prstDash val="solid"/>
                      <a:round/>
                      <a:headEnd type="none" w="med" len="med"/>
                      <a:tailEnd type="none" w="med" len="med"/>
                    </a:lnR>
                    <a:lnT w="12700" cap="flat" cmpd="sng" algn="ctr">
                      <a:solidFill>
                        <a:srgbClr val="0F1B2D"/>
                      </a:solidFill>
                      <a:prstDash val="solid"/>
                      <a:round/>
                      <a:headEnd type="none" w="med" len="med"/>
                      <a:tailEnd type="none" w="med" len="med"/>
                    </a:lnT>
                    <a:lnB w="12700" cap="flat" cmpd="sng" algn="ctr">
                      <a:solidFill>
                        <a:srgbClr val="0F1B2D"/>
                      </a:solidFill>
                      <a:prstDash val="solid"/>
                      <a:round/>
                      <a:headEnd type="none" w="med" len="med"/>
                      <a:tailEnd type="none" w="med" len="med"/>
                    </a:lnB>
                    <a:solidFill>
                      <a:srgbClr val="1A2744"/>
                    </a:solidFill>
                  </a:tcPr>
                </a:tc>
              </a:tr>
              <a:tr h="594360">
                <a:tc>
                  <a:txBody>
                    <a:bodyPr/>
                    <a:lstStyle/>
                    <a:p>
                      <a:pPr indent="0" marL="0">
                        <a:buNone/>
                      </a:pPr>
                      <a:r>
                        <a:rPr lang="en-US" sz="1300" dirty="0">
                          <a:solidFill>
                            <a:srgbClr val="94A3B8"/>
                          </a:solidFill>
                          <a:latin typeface="Calibri" pitchFamily="34" charset="0"/>
                          <a:ea typeface="Calibri" pitchFamily="34" charset="-122"/>
                          <a:cs typeface="Calibri" pitchFamily="34" charset="-120"/>
                        </a:rPr>
                        <a:t>Apply &amp; destroy in 5 minutes</a:t>
                      </a:r>
                      <a:endParaRPr lang="en-US" sz="1300" dirty="0">
                        <a:latin typeface="Calibri" charset="0"/>
                        <a:ea typeface="Calibri" charset="0"/>
                        <a:cs typeface="Calibri" charset="0"/>
                      </a:endParaRPr>
                    </a:p>
                  </a:txBody>
                  <a:tcPr marL="91440" marR="91440" marT="45720" marB="45720" anchor="ctr">
                    <a:lnL w="12700" cap="flat" cmpd="sng" algn="ctr">
                      <a:solidFill>
                        <a:srgbClr val="0F1B2D"/>
                      </a:solidFill>
                      <a:prstDash val="solid"/>
                      <a:round/>
                      <a:headEnd type="none" w="med" len="med"/>
                      <a:tailEnd type="none" w="med" len="med"/>
                    </a:lnL>
                    <a:lnR w="12700" cap="flat" cmpd="sng" algn="ctr">
                      <a:solidFill>
                        <a:srgbClr val="0F1B2D"/>
                      </a:solidFill>
                      <a:prstDash val="solid"/>
                      <a:round/>
                      <a:headEnd type="none" w="med" len="med"/>
                      <a:tailEnd type="none" w="med" len="med"/>
                    </a:lnR>
                    <a:lnT w="12700" cap="flat" cmpd="sng" algn="ctr">
                      <a:solidFill>
                        <a:srgbClr val="0F1B2D"/>
                      </a:solidFill>
                      <a:prstDash val="solid"/>
                      <a:round/>
                      <a:headEnd type="none" w="med" len="med"/>
                      <a:tailEnd type="none" w="med" len="med"/>
                    </a:lnT>
                    <a:lnB w="12700" cap="flat" cmpd="sng" algn="ctr">
                      <a:solidFill>
                        <a:srgbClr val="0F1B2D"/>
                      </a:solidFill>
                      <a:prstDash val="solid"/>
                      <a:round/>
                      <a:headEnd type="none" w="med" len="med"/>
                      <a:tailEnd type="none" w="med" len="med"/>
                    </a:lnB>
                    <a:solidFill>
                      <a:srgbClr val="1A2744"/>
                    </a:solidFill>
                  </a:tcPr>
                </a:tc>
                <a:tc>
                  <a:txBody>
                    <a:bodyPr/>
                    <a:lstStyle/>
                    <a:p>
                      <a:pPr indent="0" marL="0">
                        <a:buNone/>
                      </a:pPr>
                      <a:r>
                        <a:rPr lang="en-US" sz="1300" dirty="0">
                          <a:solidFill>
                            <a:srgbClr val="94A3B8"/>
                          </a:solidFill>
                          <a:latin typeface="Calibri" pitchFamily="34" charset="0"/>
                          <a:ea typeface="Calibri" pitchFamily="34" charset="-122"/>
                          <a:cs typeface="Calibri" pitchFamily="34" charset="-120"/>
                        </a:rPr>
                        <a:t>Broken config has been live since the weekend</a:t>
                      </a:r>
                      <a:endParaRPr lang="en-US" sz="1300" dirty="0">
                        <a:latin typeface="Calibri" charset="0"/>
                        <a:ea typeface="Calibri" charset="0"/>
                        <a:cs typeface="Calibri" charset="0"/>
                      </a:endParaRPr>
                    </a:p>
                  </a:txBody>
                  <a:tcPr marL="91440" marR="91440" marT="45720" marB="45720" anchor="ctr">
                    <a:lnL w="12700" cap="flat" cmpd="sng" algn="ctr">
                      <a:solidFill>
                        <a:srgbClr val="0F1B2D"/>
                      </a:solidFill>
                      <a:prstDash val="solid"/>
                      <a:round/>
                      <a:headEnd type="none" w="med" len="med"/>
                      <a:tailEnd type="none" w="med" len="med"/>
                    </a:lnL>
                    <a:lnR w="12700" cap="flat" cmpd="sng" algn="ctr">
                      <a:solidFill>
                        <a:srgbClr val="0F1B2D"/>
                      </a:solidFill>
                      <a:prstDash val="solid"/>
                      <a:round/>
                      <a:headEnd type="none" w="med" len="med"/>
                      <a:tailEnd type="none" w="med" len="med"/>
                    </a:lnR>
                    <a:lnT w="12700" cap="flat" cmpd="sng" algn="ctr">
                      <a:solidFill>
                        <a:srgbClr val="0F1B2D"/>
                      </a:solidFill>
                      <a:prstDash val="solid"/>
                      <a:round/>
                      <a:headEnd type="none" w="med" len="med"/>
                      <a:tailEnd type="none" w="med" len="med"/>
                    </a:lnT>
                    <a:lnB w="12700" cap="flat" cmpd="sng" algn="ctr">
                      <a:solidFill>
                        <a:srgbClr val="0F1B2D"/>
                      </a:solidFill>
                      <a:prstDash val="solid"/>
                      <a:round/>
                      <a:headEnd type="none" w="med" len="med"/>
                      <a:tailEnd type="none" w="med" len="med"/>
                    </a:lnB>
                    <a:solidFill>
                      <a:srgbClr val="1A2744"/>
                    </a:solidFill>
                  </a:tcPr>
                </a:tc>
              </a:tr>
              <a:tr h="594360">
                <a:tc>
                  <a:txBody>
                    <a:bodyPr/>
                    <a:lstStyle/>
                    <a:p>
                      <a:pPr indent="0" marL="0">
                        <a:buNone/>
                      </a:pPr>
                      <a:r>
                        <a:rPr lang="en-US" sz="1300" dirty="0">
                          <a:solidFill>
                            <a:srgbClr val="94A3B8"/>
                          </a:solidFill>
                          <a:latin typeface="Calibri" pitchFamily="34" charset="0"/>
                          <a:ea typeface="Calibri" pitchFamily="34" charset="-122"/>
                          <a:cs typeface="Calibri" pitchFamily="34" charset="-120"/>
                        </a:rPr>
                        <a:t>Empty sampled requests (no traffic)</a:t>
                      </a:r>
                      <a:endParaRPr lang="en-US" sz="1300" dirty="0">
                        <a:latin typeface="Calibri" charset="0"/>
                        <a:ea typeface="Calibri" charset="0"/>
                        <a:cs typeface="Calibri" charset="0"/>
                      </a:endParaRPr>
                    </a:p>
                  </a:txBody>
                  <a:tcPr marL="91440" marR="91440" marT="45720" marB="45720" anchor="ctr">
                    <a:lnL w="12700" cap="flat" cmpd="sng" algn="ctr">
                      <a:solidFill>
                        <a:srgbClr val="0F1B2D"/>
                      </a:solidFill>
                      <a:prstDash val="solid"/>
                      <a:round/>
                      <a:headEnd type="none" w="med" len="med"/>
                      <a:tailEnd type="none" w="med" len="med"/>
                    </a:lnL>
                    <a:lnR w="12700" cap="flat" cmpd="sng" algn="ctr">
                      <a:solidFill>
                        <a:srgbClr val="0F1B2D"/>
                      </a:solidFill>
                      <a:prstDash val="solid"/>
                      <a:round/>
                      <a:headEnd type="none" w="med" len="med"/>
                      <a:tailEnd type="none" w="med" len="med"/>
                    </a:lnR>
                    <a:lnT w="12700" cap="flat" cmpd="sng" algn="ctr">
                      <a:solidFill>
                        <a:srgbClr val="0F1B2D"/>
                      </a:solidFill>
                      <a:prstDash val="solid"/>
                      <a:round/>
                      <a:headEnd type="none" w="med" len="med"/>
                      <a:tailEnd type="none" w="med" len="med"/>
                    </a:lnT>
                    <a:lnB w="12700" cap="flat" cmpd="sng" algn="ctr">
                      <a:solidFill>
                        <a:srgbClr val="0F1B2D"/>
                      </a:solidFill>
                      <a:prstDash val="solid"/>
                      <a:round/>
                      <a:headEnd type="none" w="med" len="med"/>
                      <a:tailEnd type="none" w="med" len="med"/>
                    </a:lnB>
                    <a:solidFill>
                      <a:srgbClr val="1A2744"/>
                    </a:solidFill>
                  </a:tcPr>
                </a:tc>
                <a:tc>
                  <a:txBody>
                    <a:bodyPr/>
                    <a:lstStyle/>
                    <a:p>
                      <a:pPr indent="0" marL="0">
                        <a:buNone/>
                      </a:pPr>
                      <a:r>
                        <a:rPr lang="en-US" sz="1300" dirty="0">
                          <a:solidFill>
                            <a:srgbClr val="94A3B8"/>
                          </a:solidFill>
                          <a:latin typeface="Calibri" pitchFamily="34" charset="0"/>
                          <a:ea typeface="Calibri" pitchFamily="34" charset="-122"/>
                          <a:cs typeface="Calibri" pitchFamily="34" charset="-120"/>
                        </a:rPr>
                        <a:t>Sampled requests is your primary diagnostic tool</a:t>
                      </a:r>
                      <a:endParaRPr lang="en-US" sz="1300" dirty="0">
                        <a:latin typeface="Calibri" charset="0"/>
                        <a:ea typeface="Calibri" charset="0"/>
                        <a:cs typeface="Calibri" charset="0"/>
                      </a:endParaRPr>
                    </a:p>
                  </a:txBody>
                  <a:tcPr marL="91440" marR="91440" marT="45720" marB="45720" anchor="ctr">
                    <a:lnL w="12700" cap="flat" cmpd="sng" algn="ctr">
                      <a:solidFill>
                        <a:srgbClr val="0F1B2D"/>
                      </a:solidFill>
                      <a:prstDash val="solid"/>
                      <a:round/>
                      <a:headEnd type="none" w="med" len="med"/>
                      <a:tailEnd type="none" w="med" len="med"/>
                    </a:lnL>
                    <a:lnR w="12700" cap="flat" cmpd="sng" algn="ctr">
                      <a:solidFill>
                        <a:srgbClr val="0F1B2D"/>
                      </a:solidFill>
                      <a:prstDash val="solid"/>
                      <a:round/>
                      <a:headEnd type="none" w="med" len="med"/>
                      <a:tailEnd type="none" w="med" len="med"/>
                    </a:lnR>
                    <a:lnT w="12700" cap="flat" cmpd="sng" algn="ctr">
                      <a:solidFill>
                        <a:srgbClr val="0F1B2D"/>
                      </a:solidFill>
                      <a:prstDash val="solid"/>
                      <a:round/>
                      <a:headEnd type="none" w="med" len="med"/>
                      <a:tailEnd type="none" w="med" len="med"/>
                    </a:lnT>
                    <a:lnB w="12700" cap="flat" cmpd="sng" algn="ctr">
                      <a:solidFill>
                        <a:srgbClr val="0F1B2D"/>
                      </a:solidFill>
                      <a:prstDash val="solid"/>
                      <a:round/>
                      <a:headEnd type="none" w="med" len="med"/>
                      <a:tailEnd type="none" w="med" len="med"/>
                    </a:lnB>
                    <a:solidFill>
                      <a:srgbClr val="1A2744"/>
                    </a:solidFill>
                  </a:tcPr>
                </a:tc>
              </a:tr>
              <a:tr h="594360">
                <a:tc>
                  <a:txBody>
                    <a:bodyPr/>
                    <a:lstStyle/>
                    <a:p>
                      <a:pPr indent="0" marL="0">
                        <a:buNone/>
                      </a:pPr>
                      <a:r>
                        <a:rPr lang="en-US" sz="1300" dirty="0">
                          <a:solidFill>
                            <a:srgbClr val="94A3B8"/>
                          </a:solidFill>
                          <a:latin typeface="Calibri" pitchFamily="34" charset="0"/>
                          <a:ea typeface="Calibri" pitchFamily="34" charset="-122"/>
                          <a:cs typeface="Calibri" pitchFamily="34" charset="-120"/>
                        </a:rPr>
                        <a:t>Health checks explicitly healthy</a:t>
                      </a:r>
                      <a:endParaRPr lang="en-US" sz="1300" dirty="0">
                        <a:latin typeface="Calibri" charset="0"/>
                        <a:ea typeface="Calibri" charset="0"/>
                        <a:cs typeface="Calibri" charset="0"/>
                      </a:endParaRPr>
                    </a:p>
                  </a:txBody>
                  <a:tcPr marL="91440" marR="91440" marT="45720" marB="45720" anchor="ctr">
                    <a:lnL w="12700" cap="flat" cmpd="sng" algn="ctr">
                      <a:solidFill>
                        <a:srgbClr val="0F1B2D"/>
                      </a:solidFill>
                      <a:prstDash val="solid"/>
                      <a:round/>
                      <a:headEnd type="none" w="med" len="med"/>
                      <a:tailEnd type="none" w="med" len="med"/>
                    </a:lnL>
                    <a:lnR w="12700" cap="flat" cmpd="sng" algn="ctr">
                      <a:solidFill>
                        <a:srgbClr val="0F1B2D"/>
                      </a:solidFill>
                      <a:prstDash val="solid"/>
                      <a:round/>
                      <a:headEnd type="none" w="med" len="med"/>
                      <a:tailEnd type="none" w="med" len="med"/>
                    </a:lnR>
                    <a:lnT w="12700" cap="flat" cmpd="sng" algn="ctr">
                      <a:solidFill>
                        <a:srgbClr val="0F1B2D"/>
                      </a:solidFill>
                      <a:prstDash val="solid"/>
                      <a:round/>
                      <a:headEnd type="none" w="med" len="med"/>
                      <a:tailEnd type="none" w="med" len="med"/>
                    </a:lnT>
                    <a:lnB w="12700" cap="flat" cmpd="sng" algn="ctr">
                      <a:solidFill>
                        <a:srgbClr val="0F1B2D"/>
                      </a:solidFill>
                      <a:prstDash val="solid"/>
                      <a:round/>
                      <a:headEnd type="none" w="med" len="med"/>
                      <a:tailEnd type="none" w="med" len="med"/>
                    </a:lnB>
                    <a:solidFill>
                      <a:srgbClr val="1A2744"/>
                    </a:solidFill>
                  </a:tcPr>
                </a:tc>
                <a:tc>
                  <a:txBody>
                    <a:bodyPr/>
                    <a:lstStyle/>
                    <a:p>
                      <a:pPr indent="0" marL="0">
                        <a:buNone/>
                      </a:pPr>
                      <a:r>
                        <a:rPr lang="en-US" sz="1300" dirty="0">
                          <a:solidFill>
                            <a:srgbClr val="94A3B8"/>
                          </a:solidFill>
                          <a:latin typeface="Calibri" pitchFamily="34" charset="0"/>
                          <a:ea typeface="Calibri" pitchFamily="34" charset="-122"/>
                          <a:cs typeface="Calibri" pitchFamily="34" charset="-120"/>
                        </a:rPr>
                        <a:t>Cross-reference ALB, target, backend, WAF metrics</a:t>
                      </a:r>
                      <a:endParaRPr lang="en-US" sz="1300" dirty="0">
                        <a:latin typeface="Calibri" charset="0"/>
                        <a:ea typeface="Calibri" charset="0"/>
                        <a:cs typeface="Calibri" charset="0"/>
                      </a:endParaRPr>
                    </a:p>
                  </a:txBody>
                  <a:tcPr marL="91440" marR="91440" marT="45720" marB="45720" anchor="ctr">
                    <a:lnL w="12700" cap="flat" cmpd="sng" algn="ctr">
                      <a:solidFill>
                        <a:srgbClr val="0F1B2D"/>
                      </a:solidFill>
                      <a:prstDash val="solid"/>
                      <a:round/>
                      <a:headEnd type="none" w="med" len="med"/>
                      <a:tailEnd type="none" w="med" len="med"/>
                    </a:lnL>
                    <a:lnR w="12700" cap="flat" cmpd="sng" algn="ctr">
                      <a:solidFill>
                        <a:srgbClr val="0F1B2D"/>
                      </a:solidFill>
                      <a:prstDash val="solid"/>
                      <a:round/>
                      <a:headEnd type="none" w="med" len="med"/>
                      <a:tailEnd type="none" w="med" len="med"/>
                    </a:lnR>
                    <a:lnT w="12700" cap="flat" cmpd="sng" algn="ctr">
                      <a:solidFill>
                        <a:srgbClr val="0F1B2D"/>
                      </a:solidFill>
                      <a:prstDash val="solid"/>
                      <a:round/>
                      <a:headEnd type="none" w="med" len="med"/>
                      <a:tailEnd type="none" w="med" len="med"/>
                    </a:lnT>
                    <a:lnB w="12700" cap="flat" cmpd="sng" algn="ctr">
                      <a:solidFill>
                        <a:srgbClr val="0F1B2D"/>
                      </a:solidFill>
                      <a:prstDash val="solid"/>
                      <a:round/>
                      <a:headEnd type="none" w="med" len="med"/>
                      <a:tailEnd type="none" w="med" len="med"/>
                    </a:lnB>
                    <a:solidFill>
                      <a:srgbClr val="1A2744"/>
                    </a:solidFill>
                  </a:tcPr>
                </a:tc>
              </a:tr>
              <a:tr h="594360">
                <a:tc>
                  <a:txBody>
                    <a:bodyPr/>
                    <a:lstStyle/>
                    <a:p>
                      <a:pPr indent="0" marL="0">
                        <a:buNone/>
                      </a:pPr>
                      <a:r>
                        <a:rPr lang="en-US" sz="1300" dirty="0">
                          <a:solidFill>
                            <a:srgbClr val="94A3B8"/>
                          </a:solidFill>
                          <a:latin typeface="Calibri" pitchFamily="34" charset="0"/>
                          <a:ea typeface="Calibri" pitchFamily="34" charset="-122"/>
                          <a:cs typeface="Calibri" pitchFamily="34" charset="-120"/>
                        </a:rPr>
                        <a:t>You can destroy when done</a:t>
                      </a:r>
                      <a:endParaRPr lang="en-US" sz="1300" dirty="0">
                        <a:latin typeface="Calibri" charset="0"/>
                        <a:ea typeface="Calibri" charset="0"/>
                        <a:cs typeface="Calibri" charset="0"/>
                      </a:endParaRPr>
                    </a:p>
                  </a:txBody>
                  <a:tcPr marL="91440" marR="91440" marT="45720" marB="45720" anchor="ctr">
                    <a:lnL w="12700" cap="flat" cmpd="sng" algn="ctr">
                      <a:solidFill>
                        <a:srgbClr val="0F1B2D"/>
                      </a:solidFill>
                      <a:prstDash val="solid"/>
                      <a:round/>
                      <a:headEnd type="none" w="med" len="med"/>
                      <a:tailEnd type="none" w="med" len="med"/>
                    </a:lnL>
                    <a:lnR w="12700" cap="flat" cmpd="sng" algn="ctr">
                      <a:solidFill>
                        <a:srgbClr val="0F1B2D"/>
                      </a:solidFill>
                      <a:prstDash val="solid"/>
                      <a:round/>
                      <a:headEnd type="none" w="med" len="med"/>
                      <a:tailEnd type="none" w="med" len="med"/>
                    </a:lnR>
                    <a:lnT w="12700" cap="flat" cmpd="sng" algn="ctr">
                      <a:solidFill>
                        <a:srgbClr val="0F1B2D"/>
                      </a:solidFill>
                      <a:prstDash val="solid"/>
                      <a:round/>
                      <a:headEnd type="none" w="med" len="med"/>
                      <a:tailEnd type="none" w="med" len="med"/>
                    </a:lnT>
                    <a:lnB w="12700" cap="flat" cmpd="sng" algn="ctr">
                      <a:solidFill>
                        <a:srgbClr val="0F1B2D"/>
                      </a:solidFill>
                      <a:prstDash val="solid"/>
                      <a:round/>
                      <a:headEnd type="none" w="med" len="med"/>
                      <a:tailEnd type="none" w="med" len="med"/>
                    </a:lnB>
                    <a:solidFill>
                      <a:srgbClr val="1A2744"/>
                    </a:solidFill>
                  </a:tcPr>
                </a:tc>
                <a:tc>
                  <a:txBody>
                    <a:bodyPr/>
                    <a:lstStyle/>
                    <a:p>
                      <a:pPr indent="0" marL="0">
                        <a:buNone/>
                      </a:pPr>
                      <a:r>
                        <a:rPr lang="en-US" sz="1300" dirty="0">
                          <a:solidFill>
                            <a:srgbClr val="94A3B8"/>
                          </a:solidFill>
                          <a:latin typeface="Calibri" pitchFamily="34" charset="0"/>
                          <a:ea typeface="Calibri" pitchFamily="34" charset="-122"/>
                          <a:cs typeface="Calibri" pitchFamily="34" charset="-120"/>
                        </a:rPr>
                        <a:t>Prod WAFs live for years and accumulate rule sprawl</a:t>
                      </a:r>
                      <a:endParaRPr lang="en-US" sz="1300" dirty="0">
                        <a:latin typeface="Calibri" charset="0"/>
                        <a:ea typeface="Calibri" charset="0"/>
                        <a:cs typeface="Calibri" charset="0"/>
                      </a:endParaRPr>
                    </a:p>
                  </a:txBody>
                  <a:tcPr marL="91440" marR="91440" marT="45720" marB="45720" anchor="ctr">
                    <a:lnL w="12700" cap="flat" cmpd="sng" algn="ctr">
                      <a:solidFill>
                        <a:srgbClr val="0F1B2D"/>
                      </a:solidFill>
                      <a:prstDash val="solid"/>
                      <a:round/>
                      <a:headEnd type="none" w="med" len="med"/>
                      <a:tailEnd type="none" w="med" len="med"/>
                    </a:lnL>
                    <a:lnR w="12700" cap="flat" cmpd="sng" algn="ctr">
                      <a:solidFill>
                        <a:srgbClr val="0F1B2D"/>
                      </a:solidFill>
                      <a:prstDash val="solid"/>
                      <a:round/>
                      <a:headEnd type="none" w="med" len="med"/>
                      <a:tailEnd type="none" w="med" len="med"/>
                    </a:lnR>
                    <a:lnT w="12700" cap="flat" cmpd="sng" algn="ctr">
                      <a:solidFill>
                        <a:srgbClr val="0F1B2D"/>
                      </a:solidFill>
                      <a:prstDash val="solid"/>
                      <a:round/>
                      <a:headEnd type="none" w="med" len="med"/>
                      <a:tailEnd type="none" w="med" len="med"/>
                    </a:lnT>
                    <a:lnB w="12700" cap="flat" cmpd="sng" algn="ctr">
                      <a:solidFill>
                        <a:srgbClr val="0F1B2D"/>
                      </a:solidFill>
                      <a:prstDash val="solid"/>
                      <a:round/>
                      <a:headEnd type="none" w="med" len="med"/>
                      <a:tailEnd type="none" w="med" len="med"/>
                    </a:lnB>
                    <a:solidFill>
                      <a:srgbClr val="1A2744"/>
                    </a:solidFill>
                  </a:tcPr>
                </a:tc>
              </a:tr>
              <a:tr h="594360">
                <a:tc>
                  <a:txBody>
                    <a:bodyPr/>
                    <a:lstStyle/>
                    <a:p>
                      <a:pPr indent="0" marL="0">
                        <a:buNone/>
                      </a:pPr>
                      <a:r>
                        <a:rPr lang="en-US" sz="1300" dirty="0">
                          <a:solidFill>
                            <a:srgbClr val="94A3B8"/>
                          </a:solidFill>
                          <a:latin typeface="Calibri" pitchFamily="34" charset="0"/>
                          <a:ea typeface="Calibri" pitchFamily="34" charset="-122"/>
                          <a:cs typeface="Calibri" pitchFamily="34" charset="-120"/>
                        </a:rPr>
                        <a:t>Fix-and-apply is the workflow</a:t>
                      </a:r>
                      <a:endParaRPr lang="en-US" sz="1300" dirty="0">
                        <a:latin typeface="Calibri" charset="0"/>
                        <a:ea typeface="Calibri" charset="0"/>
                        <a:cs typeface="Calibri" charset="0"/>
                      </a:endParaRPr>
                    </a:p>
                  </a:txBody>
                  <a:tcPr marL="91440" marR="91440" marT="45720" marB="45720" anchor="ctr">
                    <a:lnL w="12700" cap="flat" cmpd="sng" algn="ctr">
                      <a:solidFill>
                        <a:srgbClr val="0F1B2D"/>
                      </a:solidFill>
                      <a:prstDash val="solid"/>
                      <a:round/>
                      <a:headEnd type="none" w="med" len="med"/>
                      <a:tailEnd type="none" w="med" len="med"/>
                    </a:lnL>
                    <a:lnR w="12700" cap="flat" cmpd="sng" algn="ctr">
                      <a:solidFill>
                        <a:srgbClr val="0F1B2D"/>
                      </a:solidFill>
                      <a:prstDash val="solid"/>
                      <a:round/>
                      <a:headEnd type="none" w="med" len="med"/>
                      <a:tailEnd type="none" w="med" len="med"/>
                    </a:lnR>
                    <a:lnT w="12700" cap="flat" cmpd="sng" algn="ctr">
                      <a:solidFill>
                        <a:srgbClr val="0F1B2D"/>
                      </a:solidFill>
                      <a:prstDash val="solid"/>
                      <a:round/>
                      <a:headEnd type="none" w="med" len="med"/>
                      <a:tailEnd type="none" w="med" len="med"/>
                    </a:lnT>
                    <a:lnB w="12700" cap="flat" cmpd="sng" algn="ctr">
                      <a:solidFill>
                        <a:srgbClr val="0F1B2D"/>
                      </a:solidFill>
                      <a:prstDash val="solid"/>
                      <a:round/>
                      <a:headEnd type="none" w="med" len="med"/>
                      <a:tailEnd type="none" w="med" len="med"/>
                    </a:lnB>
                    <a:solidFill>
                      <a:srgbClr val="1A2744"/>
                    </a:solidFill>
                  </a:tcPr>
                </a:tc>
                <a:tc>
                  <a:txBody>
                    <a:bodyPr/>
                    <a:lstStyle/>
                    <a:p>
                      <a:pPr indent="0" marL="0">
                        <a:buNone/>
                      </a:pPr>
                      <a:r>
                        <a:rPr lang="en-US" sz="1300" dirty="0">
                          <a:solidFill>
                            <a:srgbClr val="94A3B8"/>
                          </a:solidFill>
                          <a:latin typeface="Calibri" pitchFamily="34" charset="0"/>
                          <a:ea typeface="Calibri" pitchFamily="34" charset="-122"/>
                          <a:cs typeface="Calibri" pitchFamily="34" charset="-120"/>
                        </a:rPr>
                        <a:t>Changes go to COUNT mode for days before BLOCK</a:t>
                      </a:r>
                      <a:endParaRPr lang="en-US" sz="1300" dirty="0">
                        <a:latin typeface="Calibri" charset="0"/>
                        <a:ea typeface="Calibri" charset="0"/>
                        <a:cs typeface="Calibri" charset="0"/>
                      </a:endParaRPr>
                    </a:p>
                  </a:txBody>
                  <a:tcPr marL="91440" marR="91440" marT="45720" marB="45720" anchor="ctr">
                    <a:lnL w="12700" cap="flat" cmpd="sng" algn="ctr">
                      <a:solidFill>
                        <a:srgbClr val="0F1B2D"/>
                      </a:solidFill>
                      <a:prstDash val="solid"/>
                      <a:round/>
                      <a:headEnd type="none" w="med" len="med"/>
                      <a:tailEnd type="none" w="med" len="med"/>
                    </a:lnL>
                    <a:lnR w="12700" cap="flat" cmpd="sng" algn="ctr">
                      <a:solidFill>
                        <a:srgbClr val="0F1B2D"/>
                      </a:solidFill>
                      <a:prstDash val="solid"/>
                      <a:round/>
                      <a:headEnd type="none" w="med" len="med"/>
                      <a:tailEnd type="none" w="med" len="med"/>
                    </a:lnR>
                    <a:lnT w="12700" cap="flat" cmpd="sng" algn="ctr">
                      <a:solidFill>
                        <a:srgbClr val="0F1B2D"/>
                      </a:solidFill>
                      <a:prstDash val="solid"/>
                      <a:round/>
                      <a:headEnd type="none" w="med" len="med"/>
                      <a:tailEnd type="none" w="med" len="med"/>
                    </a:lnT>
                    <a:lnB w="12700" cap="flat" cmpd="sng" algn="ctr">
                      <a:solidFill>
                        <a:srgbClr val="0F1B2D"/>
                      </a:solidFill>
                      <a:prstDash val="solid"/>
                      <a:round/>
                      <a:headEnd type="none" w="med" len="med"/>
                      <a:tailEnd type="none" w="med" len="med"/>
                    </a:lnB>
                    <a:solidFill>
                      <a:srgbClr val="1A2744"/>
                    </a:solidFill>
                  </a:tcPr>
                </a:tc>
              </a:tr>
            </a:tbl>
          </a:graphicData>
        </a:graphic>
      </p:graphicFrame>
      <p:sp>
        <p:nvSpPr>
          <p:cNvPr id="7" name="Text 4"/>
          <p:cNvSpPr/>
          <p:nvPr/>
        </p:nvSpPr>
        <p:spPr>
          <a:xfrm>
            <a:off x="457200" y="6492240"/>
            <a:ext cx="64008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Lab 083  —  WAF Blocking Legitimate Traffic</a:t>
            </a:r>
            <a:endParaRPr lang="en-US" sz="1000" dirty="0"/>
          </a:p>
        </p:txBody>
      </p:sp>
      <p:sp>
        <p:nvSpPr>
          <p:cNvPr id="8" name="Text 5"/>
          <p:cNvSpPr/>
          <p:nvPr/>
        </p:nvSpPr>
        <p:spPr>
          <a:xfrm>
            <a:off x="11247120"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Common mistakes</a:t>
            </a:r>
            <a:endParaRPr lang="en-US" sz="2800" dirty="0"/>
          </a:p>
        </p:txBody>
      </p:sp>
      <p:sp>
        <p:nvSpPr>
          <p:cNvPr id="3" name="Text 1"/>
          <p:cNvSpPr/>
          <p:nvPr/>
        </p:nvSpPr>
        <p:spPr>
          <a:xfrm>
            <a:off x="457200" y="822960"/>
            <a:ext cx="11247120" cy="365760"/>
          </a:xfrm>
          <a:prstGeom prst="rect">
            <a:avLst/>
          </a:prstGeom>
          <a:noFill/>
          <a:ln/>
        </p:spPr>
        <p:txBody>
          <a:bodyPr wrap="square" rtlCol="0" anchor="ctr"/>
          <a:lstStyle/>
          <a:p>
            <a:pPr indent="0" marL="0">
              <a:buNone/>
            </a:pPr>
            <a:r>
              <a:rPr lang="en-US" sz="1400" dirty="0">
                <a:solidFill>
                  <a:srgbClr val="14B8A6"/>
                </a:solidFill>
                <a:latin typeface="Calibri" pitchFamily="34" charset="0"/>
                <a:ea typeface="Calibri" pitchFamily="34" charset="-122"/>
                <a:cs typeface="Calibri" pitchFamily="34" charset="-120"/>
              </a:rPr>
              <a:t>How WAF deployments go wrong in the real world</a:t>
            </a:r>
            <a:endParaRPr lang="en-US" sz="1400" dirty="0"/>
          </a:p>
        </p:txBody>
      </p:sp>
      <p:sp>
        <p:nvSpPr>
          <p:cNvPr id="4" name="Shape 2"/>
          <p:cNvSpPr/>
          <p:nvPr/>
        </p:nvSpPr>
        <p:spPr>
          <a:xfrm>
            <a:off x="457200" y="1234440"/>
            <a:ext cx="457200" cy="36576"/>
          </a:xfrm>
          <a:prstGeom prst="rect">
            <a:avLst/>
          </a:prstGeom>
          <a:solidFill>
            <a:srgbClr val="0D9488"/>
          </a:solidFill>
          <a:ln/>
        </p:spPr>
      </p:sp>
      <p:sp>
        <p:nvSpPr>
          <p:cNvPr id="5" name="Shape 3"/>
          <p:cNvSpPr/>
          <p:nvPr/>
        </p:nvSpPr>
        <p:spPr>
          <a:xfrm>
            <a:off x="457200" y="1554480"/>
            <a:ext cx="5486400" cy="1508760"/>
          </a:xfrm>
          <a:prstGeom prst="roundRect">
            <a:avLst>
              <a:gd name="adj" fmla="val 4848"/>
            </a:avLst>
          </a:prstGeom>
          <a:solidFill>
            <a:srgbClr val="1A2744"/>
          </a:solidFill>
          <a:ln/>
        </p:spPr>
      </p:sp>
      <p:sp>
        <p:nvSpPr>
          <p:cNvPr id="6" name="Shape 4"/>
          <p:cNvSpPr/>
          <p:nvPr/>
        </p:nvSpPr>
        <p:spPr>
          <a:xfrm>
            <a:off x="685800" y="1783080"/>
            <a:ext cx="457200" cy="45720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786384" y="1883664"/>
            <a:ext cx="256032" cy="256032"/>
          </a:xfrm>
          <a:prstGeom prst="rect">
            <a:avLst/>
          </a:prstGeom>
        </p:spPr>
      </p:pic>
      <p:sp>
        <p:nvSpPr>
          <p:cNvPr id="8" name="Text 5"/>
          <p:cNvSpPr/>
          <p:nvPr/>
        </p:nvSpPr>
        <p:spPr>
          <a:xfrm>
            <a:off x="1280160" y="1737360"/>
            <a:ext cx="4572000" cy="411480"/>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BLOCK mode in production without COUNT first</a:t>
            </a:r>
            <a:endParaRPr lang="en-US" sz="1200" dirty="0"/>
          </a:p>
        </p:txBody>
      </p:sp>
      <p:sp>
        <p:nvSpPr>
          <p:cNvPr id="9" name="Text 6"/>
          <p:cNvSpPr/>
          <p:nvPr/>
        </p:nvSpPr>
        <p:spPr>
          <a:xfrm>
            <a:off x="685800" y="2240280"/>
            <a:ext cx="5029200" cy="777240"/>
          </a:xfrm>
          <a:prstGeom prst="rect">
            <a:avLst/>
          </a:prstGeom>
          <a:noFill/>
          <a:ln/>
        </p:spPr>
        <p:txBody>
          <a:bodyPr wrap="square" rtlCol="0" anchor="ctr"/>
          <a:lstStyle/>
          <a:p>
            <a:pPr indent="0" marL="0">
              <a:lnSpc>
                <a:spcPct val="120000"/>
              </a:lnSpc>
              <a:buNone/>
            </a:pPr>
            <a:r>
              <a:rPr lang="en-US" sz="1000" dirty="0">
                <a:solidFill>
                  <a:srgbClr val="94A3B8"/>
                </a:solidFill>
                <a:latin typeface="Calibri" pitchFamily="34" charset="0"/>
                <a:ea typeface="Calibri" pitchFamily="34" charset="-122"/>
                <a:cs typeface="Calibri" pitchFamily="34" charset="-120"/>
              </a:rPr>
              <a:t>Always deploy new rules in Count mode, watch metrics for a day, then flip to Block. Otherwise you risk exactly this lab's ticket.</a:t>
            </a:r>
            <a:endParaRPr lang="en-US" sz="1000" dirty="0"/>
          </a:p>
        </p:txBody>
      </p:sp>
      <p:sp>
        <p:nvSpPr>
          <p:cNvPr id="10" name="Shape 7"/>
          <p:cNvSpPr/>
          <p:nvPr/>
        </p:nvSpPr>
        <p:spPr>
          <a:xfrm>
            <a:off x="6217920" y="1554480"/>
            <a:ext cx="5486400" cy="1508760"/>
          </a:xfrm>
          <a:prstGeom prst="roundRect">
            <a:avLst>
              <a:gd name="adj" fmla="val 4848"/>
            </a:avLst>
          </a:prstGeom>
          <a:solidFill>
            <a:srgbClr val="1A2744"/>
          </a:solidFill>
          <a:ln/>
        </p:spPr>
      </p:sp>
      <p:sp>
        <p:nvSpPr>
          <p:cNvPr id="11" name="Shape 8"/>
          <p:cNvSpPr/>
          <p:nvPr/>
        </p:nvSpPr>
        <p:spPr>
          <a:xfrm>
            <a:off x="6446520" y="1783080"/>
            <a:ext cx="457200" cy="457200"/>
          </a:xfrm>
          <a:prstGeom prst="ellipse">
            <a:avLst/>
          </a:prstGeom>
          <a:solidFill>
            <a:srgbClr val="0D9488"/>
          </a:solidFill>
          <a:ln/>
        </p:spPr>
      </p:sp>
      <p:pic>
        <p:nvPicPr>
          <p:cNvPr id="12" name="Image 1" descr="preencoded.png">    </p:cNvPr>
          <p:cNvPicPr>
            <a:picLocks noChangeAspect="1"/>
          </p:cNvPicPr>
          <p:nvPr/>
        </p:nvPicPr>
        <p:blipFill>
          <a:blip r:embed="rId2"/>
          <a:stretch>
            <a:fillRect/>
          </a:stretch>
        </p:blipFill>
        <p:spPr>
          <a:xfrm>
            <a:off x="6547104" y="1883664"/>
            <a:ext cx="256032" cy="256032"/>
          </a:xfrm>
          <a:prstGeom prst="rect">
            <a:avLst/>
          </a:prstGeom>
        </p:spPr>
      </p:pic>
      <p:sp>
        <p:nvSpPr>
          <p:cNvPr id="13" name="Text 9"/>
          <p:cNvSpPr/>
          <p:nvPr/>
        </p:nvSpPr>
        <p:spPr>
          <a:xfrm>
            <a:off x="7040880" y="1737360"/>
            <a:ext cx="4572000" cy="411480"/>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Rate limits set by guessing</a:t>
            </a:r>
            <a:endParaRPr lang="en-US" sz="1200" dirty="0"/>
          </a:p>
        </p:txBody>
      </p:sp>
      <p:sp>
        <p:nvSpPr>
          <p:cNvPr id="14" name="Text 10"/>
          <p:cNvSpPr/>
          <p:nvPr/>
        </p:nvSpPr>
        <p:spPr>
          <a:xfrm>
            <a:off x="6446520" y="2240280"/>
            <a:ext cx="5029200" cy="777240"/>
          </a:xfrm>
          <a:prstGeom prst="rect">
            <a:avLst/>
          </a:prstGeom>
          <a:noFill/>
          <a:ln/>
        </p:spPr>
        <p:txBody>
          <a:bodyPr wrap="square" rtlCol="0" anchor="ctr"/>
          <a:lstStyle/>
          <a:p>
            <a:pPr indent="0" marL="0">
              <a:lnSpc>
                <a:spcPct val="120000"/>
              </a:lnSpc>
              <a:buNone/>
            </a:pPr>
            <a:r>
              <a:rPr lang="en-US" sz="1000" dirty="0">
                <a:solidFill>
                  <a:srgbClr val="94A3B8"/>
                </a:solidFill>
                <a:latin typeface="Calibri" pitchFamily="34" charset="0"/>
                <a:ea typeface="Calibri" pitchFamily="34" charset="-122"/>
                <a:cs typeface="Calibri" pitchFamily="34" charset="-120"/>
              </a:rPr>
              <a:t>Rate limits need measured data. Start permissive, observe CloudWatch, tighten based on actual patterns — not hunches.</a:t>
            </a:r>
            <a:endParaRPr lang="en-US" sz="1000" dirty="0"/>
          </a:p>
        </p:txBody>
      </p:sp>
      <p:sp>
        <p:nvSpPr>
          <p:cNvPr id="15" name="Shape 11"/>
          <p:cNvSpPr/>
          <p:nvPr/>
        </p:nvSpPr>
        <p:spPr>
          <a:xfrm>
            <a:off x="457200" y="3200400"/>
            <a:ext cx="5486400" cy="1508760"/>
          </a:xfrm>
          <a:prstGeom prst="roundRect">
            <a:avLst>
              <a:gd name="adj" fmla="val 4848"/>
            </a:avLst>
          </a:prstGeom>
          <a:solidFill>
            <a:srgbClr val="1A2744"/>
          </a:solidFill>
          <a:ln/>
        </p:spPr>
      </p:sp>
      <p:sp>
        <p:nvSpPr>
          <p:cNvPr id="16" name="Shape 12"/>
          <p:cNvSpPr/>
          <p:nvPr/>
        </p:nvSpPr>
        <p:spPr>
          <a:xfrm>
            <a:off x="685800" y="3429000"/>
            <a:ext cx="457200" cy="457200"/>
          </a:xfrm>
          <a:prstGeom prst="ellipse">
            <a:avLst/>
          </a:prstGeom>
          <a:solidFill>
            <a:srgbClr val="0D9488"/>
          </a:solidFill>
          <a:ln/>
        </p:spPr>
      </p:sp>
      <p:pic>
        <p:nvPicPr>
          <p:cNvPr id="17" name="Image 2" descr="preencoded.png">    </p:cNvPr>
          <p:cNvPicPr>
            <a:picLocks noChangeAspect="1"/>
          </p:cNvPicPr>
          <p:nvPr/>
        </p:nvPicPr>
        <p:blipFill>
          <a:blip r:embed="rId3"/>
          <a:stretch>
            <a:fillRect/>
          </a:stretch>
        </p:blipFill>
        <p:spPr>
          <a:xfrm>
            <a:off x="786384" y="3529584"/>
            <a:ext cx="256032" cy="256032"/>
          </a:xfrm>
          <a:prstGeom prst="rect">
            <a:avLst/>
          </a:prstGeom>
        </p:spPr>
      </p:pic>
      <p:sp>
        <p:nvSpPr>
          <p:cNvPr id="18" name="Text 13"/>
          <p:cNvSpPr/>
          <p:nvPr/>
        </p:nvSpPr>
        <p:spPr>
          <a:xfrm>
            <a:off x="1280160" y="3383280"/>
            <a:ext cx="4572000" cy="411480"/>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Forgetting about CloudFront</a:t>
            </a:r>
            <a:endParaRPr lang="en-US" sz="1200" dirty="0"/>
          </a:p>
        </p:txBody>
      </p:sp>
      <p:sp>
        <p:nvSpPr>
          <p:cNvPr id="19" name="Text 14"/>
          <p:cNvSpPr/>
          <p:nvPr/>
        </p:nvSpPr>
        <p:spPr>
          <a:xfrm>
            <a:off x="685800" y="3886200"/>
            <a:ext cx="5029200" cy="777240"/>
          </a:xfrm>
          <a:prstGeom prst="rect">
            <a:avLst/>
          </a:prstGeom>
          <a:noFill/>
          <a:ln/>
        </p:spPr>
        <p:txBody>
          <a:bodyPr wrap="square" rtlCol="0" anchor="ctr"/>
          <a:lstStyle/>
          <a:p>
            <a:pPr indent="0" marL="0">
              <a:lnSpc>
                <a:spcPct val="120000"/>
              </a:lnSpc>
              <a:buNone/>
            </a:pPr>
            <a:r>
              <a:rPr lang="en-US" sz="1000" dirty="0">
                <a:solidFill>
                  <a:srgbClr val="94A3B8"/>
                </a:solidFill>
                <a:latin typeface="Calibri" pitchFamily="34" charset="0"/>
                <a:ea typeface="Calibri" pitchFamily="34" charset="-122"/>
                <a:cs typeface="Calibri" pitchFamily="34" charset="-120"/>
              </a:rPr>
              <a:t>Traffic through CloudFront appears to come from CloudFront IPs. Configure forwarded_ip_config on rules or your IP/rate rules become useless.</a:t>
            </a:r>
            <a:endParaRPr lang="en-US" sz="1000" dirty="0"/>
          </a:p>
        </p:txBody>
      </p:sp>
      <p:sp>
        <p:nvSpPr>
          <p:cNvPr id="20" name="Shape 15"/>
          <p:cNvSpPr/>
          <p:nvPr/>
        </p:nvSpPr>
        <p:spPr>
          <a:xfrm>
            <a:off x="6217920" y="3200400"/>
            <a:ext cx="5486400" cy="1508760"/>
          </a:xfrm>
          <a:prstGeom prst="roundRect">
            <a:avLst>
              <a:gd name="adj" fmla="val 4848"/>
            </a:avLst>
          </a:prstGeom>
          <a:solidFill>
            <a:srgbClr val="1A2744"/>
          </a:solidFill>
          <a:ln/>
        </p:spPr>
      </p:sp>
      <p:sp>
        <p:nvSpPr>
          <p:cNvPr id="21" name="Shape 16"/>
          <p:cNvSpPr/>
          <p:nvPr/>
        </p:nvSpPr>
        <p:spPr>
          <a:xfrm>
            <a:off x="6446520" y="3429000"/>
            <a:ext cx="457200" cy="457200"/>
          </a:xfrm>
          <a:prstGeom prst="ellipse">
            <a:avLst/>
          </a:prstGeom>
          <a:solidFill>
            <a:srgbClr val="0D9488"/>
          </a:solidFill>
          <a:ln/>
        </p:spPr>
      </p:sp>
      <p:pic>
        <p:nvPicPr>
          <p:cNvPr id="22" name="Image 3" descr="preencoded.png">    </p:cNvPr>
          <p:cNvPicPr>
            <a:picLocks noChangeAspect="1"/>
          </p:cNvPicPr>
          <p:nvPr/>
        </p:nvPicPr>
        <p:blipFill>
          <a:blip r:embed="rId4"/>
          <a:stretch>
            <a:fillRect/>
          </a:stretch>
        </p:blipFill>
        <p:spPr>
          <a:xfrm>
            <a:off x="6547104" y="3529584"/>
            <a:ext cx="256032" cy="256032"/>
          </a:xfrm>
          <a:prstGeom prst="rect">
            <a:avLst/>
          </a:prstGeom>
        </p:spPr>
      </p:pic>
      <p:sp>
        <p:nvSpPr>
          <p:cNvPr id="23" name="Text 17"/>
          <p:cNvSpPr/>
          <p:nvPr/>
        </p:nvSpPr>
        <p:spPr>
          <a:xfrm>
            <a:off x="7040880" y="3383280"/>
            <a:ext cx="4572000" cy="411480"/>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Ignoring API endpoints</a:t>
            </a:r>
            <a:endParaRPr lang="en-US" sz="1200" dirty="0"/>
          </a:p>
        </p:txBody>
      </p:sp>
      <p:sp>
        <p:nvSpPr>
          <p:cNvPr id="24" name="Text 18"/>
          <p:cNvSpPr/>
          <p:nvPr/>
        </p:nvSpPr>
        <p:spPr>
          <a:xfrm>
            <a:off x="6446520" y="3886200"/>
            <a:ext cx="5029200" cy="777240"/>
          </a:xfrm>
          <a:prstGeom prst="rect">
            <a:avLst/>
          </a:prstGeom>
          <a:noFill/>
          <a:ln/>
        </p:spPr>
        <p:txBody>
          <a:bodyPr wrap="square" rtlCol="0" anchor="ctr"/>
          <a:lstStyle/>
          <a:p>
            <a:pPr indent="0" marL="0">
              <a:lnSpc>
                <a:spcPct val="120000"/>
              </a:lnSpc>
              <a:buNone/>
            </a:pPr>
            <a:r>
              <a:rPr lang="en-US" sz="1000" dirty="0">
                <a:solidFill>
                  <a:srgbClr val="94A3B8"/>
                </a:solidFill>
                <a:latin typeface="Calibri" pitchFamily="34" charset="0"/>
                <a:ea typeface="Calibri" pitchFamily="34" charset="-122"/>
                <a:cs typeface="Calibri" pitchFamily="34" charset="-120"/>
              </a:rPr>
              <a:t>APIs legitimately make many more requests than browser traffic. Often needs a separate, higher rate-limit scoped to API paths.</a:t>
            </a:r>
            <a:endParaRPr lang="en-US" sz="1000" dirty="0"/>
          </a:p>
        </p:txBody>
      </p:sp>
      <p:sp>
        <p:nvSpPr>
          <p:cNvPr id="25" name="Shape 19"/>
          <p:cNvSpPr/>
          <p:nvPr/>
        </p:nvSpPr>
        <p:spPr>
          <a:xfrm>
            <a:off x="457200" y="4846320"/>
            <a:ext cx="5486400" cy="1508760"/>
          </a:xfrm>
          <a:prstGeom prst="roundRect">
            <a:avLst>
              <a:gd name="adj" fmla="val 4848"/>
            </a:avLst>
          </a:prstGeom>
          <a:solidFill>
            <a:srgbClr val="1A2744"/>
          </a:solidFill>
          <a:ln/>
        </p:spPr>
      </p:sp>
      <p:sp>
        <p:nvSpPr>
          <p:cNvPr id="26" name="Shape 20"/>
          <p:cNvSpPr/>
          <p:nvPr/>
        </p:nvSpPr>
        <p:spPr>
          <a:xfrm>
            <a:off x="685800" y="5074920"/>
            <a:ext cx="457200" cy="457200"/>
          </a:xfrm>
          <a:prstGeom prst="ellipse">
            <a:avLst/>
          </a:prstGeom>
          <a:solidFill>
            <a:srgbClr val="0D9488"/>
          </a:solidFill>
          <a:ln/>
        </p:spPr>
      </p:sp>
      <p:pic>
        <p:nvPicPr>
          <p:cNvPr id="27" name="Image 4" descr="preencoded.png">    </p:cNvPr>
          <p:cNvPicPr>
            <a:picLocks noChangeAspect="1"/>
          </p:cNvPicPr>
          <p:nvPr/>
        </p:nvPicPr>
        <p:blipFill>
          <a:blip r:embed="rId5"/>
          <a:stretch>
            <a:fillRect/>
          </a:stretch>
        </p:blipFill>
        <p:spPr>
          <a:xfrm>
            <a:off x="786384" y="5175504"/>
            <a:ext cx="256032" cy="256032"/>
          </a:xfrm>
          <a:prstGeom prst="rect">
            <a:avLst/>
          </a:prstGeom>
        </p:spPr>
      </p:pic>
      <p:sp>
        <p:nvSpPr>
          <p:cNvPr id="28" name="Text 21"/>
          <p:cNvSpPr/>
          <p:nvPr/>
        </p:nvSpPr>
        <p:spPr>
          <a:xfrm>
            <a:off x="1280160" y="5029200"/>
            <a:ext cx="4572000" cy="411480"/>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Forgetting to destroy lab WAFs</a:t>
            </a:r>
            <a:endParaRPr lang="en-US" sz="1200" dirty="0"/>
          </a:p>
        </p:txBody>
      </p:sp>
      <p:sp>
        <p:nvSpPr>
          <p:cNvPr id="29" name="Text 22"/>
          <p:cNvSpPr/>
          <p:nvPr/>
        </p:nvSpPr>
        <p:spPr>
          <a:xfrm>
            <a:off x="685800" y="5532120"/>
            <a:ext cx="5029200" cy="777240"/>
          </a:xfrm>
          <a:prstGeom prst="rect">
            <a:avLst/>
          </a:prstGeom>
          <a:noFill/>
          <a:ln/>
        </p:spPr>
        <p:txBody>
          <a:bodyPr wrap="square" rtlCol="0" anchor="ctr"/>
          <a:lstStyle/>
          <a:p>
            <a:pPr indent="0" marL="0">
              <a:lnSpc>
                <a:spcPct val="120000"/>
              </a:lnSpc>
              <a:buNone/>
            </a:pPr>
            <a:r>
              <a:rPr lang="en-US" sz="1000" dirty="0">
                <a:solidFill>
                  <a:srgbClr val="94A3B8"/>
                </a:solidFill>
                <a:latin typeface="Calibri" pitchFamily="34" charset="0"/>
                <a:ea typeface="Calibri" pitchFamily="34" charset="-122"/>
                <a:cs typeface="Calibri" pitchFamily="34" charset="-120"/>
              </a:rPr>
              <a:t>WAF is billed hourly (~$5/month per ACL plus ~$1/month per rule). A forgotten lab is a slow bleed on your bill.</a:t>
            </a:r>
            <a:endParaRPr lang="en-US" sz="1000" dirty="0"/>
          </a:p>
        </p:txBody>
      </p:sp>
      <p:sp>
        <p:nvSpPr>
          <p:cNvPr id="30" name="Shape 23"/>
          <p:cNvSpPr/>
          <p:nvPr/>
        </p:nvSpPr>
        <p:spPr>
          <a:xfrm>
            <a:off x="6217920" y="4846320"/>
            <a:ext cx="5486400" cy="1508760"/>
          </a:xfrm>
          <a:prstGeom prst="roundRect">
            <a:avLst>
              <a:gd name="adj" fmla="val 4848"/>
            </a:avLst>
          </a:prstGeom>
          <a:solidFill>
            <a:srgbClr val="1A2744"/>
          </a:solidFill>
          <a:ln/>
        </p:spPr>
      </p:sp>
      <p:sp>
        <p:nvSpPr>
          <p:cNvPr id="31" name="Shape 24"/>
          <p:cNvSpPr/>
          <p:nvPr/>
        </p:nvSpPr>
        <p:spPr>
          <a:xfrm>
            <a:off x="6446520" y="5074920"/>
            <a:ext cx="457200" cy="457200"/>
          </a:xfrm>
          <a:prstGeom prst="ellipse">
            <a:avLst/>
          </a:prstGeom>
          <a:solidFill>
            <a:srgbClr val="0D9488"/>
          </a:solidFill>
          <a:ln/>
        </p:spPr>
      </p:sp>
      <p:pic>
        <p:nvPicPr>
          <p:cNvPr id="32" name="Image 5" descr="preencoded.png">    </p:cNvPr>
          <p:cNvPicPr>
            <a:picLocks noChangeAspect="1"/>
          </p:cNvPicPr>
          <p:nvPr/>
        </p:nvPicPr>
        <p:blipFill>
          <a:blip r:embed="rId6"/>
          <a:stretch>
            <a:fillRect/>
          </a:stretch>
        </p:blipFill>
        <p:spPr>
          <a:xfrm>
            <a:off x="6547104" y="5175504"/>
            <a:ext cx="256032" cy="256032"/>
          </a:xfrm>
          <a:prstGeom prst="rect">
            <a:avLst/>
          </a:prstGeom>
        </p:spPr>
      </p:pic>
      <p:sp>
        <p:nvSpPr>
          <p:cNvPr id="33" name="Text 25"/>
          <p:cNvSpPr/>
          <p:nvPr/>
        </p:nvSpPr>
        <p:spPr>
          <a:xfrm>
            <a:off x="7040880" y="5029200"/>
            <a:ext cx="4572000" cy="411480"/>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Changing WAF via the console</a:t>
            </a:r>
            <a:endParaRPr lang="en-US" sz="1200" dirty="0"/>
          </a:p>
        </p:txBody>
      </p:sp>
      <p:sp>
        <p:nvSpPr>
          <p:cNvPr id="34" name="Text 26"/>
          <p:cNvSpPr/>
          <p:nvPr/>
        </p:nvSpPr>
        <p:spPr>
          <a:xfrm>
            <a:off x="6446520" y="5532120"/>
            <a:ext cx="5029200" cy="777240"/>
          </a:xfrm>
          <a:prstGeom prst="rect">
            <a:avLst/>
          </a:prstGeom>
          <a:noFill/>
          <a:ln/>
        </p:spPr>
        <p:txBody>
          <a:bodyPr wrap="square" rtlCol="0" anchor="ctr"/>
          <a:lstStyle/>
          <a:p>
            <a:pPr indent="0" marL="0">
              <a:lnSpc>
                <a:spcPct val="120000"/>
              </a:lnSpc>
              <a:buNone/>
            </a:pPr>
            <a:r>
              <a:rPr lang="en-US" sz="1000" dirty="0">
                <a:solidFill>
                  <a:srgbClr val="94A3B8"/>
                </a:solidFill>
                <a:latin typeface="Calibri" pitchFamily="34" charset="0"/>
                <a:ea typeface="Calibri" pitchFamily="34" charset="-122"/>
                <a:cs typeface="Calibri" pitchFamily="34" charset="-120"/>
              </a:rPr>
              <a:t>Click-ops creates drift from Terraform state. Read from the console freely — but make changes only through IaC.</a:t>
            </a:r>
            <a:endParaRPr lang="en-US" sz="1000" dirty="0"/>
          </a:p>
        </p:txBody>
      </p:sp>
      <p:sp>
        <p:nvSpPr>
          <p:cNvPr id="35" name="Text 27"/>
          <p:cNvSpPr/>
          <p:nvPr/>
        </p:nvSpPr>
        <p:spPr>
          <a:xfrm>
            <a:off x="457200" y="6492240"/>
            <a:ext cx="64008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Lab 083  —  WAF Blocking Legitimate Traffic</a:t>
            </a:r>
            <a:endParaRPr lang="en-US" sz="1000" dirty="0"/>
          </a:p>
        </p:txBody>
      </p:sp>
      <p:sp>
        <p:nvSpPr>
          <p:cNvPr id="36" name="Text 28"/>
          <p:cNvSpPr/>
          <p:nvPr/>
        </p:nvSpPr>
        <p:spPr>
          <a:xfrm>
            <a:off x="11247120"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Key takeaways</a:t>
            </a:r>
            <a:endParaRPr lang="en-US" sz="2800" dirty="0"/>
          </a:p>
        </p:txBody>
      </p:sp>
      <p:sp>
        <p:nvSpPr>
          <p:cNvPr id="3" name="Text 1"/>
          <p:cNvSpPr/>
          <p:nvPr/>
        </p:nvSpPr>
        <p:spPr>
          <a:xfrm>
            <a:off x="457200" y="822960"/>
            <a:ext cx="11247120" cy="365760"/>
          </a:xfrm>
          <a:prstGeom prst="rect">
            <a:avLst/>
          </a:prstGeom>
          <a:noFill/>
          <a:ln/>
        </p:spPr>
        <p:txBody>
          <a:bodyPr wrap="square" rtlCol="0" anchor="ctr"/>
          <a:lstStyle/>
          <a:p>
            <a:pPr indent="0" marL="0">
              <a:buNone/>
            </a:pPr>
            <a:r>
              <a:rPr lang="en-US" sz="1400" dirty="0">
                <a:solidFill>
                  <a:srgbClr val="14B8A6"/>
                </a:solidFill>
                <a:latin typeface="Calibri" pitchFamily="34" charset="0"/>
                <a:ea typeface="Calibri" pitchFamily="34" charset="-122"/>
                <a:cs typeface="Calibri" pitchFamily="34" charset="-120"/>
              </a:rPr>
              <a:t>The patterns to carry into every WAF deployment</a:t>
            </a:r>
            <a:endParaRPr lang="en-US" sz="1400" dirty="0"/>
          </a:p>
        </p:txBody>
      </p:sp>
      <p:sp>
        <p:nvSpPr>
          <p:cNvPr id="4" name="Shape 2"/>
          <p:cNvSpPr/>
          <p:nvPr/>
        </p:nvSpPr>
        <p:spPr>
          <a:xfrm>
            <a:off x="457200" y="1234440"/>
            <a:ext cx="457200" cy="36576"/>
          </a:xfrm>
          <a:prstGeom prst="rect">
            <a:avLst/>
          </a:prstGeom>
          <a:solidFill>
            <a:srgbClr val="0D9488"/>
          </a:solidFill>
          <a:ln/>
        </p:spPr>
      </p:sp>
      <p:sp>
        <p:nvSpPr>
          <p:cNvPr id="5" name="Shape 3"/>
          <p:cNvSpPr/>
          <p:nvPr/>
        </p:nvSpPr>
        <p:spPr>
          <a:xfrm>
            <a:off x="457200" y="1645920"/>
            <a:ext cx="11247120" cy="685800"/>
          </a:xfrm>
          <a:prstGeom prst="roundRect">
            <a:avLst>
              <a:gd name="adj" fmla="val 10667"/>
            </a:avLst>
          </a:prstGeom>
          <a:solidFill>
            <a:srgbClr val="1A2744"/>
          </a:solidFill>
          <a:ln/>
        </p:spPr>
      </p:sp>
      <p:sp>
        <p:nvSpPr>
          <p:cNvPr id="6" name="Shape 4"/>
          <p:cNvSpPr/>
          <p:nvPr/>
        </p:nvSpPr>
        <p:spPr>
          <a:xfrm>
            <a:off x="640080" y="1737360"/>
            <a:ext cx="502920" cy="50292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750722" y="1848002"/>
            <a:ext cx="281635" cy="281635"/>
          </a:xfrm>
          <a:prstGeom prst="rect">
            <a:avLst/>
          </a:prstGeom>
        </p:spPr>
      </p:pic>
      <p:sp>
        <p:nvSpPr>
          <p:cNvPr id="8" name="Text 5"/>
          <p:cNvSpPr/>
          <p:nvPr/>
        </p:nvSpPr>
        <p:spPr>
          <a:xfrm>
            <a:off x="1371600" y="1645920"/>
            <a:ext cx="10149840" cy="6858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Rule priority decides everything. Allow trusted first, then block known bad, then rate limit, then geo.</a:t>
            </a:r>
            <a:endParaRPr lang="en-US" sz="1300" dirty="0"/>
          </a:p>
        </p:txBody>
      </p:sp>
      <p:sp>
        <p:nvSpPr>
          <p:cNvPr id="9" name="Shape 6"/>
          <p:cNvSpPr/>
          <p:nvPr/>
        </p:nvSpPr>
        <p:spPr>
          <a:xfrm>
            <a:off x="457200" y="2423160"/>
            <a:ext cx="11247120" cy="685800"/>
          </a:xfrm>
          <a:prstGeom prst="roundRect">
            <a:avLst>
              <a:gd name="adj" fmla="val 10667"/>
            </a:avLst>
          </a:prstGeom>
          <a:solidFill>
            <a:srgbClr val="1A2744"/>
          </a:solidFill>
          <a:ln/>
        </p:spPr>
      </p:sp>
      <p:sp>
        <p:nvSpPr>
          <p:cNvPr id="10" name="Shape 7"/>
          <p:cNvSpPr/>
          <p:nvPr/>
        </p:nvSpPr>
        <p:spPr>
          <a:xfrm>
            <a:off x="640080" y="2514600"/>
            <a:ext cx="502920" cy="502920"/>
          </a:xfrm>
          <a:prstGeom prst="ellipse">
            <a:avLst/>
          </a:prstGeom>
          <a:solidFill>
            <a:srgbClr val="0D9488"/>
          </a:solidFill>
          <a:ln/>
        </p:spPr>
      </p:sp>
      <p:pic>
        <p:nvPicPr>
          <p:cNvPr id="11" name="Image 1" descr="preencoded.png">    </p:cNvPr>
          <p:cNvPicPr>
            <a:picLocks noChangeAspect="1"/>
          </p:cNvPicPr>
          <p:nvPr/>
        </p:nvPicPr>
        <p:blipFill>
          <a:blip r:embed="rId2"/>
          <a:stretch>
            <a:fillRect/>
          </a:stretch>
        </p:blipFill>
        <p:spPr>
          <a:xfrm>
            <a:off x="750722" y="2625242"/>
            <a:ext cx="281635" cy="281635"/>
          </a:xfrm>
          <a:prstGeom prst="rect">
            <a:avLst/>
          </a:prstGeom>
        </p:spPr>
      </p:pic>
      <p:sp>
        <p:nvSpPr>
          <p:cNvPr id="12" name="Text 8"/>
          <p:cNvSpPr/>
          <p:nvPr/>
        </p:nvSpPr>
        <p:spPr>
          <a:xfrm>
            <a:off x="1371600" y="2423160"/>
            <a:ext cx="10149840" cy="6858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IP set name is a label. The action is on the RULE. Never mix trusted and malicious in one set.</a:t>
            </a:r>
            <a:endParaRPr lang="en-US" sz="1300" dirty="0"/>
          </a:p>
        </p:txBody>
      </p:sp>
      <p:sp>
        <p:nvSpPr>
          <p:cNvPr id="13" name="Shape 9"/>
          <p:cNvSpPr/>
          <p:nvPr/>
        </p:nvSpPr>
        <p:spPr>
          <a:xfrm>
            <a:off x="457200" y="3200400"/>
            <a:ext cx="11247120" cy="685800"/>
          </a:xfrm>
          <a:prstGeom prst="roundRect">
            <a:avLst>
              <a:gd name="adj" fmla="val 10667"/>
            </a:avLst>
          </a:prstGeom>
          <a:solidFill>
            <a:srgbClr val="1A2744"/>
          </a:solidFill>
          <a:ln/>
        </p:spPr>
      </p:sp>
      <p:sp>
        <p:nvSpPr>
          <p:cNvPr id="14" name="Shape 10"/>
          <p:cNvSpPr/>
          <p:nvPr/>
        </p:nvSpPr>
        <p:spPr>
          <a:xfrm>
            <a:off x="640080" y="3291840"/>
            <a:ext cx="502920" cy="502920"/>
          </a:xfrm>
          <a:prstGeom prst="ellipse">
            <a:avLst/>
          </a:prstGeom>
          <a:solidFill>
            <a:srgbClr val="0D9488"/>
          </a:solidFill>
          <a:ln/>
        </p:spPr>
      </p:sp>
      <p:pic>
        <p:nvPicPr>
          <p:cNvPr id="15" name="Image 2" descr="preencoded.png">    </p:cNvPr>
          <p:cNvPicPr>
            <a:picLocks noChangeAspect="1"/>
          </p:cNvPicPr>
          <p:nvPr/>
        </p:nvPicPr>
        <p:blipFill>
          <a:blip r:embed="rId3"/>
          <a:stretch>
            <a:fillRect/>
          </a:stretch>
        </p:blipFill>
        <p:spPr>
          <a:xfrm>
            <a:off x="750722" y="3402482"/>
            <a:ext cx="281635" cy="281635"/>
          </a:xfrm>
          <a:prstGeom prst="rect">
            <a:avLst/>
          </a:prstGeom>
        </p:spPr>
      </p:pic>
      <p:sp>
        <p:nvSpPr>
          <p:cNvPr id="16" name="Text 11"/>
          <p:cNvSpPr/>
          <p:nvPr/>
        </p:nvSpPr>
        <p:spPr>
          <a:xfrm>
            <a:off x="1371600" y="3200400"/>
            <a:ext cx="10149840" cy="6858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Rate limits come from measured data, not intuition. 100/5min fails; 2000/5min is a sensible starting point.</a:t>
            </a:r>
            <a:endParaRPr lang="en-US" sz="1300" dirty="0"/>
          </a:p>
        </p:txBody>
      </p:sp>
      <p:sp>
        <p:nvSpPr>
          <p:cNvPr id="17" name="Shape 12"/>
          <p:cNvSpPr/>
          <p:nvPr/>
        </p:nvSpPr>
        <p:spPr>
          <a:xfrm>
            <a:off x="457200" y="3977640"/>
            <a:ext cx="11247120" cy="685800"/>
          </a:xfrm>
          <a:prstGeom prst="roundRect">
            <a:avLst>
              <a:gd name="adj" fmla="val 10667"/>
            </a:avLst>
          </a:prstGeom>
          <a:solidFill>
            <a:srgbClr val="1A2744"/>
          </a:solidFill>
          <a:ln/>
        </p:spPr>
      </p:sp>
      <p:sp>
        <p:nvSpPr>
          <p:cNvPr id="18" name="Shape 13"/>
          <p:cNvSpPr/>
          <p:nvPr/>
        </p:nvSpPr>
        <p:spPr>
          <a:xfrm>
            <a:off x="640080" y="4069080"/>
            <a:ext cx="502920" cy="502920"/>
          </a:xfrm>
          <a:prstGeom prst="ellipse">
            <a:avLst/>
          </a:prstGeom>
          <a:solidFill>
            <a:srgbClr val="0D9488"/>
          </a:solidFill>
          <a:ln/>
        </p:spPr>
      </p:sp>
      <p:pic>
        <p:nvPicPr>
          <p:cNvPr id="19" name="Image 3" descr="preencoded.png">    </p:cNvPr>
          <p:cNvPicPr>
            <a:picLocks noChangeAspect="1"/>
          </p:cNvPicPr>
          <p:nvPr/>
        </p:nvPicPr>
        <p:blipFill>
          <a:blip r:embed="rId4"/>
          <a:stretch>
            <a:fillRect/>
          </a:stretch>
        </p:blipFill>
        <p:spPr>
          <a:xfrm>
            <a:off x="750722" y="4179722"/>
            <a:ext cx="281635" cy="281635"/>
          </a:xfrm>
          <a:prstGeom prst="rect">
            <a:avLst/>
          </a:prstGeom>
        </p:spPr>
      </p:pic>
      <p:sp>
        <p:nvSpPr>
          <p:cNvPr id="20" name="Text 14"/>
          <p:cNvSpPr/>
          <p:nvPr/>
        </p:nvSpPr>
        <p:spPr>
          <a:xfrm>
            <a:off x="1371600" y="3977640"/>
            <a:ext cx="10149840" cy="6858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Geo rules should fail closed. Use `not_statement` to allow only your markets, not to block specific countries.</a:t>
            </a:r>
            <a:endParaRPr lang="en-US" sz="1300" dirty="0"/>
          </a:p>
        </p:txBody>
      </p:sp>
      <p:sp>
        <p:nvSpPr>
          <p:cNvPr id="21" name="Shape 15"/>
          <p:cNvSpPr/>
          <p:nvPr/>
        </p:nvSpPr>
        <p:spPr>
          <a:xfrm>
            <a:off x="457200" y="4754880"/>
            <a:ext cx="11247120" cy="685800"/>
          </a:xfrm>
          <a:prstGeom prst="roundRect">
            <a:avLst>
              <a:gd name="adj" fmla="val 10667"/>
            </a:avLst>
          </a:prstGeom>
          <a:solidFill>
            <a:srgbClr val="1A2744"/>
          </a:solidFill>
          <a:ln/>
        </p:spPr>
      </p:sp>
      <p:sp>
        <p:nvSpPr>
          <p:cNvPr id="22" name="Shape 16"/>
          <p:cNvSpPr/>
          <p:nvPr/>
        </p:nvSpPr>
        <p:spPr>
          <a:xfrm>
            <a:off x="640080" y="4846320"/>
            <a:ext cx="502920" cy="502920"/>
          </a:xfrm>
          <a:prstGeom prst="ellipse">
            <a:avLst/>
          </a:prstGeom>
          <a:solidFill>
            <a:srgbClr val="0D9488"/>
          </a:solidFill>
          <a:ln/>
        </p:spPr>
      </p:sp>
      <p:pic>
        <p:nvPicPr>
          <p:cNvPr id="23" name="Image 4" descr="preencoded.png">    </p:cNvPr>
          <p:cNvPicPr>
            <a:picLocks noChangeAspect="1"/>
          </p:cNvPicPr>
          <p:nvPr/>
        </p:nvPicPr>
        <p:blipFill>
          <a:blip r:embed="rId5"/>
          <a:stretch>
            <a:fillRect/>
          </a:stretch>
        </p:blipFill>
        <p:spPr>
          <a:xfrm>
            <a:off x="750722" y="4956962"/>
            <a:ext cx="281635" cy="281635"/>
          </a:xfrm>
          <a:prstGeom prst="rect">
            <a:avLst/>
          </a:prstGeom>
        </p:spPr>
      </p:pic>
      <p:sp>
        <p:nvSpPr>
          <p:cNvPr id="24" name="Text 17"/>
          <p:cNvSpPr/>
          <p:nvPr/>
        </p:nvSpPr>
        <p:spPr>
          <a:xfrm>
            <a:off x="1371600" y="4754880"/>
            <a:ext cx="10149840" cy="6858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Observability is a prerequisite, not a nice-to-have. CloudWatch metrics, sampled requests, full logging if budget allows.</a:t>
            </a:r>
            <a:endParaRPr lang="en-US" sz="1300" dirty="0"/>
          </a:p>
        </p:txBody>
      </p:sp>
      <p:sp>
        <p:nvSpPr>
          <p:cNvPr id="25" name="Shape 18"/>
          <p:cNvSpPr/>
          <p:nvPr/>
        </p:nvSpPr>
        <p:spPr>
          <a:xfrm>
            <a:off x="457200" y="5532120"/>
            <a:ext cx="11247120" cy="685800"/>
          </a:xfrm>
          <a:prstGeom prst="roundRect">
            <a:avLst>
              <a:gd name="adj" fmla="val 10667"/>
            </a:avLst>
          </a:prstGeom>
          <a:solidFill>
            <a:srgbClr val="1A2744"/>
          </a:solidFill>
          <a:ln/>
        </p:spPr>
      </p:sp>
      <p:sp>
        <p:nvSpPr>
          <p:cNvPr id="26" name="Shape 19"/>
          <p:cNvSpPr/>
          <p:nvPr/>
        </p:nvSpPr>
        <p:spPr>
          <a:xfrm>
            <a:off x="640080" y="5623560"/>
            <a:ext cx="502920" cy="502920"/>
          </a:xfrm>
          <a:prstGeom prst="ellipse">
            <a:avLst/>
          </a:prstGeom>
          <a:solidFill>
            <a:srgbClr val="0D9488"/>
          </a:solidFill>
          <a:ln/>
        </p:spPr>
      </p:sp>
      <p:pic>
        <p:nvPicPr>
          <p:cNvPr id="27" name="Image 5" descr="preencoded.png">    </p:cNvPr>
          <p:cNvPicPr>
            <a:picLocks noChangeAspect="1"/>
          </p:cNvPicPr>
          <p:nvPr/>
        </p:nvPicPr>
        <p:blipFill>
          <a:blip r:embed="rId6"/>
          <a:stretch>
            <a:fillRect/>
          </a:stretch>
        </p:blipFill>
        <p:spPr>
          <a:xfrm>
            <a:off x="750722" y="5734202"/>
            <a:ext cx="281635" cy="281635"/>
          </a:xfrm>
          <a:prstGeom prst="rect">
            <a:avLst/>
          </a:prstGeom>
        </p:spPr>
      </p:pic>
      <p:sp>
        <p:nvSpPr>
          <p:cNvPr id="28" name="Text 20"/>
          <p:cNvSpPr/>
          <p:nvPr/>
        </p:nvSpPr>
        <p:spPr>
          <a:xfrm>
            <a:off x="1371600" y="5532120"/>
            <a:ext cx="10149840" cy="6858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Terraform's dependency graph has edge cases. Know the `-target` recovery pattern for stuck applies.</a:t>
            </a:r>
            <a:endParaRPr lang="en-US" sz="1300" dirty="0"/>
          </a:p>
        </p:txBody>
      </p:sp>
      <p:sp>
        <p:nvSpPr>
          <p:cNvPr id="29" name="Text 21"/>
          <p:cNvSpPr/>
          <p:nvPr/>
        </p:nvSpPr>
        <p:spPr>
          <a:xfrm>
            <a:off x="457200" y="6492240"/>
            <a:ext cx="64008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Lab 083  —  WAF Blocking Legitimate Traffic</a:t>
            </a:r>
            <a:endParaRPr lang="en-US" sz="1000" dirty="0"/>
          </a:p>
        </p:txBody>
      </p:sp>
      <p:sp>
        <p:nvSpPr>
          <p:cNvPr id="30" name="Text 22"/>
          <p:cNvSpPr/>
          <p:nvPr/>
        </p:nvSpPr>
        <p:spPr>
          <a:xfrm>
            <a:off x="11247120"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Cleanup — don't skip this</a:t>
            </a:r>
            <a:endParaRPr lang="en-US" sz="2800" dirty="0"/>
          </a:p>
        </p:txBody>
      </p:sp>
      <p:sp>
        <p:nvSpPr>
          <p:cNvPr id="3" name="Text 1"/>
          <p:cNvSpPr/>
          <p:nvPr/>
        </p:nvSpPr>
        <p:spPr>
          <a:xfrm>
            <a:off x="457200" y="822960"/>
            <a:ext cx="11247120" cy="365760"/>
          </a:xfrm>
          <a:prstGeom prst="rect">
            <a:avLst/>
          </a:prstGeom>
          <a:noFill/>
          <a:ln/>
        </p:spPr>
        <p:txBody>
          <a:bodyPr wrap="square" rtlCol="0" anchor="ctr"/>
          <a:lstStyle/>
          <a:p>
            <a:pPr indent="0" marL="0">
              <a:buNone/>
            </a:pPr>
            <a:r>
              <a:rPr lang="en-US" sz="1400" dirty="0">
                <a:solidFill>
                  <a:srgbClr val="14B8A6"/>
                </a:solidFill>
                <a:latin typeface="Calibri" pitchFamily="34" charset="0"/>
                <a:ea typeface="Calibri" pitchFamily="34" charset="-122"/>
                <a:cs typeface="Calibri" pitchFamily="34" charset="-120"/>
              </a:rPr>
              <a:t>WAF is billed hourly</a:t>
            </a:r>
            <a:endParaRPr lang="en-US" sz="1400" dirty="0"/>
          </a:p>
        </p:txBody>
      </p:sp>
      <p:sp>
        <p:nvSpPr>
          <p:cNvPr id="4" name="Shape 2"/>
          <p:cNvSpPr/>
          <p:nvPr/>
        </p:nvSpPr>
        <p:spPr>
          <a:xfrm>
            <a:off x="457200" y="1234440"/>
            <a:ext cx="457200" cy="36576"/>
          </a:xfrm>
          <a:prstGeom prst="rect">
            <a:avLst/>
          </a:prstGeom>
          <a:solidFill>
            <a:srgbClr val="0D9488"/>
          </a:solidFill>
          <a:ln/>
        </p:spPr>
      </p:sp>
      <p:sp>
        <p:nvSpPr>
          <p:cNvPr id="5" name="Shape 3"/>
          <p:cNvSpPr/>
          <p:nvPr/>
        </p:nvSpPr>
        <p:spPr>
          <a:xfrm>
            <a:off x="457200" y="1600200"/>
            <a:ext cx="11247120" cy="2103120"/>
          </a:xfrm>
          <a:prstGeom prst="roundRect">
            <a:avLst>
              <a:gd name="adj" fmla="val 3478"/>
            </a:avLst>
          </a:prstGeom>
          <a:solidFill>
            <a:srgbClr val="1A2744"/>
          </a:solidFill>
          <a:ln/>
        </p:spPr>
      </p:sp>
      <p:sp>
        <p:nvSpPr>
          <p:cNvPr id="6" name="Shape 4"/>
          <p:cNvSpPr/>
          <p:nvPr/>
        </p:nvSpPr>
        <p:spPr>
          <a:xfrm>
            <a:off x="685800" y="1828800"/>
            <a:ext cx="548640" cy="54864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806501" y="1949501"/>
            <a:ext cx="307238" cy="307238"/>
          </a:xfrm>
          <a:prstGeom prst="rect">
            <a:avLst/>
          </a:prstGeom>
        </p:spPr>
      </p:pic>
      <p:sp>
        <p:nvSpPr>
          <p:cNvPr id="8" name="Text 5"/>
          <p:cNvSpPr/>
          <p:nvPr/>
        </p:nvSpPr>
        <p:spPr>
          <a:xfrm>
            <a:off x="1371600" y="1874520"/>
            <a:ext cx="101498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Destroy all lab infrastructure</a:t>
            </a:r>
            <a:endParaRPr lang="en-US" sz="1500" dirty="0"/>
          </a:p>
        </p:txBody>
      </p:sp>
      <p:sp>
        <p:nvSpPr>
          <p:cNvPr id="9" name="Text 6"/>
          <p:cNvSpPr/>
          <p:nvPr/>
        </p:nvSpPr>
        <p:spPr>
          <a:xfrm>
            <a:off x="1371600" y="2377440"/>
            <a:ext cx="10149840" cy="457200"/>
          </a:xfrm>
          <a:prstGeom prst="rect">
            <a:avLst/>
          </a:prstGeom>
          <a:noFill/>
          <a:ln/>
        </p:spPr>
        <p:txBody>
          <a:bodyPr wrap="square" rtlCol="0" anchor="ctr"/>
          <a:lstStyle/>
          <a:p>
            <a:pPr indent="0" marL="0">
              <a:buNone/>
            </a:pPr>
            <a:r>
              <a:rPr lang="en-US" sz="1600" b="1" dirty="0">
                <a:solidFill>
                  <a:srgbClr val="14B8A6"/>
                </a:solidFill>
                <a:latin typeface="Courier New" pitchFamily="34" charset="0"/>
                <a:ea typeface="Courier New" pitchFamily="34" charset="-122"/>
                <a:cs typeface="Courier New" pitchFamily="34" charset="-120"/>
              </a:rPr>
              <a:t>terraform destroy</a:t>
            </a:r>
            <a:endParaRPr lang="en-US" sz="1600" dirty="0"/>
          </a:p>
        </p:txBody>
      </p:sp>
      <p:sp>
        <p:nvSpPr>
          <p:cNvPr id="10" name="Text 7"/>
          <p:cNvSpPr/>
          <p:nvPr/>
        </p:nvSpPr>
        <p:spPr>
          <a:xfrm>
            <a:off x="1371600" y="2926080"/>
            <a:ext cx="10149840" cy="731520"/>
          </a:xfrm>
          <a:prstGeom prst="rect">
            <a:avLst/>
          </a:prstGeom>
          <a:noFill/>
          <a:ln/>
        </p:spPr>
        <p:txBody>
          <a:bodyPr wrap="square" rtlCol="0" anchor="ctr"/>
          <a:lstStyle/>
          <a:p>
            <a:pPr indent="0" marL="0">
              <a:lnSpc>
                <a:spcPct val="120000"/>
              </a:lnSpc>
              <a:buNone/>
            </a:pPr>
            <a:r>
              <a:rPr lang="en-US" sz="1100" dirty="0">
                <a:solidFill>
                  <a:srgbClr val="94A3B8"/>
                </a:solidFill>
                <a:latin typeface="Calibri" pitchFamily="34" charset="0"/>
                <a:ea typeface="Calibri" pitchFamily="34" charset="-122"/>
                <a:cs typeface="Calibri" pitchFamily="34" charset="-120"/>
              </a:rPr>
              <a:t>Removes the Web ACL, both IP sets, and CloudWatch metric definitions. Takes ~30 seconds. The natural destroy order (Web ACL first, then IP sets) works cleanly because dependencies are unambiguous in teardown.</a:t>
            </a:r>
            <a:endParaRPr lang="en-US" sz="1100" dirty="0"/>
          </a:p>
        </p:txBody>
      </p:sp>
      <p:sp>
        <p:nvSpPr>
          <p:cNvPr id="11" name="Shape 8"/>
          <p:cNvSpPr/>
          <p:nvPr/>
        </p:nvSpPr>
        <p:spPr>
          <a:xfrm>
            <a:off x="457200" y="3886200"/>
            <a:ext cx="11247120" cy="2286000"/>
          </a:xfrm>
          <a:prstGeom prst="roundRect">
            <a:avLst>
              <a:gd name="adj" fmla="val 3200"/>
            </a:avLst>
          </a:prstGeom>
          <a:solidFill>
            <a:srgbClr val="1A2744"/>
          </a:solidFill>
          <a:ln/>
        </p:spPr>
      </p:sp>
      <p:sp>
        <p:nvSpPr>
          <p:cNvPr id="12" name="Shape 9"/>
          <p:cNvSpPr/>
          <p:nvPr/>
        </p:nvSpPr>
        <p:spPr>
          <a:xfrm>
            <a:off x="685800" y="4114800"/>
            <a:ext cx="548640" cy="548640"/>
          </a:xfrm>
          <a:prstGeom prst="ellipse">
            <a:avLst/>
          </a:prstGeom>
          <a:solidFill>
            <a:srgbClr val="0D9488"/>
          </a:solidFill>
          <a:ln/>
        </p:spPr>
      </p:sp>
      <p:pic>
        <p:nvPicPr>
          <p:cNvPr id="13" name="Image 1" descr="preencoded.png">    </p:cNvPr>
          <p:cNvPicPr>
            <a:picLocks noChangeAspect="1"/>
          </p:cNvPicPr>
          <p:nvPr/>
        </p:nvPicPr>
        <p:blipFill>
          <a:blip r:embed="rId2"/>
          <a:stretch>
            <a:fillRect/>
          </a:stretch>
        </p:blipFill>
        <p:spPr>
          <a:xfrm>
            <a:off x="806501" y="4235501"/>
            <a:ext cx="307238" cy="307238"/>
          </a:xfrm>
          <a:prstGeom prst="rect">
            <a:avLst/>
          </a:prstGeom>
        </p:spPr>
      </p:pic>
      <p:sp>
        <p:nvSpPr>
          <p:cNvPr id="14" name="Text 10"/>
          <p:cNvSpPr/>
          <p:nvPr/>
        </p:nvSpPr>
        <p:spPr>
          <a:xfrm>
            <a:off x="1371600" y="4114800"/>
            <a:ext cx="10149840" cy="365760"/>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To re-run the lab from scratch</a:t>
            </a:r>
            <a:endParaRPr lang="en-US" sz="1500" dirty="0"/>
          </a:p>
        </p:txBody>
      </p:sp>
      <p:sp>
        <p:nvSpPr>
          <p:cNvPr id="15" name="Text 11"/>
          <p:cNvSpPr/>
          <p:nvPr/>
        </p:nvSpPr>
        <p:spPr>
          <a:xfrm>
            <a:off x="1371600" y="4526280"/>
            <a:ext cx="10149840" cy="1645920"/>
          </a:xfrm>
          <a:prstGeom prst="rect">
            <a:avLst/>
          </a:prstGeom>
          <a:noFill/>
          <a:ln/>
        </p:spPr>
        <p:txBody>
          <a:bodyPr wrap="square" rtlCol="0" anchor="ctr"/>
          <a:lstStyle/>
          <a:p>
            <a:pPr indent="0" marL="0">
              <a:lnSpc>
                <a:spcPct val="120000"/>
              </a:lnSpc>
              <a:buNone/>
            </a:pPr>
            <a:r>
              <a:rPr lang="en-US" sz="1100" dirty="0">
                <a:solidFill>
                  <a:srgbClr val="FFFFFF"/>
                </a:solidFill>
                <a:latin typeface="Courier New" pitchFamily="34" charset="0"/>
                <a:ea typeface="Courier New" pitchFamily="34" charset="-122"/>
                <a:cs typeface="Courier New" pitchFamily="34" charset="-120"/>
              </a:rPr>
              <a:t>terraform destroy                  # tear down any existing infra</a:t>
            </a:r>
            <a:endParaRPr lang="en-US" sz="1100" dirty="0"/>
          </a:p>
          <a:p>
            <a:pPr indent="0" marL="0">
              <a:lnSpc>
                <a:spcPct val="120000"/>
              </a:lnSpc>
              <a:buNone/>
            </a:pPr>
            <a:r>
              <a:rPr lang="en-US" sz="1100" dirty="0">
                <a:solidFill>
                  <a:srgbClr val="FFFFFF"/>
                </a:solidFill>
                <a:latin typeface="Courier New" pitchFamily="34" charset="0"/>
                <a:ea typeface="Courier New" pitchFamily="34" charset="-122"/>
                <a:cs typeface="Courier New" pitchFamily="34" charset="-120"/>
              </a:rPr>
              <a:t>git checkout main.tf               # restore broken starting state</a:t>
            </a:r>
            <a:endParaRPr lang="en-US" sz="1100" dirty="0"/>
          </a:p>
          <a:p>
            <a:pPr indent="0" marL="0">
              <a:lnSpc>
                <a:spcPct val="120000"/>
              </a:lnSpc>
              <a:buNone/>
            </a:pPr>
            <a:r>
              <a:rPr lang="en-US" sz="1100" dirty="0">
                <a:solidFill>
                  <a:srgbClr val="FFFFFF"/>
                </a:solidFill>
                <a:latin typeface="Courier New" pitchFamily="34" charset="0"/>
                <a:ea typeface="Courier New" pitchFamily="34" charset="-122"/>
                <a:cs typeface="Courier New" pitchFamily="34" charset="-120"/>
              </a:rPr>
              <a:t>rm -rf .terraform terraform.tfstate*   # clear Terraform state</a:t>
            </a:r>
            <a:endParaRPr lang="en-US" sz="1100" dirty="0"/>
          </a:p>
          <a:p>
            <a:pPr indent="0" marL="0">
              <a:lnSpc>
                <a:spcPct val="120000"/>
              </a:lnSpc>
              <a:buNone/>
            </a:pPr>
            <a:r>
              <a:rPr lang="en-US" sz="1100" dirty="0">
                <a:solidFill>
                  <a:srgbClr val="FFFFFF"/>
                </a:solidFill>
                <a:latin typeface="Courier New" pitchFamily="34" charset="0"/>
                <a:ea typeface="Courier New" pitchFamily="34" charset="-122"/>
                <a:cs typeface="Courier New" pitchFamily="34" charset="-120"/>
              </a:rPr>
              <a:t>terraform init &amp;&amp; terraform apply  # start over with broken config</a:t>
            </a:r>
            <a:endParaRPr lang="en-US" sz="1100" dirty="0"/>
          </a:p>
        </p:txBody>
      </p:sp>
      <p:sp>
        <p:nvSpPr>
          <p:cNvPr id="16" name="Text 12"/>
          <p:cNvSpPr/>
          <p:nvPr/>
        </p:nvSpPr>
        <p:spPr>
          <a:xfrm>
            <a:off x="457200" y="6492240"/>
            <a:ext cx="64008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Lab 083  —  WAF Blocking Legitimate Traffic</a:t>
            </a:r>
            <a:endParaRPr lang="en-US" sz="1000" dirty="0"/>
          </a:p>
        </p:txBody>
      </p:sp>
      <p:sp>
        <p:nvSpPr>
          <p:cNvPr id="17" name="Text 13"/>
          <p:cNvSpPr/>
          <p:nvPr/>
        </p:nvSpPr>
        <p:spPr>
          <a:xfrm>
            <a:off x="11247120"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5641848" y="2194560"/>
            <a:ext cx="914400" cy="914400"/>
          </a:xfrm>
          <a:prstGeom prst="ellipse">
            <a:avLst/>
          </a:prstGeom>
          <a:solidFill>
            <a:srgbClr val="0D9488"/>
          </a:solidFill>
          <a:ln/>
        </p:spPr>
      </p:sp>
      <p:pic>
        <p:nvPicPr>
          <p:cNvPr id="3" name="Image 0" descr="preencoded.png">    </p:cNvPr>
          <p:cNvPicPr>
            <a:picLocks noChangeAspect="1"/>
          </p:cNvPicPr>
          <p:nvPr/>
        </p:nvPicPr>
        <p:blipFill>
          <a:blip r:embed="rId1"/>
          <a:stretch>
            <a:fillRect/>
          </a:stretch>
        </p:blipFill>
        <p:spPr>
          <a:xfrm>
            <a:off x="5843016" y="2395728"/>
            <a:ext cx="512064" cy="512064"/>
          </a:xfrm>
          <a:prstGeom prst="rect">
            <a:avLst/>
          </a:prstGeom>
        </p:spPr>
      </p:pic>
      <p:sp>
        <p:nvSpPr>
          <p:cNvPr id="4" name="Text 1"/>
          <p:cNvSpPr/>
          <p:nvPr/>
        </p:nvSpPr>
        <p:spPr>
          <a:xfrm>
            <a:off x="457200" y="3429000"/>
            <a:ext cx="11247120" cy="64008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Lab 083 complete</a:t>
            </a:r>
            <a:endParaRPr lang="en-US" sz="3600" dirty="0"/>
          </a:p>
        </p:txBody>
      </p:sp>
      <p:sp>
        <p:nvSpPr>
          <p:cNvPr id="5" name="Text 2"/>
          <p:cNvSpPr/>
          <p:nvPr/>
        </p:nvSpPr>
        <p:spPr>
          <a:xfrm>
            <a:off x="457200" y="4160520"/>
            <a:ext cx="11247120" cy="457200"/>
          </a:xfrm>
          <a:prstGeom prst="rect">
            <a:avLst/>
          </a:prstGeom>
          <a:noFill/>
          <a:ln/>
        </p:spPr>
        <p:txBody>
          <a:bodyPr wrap="square" rtlCol="0" anchor="ctr"/>
          <a:lstStyle/>
          <a:p>
            <a:pPr algn="ctr" indent="0" marL="0">
              <a:buNone/>
            </a:pPr>
            <a:r>
              <a:rPr lang="en-US" sz="1600" dirty="0">
                <a:solidFill>
                  <a:srgbClr val="14B8A6"/>
                </a:solidFill>
                <a:latin typeface="Calibri" pitchFamily="34" charset="0"/>
                <a:ea typeface="Calibri" pitchFamily="34" charset="-122"/>
                <a:cs typeface="Calibri" pitchFamily="34" charset="-120"/>
              </a:rPr>
              <a:t>WAF rules fixed.   Validation passed.   Infrastructure torn down.</a:t>
            </a:r>
            <a:endParaRPr lang="en-US" sz="1600" dirty="0"/>
          </a:p>
        </p:txBody>
      </p:sp>
      <p:sp>
        <p:nvSpPr>
          <p:cNvPr id="6" name="Shape 3"/>
          <p:cNvSpPr/>
          <p:nvPr/>
        </p:nvSpPr>
        <p:spPr>
          <a:xfrm>
            <a:off x="5184648" y="4754880"/>
            <a:ext cx="1828800" cy="36576"/>
          </a:xfrm>
          <a:prstGeom prst="rect">
            <a:avLst/>
          </a:prstGeom>
          <a:solidFill>
            <a:srgbClr val="0D9488"/>
          </a:solidFill>
          <a:ln/>
        </p:spPr>
      </p:sp>
      <p:sp>
        <p:nvSpPr>
          <p:cNvPr id="7" name="Text 4"/>
          <p:cNvSpPr/>
          <p:nvPr/>
        </p:nvSpPr>
        <p:spPr>
          <a:xfrm>
            <a:off x="457200" y="4892040"/>
            <a:ext cx="11247120" cy="365760"/>
          </a:xfrm>
          <a:prstGeom prst="rect">
            <a:avLst/>
          </a:prstGeom>
          <a:noFill/>
          <a:ln/>
        </p:spPr>
        <p:txBody>
          <a:bodyPr wrap="square" rtlCol="0" anchor="ctr"/>
          <a:lstStyle/>
          <a:p>
            <a:pPr algn="ctr" indent="0" marL="0">
              <a:buNone/>
            </a:pPr>
            <a:r>
              <a:rPr lang="en-US" sz="1400" i="1" dirty="0">
                <a:solidFill>
                  <a:srgbClr val="94A3B8"/>
                </a:solidFill>
                <a:latin typeface="Calibri" pitchFamily="34" charset="0"/>
                <a:ea typeface="Calibri" pitchFamily="34" charset="-122"/>
                <a:cs typeface="Calibri" pitchFamily="34" charset="-120"/>
              </a:rPr>
              <a:t>Cloud Engineer Labs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2026-04-21T07:17:57Z</dcterms:created>
  <dcterms:modified xsi:type="dcterms:W3CDTF">2026-04-21T07:17:57Z</dcterms:modified>
</cp:coreProperties>
</file>
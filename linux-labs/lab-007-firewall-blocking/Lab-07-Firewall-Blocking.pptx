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C2F3F"/>
          </a:solidFill>
          <a:ln/>
        </p:spPr>
      </p:sp>
      <p:sp>
        <p:nvSpPr>
          <p:cNvPr id="4" name="Shape 2"/>
          <p:cNvSpPr/>
          <p:nvPr/>
        </p:nvSpPr>
        <p:spPr>
          <a:xfrm>
            <a:off x="3767328" y="502920"/>
            <a:ext cx="1600200" cy="1600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13232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31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27432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Blocking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 •  Linux Networking  •  Security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— What You've Been Handed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868680"/>
            <a:ext cx="8631936" cy="1005840"/>
          </a:xfrm>
          <a:prstGeom prst="rect">
            <a:avLst>
              <a:gd name="adj" fmla="val 4545"/>
            </a:avLst>
          </a:prstGeom>
          <a:solidFill>
            <a:srgbClr val="1C2F3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The Ticket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 team is reporting that the web application and health check endpoint are unreachable. Deployments look healthy from their side. Can you investigate?"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" y="199339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know at this point?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" y="2377440"/>
            <a:ext cx="2788920" cy="914400"/>
          </a:xfrm>
          <a:prstGeom prst="rect">
            <a:avLst>
              <a:gd name="adj" fmla="val 5000"/>
            </a:avLst>
          </a:prstGeom>
          <a:solidFill>
            <a:srgbClr val="1C2F3F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895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running?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yet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82112" y="2377440"/>
            <a:ext cx="2788920" cy="914400"/>
          </a:xfrm>
          <a:prstGeom prst="rect">
            <a:avLst>
              <a:gd name="adj" fmla="val 5000"/>
            </a:avLst>
          </a:prstGeom>
          <a:solidFill>
            <a:srgbClr val="1C2F3F"/>
          </a:solidFill>
          <a:ln/>
        </p:spPr>
      </p:sp>
      <p:sp>
        <p:nvSpPr>
          <p:cNvPr id="17" name="Text 14"/>
          <p:cNvSpPr/>
          <p:nvPr/>
        </p:nvSpPr>
        <p:spPr>
          <a:xfrm>
            <a:off x="331927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68503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config issue?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85032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yet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08192" y="2377440"/>
            <a:ext cx="2788920" cy="914400"/>
          </a:xfrm>
          <a:prstGeom prst="rect">
            <a:avLst>
              <a:gd name="adj" fmla="val 5000"/>
            </a:avLst>
          </a:prstGeom>
          <a:solidFill>
            <a:srgbClr val="1C2F3F"/>
          </a:solidFill>
          <a:ln/>
        </p:spPr>
      </p:sp>
      <p:sp>
        <p:nvSpPr>
          <p:cNvPr id="21" name="Text 18"/>
          <p:cNvSpPr/>
          <p:nvPr/>
        </p:nvSpPr>
        <p:spPr>
          <a:xfrm>
            <a:off x="624535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1111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network/firewall blocking it?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11112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yet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56032" y="345643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work through the layers — systematically.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Pathway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96012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" y="996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868680"/>
            <a:ext cx="8065008" cy="713232"/>
          </a:xfrm>
          <a:prstGeom prst="rect">
            <a:avLst>
              <a:gd name="adj" fmla="val 6410"/>
            </a:avLst>
          </a:prstGeom>
          <a:solidFill>
            <a:srgbClr val="1C2F3F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923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running?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-tlnp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0" y="9235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process is alive and listening on 8080/8081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175564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5" name="Text 12"/>
          <p:cNvSpPr/>
          <p:nvPr/>
        </p:nvSpPr>
        <p:spPr>
          <a:xfrm>
            <a:off x="256032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1664208"/>
            <a:ext cx="8065008" cy="713232"/>
          </a:xfrm>
          <a:prstGeom prst="rect">
            <a:avLst>
              <a:gd name="adj" fmla="val 6410"/>
            </a:avLst>
          </a:prstGeom>
          <a:solidFill>
            <a:srgbClr val="1C2F3F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reach it?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--connect-timeout 2 ...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1719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block — curl will hang/timeout if firewall is DROP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6032" y="2551176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1" name="Text 18"/>
          <p:cNvSpPr/>
          <p:nvPr/>
        </p:nvSpPr>
        <p:spPr>
          <a:xfrm>
            <a:off x="256032" y="25877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" y="2459736"/>
            <a:ext cx="8065008" cy="713232"/>
          </a:xfrm>
          <a:prstGeom prst="rect">
            <a:avLst>
              <a:gd name="adj" fmla="val 6410"/>
            </a:avLst>
          </a:prstGeom>
          <a:solidFill>
            <a:srgbClr val="1C2F3F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firewall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2807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iptables -L INPUT -n --line-numbers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37760" y="2514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default policy and what rules exist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56032" y="334670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7" name="Text 24"/>
          <p:cNvSpPr/>
          <p:nvPr/>
        </p:nvSpPr>
        <p:spPr>
          <a:xfrm>
            <a:off x="256032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" y="3255264"/>
            <a:ext cx="8065008" cy="713232"/>
          </a:xfrm>
          <a:prstGeom prst="rect">
            <a:avLst>
              <a:gd name="adj" fmla="val 6410"/>
            </a:avLst>
          </a:prstGeom>
          <a:solidFill>
            <a:srgbClr val="1C2F3F"/>
          </a:solidFill>
          <a:ln/>
        </p:spPr>
      </p:sp>
      <p:sp>
        <p:nvSpPr>
          <p:cNvPr id="29" name="Text 26"/>
          <p:cNvSpPr/>
          <p:nvPr/>
        </p:nvSpPr>
        <p:spPr>
          <a:xfrm>
            <a:off x="9601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rules for 8080 &amp; 8081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01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iptables -A INPUT -p tcp --dport …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3776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targeted ACCEPT rule per port — nothing more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6032" y="4142232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33" name="Text 30"/>
          <p:cNvSpPr/>
          <p:nvPr/>
        </p:nvSpPr>
        <p:spPr>
          <a:xfrm>
            <a:off x="256032" y="41788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22960" y="4050792"/>
            <a:ext cx="8065008" cy="713232"/>
          </a:xfrm>
          <a:prstGeom prst="rect">
            <a:avLst>
              <a:gd name="adj" fmla="val 6410"/>
            </a:avLst>
          </a:prstGeom>
          <a:solidFill>
            <a:srgbClr val="1C2F3F"/>
          </a:solidFill>
          <a:ln/>
        </p:spPr>
      </p:sp>
      <p:sp>
        <p:nvSpPr>
          <p:cNvPr id="35" name="Text 32"/>
          <p:cNvSpPr/>
          <p:nvPr/>
        </p:nvSpPr>
        <p:spPr>
          <a:xfrm>
            <a:off x="960120" y="4105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test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60120" y="4398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iptables -L … then curl both ports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937760" y="41056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rules are in place, confirm apps respond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Understanding the Command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868680"/>
            <a:ext cx="8631936" cy="658368"/>
          </a:xfrm>
          <a:prstGeom prst="rect">
            <a:avLst>
              <a:gd name="adj" fmla="val 6944"/>
            </a:avLst>
          </a:prstGeom>
          <a:solidFill>
            <a:srgbClr val="1C2F3F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9326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iptables  -A INPUT  -p tcp  --dport 8080  -j ACCEPT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" y="1691640"/>
            <a:ext cx="2057400" cy="1097280"/>
          </a:xfrm>
          <a:prstGeom prst="rect">
            <a:avLst>
              <a:gd name="adj" fmla="val 4167"/>
            </a:avLst>
          </a:prstGeom>
          <a:solidFill>
            <a:srgbClr val="1C2F3F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17556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INPUT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rule to the INPUT 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(controls all incoming traffic)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32304" y="1691640"/>
            <a:ext cx="2057400" cy="1097280"/>
          </a:xfrm>
          <a:prstGeom prst="rect">
            <a:avLst>
              <a:gd name="adj" fmla="val 4167"/>
            </a:avLst>
          </a:prstGeom>
          <a:solidFill>
            <a:srgbClr val="1C2F3F"/>
          </a:solidFill>
          <a:ln/>
        </p:spPr>
      </p:sp>
      <p:sp>
        <p:nvSpPr>
          <p:cNvPr id="14" name="Text 11"/>
          <p:cNvSpPr/>
          <p:nvPr/>
        </p:nvSpPr>
        <p:spPr>
          <a:xfrm>
            <a:off x="2523744" y="17556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tcp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23744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TCP protocol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(required before specifying a port)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08576" y="1691640"/>
            <a:ext cx="2057400" cy="1097280"/>
          </a:xfrm>
          <a:prstGeom prst="rect">
            <a:avLst>
              <a:gd name="adj" fmla="val 4167"/>
            </a:avLst>
          </a:prstGeom>
          <a:solidFill>
            <a:srgbClr val="1C2F3F"/>
          </a:solidFill>
          <a:ln/>
        </p:spPr>
      </p:sp>
      <p:sp>
        <p:nvSpPr>
          <p:cNvPr id="17" name="Text 14"/>
          <p:cNvSpPr/>
          <p:nvPr/>
        </p:nvSpPr>
        <p:spPr>
          <a:xfrm>
            <a:off x="4700016" y="17556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--dport 8080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00016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traffic to destination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only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84848" y="1691640"/>
            <a:ext cx="2057400" cy="1097280"/>
          </a:xfrm>
          <a:prstGeom prst="rect">
            <a:avLst>
              <a:gd name="adj" fmla="val 4167"/>
            </a:avLst>
          </a:prstGeom>
          <a:solidFill>
            <a:srgbClr val="1C2F3F"/>
          </a:solidFill>
          <a:ln/>
        </p:spPr>
      </p:sp>
      <p:sp>
        <p:nvSpPr>
          <p:cNvPr id="20" name="Text 17"/>
          <p:cNvSpPr/>
          <p:nvPr/>
        </p:nvSpPr>
        <p:spPr>
          <a:xfrm>
            <a:off x="6876288" y="17556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-j ACCEPT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76288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ACCEPT — 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packet through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6032" y="2926080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set the default policy to ACCEPT?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6032" y="3246120"/>
            <a:ext cx="8631936" cy="777240"/>
          </a:xfrm>
          <a:prstGeom prst="rect">
            <a:avLst>
              <a:gd name="adj" fmla="val 5882"/>
            </a:avLst>
          </a:prstGeom>
          <a:solidFill>
            <a:srgbClr val="1C2F3F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33101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removes all firewall protection — everything gets through, not just your app ports. You'd be demolishing the fence to open one gate. Always add targeted rules. The DROP default is correct and intentional — work with it, not around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Uses Raw iptables in Production — So Why Learn It?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" y="896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engineers use instead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" y="1234440"/>
            <a:ext cx="4206240" cy="896112"/>
          </a:xfrm>
          <a:prstGeom prst="rect">
            <a:avLst>
              <a:gd name="adj" fmla="val 5102"/>
            </a:avLst>
          </a:prstGeom>
          <a:solidFill>
            <a:srgbClr val="1C2F3F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Cloud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15727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— rules sit outside the instance entirely. The host never knows they exist.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" y="2240280"/>
            <a:ext cx="4206240" cy="896112"/>
          </a:xfrm>
          <a:prstGeom prst="rect">
            <a:avLst>
              <a:gd name="adj" fmla="val 5102"/>
            </a:avLst>
          </a:prstGeom>
          <a:solidFill>
            <a:srgbClr val="1C2F3F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2304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" y="2578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 →  ufw allow 8080/tcp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line. Writes iptables rules under the hood.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" y="3246120"/>
            <a:ext cx="4206240" cy="896112"/>
          </a:xfrm>
          <a:prstGeom prst="rect">
            <a:avLst>
              <a:gd name="adj" fmla="val 5102"/>
            </a:avLst>
          </a:prstGeom>
          <a:solidFill>
            <a:srgbClr val="1C2F3F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/ CentOS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" y="35844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 →  firewall-cmd --add-port=8080/tcp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enterprise environments.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63440" y="896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learn raw iptables?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1234440"/>
            <a:ext cx="4206240" cy="2816352"/>
          </a:xfrm>
          <a:prstGeom prst="rect">
            <a:avLst>
              <a:gd name="adj" fmla="val 1623"/>
            </a:avLst>
          </a:prstGeom>
          <a:solidFill>
            <a:srgbClr val="1C2F3F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132588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those tools generate iptables rules underneath. When something goes wrong — a Security Group behaves unexpectedly, ufw does something surprising, a Kubernetes network policy blocks traffic — the engineer who can read iptables -L and understand what's actually happening is the one who resolves it.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is guessing.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same reason you learn subnetting before you use a CIDR calculator. You may never write raw iptables in production, but you'll understand what every higher-level tool is doing — and why they sometimes get it wrong.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896112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9" name="Shape 6"/>
          <p:cNvSpPr/>
          <p:nvPr/>
        </p:nvSpPr>
        <p:spPr>
          <a:xfrm>
            <a:off x="256032" y="896112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Text 7"/>
          <p:cNvSpPr/>
          <p:nvPr/>
        </p:nvSpPr>
        <p:spPr>
          <a:xfrm>
            <a:off x="420624" y="98755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DROP = Deny by Default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" y="1335024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through unless explicitly permitted. Correct and intentional — don't change it, add rules to it.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896112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896112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98755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processed top to bottom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28032" y="1335024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matching rule wins. If nothing matches, the default policy applies.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2194560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" y="2194560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" y="228600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first, firewall second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0624" y="2633472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ss -tlnp before touching iptables. A dead process is a different problem — firewall rules won't fix it.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2194560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21" name="Shape 18"/>
          <p:cNvSpPr/>
          <p:nvPr/>
        </p:nvSpPr>
        <p:spPr>
          <a:xfrm>
            <a:off x="4663440" y="2194560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19"/>
          <p:cNvSpPr/>
          <p:nvPr/>
        </p:nvSpPr>
        <p:spPr>
          <a:xfrm>
            <a:off x="4828032" y="228600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--connect-timeout is essential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28032" y="2633472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firewall doesn't send rejection responses — curl hangs forever without a timeout.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6032" y="3493008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25" name="Shape 22"/>
          <p:cNvSpPr/>
          <p:nvPr/>
        </p:nvSpPr>
        <p:spPr>
          <a:xfrm>
            <a:off x="256032" y="3493008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3"/>
          <p:cNvSpPr/>
          <p:nvPr/>
        </p:nvSpPr>
        <p:spPr>
          <a:xfrm>
            <a:off x="420624" y="358444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per port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20624" y="3931920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are explicit. Two services need two rules. No implicit sharing of policies.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3493008"/>
            <a:ext cx="4224528" cy="1170432"/>
          </a:xfrm>
          <a:prstGeom prst="rect">
            <a:avLst>
              <a:gd name="adj" fmla="val 3906"/>
            </a:avLst>
          </a:prstGeom>
          <a:solidFill>
            <a:srgbClr val="1C2F3F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3493008"/>
            <a:ext cx="54864" cy="117043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0" name="Text 27"/>
          <p:cNvSpPr/>
          <p:nvPr/>
        </p:nvSpPr>
        <p:spPr>
          <a:xfrm>
            <a:off x="4828032" y="358444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 lo and container networking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28032" y="3931920"/>
            <a:ext cx="3950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scoping works on real servers. Docker strips it silently — omit -i lo in container labs, apply it in real server work.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685800" cy="6858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64592"/>
            <a:ext cx="530352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749808"/>
            <a:ext cx="8631936" cy="27432"/>
          </a:xfrm>
          <a:prstGeom prst="rect">
            <a:avLst/>
          </a:prstGeom>
          <a:solidFill>
            <a:srgbClr val="0C7A85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•  Lab 07 — Firewall Blocking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058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896112"/>
            <a:ext cx="8065008" cy="868680"/>
          </a:xfrm>
          <a:prstGeom prst="rect">
            <a:avLst>
              <a:gd name="adj" fmla="val 5263"/>
            </a:avLst>
          </a:prstGeom>
          <a:solidFill>
            <a:srgbClr val="1C2F3F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96926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default policy to ACCEPT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128016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firewall protection. You've fixed the symptom by disabling the firewall entirely.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199339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1883664"/>
            <a:ext cx="8065008" cy="868680"/>
          </a:xfrm>
          <a:prstGeom prst="rect">
            <a:avLst>
              <a:gd name="adj" fmla="val 5263"/>
            </a:avLst>
          </a:prstGeom>
          <a:solidFill>
            <a:srgbClr val="1C2F3F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1956816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iptables -F (flush)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226771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every rule. Default policy stays DROP. You've locked out everything — including SSH. Catastrophic on a remote server.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298094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25603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2871216"/>
            <a:ext cx="8065008" cy="868680"/>
          </a:xfrm>
          <a:prstGeom prst="rect">
            <a:avLst>
              <a:gd name="adj" fmla="val 5263"/>
            </a:avLst>
          </a:prstGeom>
          <a:solidFill>
            <a:srgbClr val="1C2F3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294436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port 8081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25526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means two rules. Validation checks both. Don't assume one rule covers the whole app.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56032" y="39684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256032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3858768"/>
            <a:ext cx="8065008" cy="868680"/>
          </a:xfrm>
          <a:prstGeom prst="rect">
            <a:avLst>
              <a:gd name="adj" fmla="val 5263"/>
            </a:avLst>
          </a:prstGeom>
          <a:solidFill>
            <a:srgbClr val="1C2F3F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" y="3931920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ss -tlnp first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424281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 has crashed, firewall rules solve nothing. Always confirm the process is alive before touching iptables.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C2F3F"/>
          </a:solidFill>
          <a:ln/>
        </p:spPr>
      </p:sp>
      <p:sp>
        <p:nvSpPr>
          <p:cNvPr id="4" name="Shape 2"/>
          <p:cNvSpPr/>
          <p:nvPr/>
        </p:nvSpPr>
        <p:spPr>
          <a:xfrm>
            <a:off x="3767328" y="411480"/>
            <a:ext cx="1600200" cy="1600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21792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94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 Complete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63347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was silently dropping everything.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targeted rules. Problem solved. Security intact.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096512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4096512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DROP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4096512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rules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4480560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-tlnp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4480560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0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--connect-timeout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4480560"/>
            <a:ext cx="2560320" cy="292608"/>
          </a:xfrm>
          <a:prstGeom prst="rect">
            <a:avLst>
              <a:gd name="adj" fmla="val 15625"/>
            </a:avLst>
          </a:prstGeom>
          <a:solidFill>
            <a:srgbClr val="0C7A85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/ Security Groups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2026-03-26T07:51:32Z</dcterms:created>
  <dcterms:modified xsi:type="dcterms:W3CDTF">2026-03-26T07:51:32Z</dcterms:modified>
</cp:coreProperties>
</file>
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502920"/>
            <a:ext cx="1554480" cy="411480"/>
          </a:xfrm>
          <a:prstGeom prst="roundRect">
            <a:avLst>
              <a:gd name="adj" fmla="val 11111"/>
            </a:avLst>
          </a:prstGeom>
          <a:solidFill>
            <a:srgbClr val="0D9488"/>
          </a:solidFill>
          <a:ln w="12700">
            <a:solidFill>
              <a:srgbClr val="0D9488"/>
            </a:solidFill>
            <a:prstDash val="solid"/>
          </a:ln>
        </p:spPr>
      </p:sp>
      <p:sp>
        <p:nvSpPr>
          <p:cNvPr id="3" name="Text 1"/>
          <p:cNvSpPr/>
          <p:nvPr/>
        </p:nvSpPr>
        <p:spPr>
          <a:xfrm>
            <a:off x="548640" y="502920"/>
            <a:ext cx="1554480" cy="411480"/>
          </a:xfrm>
          <a:prstGeom prst="rect">
            <a:avLst/>
          </a:prstGeom>
          <a:noFill/>
          <a:ln/>
        </p:spPr>
        <p:txBody>
          <a:bodyPr wrap="square"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LAB 056</a:t>
            </a:r>
            <a:endParaRPr lang="en-US" sz="1400" dirty="0"/>
          </a:p>
        </p:txBody>
      </p:sp>
      <p:sp>
        <p:nvSpPr>
          <p:cNvPr id="4" name="Text 2"/>
          <p:cNvSpPr/>
          <p:nvPr/>
        </p:nvSpPr>
        <p:spPr>
          <a:xfrm>
            <a:off x="548640" y="1554480"/>
            <a:ext cx="11091672" cy="1280160"/>
          </a:xfrm>
          <a:prstGeom prst="rect">
            <a:avLst/>
          </a:prstGeom>
          <a:noFill/>
          <a:ln/>
        </p:spPr>
        <p:txBody>
          <a:bodyPr wrap="square" rtlCol="0" anchor="t"/>
          <a:lstStyle/>
          <a:p>
            <a:pPr algn="l" indent="0" marL="0">
              <a:buNone/>
            </a:pPr>
            <a:r>
              <a:rPr lang="en-US" sz="5600" b="1" dirty="0">
                <a:solidFill>
                  <a:srgbClr val="FFFFFF"/>
                </a:solidFill>
                <a:latin typeface="Calibri" pitchFamily="34" charset="0"/>
                <a:ea typeface="Calibri" pitchFamily="34" charset="-122"/>
                <a:cs typeface="Calibri" pitchFamily="34" charset="-120"/>
              </a:rPr>
              <a:t>Grafana Dashboard Broken</a:t>
            </a:r>
            <a:endParaRPr lang="en-US" sz="5600" dirty="0"/>
          </a:p>
        </p:txBody>
      </p:sp>
      <p:sp>
        <p:nvSpPr>
          <p:cNvPr id="5" name="Text 3"/>
          <p:cNvSpPr/>
          <p:nvPr/>
        </p:nvSpPr>
        <p:spPr>
          <a:xfrm>
            <a:off x="548640" y="2834640"/>
            <a:ext cx="11091672" cy="548640"/>
          </a:xfrm>
          <a:prstGeom prst="rect">
            <a:avLst/>
          </a:prstGeom>
          <a:noFill/>
          <a:ln/>
        </p:spPr>
        <p:txBody>
          <a:bodyPr wrap="square" rtlCol="0" anchor="ctr"/>
          <a:lstStyle/>
          <a:p>
            <a:pPr algn="l" indent="0" marL="0">
              <a:buNone/>
            </a:pPr>
            <a:r>
              <a:rPr lang="en-US" sz="2400" dirty="0">
                <a:solidFill>
                  <a:srgbClr val="14B8A6"/>
                </a:solidFill>
                <a:latin typeface="Calibri" pitchFamily="34" charset="0"/>
                <a:ea typeface="Calibri" pitchFamily="34" charset="-122"/>
                <a:cs typeface="Calibri" pitchFamily="34" charset="-120"/>
              </a:rPr>
              <a:t>Diagnosing a multi-layer monitoring failure</a:t>
            </a:r>
            <a:endParaRPr lang="en-US" sz="2400" dirty="0"/>
          </a:p>
        </p:txBody>
      </p:sp>
      <p:sp>
        <p:nvSpPr>
          <p:cNvPr id="6" name="Text 4"/>
          <p:cNvSpPr/>
          <p:nvPr/>
        </p:nvSpPr>
        <p:spPr>
          <a:xfrm>
            <a:off x="548640" y="3429000"/>
            <a:ext cx="11091672" cy="457200"/>
          </a:xfrm>
          <a:prstGeom prst="rect">
            <a:avLst/>
          </a:prstGeom>
          <a:noFill/>
          <a:ln/>
        </p:spPr>
        <p:txBody>
          <a:bodyPr wrap="square" rtlCol="0" anchor="ctr"/>
          <a:lstStyle/>
          <a:p>
            <a:pPr algn="l" indent="0" marL="0">
              <a:buNone/>
            </a:pPr>
            <a:r>
              <a:rPr lang="en-US" sz="1600" i="1" dirty="0">
                <a:solidFill>
                  <a:srgbClr val="94A3B8"/>
                </a:solidFill>
                <a:latin typeface="Calibri" pitchFamily="34" charset="0"/>
                <a:ea typeface="Calibri" pitchFamily="34" charset="-122"/>
                <a:cs typeface="Calibri" pitchFamily="34" charset="-120"/>
              </a:rPr>
              <a:t>Provisioning · Data sources · PromQL · Diagnostic technique</a:t>
            </a:r>
            <a:endParaRPr lang="en-US" sz="1600" dirty="0"/>
          </a:p>
        </p:txBody>
      </p:sp>
      <p:sp>
        <p:nvSpPr>
          <p:cNvPr id="7" name="Shape 5"/>
          <p:cNvSpPr/>
          <p:nvPr/>
        </p:nvSpPr>
        <p:spPr>
          <a:xfrm>
            <a:off x="562356" y="5212080"/>
            <a:ext cx="2103120" cy="914400"/>
          </a:xfrm>
          <a:prstGeom prst="roundRect">
            <a:avLst>
              <a:gd name="adj" fmla="val 8000"/>
            </a:avLst>
          </a:prstGeom>
          <a:solidFill>
            <a:srgbClr val="1A2744"/>
          </a:solidFill>
          <a:ln w="12700">
            <a:solidFill>
              <a:srgbClr val="1A2744"/>
            </a:solidFill>
            <a:prstDash val="solid"/>
          </a:ln>
        </p:spPr>
      </p:sp>
      <p:sp>
        <p:nvSpPr>
          <p:cNvPr id="8" name="Text 6"/>
          <p:cNvSpPr/>
          <p:nvPr/>
        </p:nvSpPr>
        <p:spPr>
          <a:xfrm>
            <a:off x="653796" y="5285232"/>
            <a:ext cx="1920240" cy="320040"/>
          </a:xfrm>
          <a:prstGeom prst="rect">
            <a:avLst/>
          </a:prstGeom>
          <a:noFill/>
          <a:ln/>
        </p:spPr>
        <p:txBody>
          <a:bodyPr wrap="square" rtlCol="0" anchor="ctr"/>
          <a:lstStyle/>
          <a:p>
            <a:pPr algn="l" indent="0" marL="0">
              <a:buNone/>
            </a:pPr>
            <a:r>
              <a:rPr lang="en-US" sz="1400" b="1" dirty="0">
                <a:solidFill>
                  <a:srgbClr val="14B8A6"/>
                </a:solidFill>
                <a:latin typeface="Calibri" pitchFamily="34" charset="0"/>
                <a:ea typeface="Calibri" pitchFamily="34" charset="-122"/>
                <a:cs typeface="Calibri" pitchFamily="34" charset="-120"/>
              </a:rPr>
              <a:t>Bug 6</a:t>
            </a:r>
            <a:endParaRPr lang="en-US" sz="1400" dirty="0"/>
          </a:p>
        </p:txBody>
      </p:sp>
      <p:sp>
        <p:nvSpPr>
          <p:cNvPr id="9" name="Text 7"/>
          <p:cNvSpPr/>
          <p:nvPr/>
        </p:nvSpPr>
        <p:spPr>
          <a:xfrm>
            <a:off x="653796" y="5605272"/>
            <a:ext cx="1920240" cy="50292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Provisioning JSON wrapper</a:t>
            </a:r>
            <a:endParaRPr lang="en-US" sz="1200" dirty="0"/>
          </a:p>
        </p:txBody>
      </p:sp>
      <p:sp>
        <p:nvSpPr>
          <p:cNvPr id="10" name="Shape 8"/>
          <p:cNvSpPr/>
          <p:nvPr/>
        </p:nvSpPr>
        <p:spPr>
          <a:xfrm>
            <a:off x="2802636" y="5212080"/>
            <a:ext cx="2103120" cy="914400"/>
          </a:xfrm>
          <a:prstGeom prst="roundRect">
            <a:avLst>
              <a:gd name="adj" fmla="val 8000"/>
            </a:avLst>
          </a:prstGeom>
          <a:solidFill>
            <a:srgbClr val="1A2744"/>
          </a:solidFill>
          <a:ln w="12700">
            <a:solidFill>
              <a:srgbClr val="1A2744"/>
            </a:solidFill>
            <a:prstDash val="solid"/>
          </a:ln>
        </p:spPr>
      </p:sp>
      <p:sp>
        <p:nvSpPr>
          <p:cNvPr id="11" name="Text 9"/>
          <p:cNvSpPr/>
          <p:nvPr/>
        </p:nvSpPr>
        <p:spPr>
          <a:xfrm>
            <a:off x="2894076" y="5285232"/>
            <a:ext cx="1920240" cy="320040"/>
          </a:xfrm>
          <a:prstGeom prst="rect">
            <a:avLst/>
          </a:prstGeom>
          <a:noFill/>
          <a:ln/>
        </p:spPr>
        <p:txBody>
          <a:bodyPr wrap="square" rtlCol="0" anchor="ctr"/>
          <a:lstStyle/>
          <a:p>
            <a:pPr algn="l" indent="0" marL="0">
              <a:buNone/>
            </a:pPr>
            <a:r>
              <a:rPr lang="en-US" sz="1400" b="1" dirty="0">
                <a:solidFill>
                  <a:srgbClr val="14B8A6"/>
                </a:solidFill>
                <a:latin typeface="Calibri" pitchFamily="34" charset="0"/>
                <a:ea typeface="Calibri" pitchFamily="34" charset="-122"/>
                <a:cs typeface="Calibri" pitchFamily="34" charset="-120"/>
              </a:rPr>
              <a:t>Bug 1</a:t>
            </a:r>
            <a:endParaRPr lang="en-US" sz="1400" dirty="0"/>
          </a:p>
        </p:txBody>
      </p:sp>
      <p:sp>
        <p:nvSpPr>
          <p:cNvPr id="12" name="Text 10"/>
          <p:cNvSpPr/>
          <p:nvPr/>
        </p:nvSpPr>
        <p:spPr>
          <a:xfrm>
            <a:off x="2894076" y="5605272"/>
            <a:ext cx="1920240" cy="50292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localhost vs service name</a:t>
            </a:r>
            <a:endParaRPr lang="en-US" sz="1200" dirty="0"/>
          </a:p>
        </p:txBody>
      </p:sp>
      <p:sp>
        <p:nvSpPr>
          <p:cNvPr id="13" name="Shape 11"/>
          <p:cNvSpPr/>
          <p:nvPr/>
        </p:nvSpPr>
        <p:spPr>
          <a:xfrm>
            <a:off x="5042916" y="5212080"/>
            <a:ext cx="2103120" cy="914400"/>
          </a:xfrm>
          <a:prstGeom prst="roundRect">
            <a:avLst>
              <a:gd name="adj" fmla="val 8000"/>
            </a:avLst>
          </a:prstGeom>
          <a:solidFill>
            <a:srgbClr val="1A2744"/>
          </a:solidFill>
          <a:ln w="12700">
            <a:solidFill>
              <a:srgbClr val="1A2744"/>
            </a:solidFill>
            <a:prstDash val="solid"/>
          </a:ln>
        </p:spPr>
      </p:sp>
      <p:sp>
        <p:nvSpPr>
          <p:cNvPr id="14" name="Text 12"/>
          <p:cNvSpPr/>
          <p:nvPr/>
        </p:nvSpPr>
        <p:spPr>
          <a:xfrm>
            <a:off x="5134356" y="5285232"/>
            <a:ext cx="1920240" cy="320040"/>
          </a:xfrm>
          <a:prstGeom prst="rect">
            <a:avLst/>
          </a:prstGeom>
          <a:noFill/>
          <a:ln/>
        </p:spPr>
        <p:txBody>
          <a:bodyPr wrap="square" rtlCol="0" anchor="ctr"/>
          <a:lstStyle/>
          <a:p>
            <a:pPr algn="l" indent="0" marL="0">
              <a:buNone/>
            </a:pPr>
            <a:r>
              <a:rPr lang="en-US" sz="1400" b="1" dirty="0">
                <a:solidFill>
                  <a:srgbClr val="14B8A6"/>
                </a:solidFill>
                <a:latin typeface="Calibri" pitchFamily="34" charset="0"/>
                <a:ea typeface="Calibri" pitchFamily="34" charset="-122"/>
                <a:cs typeface="Calibri" pitchFamily="34" charset="-120"/>
              </a:rPr>
              <a:t>Bug 2</a:t>
            </a:r>
            <a:endParaRPr lang="en-US" sz="1400" dirty="0"/>
          </a:p>
        </p:txBody>
      </p:sp>
      <p:sp>
        <p:nvSpPr>
          <p:cNvPr id="15" name="Text 13"/>
          <p:cNvSpPr/>
          <p:nvPr/>
        </p:nvSpPr>
        <p:spPr>
          <a:xfrm>
            <a:off x="5134356" y="5605272"/>
            <a:ext cx="1920240" cy="50292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rates() not a function</a:t>
            </a:r>
            <a:endParaRPr lang="en-US" sz="1200" dirty="0"/>
          </a:p>
        </p:txBody>
      </p:sp>
      <p:sp>
        <p:nvSpPr>
          <p:cNvPr id="16" name="Shape 14"/>
          <p:cNvSpPr/>
          <p:nvPr/>
        </p:nvSpPr>
        <p:spPr>
          <a:xfrm>
            <a:off x="7283196" y="5212080"/>
            <a:ext cx="2103120" cy="914400"/>
          </a:xfrm>
          <a:prstGeom prst="roundRect">
            <a:avLst>
              <a:gd name="adj" fmla="val 8000"/>
            </a:avLst>
          </a:prstGeom>
          <a:solidFill>
            <a:srgbClr val="1A2744"/>
          </a:solidFill>
          <a:ln w="12700">
            <a:solidFill>
              <a:srgbClr val="1A2744"/>
            </a:solidFill>
            <a:prstDash val="solid"/>
          </a:ln>
        </p:spPr>
      </p:sp>
      <p:sp>
        <p:nvSpPr>
          <p:cNvPr id="17" name="Text 15"/>
          <p:cNvSpPr/>
          <p:nvPr/>
        </p:nvSpPr>
        <p:spPr>
          <a:xfrm>
            <a:off x="7374636" y="5285232"/>
            <a:ext cx="1920240" cy="320040"/>
          </a:xfrm>
          <a:prstGeom prst="rect">
            <a:avLst/>
          </a:prstGeom>
          <a:noFill/>
          <a:ln/>
        </p:spPr>
        <p:txBody>
          <a:bodyPr wrap="square" rtlCol="0" anchor="ctr"/>
          <a:lstStyle/>
          <a:p>
            <a:pPr algn="l" indent="0" marL="0">
              <a:buNone/>
            </a:pPr>
            <a:r>
              <a:rPr lang="en-US" sz="1400" b="1" dirty="0">
                <a:solidFill>
                  <a:srgbClr val="14B8A6"/>
                </a:solidFill>
                <a:latin typeface="Calibri" pitchFamily="34" charset="0"/>
                <a:ea typeface="Calibri" pitchFamily="34" charset="-122"/>
                <a:cs typeface="Calibri" pitchFamily="34" charset="-120"/>
              </a:rPr>
              <a:t>Bug 4</a:t>
            </a:r>
            <a:endParaRPr lang="en-US" sz="1400" dirty="0"/>
          </a:p>
        </p:txBody>
      </p:sp>
      <p:sp>
        <p:nvSpPr>
          <p:cNvPr id="18" name="Text 16"/>
          <p:cNvSpPr/>
          <p:nvPr/>
        </p:nvSpPr>
        <p:spPr>
          <a:xfrm>
            <a:off x="7374636" y="5605272"/>
            <a:ext cx="1920240" cy="50292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histogram_quantile percentage</a:t>
            </a:r>
            <a:endParaRPr lang="en-US" sz="1200" dirty="0"/>
          </a:p>
        </p:txBody>
      </p:sp>
      <p:sp>
        <p:nvSpPr>
          <p:cNvPr id="19" name="Shape 17"/>
          <p:cNvSpPr/>
          <p:nvPr/>
        </p:nvSpPr>
        <p:spPr>
          <a:xfrm>
            <a:off x="9523476" y="5212080"/>
            <a:ext cx="2103120" cy="914400"/>
          </a:xfrm>
          <a:prstGeom prst="roundRect">
            <a:avLst>
              <a:gd name="adj" fmla="val 8000"/>
            </a:avLst>
          </a:prstGeom>
          <a:solidFill>
            <a:srgbClr val="1A2744"/>
          </a:solidFill>
          <a:ln w="12700">
            <a:solidFill>
              <a:srgbClr val="1A2744"/>
            </a:solidFill>
            <a:prstDash val="solid"/>
          </a:ln>
        </p:spPr>
      </p:sp>
      <p:sp>
        <p:nvSpPr>
          <p:cNvPr id="20" name="Text 18"/>
          <p:cNvSpPr/>
          <p:nvPr/>
        </p:nvSpPr>
        <p:spPr>
          <a:xfrm>
            <a:off x="9614916" y="5285232"/>
            <a:ext cx="1920240" cy="320040"/>
          </a:xfrm>
          <a:prstGeom prst="rect">
            <a:avLst/>
          </a:prstGeom>
          <a:noFill/>
          <a:ln/>
        </p:spPr>
        <p:txBody>
          <a:bodyPr wrap="square" rtlCol="0" anchor="ctr"/>
          <a:lstStyle/>
          <a:p>
            <a:pPr algn="l" indent="0" marL="0">
              <a:buNone/>
            </a:pPr>
            <a:r>
              <a:rPr lang="en-US" sz="1400" b="1" dirty="0">
                <a:solidFill>
                  <a:srgbClr val="14B8A6"/>
                </a:solidFill>
                <a:latin typeface="Calibri" pitchFamily="34" charset="0"/>
                <a:ea typeface="Calibri" pitchFamily="34" charset="-122"/>
                <a:cs typeface="Calibri" pitchFamily="34" charset="-120"/>
              </a:rPr>
              <a:t>Bug 5</a:t>
            </a:r>
            <a:endParaRPr lang="en-US" sz="1400" dirty="0"/>
          </a:p>
        </p:txBody>
      </p:sp>
      <p:sp>
        <p:nvSpPr>
          <p:cNvPr id="21" name="Text 19"/>
          <p:cNvSpPr/>
          <p:nvPr/>
        </p:nvSpPr>
        <p:spPr>
          <a:xfrm>
            <a:off x="9614916" y="5605272"/>
            <a:ext cx="1920240" cy="50292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metric name typo</a:t>
            </a:r>
            <a:endParaRPr lang="en-US" sz="1200" dirty="0"/>
          </a:p>
        </p:txBody>
      </p:sp>
      <p:sp>
        <p:nvSpPr>
          <p:cNvPr id="22" name="Text 20"/>
          <p:cNvSpPr/>
          <p:nvPr/>
        </p:nvSpPr>
        <p:spPr>
          <a:xfrm>
            <a:off x="548640" y="6492240"/>
            <a:ext cx="11091672"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Cloud Engineer Labs · Monitoring Track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Ticket</a:t>
            </a:r>
            <a:endParaRPr lang="en-US" sz="3200" dirty="0"/>
          </a:p>
        </p:txBody>
      </p:sp>
      <p:sp>
        <p:nvSpPr>
          <p:cNvPr id="3" name="Shape 1"/>
          <p:cNvSpPr/>
          <p:nvPr/>
        </p:nvSpPr>
        <p:spPr>
          <a:xfrm>
            <a:off x="548640" y="1280160"/>
            <a:ext cx="11091672" cy="5120640"/>
          </a:xfrm>
          <a:prstGeom prst="roundRect">
            <a:avLst>
              <a:gd name="adj" fmla="val 1429"/>
            </a:avLst>
          </a:prstGeom>
          <a:solidFill>
            <a:srgbClr val="1A2744"/>
          </a:solidFill>
          <a:ln w="12700">
            <a:solidFill>
              <a:srgbClr val="1A2744"/>
            </a:solidFill>
            <a:prstDash val="solid"/>
          </a:ln>
        </p:spPr>
      </p:sp>
      <p:sp>
        <p:nvSpPr>
          <p:cNvPr id="4" name="Text 2"/>
          <p:cNvSpPr/>
          <p:nvPr/>
        </p:nvSpPr>
        <p:spPr>
          <a:xfrm>
            <a:off x="822960" y="1508760"/>
            <a:ext cx="3657600" cy="365760"/>
          </a:xfrm>
          <a:prstGeom prst="rect">
            <a:avLst/>
          </a:prstGeom>
          <a:noFill/>
          <a:ln/>
        </p:spPr>
        <p:txBody>
          <a:bodyPr wrap="square" rtlCol="0" anchor="ctr"/>
          <a:lstStyle/>
          <a:p>
            <a:pPr indent="0" marL="0">
              <a:buNone/>
            </a:pPr>
            <a:r>
              <a:rPr lang="en-US" sz="1600" b="1" dirty="0">
                <a:solidFill>
                  <a:srgbClr val="14B8A6"/>
                </a:solidFill>
                <a:latin typeface="Consolas" pitchFamily="34" charset="0"/>
                <a:ea typeface="Consolas" pitchFamily="34" charset="-122"/>
                <a:cs typeface="Consolas" pitchFamily="34" charset="-120"/>
              </a:rPr>
              <a:t>INCIDENT-MON-007</a:t>
            </a:r>
            <a:endParaRPr lang="en-US" sz="1600" dirty="0"/>
          </a:p>
        </p:txBody>
      </p:sp>
      <p:sp>
        <p:nvSpPr>
          <p:cNvPr id="5" name="Text 3"/>
          <p:cNvSpPr/>
          <p:nvPr/>
        </p:nvSpPr>
        <p:spPr>
          <a:xfrm>
            <a:off x="4572000" y="1508760"/>
            <a:ext cx="2286000" cy="365760"/>
          </a:xfrm>
          <a:prstGeom prst="rect">
            <a:avLst/>
          </a:prstGeom>
          <a:noFill/>
          <a:ln/>
        </p:spPr>
        <p:txBody>
          <a:bodyPr wrap="square" rtlCol="0" anchor="ctr"/>
          <a:lstStyle/>
          <a:p>
            <a:pPr indent="0" marL="0">
              <a:buNone/>
            </a:pPr>
            <a:r>
              <a:rPr lang="en-US" sz="1400" dirty="0">
                <a:solidFill>
                  <a:srgbClr val="F59E0B"/>
                </a:solidFill>
                <a:latin typeface="Calibri" pitchFamily="34" charset="0"/>
                <a:ea typeface="Calibri" pitchFamily="34" charset="-122"/>
                <a:cs typeface="Calibri" pitchFamily="34" charset="-120"/>
              </a:rPr>
              <a:t>Priority: P3</a:t>
            </a:r>
            <a:endParaRPr lang="en-US" sz="1400" dirty="0"/>
          </a:p>
        </p:txBody>
      </p:sp>
      <p:sp>
        <p:nvSpPr>
          <p:cNvPr id="6" name="Text 4"/>
          <p:cNvSpPr/>
          <p:nvPr/>
        </p:nvSpPr>
        <p:spPr>
          <a:xfrm>
            <a:off x="9144000" y="1508760"/>
            <a:ext cx="2286000" cy="365760"/>
          </a:xfrm>
          <a:prstGeom prst="rect">
            <a:avLst/>
          </a:prstGeom>
          <a:noFill/>
          <a:ln/>
        </p:spPr>
        <p:txBody>
          <a:bodyPr wrap="square" rtlCol="0" anchor="ctr"/>
          <a:lstStyle/>
          <a:p>
            <a:pPr algn="r" indent="0" marL="0">
              <a:buNone/>
            </a:pPr>
            <a:r>
              <a:rPr lang="en-US" sz="1400" dirty="0">
                <a:solidFill>
                  <a:srgbClr val="94A3B8"/>
                </a:solidFill>
                <a:latin typeface="Calibri" pitchFamily="34" charset="0"/>
                <a:ea typeface="Calibri" pitchFamily="34" charset="-122"/>
                <a:cs typeface="Calibri" pitchFamily="34" charset="-120"/>
              </a:rPr>
              <a:t>Assigned: You</a:t>
            </a:r>
            <a:endParaRPr lang="en-US" sz="1400" dirty="0"/>
          </a:p>
        </p:txBody>
      </p:sp>
      <p:sp>
        <p:nvSpPr>
          <p:cNvPr id="7" name="Text 5"/>
          <p:cNvSpPr/>
          <p:nvPr/>
        </p:nvSpPr>
        <p:spPr>
          <a:xfrm>
            <a:off x="822960" y="2103120"/>
            <a:ext cx="10515600" cy="3291840"/>
          </a:xfrm>
          <a:prstGeom prst="rect">
            <a:avLst/>
          </a:prstGeom>
          <a:noFill/>
          <a:ln/>
        </p:spPr>
        <p:txBody>
          <a:bodyPr wrap="square" rtlCol="0" anchor="t"/>
          <a:lstStyle/>
          <a:p>
            <a:pPr algn="l" indent="0" marL="0">
              <a:spcAft>
                <a:spcPts val="800"/>
              </a:spcAft>
              <a:buNone/>
            </a:pPr>
            <a:r>
              <a:rPr lang="en-US" sz="1500" dirty="0">
                <a:solidFill>
                  <a:srgbClr val="FFFFFF"/>
                </a:solidFill>
                <a:latin typeface="Calibri" pitchFamily="34" charset="0"/>
                <a:ea typeface="Calibri" pitchFamily="34" charset="-122"/>
                <a:cs typeface="Calibri" pitchFamily="34" charset="-120"/>
              </a:rPr>
              <a:t>The new Application Dashboard deployment finished overnight. Grafana is up and the dashboard is meant to be provisioned, but the product team is reporting that nothing's appearing on the screen as expected.</a:t>
            </a:r>
            <a:endParaRPr lang="en-US" sz="1500" dirty="0"/>
          </a:p>
          <a:p>
            <a:pPr algn="l" indent="0" marL="0">
              <a:spcAft>
                <a:spcPts val="800"/>
              </a:spcAft>
              <a:buNone/>
            </a:pPr>
            <a:endParaRPr lang="en-US" sz="1500" dirty="0"/>
          </a:p>
          <a:p>
            <a:pPr algn="l" indent="0" marL="0">
              <a:spcAft>
                <a:spcPts val="800"/>
              </a:spcAft>
              <a:buNone/>
            </a:pPr>
            <a:r>
              <a:rPr lang="en-US" sz="1500" dirty="0">
                <a:solidFill>
                  <a:srgbClr val="FFFFFF"/>
                </a:solidFill>
                <a:latin typeface="Calibri" pitchFamily="34" charset="0"/>
                <a:ea typeface="Calibri" pitchFamily="34" charset="-122"/>
                <a:cs typeface="Calibri" pitchFamily="34" charset="-120"/>
              </a:rPr>
              <a:t>Prometheus appears to be collecting metrics fine — the SRE team confirmed the app is exposing /metrics and Prometheus is scraping it.</a:t>
            </a:r>
            <a:endParaRPr lang="en-US" sz="1500" dirty="0"/>
          </a:p>
          <a:p>
            <a:pPr algn="l" indent="0" marL="0">
              <a:spcAft>
                <a:spcPts val="800"/>
              </a:spcAft>
              <a:buNone/>
            </a:pPr>
            <a:endParaRPr lang="en-US" sz="1500" dirty="0"/>
          </a:p>
          <a:p>
            <a:pPr algn="l" indent="0" marL="0">
              <a:spcAft>
                <a:spcPts val="800"/>
              </a:spcAft>
              <a:buNone/>
            </a:pPr>
            <a:r>
              <a:rPr lang="en-US" sz="1500" dirty="0">
                <a:solidFill>
                  <a:srgbClr val="FFFFFF"/>
                </a:solidFill>
                <a:latin typeface="Calibri" pitchFamily="34" charset="0"/>
                <a:ea typeface="Calibri" pitchFamily="34" charset="-122"/>
                <a:cs typeface="Calibri" pitchFamily="34" charset="-120"/>
              </a:rPr>
              <a:t>Something between Prometheus and Grafana — or in the dashboard itself — is broken. Please investigate and resolve. The dashboard needs to be functional before the product review on Friday.</a:t>
            </a:r>
            <a:endParaRPr lang="en-US" sz="1500" dirty="0"/>
          </a:p>
          <a:p>
            <a:pPr algn="l" indent="0" marL="0">
              <a:spcAft>
                <a:spcPts val="800"/>
              </a:spcAft>
              <a:buNone/>
            </a:pPr>
            <a:endParaRPr lang="en-US" sz="1500" dirty="0"/>
          </a:p>
          <a:p>
            <a:pPr algn="l" indent="0" marL="0">
              <a:spcAft>
                <a:spcPts val="800"/>
              </a:spcAft>
              <a:buNone/>
            </a:pPr>
            <a:r>
              <a:rPr lang="en-US" sz="1500" dirty="0">
                <a:solidFill>
                  <a:srgbClr val="FFFFFF"/>
                </a:solidFill>
                <a:latin typeface="Calibri" pitchFamily="34" charset="0"/>
                <a:ea typeface="Calibri" pitchFamily="34" charset="-122"/>
                <a:cs typeface="Calibri" pitchFamily="34" charset="-120"/>
              </a:rPr>
              <a:t>Stack: Grafana, Prometheus, and the application all run in Docker Compose.</a:t>
            </a:r>
            <a:endParaRPr lang="en-US" sz="1500" dirty="0"/>
          </a:p>
        </p:txBody>
      </p:sp>
      <p:sp>
        <p:nvSpPr>
          <p:cNvPr id="8" name="Shape 6"/>
          <p:cNvSpPr/>
          <p:nvPr/>
        </p:nvSpPr>
        <p:spPr>
          <a:xfrm>
            <a:off x="822960" y="5532120"/>
            <a:ext cx="10515600" cy="731520"/>
          </a:xfrm>
          <a:prstGeom prst="roundRect">
            <a:avLst>
              <a:gd name="adj" fmla="val 10000"/>
            </a:avLst>
          </a:prstGeom>
          <a:solidFill>
            <a:srgbClr val="1A2744"/>
          </a:solidFill>
          <a:ln w="12700">
            <a:solidFill>
              <a:srgbClr val="1A2744"/>
            </a:solidFill>
            <a:prstDash val="solid"/>
          </a:ln>
        </p:spPr>
      </p:sp>
      <p:sp>
        <p:nvSpPr>
          <p:cNvPr id="9" name="Text 7"/>
          <p:cNvSpPr/>
          <p:nvPr/>
        </p:nvSpPr>
        <p:spPr>
          <a:xfrm>
            <a:off x="1005840" y="5532120"/>
            <a:ext cx="10149840" cy="731520"/>
          </a:xfrm>
          <a:prstGeom prst="rect">
            <a:avLst/>
          </a:prstGeom>
          <a:noFill/>
          <a:ln/>
        </p:spPr>
        <p:txBody>
          <a:bodyPr wrap="square" rtlCol="0" anchor="ctr"/>
          <a:lstStyle/>
          <a:p>
            <a:pPr algn="l" indent="0" marL="0">
              <a:buNone/>
            </a:pPr>
            <a:r>
              <a:rPr lang="en-US" sz="1400" i="1" dirty="0">
                <a:solidFill>
                  <a:srgbClr val="14B8A6"/>
                </a:solidFill>
                <a:latin typeface="Calibri" pitchFamily="34" charset="0"/>
                <a:ea typeface="Calibri" pitchFamily="34" charset="-122"/>
                <a:cs typeface="Calibri" pitchFamily="34" charset="-120"/>
              </a:rPr>
              <a:t>You were not told what is wrong. You were told to make it work. That's what diagnostic engineering looks like.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What is Grafana?</a:t>
            </a:r>
            <a:endParaRPr lang="en-US" sz="3200" dirty="0"/>
          </a:p>
        </p:txBody>
      </p:sp>
      <p:sp>
        <p:nvSpPr>
          <p:cNvPr id="3" name="Text 1"/>
          <p:cNvSpPr/>
          <p:nvPr/>
        </p:nvSpPr>
        <p:spPr>
          <a:xfrm>
            <a:off x="548640" y="1188720"/>
            <a:ext cx="11091672" cy="640080"/>
          </a:xfrm>
          <a:prstGeom prst="rect">
            <a:avLst/>
          </a:prstGeom>
          <a:noFill/>
          <a:ln/>
        </p:spPr>
        <p:txBody>
          <a:bodyPr wrap="square" rtlCol="0" anchor="ctr"/>
          <a:lstStyle/>
          <a:p>
            <a:pPr algn="l" indent="0" marL="0">
              <a:buNone/>
            </a:pPr>
            <a:r>
              <a:rPr lang="en-US" sz="2800" b="1" dirty="0">
                <a:solidFill>
                  <a:srgbClr val="14B8A6"/>
                </a:solidFill>
                <a:latin typeface="Calibri" pitchFamily="34" charset="0"/>
                <a:ea typeface="Calibri" pitchFamily="34" charset="-122"/>
                <a:cs typeface="Calibri" pitchFamily="34" charset="-120"/>
              </a:rPr>
              <a:t>Grafana is a window, not a warehouse.</a:t>
            </a:r>
            <a:endParaRPr lang="en-US" sz="2800" dirty="0"/>
          </a:p>
        </p:txBody>
      </p:sp>
      <p:sp>
        <p:nvSpPr>
          <p:cNvPr id="4" name="Text 2"/>
          <p:cNvSpPr/>
          <p:nvPr/>
        </p:nvSpPr>
        <p:spPr>
          <a:xfrm>
            <a:off x="548640" y="1874520"/>
            <a:ext cx="11091672" cy="822960"/>
          </a:xfrm>
          <a:prstGeom prst="rect">
            <a:avLst/>
          </a:prstGeom>
          <a:noFill/>
          <a:ln/>
        </p:spPr>
        <p:txBody>
          <a:bodyPr wrap="square"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It draws the data. It does not collect, store, or compute it. When you look at a Grafana dashboard, you are looking through a window at one or more data sources that hold the actual numbers.</a:t>
            </a:r>
            <a:endParaRPr lang="en-US" sz="1600" dirty="0"/>
          </a:p>
        </p:txBody>
      </p:sp>
      <p:sp>
        <p:nvSpPr>
          <p:cNvPr id="5" name="Shape 3"/>
          <p:cNvSpPr/>
          <p:nvPr/>
        </p:nvSpPr>
        <p:spPr>
          <a:xfrm>
            <a:off x="548640" y="2926080"/>
            <a:ext cx="5440680" cy="3383280"/>
          </a:xfrm>
          <a:prstGeom prst="roundRect">
            <a:avLst>
              <a:gd name="adj" fmla="val 2162"/>
            </a:avLst>
          </a:prstGeom>
          <a:solidFill>
            <a:srgbClr val="1A2744"/>
          </a:solidFill>
          <a:ln w="12700">
            <a:solidFill>
              <a:srgbClr val="1A2744"/>
            </a:solidFill>
            <a:prstDash val="solid"/>
          </a:ln>
        </p:spPr>
      </p:sp>
      <p:sp>
        <p:nvSpPr>
          <p:cNvPr id="6" name="Shape 4"/>
          <p:cNvSpPr/>
          <p:nvPr/>
        </p:nvSpPr>
        <p:spPr>
          <a:xfrm>
            <a:off x="6199632" y="2926080"/>
            <a:ext cx="5440680" cy="3383280"/>
          </a:xfrm>
          <a:prstGeom prst="roundRect">
            <a:avLst>
              <a:gd name="adj" fmla="val 2162"/>
            </a:avLst>
          </a:prstGeom>
          <a:solidFill>
            <a:srgbClr val="1A2744"/>
          </a:solidFill>
          <a:ln w="12700">
            <a:solidFill>
              <a:srgbClr val="1A2744"/>
            </a:solidFill>
            <a:prstDash val="solid"/>
          </a:ln>
        </p:spPr>
      </p:sp>
      <p:sp>
        <p:nvSpPr>
          <p:cNvPr id="7" name="Shape 5"/>
          <p:cNvSpPr/>
          <p:nvPr/>
        </p:nvSpPr>
        <p:spPr>
          <a:xfrm>
            <a:off x="777240" y="3108960"/>
            <a:ext cx="502920" cy="502920"/>
          </a:xfrm>
          <a:prstGeom prst="ellipse">
            <a:avLst/>
          </a:prstGeom>
          <a:solidFill>
            <a:srgbClr val="0D9488"/>
          </a:solidFill>
          <a:ln w="12700">
            <a:solidFill>
              <a:srgbClr val="0D9488"/>
            </a:solidFill>
            <a:prstDash val="solid"/>
          </a:ln>
        </p:spPr>
      </p:sp>
      <p:pic>
        <p:nvPicPr>
          <p:cNvPr id="8" name="Image 0" descr="preencoded.png">    </p:cNvPr>
          <p:cNvPicPr>
            <a:picLocks noChangeAspect="1"/>
          </p:cNvPicPr>
          <p:nvPr/>
        </p:nvPicPr>
        <p:blipFill>
          <a:blip r:embed="rId1"/>
          <a:stretch>
            <a:fillRect/>
          </a:stretch>
        </p:blipFill>
        <p:spPr>
          <a:xfrm>
            <a:off x="902970" y="3234690"/>
            <a:ext cx="251460" cy="251460"/>
          </a:xfrm>
          <a:prstGeom prst="rect">
            <a:avLst/>
          </a:prstGeom>
        </p:spPr>
      </p:pic>
      <p:sp>
        <p:nvSpPr>
          <p:cNvPr id="9" name="Text 6"/>
          <p:cNvSpPr/>
          <p:nvPr/>
        </p:nvSpPr>
        <p:spPr>
          <a:xfrm>
            <a:off x="1417320" y="3108960"/>
            <a:ext cx="448056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What Grafana does</a:t>
            </a:r>
            <a:endParaRPr lang="en-US" sz="1800" dirty="0"/>
          </a:p>
        </p:txBody>
      </p:sp>
      <p:sp>
        <p:nvSpPr>
          <p:cNvPr id="10" name="Text 7"/>
          <p:cNvSpPr/>
          <p:nvPr/>
        </p:nvSpPr>
        <p:spPr>
          <a:xfrm>
            <a:off x="777240" y="3749040"/>
            <a:ext cx="5029200" cy="2377440"/>
          </a:xfrm>
          <a:prstGeom prst="rect">
            <a:avLst/>
          </a:prstGeom>
          <a:noFill/>
          <a:ln/>
        </p:spPr>
        <p:txBody>
          <a:bodyPr wrap="square" rtlCol="0" anchor="ctr"/>
          <a:lstStyle/>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Connects to data sources</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Sends queries to them</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Receives results</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Renders graphs, gauges, tables</a:t>
            </a:r>
            <a:endParaRPr lang="en-US" sz="1500" dirty="0"/>
          </a:p>
          <a:p>
            <a:pPr marL="342900" indent="-3429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Shows alerts and dashboards</a:t>
            </a:r>
            <a:endParaRPr lang="en-US" sz="1500" dirty="0"/>
          </a:p>
        </p:txBody>
      </p:sp>
      <p:sp>
        <p:nvSpPr>
          <p:cNvPr id="11" name="Shape 8"/>
          <p:cNvSpPr/>
          <p:nvPr/>
        </p:nvSpPr>
        <p:spPr>
          <a:xfrm>
            <a:off x="6428232" y="3108960"/>
            <a:ext cx="502920" cy="502920"/>
          </a:xfrm>
          <a:prstGeom prst="ellipse">
            <a:avLst/>
          </a:prstGeom>
          <a:solidFill>
            <a:srgbClr val="0D9488"/>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6553962" y="3234690"/>
            <a:ext cx="251460" cy="251460"/>
          </a:xfrm>
          <a:prstGeom prst="rect">
            <a:avLst/>
          </a:prstGeom>
        </p:spPr>
      </p:pic>
      <p:sp>
        <p:nvSpPr>
          <p:cNvPr id="13" name="Text 9"/>
          <p:cNvSpPr/>
          <p:nvPr/>
        </p:nvSpPr>
        <p:spPr>
          <a:xfrm>
            <a:off x="7068312" y="3108960"/>
            <a:ext cx="4480560" cy="5029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What Grafana doesn't do</a:t>
            </a:r>
            <a:endParaRPr lang="en-US" sz="1800" dirty="0"/>
          </a:p>
        </p:txBody>
      </p:sp>
      <p:sp>
        <p:nvSpPr>
          <p:cNvPr id="14" name="Text 10"/>
          <p:cNvSpPr/>
          <p:nvPr/>
        </p:nvSpPr>
        <p:spPr>
          <a:xfrm>
            <a:off x="6428232" y="3749040"/>
            <a:ext cx="5029200" cy="2377440"/>
          </a:xfrm>
          <a:prstGeom prst="rect">
            <a:avLst/>
          </a:prstGeom>
          <a:noFill/>
          <a:ln/>
        </p:spPr>
        <p:txBody>
          <a:bodyPr wrap="square" rtlCol="0" anchor="ctr"/>
          <a:lstStyle/>
          <a:p>
            <a:pPr marL="342900" indent="-342900">
              <a:spcAft>
                <a:spcPts val="600"/>
              </a:spcAft>
              <a:buSzPct val="100000"/>
              <a:buChar char="●"/>
            </a:pPr>
            <a:r>
              <a:rPr lang="en-US" sz="1500" dirty="0">
                <a:solidFill>
                  <a:srgbClr val="94A3B8"/>
                </a:solidFill>
                <a:latin typeface="Calibri" pitchFamily="34" charset="0"/>
                <a:ea typeface="Calibri" pitchFamily="34" charset="-122"/>
                <a:cs typeface="Calibri" pitchFamily="34" charset="-120"/>
              </a:rPr>
              <a:t>Collect metrics from your apps</a:t>
            </a:r>
            <a:endParaRPr lang="en-US" sz="1500" dirty="0"/>
          </a:p>
          <a:p>
            <a:pPr marL="342900" indent="-342900">
              <a:spcAft>
                <a:spcPts val="600"/>
              </a:spcAft>
              <a:buSzPct val="100000"/>
              <a:buChar char="●"/>
            </a:pPr>
            <a:r>
              <a:rPr lang="en-US" sz="1500" dirty="0">
                <a:solidFill>
                  <a:srgbClr val="94A3B8"/>
                </a:solidFill>
                <a:latin typeface="Calibri" pitchFamily="34" charset="0"/>
                <a:ea typeface="Calibri" pitchFamily="34" charset="-122"/>
                <a:cs typeface="Calibri" pitchFamily="34" charset="-120"/>
              </a:rPr>
              <a:t>Store time-series data</a:t>
            </a:r>
            <a:endParaRPr lang="en-US" sz="1500" dirty="0"/>
          </a:p>
          <a:p>
            <a:pPr marL="342900" indent="-342900">
              <a:spcAft>
                <a:spcPts val="600"/>
              </a:spcAft>
              <a:buSzPct val="100000"/>
              <a:buChar char="●"/>
            </a:pPr>
            <a:r>
              <a:rPr lang="en-US" sz="1500" dirty="0">
                <a:solidFill>
                  <a:srgbClr val="94A3B8"/>
                </a:solidFill>
                <a:latin typeface="Calibri" pitchFamily="34" charset="0"/>
                <a:ea typeface="Calibri" pitchFamily="34" charset="-122"/>
                <a:cs typeface="Calibri" pitchFamily="34" charset="-120"/>
              </a:rPr>
              <a:t>Run computations on data</a:t>
            </a:r>
            <a:endParaRPr lang="en-US" sz="1500" dirty="0"/>
          </a:p>
          <a:p>
            <a:pPr marL="342900" indent="-342900">
              <a:spcAft>
                <a:spcPts val="600"/>
              </a:spcAft>
              <a:buSzPct val="100000"/>
              <a:buChar char="●"/>
            </a:pPr>
            <a:r>
              <a:rPr lang="en-US" sz="1500" dirty="0">
                <a:solidFill>
                  <a:srgbClr val="94A3B8"/>
                </a:solidFill>
                <a:latin typeface="Calibri" pitchFamily="34" charset="0"/>
                <a:ea typeface="Calibri" pitchFamily="34" charset="-122"/>
                <a:cs typeface="Calibri" pitchFamily="34" charset="-120"/>
              </a:rPr>
              <a:t>Have its own query language</a:t>
            </a:r>
            <a:endParaRPr lang="en-US" sz="1500" dirty="0"/>
          </a:p>
          <a:p>
            <a:pPr marL="342900" indent="-342900">
              <a:spcAft>
                <a:spcPts val="600"/>
              </a:spcAft>
              <a:buSzPct val="100000"/>
              <a:buChar char="●"/>
            </a:pPr>
            <a:r>
              <a:rPr lang="en-US" sz="1500" dirty="0">
                <a:solidFill>
                  <a:srgbClr val="94A3B8"/>
                </a:solidFill>
                <a:latin typeface="Calibri" pitchFamily="34" charset="0"/>
                <a:ea typeface="Calibri" pitchFamily="34" charset="-122"/>
                <a:cs typeface="Calibri" pitchFamily="34" charset="-120"/>
              </a:rPr>
              <a:t>Validate query syntax</a:t>
            </a:r>
            <a:endParaRPr lang="en-US" sz="1500" dirty="0"/>
          </a:p>
        </p:txBody>
      </p:sp>
      <p:sp>
        <p:nvSpPr>
          <p:cNvPr id="15" name="Text 11"/>
          <p:cNvSpPr/>
          <p:nvPr/>
        </p:nvSpPr>
        <p:spPr>
          <a:xfrm>
            <a:off x="548640" y="6446520"/>
            <a:ext cx="11091672" cy="320040"/>
          </a:xfrm>
          <a:prstGeom prst="rect">
            <a:avLst/>
          </a:prstGeom>
          <a:noFill/>
          <a:ln/>
        </p:spPr>
        <p:txBody>
          <a:bodyPr wrap="square"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The query language belongs to the data source. Grafana is the messenger.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Three Layers</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Every Grafana setup has three layers. Bugs live at any of them.</a:t>
            </a:r>
            <a:endParaRPr lang="en-US" sz="1600" dirty="0"/>
          </a:p>
        </p:txBody>
      </p:sp>
      <p:sp>
        <p:nvSpPr>
          <p:cNvPr id="4" name="Shape 2"/>
          <p:cNvSpPr/>
          <p:nvPr/>
        </p:nvSpPr>
        <p:spPr>
          <a:xfrm>
            <a:off x="548640" y="1645920"/>
            <a:ext cx="11091672" cy="1463040"/>
          </a:xfrm>
          <a:prstGeom prst="roundRect">
            <a:avLst>
              <a:gd name="adj" fmla="val 5000"/>
            </a:avLst>
          </a:prstGeom>
          <a:solidFill>
            <a:srgbClr val="1A2744"/>
          </a:solidFill>
          <a:ln w="12700">
            <a:solidFill>
              <a:srgbClr val="1A2744"/>
            </a:solidFill>
            <a:prstDash val="solid"/>
          </a:ln>
        </p:spPr>
      </p:sp>
      <p:sp>
        <p:nvSpPr>
          <p:cNvPr id="5" name="Text 3"/>
          <p:cNvSpPr/>
          <p:nvPr/>
        </p:nvSpPr>
        <p:spPr>
          <a:xfrm>
            <a:off x="777240" y="1783080"/>
            <a:ext cx="914400" cy="1188720"/>
          </a:xfrm>
          <a:prstGeom prst="rect">
            <a:avLst/>
          </a:prstGeom>
          <a:noFill/>
          <a:ln/>
        </p:spPr>
        <p:txBody>
          <a:bodyPr wrap="square" rtlCol="0" anchor="ctr"/>
          <a:lstStyle/>
          <a:p>
            <a:pPr algn="ctr" indent="0" marL="0">
              <a:buNone/>
            </a:pPr>
            <a:r>
              <a:rPr lang="en-US" sz="5600" b="1" dirty="0">
                <a:solidFill>
                  <a:srgbClr val="0D9488"/>
                </a:solidFill>
                <a:latin typeface="Calibri" pitchFamily="34" charset="0"/>
                <a:ea typeface="Calibri" pitchFamily="34" charset="-122"/>
                <a:cs typeface="Calibri" pitchFamily="34" charset="-120"/>
              </a:rPr>
              <a:t>1</a:t>
            </a:r>
            <a:endParaRPr lang="en-US" sz="5600" dirty="0"/>
          </a:p>
        </p:txBody>
      </p:sp>
      <p:sp>
        <p:nvSpPr>
          <p:cNvPr id="6" name="Text 4"/>
          <p:cNvSpPr/>
          <p:nvPr/>
        </p:nvSpPr>
        <p:spPr>
          <a:xfrm>
            <a:off x="1783080" y="1810512"/>
            <a:ext cx="68580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sources</a:t>
            </a:r>
            <a:endParaRPr lang="en-US" sz="2000" dirty="0"/>
          </a:p>
        </p:txBody>
      </p:sp>
      <p:sp>
        <p:nvSpPr>
          <p:cNvPr id="7" name="Text 5"/>
          <p:cNvSpPr/>
          <p:nvPr/>
        </p:nvSpPr>
        <p:spPr>
          <a:xfrm>
            <a:off x="1783080" y="2286000"/>
            <a:ext cx="6858000" cy="7772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Connections Grafana makes to systems that hold the numbers (Prometheus, Loki, SQL, CloudWatch). Configured once. URL, auth, type.</a:t>
            </a:r>
            <a:endParaRPr lang="en-US" sz="1300" dirty="0"/>
          </a:p>
        </p:txBody>
      </p:sp>
      <p:sp>
        <p:nvSpPr>
          <p:cNvPr id="8" name="Shape 6"/>
          <p:cNvSpPr/>
          <p:nvPr/>
        </p:nvSpPr>
        <p:spPr>
          <a:xfrm>
            <a:off x="8869680" y="2148840"/>
            <a:ext cx="2606040" cy="457200"/>
          </a:xfrm>
          <a:prstGeom prst="roundRect">
            <a:avLst>
              <a:gd name="adj" fmla="val 10000"/>
            </a:avLst>
          </a:prstGeom>
          <a:solidFill>
            <a:srgbClr val="0F1B2D"/>
          </a:solidFill>
          <a:ln w="12700">
            <a:solidFill>
              <a:srgbClr val="0D9488"/>
            </a:solidFill>
            <a:prstDash val="solid"/>
          </a:ln>
        </p:spPr>
      </p:sp>
      <p:sp>
        <p:nvSpPr>
          <p:cNvPr id="9" name="Text 7"/>
          <p:cNvSpPr/>
          <p:nvPr/>
        </p:nvSpPr>
        <p:spPr>
          <a:xfrm>
            <a:off x="8869680" y="2148840"/>
            <a:ext cx="2606040" cy="45720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Bug 1 in this lab</a:t>
            </a:r>
            <a:endParaRPr lang="en-US" sz="1300" dirty="0"/>
          </a:p>
        </p:txBody>
      </p:sp>
      <p:sp>
        <p:nvSpPr>
          <p:cNvPr id="10" name="Shape 8"/>
          <p:cNvSpPr/>
          <p:nvPr/>
        </p:nvSpPr>
        <p:spPr>
          <a:xfrm>
            <a:off x="548640" y="3246120"/>
            <a:ext cx="11091672" cy="1463040"/>
          </a:xfrm>
          <a:prstGeom prst="roundRect">
            <a:avLst>
              <a:gd name="adj" fmla="val 5000"/>
            </a:avLst>
          </a:prstGeom>
          <a:solidFill>
            <a:srgbClr val="1A2744"/>
          </a:solidFill>
          <a:ln w="12700">
            <a:solidFill>
              <a:srgbClr val="1A2744"/>
            </a:solidFill>
            <a:prstDash val="solid"/>
          </a:ln>
        </p:spPr>
      </p:sp>
      <p:sp>
        <p:nvSpPr>
          <p:cNvPr id="11" name="Text 9"/>
          <p:cNvSpPr/>
          <p:nvPr/>
        </p:nvSpPr>
        <p:spPr>
          <a:xfrm>
            <a:off x="777240" y="3383280"/>
            <a:ext cx="914400" cy="1188720"/>
          </a:xfrm>
          <a:prstGeom prst="rect">
            <a:avLst/>
          </a:prstGeom>
          <a:noFill/>
          <a:ln/>
        </p:spPr>
        <p:txBody>
          <a:bodyPr wrap="square" rtlCol="0" anchor="ctr"/>
          <a:lstStyle/>
          <a:p>
            <a:pPr algn="ctr" indent="0" marL="0">
              <a:buNone/>
            </a:pPr>
            <a:r>
              <a:rPr lang="en-US" sz="5600" b="1" dirty="0">
                <a:solidFill>
                  <a:srgbClr val="0D9488"/>
                </a:solidFill>
                <a:latin typeface="Calibri" pitchFamily="34" charset="0"/>
                <a:ea typeface="Calibri" pitchFamily="34" charset="-122"/>
                <a:cs typeface="Calibri" pitchFamily="34" charset="-120"/>
              </a:rPr>
              <a:t>2</a:t>
            </a:r>
            <a:endParaRPr lang="en-US" sz="5600" dirty="0"/>
          </a:p>
        </p:txBody>
      </p:sp>
      <p:sp>
        <p:nvSpPr>
          <p:cNvPr id="12" name="Text 10"/>
          <p:cNvSpPr/>
          <p:nvPr/>
        </p:nvSpPr>
        <p:spPr>
          <a:xfrm>
            <a:off x="1783080" y="3410712"/>
            <a:ext cx="68580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Dashboards</a:t>
            </a:r>
            <a:endParaRPr lang="en-US" sz="2000" dirty="0"/>
          </a:p>
        </p:txBody>
      </p:sp>
      <p:sp>
        <p:nvSpPr>
          <p:cNvPr id="13" name="Text 11"/>
          <p:cNvSpPr/>
          <p:nvPr/>
        </p:nvSpPr>
        <p:spPr>
          <a:xfrm>
            <a:off x="1783080" y="3886200"/>
            <a:ext cx="6858000" cy="7772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Collections of panels organised on a grid. Provisioned via files (YAML/JSON) or built in the UI. Usually one dashboard per service or area.</a:t>
            </a:r>
            <a:endParaRPr lang="en-US" sz="1300" dirty="0"/>
          </a:p>
        </p:txBody>
      </p:sp>
      <p:sp>
        <p:nvSpPr>
          <p:cNvPr id="14" name="Shape 12"/>
          <p:cNvSpPr/>
          <p:nvPr/>
        </p:nvSpPr>
        <p:spPr>
          <a:xfrm>
            <a:off x="8869680" y="3749040"/>
            <a:ext cx="2606040" cy="457200"/>
          </a:xfrm>
          <a:prstGeom prst="roundRect">
            <a:avLst>
              <a:gd name="adj" fmla="val 10000"/>
            </a:avLst>
          </a:prstGeom>
          <a:solidFill>
            <a:srgbClr val="0F1B2D"/>
          </a:solidFill>
          <a:ln w="12700">
            <a:solidFill>
              <a:srgbClr val="0D9488"/>
            </a:solidFill>
            <a:prstDash val="solid"/>
          </a:ln>
        </p:spPr>
      </p:sp>
      <p:sp>
        <p:nvSpPr>
          <p:cNvPr id="15" name="Text 13"/>
          <p:cNvSpPr/>
          <p:nvPr/>
        </p:nvSpPr>
        <p:spPr>
          <a:xfrm>
            <a:off x="8869680" y="3749040"/>
            <a:ext cx="2606040" cy="45720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Bug 6 in this lab</a:t>
            </a:r>
            <a:endParaRPr lang="en-US" sz="1300" dirty="0"/>
          </a:p>
        </p:txBody>
      </p:sp>
      <p:sp>
        <p:nvSpPr>
          <p:cNvPr id="16" name="Shape 14"/>
          <p:cNvSpPr/>
          <p:nvPr/>
        </p:nvSpPr>
        <p:spPr>
          <a:xfrm>
            <a:off x="548640" y="4846320"/>
            <a:ext cx="11091672" cy="1463040"/>
          </a:xfrm>
          <a:prstGeom prst="roundRect">
            <a:avLst>
              <a:gd name="adj" fmla="val 5000"/>
            </a:avLst>
          </a:prstGeom>
          <a:solidFill>
            <a:srgbClr val="1A2744"/>
          </a:solidFill>
          <a:ln w="12700">
            <a:solidFill>
              <a:srgbClr val="1A2744"/>
            </a:solidFill>
            <a:prstDash val="solid"/>
          </a:ln>
        </p:spPr>
      </p:sp>
      <p:sp>
        <p:nvSpPr>
          <p:cNvPr id="17" name="Text 15"/>
          <p:cNvSpPr/>
          <p:nvPr/>
        </p:nvSpPr>
        <p:spPr>
          <a:xfrm>
            <a:off x="777240" y="4983480"/>
            <a:ext cx="914400" cy="1188720"/>
          </a:xfrm>
          <a:prstGeom prst="rect">
            <a:avLst/>
          </a:prstGeom>
          <a:noFill/>
          <a:ln/>
        </p:spPr>
        <p:txBody>
          <a:bodyPr wrap="square" rtlCol="0" anchor="ctr"/>
          <a:lstStyle/>
          <a:p>
            <a:pPr algn="ctr" indent="0" marL="0">
              <a:buNone/>
            </a:pPr>
            <a:r>
              <a:rPr lang="en-US" sz="5600" b="1" dirty="0">
                <a:solidFill>
                  <a:srgbClr val="0D9488"/>
                </a:solidFill>
                <a:latin typeface="Calibri" pitchFamily="34" charset="0"/>
                <a:ea typeface="Calibri" pitchFamily="34" charset="-122"/>
                <a:cs typeface="Calibri" pitchFamily="34" charset="-120"/>
              </a:rPr>
              <a:t>3</a:t>
            </a:r>
            <a:endParaRPr lang="en-US" sz="5600" dirty="0"/>
          </a:p>
        </p:txBody>
      </p:sp>
      <p:sp>
        <p:nvSpPr>
          <p:cNvPr id="18" name="Text 16"/>
          <p:cNvSpPr/>
          <p:nvPr/>
        </p:nvSpPr>
        <p:spPr>
          <a:xfrm>
            <a:off x="1783080" y="5010912"/>
            <a:ext cx="68580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Panels &amp; queries</a:t>
            </a:r>
            <a:endParaRPr lang="en-US" sz="2000" dirty="0"/>
          </a:p>
        </p:txBody>
      </p:sp>
      <p:sp>
        <p:nvSpPr>
          <p:cNvPr id="19" name="Text 17"/>
          <p:cNvSpPr/>
          <p:nvPr/>
        </p:nvSpPr>
        <p:spPr>
          <a:xfrm>
            <a:off x="1783080" y="5486400"/>
            <a:ext cx="6858000" cy="7772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Individual visualisations, each with a query in the data source's own language. PromQL for Prometheus, SQL for databases, etc.</a:t>
            </a:r>
            <a:endParaRPr lang="en-US" sz="1300" dirty="0"/>
          </a:p>
        </p:txBody>
      </p:sp>
      <p:sp>
        <p:nvSpPr>
          <p:cNvPr id="20" name="Shape 18"/>
          <p:cNvSpPr/>
          <p:nvPr/>
        </p:nvSpPr>
        <p:spPr>
          <a:xfrm>
            <a:off x="8869680" y="5349240"/>
            <a:ext cx="2606040" cy="457200"/>
          </a:xfrm>
          <a:prstGeom prst="roundRect">
            <a:avLst>
              <a:gd name="adj" fmla="val 10000"/>
            </a:avLst>
          </a:prstGeom>
          <a:solidFill>
            <a:srgbClr val="0F1B2D"/>
          </a:solidFill>
          <a:ln w="12700">
            <a:solidFill>
              <a:srgbClr val="0D9488"/>
            </a:solidFill>
            <a:prstDash val="solid"/>
          </a:ln>
        </p:spPr>
      </p:sp>
      <p:sp>
        <p:nvSpPr>
          <p:cNvPr id="21" name="Text 19"/>
          <p:cNvSpPr/>
          <p:nvPr/>
        </p:nvSpPr>
        <p:spPr>
          <a:xfrm>
            <a:off x="8869680" y="5349240"/>
            <a:ext cx="2606040" cy="457200"/>
          </a:xfrm>
          <a:prstGeom prst="rect">
            <a:avLst/>
          </a:prstGeom>
          <a:noFill/>
          <a:ln/>
        </p:spPr>
        <p:txBody>
          <a:bodyPr wrap="square"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Bugs 2, 4, 5 in this lab</a:t>
            </a:r>
            <a:endParaRPr lang="en-US" sz="1300" dirty="0"/>
          </a:p>
        </p:txBody>
      </p:sp>
      <p:sp>
        <p:nvSpPr>
          <p:cNvPr id="22" name="Text 20"/>
          <p:cNvSpPr/>
          <p:nvPr/>
        </p:nvSpPr>
        <p:spPr>
          <a:xfrm>
            <a:off x="548640" y="6400800"/>
            <a:ext cx="11091672" cy="365760"/>
          </a:xfrm>
          <a:prstGeom prst="rect">
            <a:avLst/>
          </a:prstGeom>
          <a:noFill/>
          <a:ln/>
        </p:spPr>
        <p:txBody>
          <a:bodyPr wrap="square"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Fix the foundational layer first — until provisioning works, you cannot see panel symptoms.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Grafana × Prometheus: The Standard Stack</a:t>
            </a:r>
            <a:endParaRPr lang="en-US" sz="3200" dirty="0"/>
          </a:p>
        </p:txBody>
      </p:sp>
      <p:sp>
        <p:nvSpPr>
          <p:cNvPr id="3" name="Text 1"/>
          <p:cNvSpPr/>
          <p:nvPr/>
        </p:nvSpPr>
        <p:spPr>
          <a:xfrm>
            <a:off x="548640" y="1051560"/>
            <a:ext cx="11091672" cy="640080"/>
          </a:xfrm>
          <a:prstGeom prst="rect">
            <a:avLst/>
          </a:prstGeom>
          <a:noFill/>
          <a:ln/>
        </p:spPr>
        <p:txBody>
          <a:bodyPr wrap="square"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Prometheus collects and stores time-series metrics. Grafana queries Prometheus to draw them. They are designed to work together — most monitoring stacks use this pairing.</a:t>
            </a:r>
            <a:endParaRPr lang="en-US" sz="1500" dirty="0"/>
          </a:p>
        </p:txBody>
      </p:sp>
      <p:sp>
        <p:nvSpPr>
          <p:cNvPr id="4" name="Shape 2"/>
          <p:cNvSpPr/>
          <p:nvPr/>
        </p:nvSpPr>
        <p:spPr>
          <a:xfrm>
            <a:off x="722376" y="2103120"/>
            <a:ext cx="2377440" cy="2103120"/>
          </a:xfrm>
          <a:prstGeom prst="roundRect">
            <a:avLst>
              <a:gd name="adj" fmla="val 3478"/>
            </a:avLst>
          </a:prstGeom>
          <a:solidFill>
            <a:srgbClr val="1A2744"/>
          </a:solidFill>
          <a:ln w="12700">
            <a:solidFill>
              <a:srgbClr val="1A2744"/>
            </a:solidFill>
            <a:prstDash val="solid"/>
          </a:ln>
        </p:spPr>
      </p:sp>
      <p:sp>
        <p:nvSpPr>
          <p:cNvPr id="5" name="Shape 3"/>
          <p:cNvSpPr/>
          <p:nvPr/>
        </p:nvSpPr>
        <p:spPr>
          <a:xfrm>
            <a:off x="1591056" y="2377440"/>
            <a:ext cx="640080" cy="64008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1751076" y="2537460"/>
            <a:ext cx="320040" cy="320040"/>
          </a:xfrm>
          <a:prstGeom prst="rect">
            <a:avLst/>
          </a:prstGeom>
        </p:spPr>
      </p:pic>
      <p:sp>
        <p:nvSpPr>
          <p:cNvPr id="7" name="Text 4"/>
          <p:cNvSpPr/>
          <p:nvPr/>
        </p:nvSpPr>
        <p:spPr>
          <a:xfrm>
            <a:off x="722376" y="3154680"/>
            <a:ext cx="23774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Application</a:t>
            </a:r>
            <a:endParaRPr lang="en-US" sz="1800" dirty="0"/>
          </a:p>
        </p:txBody>
      </p:sp>
      <p:sp>
        <p:nvSpPr>
          <p:cNvPr id="8" name="Text 5"/>
          <p:cNvSpPr/>
          <p:nvPr/>
        </p:nvSpPr>
        <p:spPr>
          <a:xfrm>
            <a:off x="722376" y="3566160"/>
            <a:ext cx="237744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Exposes /metrics</a:t>
            </a:r>
            <a:endParaRPr lang="en-US" sz="1200" dirty="0"/>
          </a:p>
        </p:txBody>
      </p:sp>
      <p:sp>
        <p:nvSpPr>
          <p:cNvPr id="9" name="Text 6"/>
          <p:cNvSpPr/>
          <p:nvPr/>
        </p:nvSpPr>
        <p:spPr>
          <a:xfrm>
            <a:off x="3118104" y="2880360"/>
            <a:ext cx="365760" cy="548640"/>
          </a:xfrm>
          <a:prstGeom prst="rect">
            <a:avLst/>
          </a:prstGeom>
          <a:noFill/>
          <a:ln/>
        </p:spPr>
        <p:txBody>
          <a:bodyPr wrap="square" rtlCol="0" anchor="ctr"/>
          <a:lstStyle/>
          <a:p>
            <a:pPr algn="ctr" indent="0" marL="0">
              <a:buNone/>
            </a:pPr>
            <a:r>
              <a:rPr lang="en-US" sz="3600" b="1" dirty="0">
                <a:solidFill>
                  <a:srgbClr val="0D9488"/>
                </a:solidFill>
                <a:latin typeface="Calibri" pitchFamily="34" charset="0"/>
                <a:ea typeface="Calibri" pitchFamily="34" charset="-122"/>
                <a:cs typeface="Calibri" pitchFamily="34" charset="-120"/>
              </a:rPr>
              <a:t>→</a:t>
            </a:r>
            <a:endParaRPr lang="en-US" sz="3600" dirty="0"/>
          </a:p>
        </p:txBody>
      </p:sp>
      <p:sp>
        <p:nvSpPr>
          <p:cNvPr id="10" name="Shape 7"/>
          <p:cNvSpPr/>
          <p:nvPr/>
        </p:nvSpPr>
        <p:spPr>
          <a:xfrm>
            <a:off x="3511296" y="2103120"/>
            <a:ext cx="2377440" cy="2103120"/>
          </a:xfrm>
          <a:prstGeom prst="roundRect">
            <a:avLst>
              <a:gd name="adj" fmla="val 3478"/>
            </a:avLst>
          </a:prstGeom>
          <a:solidFill>
            <a:srgbClr val="1A2744"/>
          </a:solidFill>
          <a:ln w="12700">
            <a:solidFill>
              <a:srgbClr val="1A2744"/>
            </a:solidFill>
            <a:prstDash val="solid"/>
          </a:ln>
        </p:spPr>
      </p:sp>
      <p:sp>
        <p:nvSpPr>
          <p:cNvPr id="11" name="Shape 8"/>
          <p:cNvSpPr/>
          <p:nvPr/>
        </p:nvSpPr>
        <p:spPr>
          <a:xfrm>
            <a:off x="4379976" y="2377440"/>
            <a:ext cx="640080" cy="640080"/>
          </a:xfrm>
          <a:prstGeom prst="ellipse">
            <a:avLst/>
          </a:prstGeom>
          <a:solidFill>
            <a:srgbClr val="0D9488"/>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4539996" y="2537460"/>
            <a:ext cx="320040" cy="320040"/>
          </a:xfrm>
          <a:prstGeom prst="rect">
            <a:avLst/>
          </a:prstGeom>
        </p:spPr>
      </p:pic>
      <p:sp>
        <p:nvSpPr>
          <p:cNvPr id="13" name="Text 9"/>
          <p:cNvSpPr/>
          <p:nvPr/>
        </p:nvSpPr>
        <p:spPr>
          <a:xfrm>
            <a:off x="3511296" y="3154680"/>
            <a:ext cx="23774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Prometheus</a:t>
            </a:r>
            <a:endParaRPr lang="en-US" sz="1800" dirty="0"/>
          </a:p>
        </p:txBody>
      </p:sp>
      <p:sp>
        <p:nvSpPr>
          <p:cNvPr id="14" name="Text 10"/>
          <p:cNvSpPr/>
          <p:nvPr/>
        </p:nvSpPr>
        <p:spPr>
          <a:xfrm>
            <a:off x="3511296" y="3566160"/>
            <a:ext cx="237744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Scrapes &amp; stores</a:t>
            </a:r>
            <a:endParaRPr lang="en-US" sz="1200" dirty="0"/>
          </a:p>
        </p:txBody>
      </p:sp>
      <p:sp>
        <p:nvSpPr>
          <p:cNvPr id="15" name="Text 11"/>
          <p:cNvSpPr/>
          <p:nvPr/>
        </p:nvSpPr>
        <p:spPr>
          <a:xfrm>
            <a:off x="5907024" y="2880360"/>
            <a:ext cx="365760" cy="548640"/>
          </a:xfrm>
          <a:prstGeom prst="rect">
            <a:avLst/>
          </a:prstGeom>
          <a:noFill/>
          <a:ln/>
        </p:spPr>
        <p:txBody>
          <a:bodyPr wrap="square" rtlCol="0" anchor="ctr"/>
          <a:lstStyle/>
          <a:p>
            <a:pPr algn="ctr" indent="0" marL="0">
              <a:buNone/>
            </a:pPr>
            <a:r>
              <a:rPr lang="en-US" sz="3600" b="1" dirty="0">
                <a:solidFill>
                  <a:srgbClr val="0D9488"/>
                </a:solidFill>
                <a:latin typeface="Calibri" pitchFamily="34" charset="0"/>
                <a:ea typeface="Calibri" pitchFamily="34" charset="-122"/>
                <a:cs typeface="Calibri" pitchFamily="34" charset="-120"/>
              </a:rPr>
              <a:t>→</a:t>
            </a:r>
            <a:endParaRPr lang="en-US" sz="3600" dirty="0"/>
          </a:p>
        </p:txBody>
      </p:sp>
      <p:sp>
        <p:nvSpPr>
          <p:cNvPr id="16" name="Shape 12"/>
          <p:cNvSpPr/>
          <p:nvPr/>
        </p:nvSpPr>
        <p:spPr>
          <a:xfrm>
            <a:off x="6300216" y="2103120"/>
            <a:ext cx="2377440" cy="2103120"/>
          </a:xfrm>
          <a:prstGeom prst="roundRect">
            <a:avLst>
              <a:gd name="adj" fmla="val 3478"/>
            </a:avLst>
          </a:prstGeom>
          <a:solidFill>
            <a:srgbClr val="1A2744"/>
          </a:solidFill>
          <a:ln w="12700">
            <a:solidFill>
              <a:srgbClr val="1A2744"/>
            </a:solidFill>
            <a:prstDash val="solid"/>
          </a:ln>
        </p:spPr>
      </p:sp>
      <p:sp>
        <p:nvSpPr>
          <p:cNvPr id="17" name="Shape 13"/>
          <p:cNvSpPr/>
          <p:nvPr/>
        </p:nvSpPr>
        <p:spPr>
          <a:xfrm>
            <a:off x="7168896" y="2377440"/>
            <a:ext cx="640080" cy="640080"/>
          </a:xfrm>
          <a:prstGeom prst="ellipse">
            <a:avLst/>
          </a:prstGeom>
          <a:solidFill>
            <a:srgbClr val="0D9488"/>
          </a:solidFill>
          <a:ln w="12700">
            <a:solidFill>
              <a:srgbClr val="0D9488"/>
            </a:solidFill>
            <a:prstDash val="solid"/>
          </a:ln>
        </p:spPr>
      </p:sp>
      <p:pic>
        <p:nvPicPr>
          <p:cNvPr id="18" name="Image 2" descr="preencoded.png">    </p:cNvPr>
          <p:cNvPicPr>
            <a:picLocks noChangeAspect="1"/>
          </p:cNvPicPr>
          <p:nvPr/>
        </p:nvPicPr>
        <p:blipFill>
          <a:blip r:embed="rId3"/>
          <a:stretch>
            <a:fillRect/>
          </a:stretch>
        </p:blipFill>
        <p:spPr>
          <a:xfrm>
            <a:off x="7328916" y="2537460"/>
            <a:ext cx="320040" cy="320040"/>
          </a:xfrm>
          <a:prstGeom prst="rect">
            <a:avLst/>
          </a:prstGeom>
        </p:spPr>
      </p:pic>
      <p:sp>
        <p:nvSpPr>
          <p:cNvPr id="19" name="Text 14"/>
          <p:cNvSpPr/>
          <p:nvPr/>
        </p:nvSpPr>
        <p:spPr>
          <a:xfrm>
            <a:off x="6300216" y="3154680"/>
            <a:ext cx="23774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Grafana</a:t>
            </a:r>
            <a:endParaRPr lang="en-US" sz="1800" dirty="0"/>
          </a:p>
        </p:txBody>
      </p:sp>
      <p:sp>
        <p:nvSpPr>
          <p:cNvPr id="20" name="Text 15"/>
          <p:cNvSpPr/>
          <p:nvPr/>
        </p:nvSpPr>
        <p:spPr>
          <a:xfrm>
            <a:off x="6300216" y="3566160"/>
            <a:ext cx="237744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Queries &amp; renders</a:t>
            </a:r>
            <a:endParaRPr lang="en-US" sz="1200" dirty="0"/>
          </a:p>
        </p:txBody>
      </p:sp>
      <p:sp>
        <p:nvSpPr>
          <p:cNvPr id="21" name="Text 16"/>
          <p:cNvSpPr/>
          <p:nvPr/>
        </p:nvSpPr>
        <p:spPr>
          <a:xfrm>
            <a:off x="8695944" y="2880360"/>
            <a:ext cx="365760" cy="548640"/>
          </a:xfrm>
          <a:prstGeom prst="rect">
            <a:avLst/>
          </a:prstGeom>
          <a:noFill/>
          <a:ln/>
        </p:spPr>
        <p:txBody>
          <a:bodyPr wrap="square" rtlCol="0" anchor="ctr"/>
          <a:lstStyle/>
          <a:p>
            <a:pPr algn="ctr" indent="0" marL="0">
              <a:buNone/>
            </a:pPr>
            <a:r>
              <a:rPr lang="en-US" sz="3600" b="1" dirty="0">
                <a:solidFill>
                  <a:srgbClr val="0D9488"/>
                </a:solidFill>
                <a:latin typeface="Calibri" pitchFamily="34" charset="0"/>
                <a:ea typeface="Calibri" pitchFamily="34" charset="-122"/>
                <a:cs typeface="Calibri" pitchFamily="34" charset="-120"/>
              </a:rPr>
              <a:t>→</a:t>
            </a:r>
            <a:endParaRPr lang="en-US" sz="3600" dirty="0"/>
          </a:p>
        </p:txBody>
      </p:sp>
      <p:sp>
        <p:nvSpPr>
          <p:cNvPr id="22" name="Shape 17"/>
          <p:cNvSpPr/>
          <p:nvPr/>
        </p:nvSpPr>
        <p:spPr>
          <a:xfrm>
            <a:off x="9089136" y="2103120"/>
            <a:ext cx="2377440" cy="2103120"/>
          </a:xfrm>
          <a:prstGeom prst="roundRect">
            <a:avLst>
              <a:gd name="adj" fmla="val 3478"/>
            </a:avLst>
          </a:prstGeom>
          <a:solidFill>
            <a:srgbClr val="1A2744"/>
          </a:solidFill>
          <a:ln w="12700">
            <a:solidFill>
              <a:srgbClr val="1A2744"/>
            </a:solidFill>
            <a:prstDash val="solid"/>
          </a:ln>
        </p:spPr>
      </p:sp>
      <p:sp>
        <p:nvSpPr>
          <p:cNvPr id="23" name="Shape 18"/>
          <p:cNvSpPr/>
          <p:nvPr/>
        </p:nvSpPr>
        <p:spPr>
          <a:xfrm>
            <a:off x="9957816" y="2377440"/>
            <a:ext cx="640080" cy="640080"/>
          </a:xfrm>
          <a:prstGeom prst="ellipse">
            <a:avLst/>
          </a:prstGeom>
          <a:solidFill>
            <a:srgbClr val="0D9488"/>
          </a:solidFill>
          <a:ln w="12700">
            <a:solidFill>
              <a:srgbClr val="0D9488"/>
            </a:solidFill>
            <a:prstDash val="solid"/>
          </a:ln>
        </p:spPr>
      </p:sp>
      <p:pic>
        <p:nvPicPr>
          <p:cNvPr id="24" name="Image 3" descr="preencoded.png">    </p:cNvPr>
          <p:cNvPicPr>
            <a:picLocks noChangeAspect="1"/>
          </p:cNvPicPr>
          <p:nvPr/>
        </p:nvPicPr>
        <p:blipFill>
          <a:blip r:embed="rId4"/>
          <a:stretch>
            <a:fillRect/>
          </a:stretch>
        </p:blipFill>
        <p:spPr>
          <a:xfrm>
            <a:off x="10117836" y="2537460"/>
            <a:ext cx="320040" cy="320040"/>
          </a:xfrm>
          <a:prstGeom prst="rect">
            <a:avLst/>
          </a:prstGeom>
        </p:spPr>
      </p:pic>
      <p:sp>
        <p:nvSpPr>
          <p:cNvPr id="25" name="Text 19"/>
          <p:cNvSpPr/>
          <p:nvPr/>
        </p:nvSpPr>
        <p:spPr>
          <a:xfrm>
            <a:off x="9089136" y="3154680"/>
            <a:ext cx="237744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a:t>
            </a:r>
            <a:endParaRPr lang="en-US" sz="1800" dirty="0"/>
          </a:p>
        </p:txBody>
      </p:sp>
      <p:sp>
        <p:nvSpPr>
          <p:cNvPr id="26" name="Text 20"/>
          <p:cNvSpPr/>
          <p:nvPr/>
        </p:nvSpPr>
        <p:spPr>
          <a:xfrm>
            <a:off x="9089136" y="3566160"/>
            <a:ext cx="237744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Looks at dashboard</a:t>
            </a:r>
            <a:endParaRPr lang="en-US" sz="1200" dirty="0"/>
          </a:p>
        </p:txBody>
      </p:sp>
      <p:sp>
        <p:nvSpPr>
          <p:cNvPr id="27" name="Text 21"/>
          <p:cNvSpPr/>
          <p:nvPr/>
        </p:nvSpPr>
        <p:spPr>
          <a:xfrm>
            <a:off x="548640" y="4709160"/>
            <a:ext cx="11091672" cy="457200"/>
          </a:xfrm>
          <a:prstGeom prst="rect">
            <a:avLst/>
          </a:prstGeom>
          <a:noFill/>
          <a:ln/>
        </p:spPr>
        <p:txBody>
          <a:bodyPr wrap="square" rtlCol="0" anchor="ctr"/>
          <a:lstStyle/>
          <a:p>
            <a:pPr algn="ctr" indent="0" marL="0">
              <a:buNone/>
            </a:pPr>
            <a:r>
              <a:rPr lang="en-US" sz="1400" i="1" dirty="0">
                <a:solidFill>
                  <a:srgbClr val="14B8A6"/>
                </a:solidFill>
                <a:latin typeface="Calibri" pitchFamily="34" charset="0"/>
                <a:ea typeface="Calibri" pitchFamily="34" charset="-122"/>
                <a:cs typeface="Calibri" pitchFamily="34" charset="-120"/>
              </a:rPr>
              <a:t>PromQL belongs to Prometheus. Grafana sends the query string verbatim and renders the response.</a:t>
            </a:r>
            <a:endParaRPr lang="en-US" sz="1400" dirty="0"/>
          </a:p>
        </p:txBody>
      </p:sp>
      <p:sp>
        <p:nvSpPr>
          <p:cNvPr id="28" name="Shape 22"/>
          <p:cNvSpPr/>
          <p:nvPr/>
        </p:nvSpPr>
        <p:spPr>
          <a:xfrm>
            <a:off x="548640" y="5349240"/>
            <a:ext cx="11091672" cy="1280160"/>
          </a:xfrm>
          <a:prstGeom prst="roundRect">
            <a:avLst>
              <a:gd name="adj" fmla="val 5714"/>
            </a:avLst>
          </a:prstGeom>
          <a:solidFill>
            <a:srgbClr val="1A2744"/>
          </a:solidFill>
          <a:ln w="12700">
            <a:solidFill>
              <a:srgbClr val="1A2744"/>
            </a:solidFill>
            <a:prstDash val="solid"/>
          </a:ln>
        </p:spPr>
      </p:sp>
      <p:sp>
        <p:nvSpPr>
          <p:cNvPr id="29" name="Text 23"/>
          <p:cNvSpPr/>
          <p:nvPr/>
        </p:nvSpPr>
        <p:spPr>
          <a:xfrm>
            <a:off x="777240" y="5440680"/>
            <a:ext cx="1060704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Implication for debugging</a:t>
            </a:r>
            <a:endParaRPr lang="en-US" sz="1400" dirty="0"/>
          </a:p>
        </p:txBody>
      </p:sp>
      <p:sp>
        <p:nvSpPr>
          <p:cNvPr id="30" name="Text 24"/>
          <p:cNvSpPr/>
          <p:nvPr/>
        </p:nvSpPr>
        <p:spPr>
          <a:xfrm>
            <a:off x="777240" y="5806440"/>
            <a:ext cx="10607040" cy="7772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When a Grafana panel misbehaves, the bug could be in any layer. Eliminate possibilities one at a time by testing each layer in isolation. Always start with the system that's closest to the data — Prometheus.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Diagnostic Sequence</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The system tells you what's wrong if you ask the right questions. Every layer has a way to talk back.</a:t>
            </a:r>
            <a:endParaRPr lang="en-US" sz="1500" dirty="0"/>
          </a:p>
        </p:txBody>
      </p:sp>
      <p:sp>
        <p:nvSpPr>
          <p:cNvPr id="4" name="Shape 2"/>
          <p:cNvSpPr/>
          <p:nvPr/>
        </p:nvSpPr>
        <p:spPr>
          <a:xfrm>
            <a:off x="548640" y="1828800"/>
            <a:ext cx="11091672" cy="1417320"/>
          </a:xfrm>
          <a:prstGeom prst="roundRect">
            <a:avLst>
              <a:gd name="adj" fmla="val 5161"/>
            </a:avLst>
          </a:prstGeom>
          <a:solidFill>
            <a:srgbClr val="1A2744"/>
          </a:solidFill>
          <a:ln w="12700">
            <a:solidFill>
              <a:srgbClr val="1A2744"/>
            </a:solidFill>
            <a:prstDash val="solid"/>
          </a:ln>
        </p:spPr>
      </p:sp>
      <p:sp>
        <p:nvSpPr>
          <p:cNvPr id="5" name="Text 3"/>
          <p:cNvSpPr/>
          <p:nvPr/>
        </p:nvSpPr>
        <p:spPr>
          <a:xfrm>
            <a:off x="777240" y="1965960"/>
            <a:ext cx="640080" cy="1143000"/>
          </a:xfrm>
          <a:prstGeom prst="rect">
            <a:avLst/>
          </a:prstGeom>
          <a:noFill/>
          <a:ln/>
        </p:spPr>
        <p:txBody>
          <a:bodyPr wrap="square" rtlCol="0" anchor="ctr"/>
          <a:lstStyle/>
          <a:p>
            <a:pPr algn="ctr" indent="0" marL="0">
              <a:buNone/>
            </a:pPr>
            <a:r>
              <a:rPr lang="en-US" sz="4800" b="1" dirty="0">
                <a:solidFill>
                  <a:srgbClr val="0D9488"/>
                </a:solidFill>
                <a:latin typeface="Calibri" pitchFamily="34" charset="0"/>
                <a:ea typeface="Calibri" pitchFamily="34" charset="-122"/>
                <a:cs typeface="Calibri" pitchFamily="34" charset="-120"/>
              </a:rPr>
              <a:t>1</a:t>
            </a:r>
            <a:endParaRPr lang="en-US" sz="4800" dirty="0"/>
          </a:p>
        </p:txBody>
      </p:sp>
      <p:sp>
        <p:nvSpPr>
          <p:cNvPr id="6" name="Shape 4"/>
          <p:cNvSpPr/>
          <p:nvPr/>
        </p:nvSpPr>
        <p:spPr>
          <a:xfrm>
            <a:off x="1508760" y="2286000"/>
            <a:ext cx="502920" cy="502920"/>
          </a:xfrm>
          <a:prstGeom prst="ellipse">
            <a:avLst/>
          </a:prstGeom>
          <a:solidFill>
            <a:srgbClr val="0D9488"/>
          </a:solidFill>
          <a:ln w="12700">
            <a:solidFill>
              <a:srgbClr val="0D9488"/>
            </a:solidFill>
            <a:prstDash val="solid"/>
          </a:ln>
        </p:spPr>
      </p:sp>
      <p:pic>
        <p:nvPicPr>
          <p:cNvPr id="7" name="Image 0" descr="preencoded.png">    </p:cNvPr>
          <p:cNvPicPr>
            <a:picLocks noChangeAspect="1"/>
          </p:cNvPicPr>
          <p:nvPr/>
        </p:nvPicPr>
        <p:blipFill>
          <a:blip r:embed="rId1"/>
          <a:stretch>
            <a:fillRect/>
          </a:stretch>
        </p:blipFill>
        <p:spPr>
          <a:xfrm>
            <a:off x="1634490" y="2411730"/>
            <a:ext cx="251460" cy="251460"/>
          </a:xfrm>
          <a:prstGeom prst="rect">
            <a:avLst/>
          </a:prstGeom>
        </p:spPr>
      </p:pic>
      <p:sp>
        <p:nvSpPr>
          <p:cNvPr id="8" name="Text 5"/>
          <p:cNvSpPr/>
          <p:nvPr/>
        </p:nvSpPr>
        <p:spPr>
          <a:xfrm>
            <a:off x="2194560" y="1965960"/>
            <a:ext cx="594360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Read the logs first</a:t>
            </a:r>
            <a:endParaRPr lang="en-US" sz="1800" dirty="0"/>
          </a:p>
        </p:txBody>
      </p:sp>
      <p:sp>
        <p:nvSpPr>
          <p:cNvPr id="9" name="Text 6"/>
          <p:cNvSpPr/>
          <p:nvPr/>
        </p:nvSpPr>
        <p:spPr>
          <a:xfrm>
            <a:off x="2194560" y="2377440"/>
            <a:ext cx="8869680" cy="457200"/>
          </a:xfrm>
          <a:prstGeom prst="rect">
            <a:avLst/>
          </a:prstGeom>
          <a:noFill/>
          <a:ln/>
        </p:spPr>
        <p:txBody>
          <a:bodyPr wrap="square" rtlCol="0" anchor="t"/>
          <a:lstStyle/>
          <a:p>
            <a:pPr indent="0" marL="0">
              <a:buNone/>
            </a:pPr>
            <a:r>
              <a:rPr lang="en-US" sz="1100" dirty="0">
                <a:solidFill>
                  <a:srgbClr val="14B8A6"/>
                </a:solidFill>
                <a:latin typeface="Consolas" pitchFamily="34" charset="0"/>
                <a:ea typeface="Consolas" pitchFamily="34" charset="-122"/>
                <a:cs typeface="Consolas" pitchFamily="34" charset="-120"/>
              </a:rPr>
              <a:t>docker compose logs grafana --tail 200 | grep -E "level=(error|warn)"</a:t>
            </a:r>
            <a:endParaRPr lang="en-US" sz="1100" dirty="0"/>
          </a:p>
        </p:txBody>
      </p:sp>
      <p:sp>
        <p:nvSpPr>
          <p:cNvPr id="10" name="Text 7"/>
          <p:cNvSpPr/>
          <p:nvPr/>
        </p:nvSpPr>
        <p:spPr>
          <a:xfrm>
            <a:off x="2194560" y="2834640"/>
            <a:ext cx="8869680" cy="320040"/>
          </a:xfrm>
          <a:prstGeom prst="rect">
            <a:avLst/>
          </a:prstGeom>
          <a:noFill/>
          <a:ln/>
        </p:spPr>
        <p:txBody>
          <a:bodyPr wrap="square" rtlCol="0" anchor="t"/>
          <a:lstStyle/>
          <a:p>
            <a:pPr indent="0" marL="0">
              <a:buNone/>
            </a:pPr>
            <a:r>
              <a:rPr lang="en-US" sz="1200" i="1" dirty="0">
                <a:solidFill>
                  <a:srgbClr val="94A3B8"/>
                </a:solidFill>
                <a:latin typeface="Calibri" pitchFamily="34" charset="0"/>
                <a:ea typeface="Calibri" pitchFamily="34" charset="-122"/>
                <a:cs typeface="Calibri" pitchFamily="34" charset="-120"/>
              </a:rPr>
              <a:t>Catches: Bug 6 — provisioning failures, malformed JSON, plugin errors</a:t>
            </a:r>
            <a:endParaRPr lang="en-US" sz="1200" dirty="0"/>
          </a:p>
        </p:txBody>
      </p:sp>
      <p:sp>
        <p:nvSpPr>
          <p:cNvPr id="11" name="Shape 8"/>
          <p:cNvSpPr/>
          <p:nvPr/>
        </p:nvSpPr>
        <p:spPr>
          <a:xfrm>
            <a:off x="548640" y="3383280"/>
            <a:ext cx="11091672" cy="1417320"/>
          </a:xfrm>
          <a:prstGeom prst="roundRect">
            <a:avLst>
              <a:gd name="adj" fmla="val 5161"/>
            </a:avLst>
          </a:prstGeom>
          <a:solidFill>
            <a:srgbClr val="1A2744"/>
          </a:solidFill>
          <a:ln w="12700">
            <a:solidFill>
              <a:srgbClr val="1A2744"/>
            </a:solidFill>
            <a:prstDash val="solid"/>
          </a:ln>
        </p:spPr>
      </p:sp>
      <p:sp>
        <p:nvSpPr>
          <p:cNvPr id="12" name="Text 9"/>
          <p:cNvSpPr/>
          <p:nvPr/>
        </p:nvSpPr>
        <p:spPr>
          <a:xfrm>
            <a:off x="777240" y="3520440"/>
            <a:ext cx="640080" cy="1143000"/>
          </a:xfrm>
          <a:prstGeom prst="rect">
            <a:avLst/>
          </a:prstGeom>
          <a:noFill/>
          <a:ln/>
        </p:spPr>
        <p:txBody>
          <a:bodyPr wrap="square" rtlCol="0" anchor="ctr"/>
          <a:lstStyle/>
          <a:p>
            <a:pPr algn="ctr" indent="0" marL="0">
              <a:buNone/>
            </a:pPr>
            <a:r>
              <a:rPr lang="en-US" sz="4800" b="1" dirty="0">
                <a:solidFill>
                  <a:srgbClr val="0D9488"/>
                </a:solidFill>
                <a:latin typeface="Calibri" pitchFamily="34" charset="0"/>
                <a:ea typeface="Calibri" pitchFamily="34" charset="-122"/>
                <a:cs typeface="Calibri" pitchFamily="34" charset="-120"/>
              </a:rPr>
              <a:t>2</a:t>
            </a:r>
            <a:endParaRPr lang="en-US" sz="4800" dirty="0"/>
          </a:p>
        </p:txBody>
      </p:sp>
      <p:sp>
        <p:nvSpPr>
          <p:cNvPr id="13" name="Shape 10"/>
          <p:cNvSpPr/>
          <p:nvPr/>
        </p:nvSpPr>
        <p:spPr>
          <a:xfrm>
            <a:off x="1508760" y="3840480"/>
            <a:ext cx="502920" cy="502920"/>
          </a:xfrm>
          <a:prstGeom prst="ellipse">
            <a:avLst/>
          </a:prstGeom>
          <a:solidFill>
            <a:srgbClr val="0D9488"/>
          </a:solidFill>
          <a:ln w="12700">
            <a:solidFill>
              <a:srgbClr val="0D9488"/>
            </a:solidFill>
            <a:prstDash val="solid"/>
          </a:ln>
        </p:spPr>
      </p:sp>
      <p:pic>
        <p:nvPicPr>
          <p:cNvPr id="14" name="Image 1" descr="preencoded.png">    </p:cNvPr>
          <p:cNvPicPr>
            <a:picLocks noChangeAspect="1"/>
          </p:cNvPicPr>
          <p:nvPr/>
        </p:nvPicPr>
        <p:blipFill>
          <a:blip r:embed="rId2"/>
          <a:stretch>
            <a:fillRect/>
          </a:stretch>
        </p:blipFill>
        <p:spPr>
          <a:xfrm>
            <a:off x="1634490" y="3966210"/>
            <a:ext cx="251460" cy="251460"/>
          </a:xfrm>
          <a:prstGeom prst="rect">
            <a:avLst/>
          </a:prstGeom>
        </p:spPr>
      </p:pic>
      <p:sp>
        <p:nvSpPr>
          <p:cNvPr id="15" name="Text 11"/>
          <p:cNvSpPr/>
          <p:nvPr/>
        </p:nvSpPr>
        <p:spPr>
          <a:xfrm>
            <a:off x="2194560" y="3520440"/>
            <a:ext cx="594360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Test the data source</a:t>
            </a:r>
            <a:endParaRPr lang="en-US" sz="1800" dirty="0"/>
          </a:p>
        </p:txBody>
      </p:sp>
      <p:sp>
        <p:nvSpPr>
          <p:cNvPr id="16" name="Text 12"/>
          <p:cNvSpPr/>
          <p:nvPr/>
        </p:nvSpPr>
        <p:spPr>
          <a:xfrm>
            <a:off x="2194560" y="3931920"/>
            <a:ext cx="8869680" cy="457200"/>
          </a:xfrm>
          <a:prstGeom prst="rect">
            <a:avLst/>
          </a:prstGeom>
          <a:noFill/>
          <a:ln/>
        </p:spPr>
        <p:txBody>
          <a:bodyPr wrap="square" rtlCol="0" anchor="t"/>
          <a:lstStyle/>
          <a:p>
            <a:pPr indent="0" marL="0">
              <a:buNone/>
            </a:pPr>
            <a:r>
              <a:rPr lang="en-US" sz="1100" dirty="0">
                <a:solidFill>
                  <a:srgbClr val="14B8A6"/>
                </a:solidFill>
                <a:latin typeface="Consolas" pitchFamily="34" charset="0"/>
                <a:ea typeface="Consolas" pitchFamily="34" charset="-122"/>
                <a:cs typeface="Consolas" pitchFamily="34" charset="-120"/>
              </a:rPr>
              <a:t># Save &amp; Test in UI, or via API:</a:t>
            </a:r>
            <a:endParaRPr lang="en-US" sz="1100" dirty="0"/>
          </a:p>
          <a:p>
            <a:pPr indent="0" marL="0">
              <a:buNone/>
            </a:pPr>
            <a:r>
              <a:rPr lang="en-US" sz="1100" dirty="0">
                <a:solidFill>
                  <a:srgbClr val="14B8A6"/>
                </a:solidFill>
                <a:latin typeface="Consolas" pitchFamily="34" charset="0"/>
                <a:ea typeface="Consolas" pitchFamily="34" charset="-122"/>
                <a:cs typeface="Consolas" pitchFamily="34" charset="-120"/>
              </a:rPr>
              <a:t>curl -u admin:admin /api/datasources/uid/&lt;uid&gt;/health</a:t>
            </a:r>
            <a:endParaRPr lang="en-US" sz="1100" dirty="0"/>
          </a:p>
        </p:txBody>
      </p:sp>
      <p:sp>
        <p:nvSpPr>
          <p:cNvPr id="17" name="Text 13"/>
          <p:cNvSpPr/>
          <p:nvPr/>
        </p:nvSpPr>
        <p:spPr>
          <a:xfrm>
            <a:off x="2194560" y="4389120"/>
            <a:ext cx="8869680" cy="320040"/>
          </a:xfrm>
          <a:prstGeom prst="rect">
            <a:avLst/>
          </a:prstGeom>
          <a:noFill/>
          <a:ln/>
        </p:spPr>
        <p:txBody>
          <a:bodyPr wrap="square" rtlCol="0" anchor="t"/>
          <a:lstStyle/>
          <a:p>
            <a:pPr indent="0" marL="0">
              <a:buNone/>
            </a:pPr>
            <a:r>
              <a:rPr lang="en-US" sz="1200" i="1" dirty="0">
                <a:solidFill>
                  <a:srgbClr val="94A3B8"/>
                </a:solidFill>
                <a:latin typeface="Calibri" pitchFamily="34" charset="0"/>
                <a:ea typeface="Calibri" pitchFamily="34" charset="-122"/>
                <a:cs typeface="Calibri" pitchFamily="34" charset="-120"/>
              </a:rPr>
              <a:t>Catches: Bug 1 — wrong URL, wrong auth, network failure between Grafana and Prometheus</a:t>
            </a:r>
            <a:endParaRPr lang="en-US" sz="1200" dirty="0"/>
          </a:p>
        </p:txBody>
      </p:sp>
      <p:sp>
        <p:nvSpPr>
          <p:cNvPr id="18" name="Shape 14"/>
          <p:cNvSpPr/>
          <p:nvPr/>
        </p:nvSpPr>
        <p:spPr>
          <a:xfrm>
            <a:off x="548640" y="4937760"/>
            <a:ext cx="11091672" cy="1417320"/>
          </a:xfrm>
          <a:prstGeom prst="roundRect">
            <a:avLst>
              <a:gd name="adj" fmla="val 5161"/>
            </a:avLst>
          </a:prstGeom>
          <a:solidFill>
            <a:srgbClr val="1A2744"/>
          </a:solidFill>
          <a:ln w="12700">
            <a:solidFill>
              <a:srgbClr val="1A2744"/>
            </a:solidFill>
            <a:prstDash val="solid"/>
          </a:ln>
        </p:spPr>
      </p:sp>
      <p:sp>
        <p:nvSpPr>
          <p:cNvPr id="19" name="Text 15"/>
          <p:cNvSpPr/>
          <p:nvPr/>
        </p:nvSpPr>
        <p:spPr>
          <a:xfrm>
            <a:off x="777240" y="5074920"/>
            <a:ext cx="640080" cy="1143000"/>
          </a:xfrm>
          <a:prstGeom prst="rect">
            <a:avLst/>
          </a:prstGeom>
          <a:noFill/>
          <a:ln/>
        </p:spPr>
        <p:txBody>
          <a:bodyPr wrap="square" rtlCol="0" anchor="ctr"/>
          <a:lstStyle/>
          <a:p>
            <a:pPr algn="ctr" indent="0" marL="0">
              <a:buNone/>
            </a:pPr>
            <a:r>
              <a:rPr lang="en-US" sz="4800" b="1" dirty="0">
                <a:solidFill>
                  <a:srgbClr val="0D9488"/>
                </a:solidFill>
                <a:latin typeface="Calibri" pitchFamily="34" charset="0"/>
                <a:ea typeface="Calibri" pitchFamily="34" charset="-122"/>
                <a:cs typeface="Calibri" pitchFamily="34" charset="-120"/>
              </a:rPr>
              <a:t>3</a:t>
            </a:r>
            <a:endParaRPr lang="en-US" sz="4800" dirty="0"/>
          </a:p>
        </p:txBody>
      </p:sp>
      <p:sp>
        <p:nvSpPr>
          <p:cNvPr id="20" name="Shape 16"/>
          <p:cNvSpPr/>
          <p:nvPr/>
        </p:nvSpPr>
        <p:spPr>
          <a:xfrm>
            <a:off x="1508760" y="5394960"/>
            <a:ext cx="502920" cy="502920"/>
          </a:xfrm>
          <a:prstGeom prst="ellipse">
            <a:avLst/>
          </a:prstGeom>
          <a:solidFill>
            <a:srgbClr val="0D9488"/>
          </a:solidFill>
          <a:ln w="12700">
            <a:solidFill>
              <a:srgbClr val="0D9488"/>
            </a:solidFill>
            <a:prstDash val="solid"/>
          </a:ln>
        </p:spPr>
      </p:sp>
      <p:pic>
        <p:nvPicPr>
          <p:cNvPr id="21" name="Image 2" descr="preencoded.png">    </p:cNvPr>
          <p:cNvPicPr>
            <a:picLocks noChangeAspect="1"/>
          </p:cNvPicPr>
          <p:nvPr/>
        </p:nvPicPr>
        <p:blipFill>
          <a:blip r:embed="rId3"/>
          <a:stretch>
            <a:fillRect/>
          </a:stretch>
        </p:blipFill>
        <p:spPr>
          <a:xfrm>
            <a:off x="1634490" y="5520690"/>
            <a:ext cx="251460" cy="251460"/>
          </a:xfrm>
          <a:prstGeom prst="rect">
            <a:avLst/>
          </a:prstGeom>
        </p:spPr>
      </p:pic>
      <p:sp>
        <p:nvSpPr>
          <p:cNvPr id="22" name="Text 17"/>
          <p:cNvSpPr/>
          <p:nvPr/>
        </p:nvSpPr>
        <p:spPr>
          <a:xfrm>
            <a:off x="2194560" y="5074920"/>
            <a:ext cx="594360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Run each query in Prometheus directly</a:t>
            </a:r>
            <a:endParaRPr lang="en-US" sz="1800" dirty="0"/>
          </a:p>
        </p:txBody>
      </p:sp>
      <p:sp>
        <p:nvSpPr>
          <p:cNvPr id="23" name="Text 18"/>
          <p:cNvSpPr/>
          <p:nvPr/>
        </p:nvSpPr>
        <p:spPr>
          <a:xfrm>
            <a:off x="2194560" y="5486400"/>
            <a:ext cx="8869680" cy="457200"/>
          </a:xfrm>
          <a:prstGeom prst="rect">
            <a:avLst/>
          </a:prstGeom>
          <a:noFill/>
          <a:ln/>
        </p:spPr>
        <p:txBody>
          <a:bodyPr wrap="square" rtlCol="0" anchor="t"/>
          <a:lstStyle/>
          <a:p>
            <a:pPr indent="0" marL="0">
              <a:buNone/>
            </a:pPr>
            <a:r>
              <a:rPr lang="en-US" sz="1100" dirty="0">
                <a:solidFill>
                  <a:srgbClr val="14B8A6"/>
                </a:solidFill>
                <a:latin typeface="Consolas" pitchFamily="34" charset="0"/>
                <a:ea typeface="Consolas" pitchFamily="34" charset="-122"/>
                <a:cs typeface="Consolas" pitchFamily="34" charset="-120"/>
              </a:rPr>
              <a:t># Open http://prometheus:9090/graph</a:t>
            </a:r>
            <a:endParaRPr lang="en-US" sz="1100" dirty="0"/>
          </a:p>
          <a:p>
            <a:pPr indent="0" marL="0">
              <a:buNone/>
            </a:pPr>
            <a:r>
              <a:rPr lang="en-US" sz="1100" dirty="0">
                <a:solidFill>
                  <a:srgbClr val="14B8A6"/>
                </a:solidFill>
                <a:latin typeface="Consolas" pitchFamily="34" charset="0"/>
                <a:ea typeface="Consolas" pitchFamily="34" charset="-122"/>
                <a:cs typeface="Consolas" pitchFamily="34" charset="-120"/>
              </a:rPr>
              <a:t># Paste the panel's expr in, hit Execute</a:t>
            </a:r>
            <a:endParaRPr lang="en-US" sz="1100" dirty="0"/>
          </a:p>
        </p:txBody>
      </p:sp>
      <p:sp>
        <p:nvSpPr>
          <p:cNvPr id="24" name="Text 19"/>
          <p:cNvSpPr/>
          <p:nvPr/>
        </p:nvSpPr>
        <p:spPr>
          <a:xfrm>
            <a:off x="2194560" y="5943600"/>
            <a:ext cx="8869680" cy="320040"/>
          </a:xfrm>
          <a:prstGeom prst="rect">
            <a:avLst/>
          </a:prstGeom>
          <a:noFill/>
          <a:ln/>
        </p:spPr>
        <p:txBody>
          <a:bodyPr wrap="square" rtlCol="0" anchor="t"/>
          <a:lstStyle/>
          <a:p>
            <a:pPr indent="0" marL="0">
              <a:buNone/>
            </a:pPr>
            <a:r>
              <a:rPr lang="en-US" sz="1200" i="1" dirty="0">
                <a:solidFill>
                  <a:srgbClr val="94A3B8"/>
                </a:solidFill>
                <a:latin typeface="Calibri" pitchFamily="34" charset="0"/>
                <a:ea typeface="Calibri" pitchFamily="34" charset="-122"/>
                <a:cs typeface="Calibri" pitchFamily="34" charset="-120"/>
              </a:rPr>
              <a:t>Catches: Bugs 2, 4, 5 — parse errors, bad arguments, missing metrics, silent typos</a:t>
            </a:r>
            <a:endParaRPr lang="en-US" sz="1200" dirty="0"/>
          </a:p>
        </p:txBody>
      </p:sp>
      <p:sp>
        <p:nvSpPr>
          <p:cNvPr id="25" name="Text 20"/>
          <p:cNvSpPr/>
          <p:nvPr/>
        </p:nvSpPr>
        <p:spPr>
          <a:xfrm>
            <a:off x="548640" y="6446520"/>
            <a:ext cx="11091672" cy="320040"/>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Open files only when the running system has told you which file to open, and what to look for.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"No data" isn't one symptom</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Grafana panels show four distinct categories of failure. Each needs a different diagnostic move.</a:t>
            </a:r>
            <a:endParaRPr lang="en-US" sz="1500" dirty="0"/>
          </a:p>
        </p:txBody>
      </p:sp>
      <p:sp>
        <p:nvSpPr>
          <p:cNvPr id="4" name="Shape 2"/>
          <p:cNvSpPr/>
          <p:nvPr/>
        </p:nvSpPr>
        <p:spPr>
          <a:xfrm>
            <a:off x="548640" y="1554480"/>
            <a:ext cx="5440680" cy="2331720"/>
          </a:xfrm>
          <a:prstGeom prst="roundRect">
            <a:avLst>
              <a:gd name="adj" fmla="val 3137"/>
            </a:avLst>
          </a:prstGeom>
          <a:solidFill>
            <a:srgbClr val="1A2744"/>
          </a:solidFill>
          <a:ln w="12700">
            <a:solidFill>
              <a:srgbClr val="1A2744"/>
            </a:solidFill>
            <a:prstDash val="solid"/>
          </a:ln>
        </p:spPr>
      </p:sp>
      <p:sp>
        <p:nvSpPr>
          <p:cNvPr id="5" name="Shape 3"/>
          <p:cNvSpPr/>
          <p:nvPr/>
        </p:nvSpPr>
        <p:spPr>
          <a:xfrm>
            <a:off x="548640" y="1554480"/>
            <a:ext cx="164592" cy="2331720"/>
          </a:xfrm>
          <a:prstGeom prst="rect">
            <a:avLst/>
          </a:prstGeom>
          <a:solidFill>
            <a:srgbClr val="EF4444"/>
          </a:solidFill>
          <a:ln w="12700">
            <a:solidFill>
              <a:srgbClr val="EF4444"/>
            </a:solidFill>
            <a:prstDash val="solid"/>
          </a:ln>
        </p:spPr>
      </p:sp>
      <p:sp>
        <p:nvSpPr>
          <p:cNvPr id="6" name="Text 4"/>
          <p:cNvSpPr/>
          <p:nvPr/>
        </p:nvSpPr>
        <p:spPr>
          <a:xfrm>
            <a:off x="914400" y="1691640"/>
            <a:ext cx="4983480" cy="365760"/>
          </a:xfrm>
          <a:prstGeom prst="rect">
            <a:avLst/>
          </a:prstGeom>
          <a:noFill/>
          <a:ln/>
        </p:spPr>
        <p:txBody>
          <a:bodyPr wrap="square" rtlCol="0" anchor="ctr"/>
          <a:lstStyle/>
          <a:p>
            <a:pPr indent="0" marL="0">
              <a:buNone/>
            </a:pPr>
            <a:r>
              <a:rPr lang="en-US" sz="1400" b="1" spc="300" kern="0" dirty="0">
                <a:solidFill>
                  <a:srgbClr val="EF4444"/>
                </a:solidFill>
                <a:latin typeface="Calibri" pitchFamily="34" charset="0"/>
                <a:ea typeface="Calibri" pitchFamily="34" charset="-122"/>
                <a:cs typeface="Calibri" pitchFamily="34" charset="-120"/>
              </a:rPr>
              <a:t>LOUD</a:t>
            </a:r>
            <a:endParaRPr lang="en-US" sz="1400" dirty="0"/>
          </a:p>
        </p:txBody>
      </p:sp>
      <p:sp>
        <p:nvSpPr>
          <p:cNvPr id="7" name="Text 5"/>
          <p:cNvSpPr/>
          <p:nvPr/>
        </p:nvSpPr>
        <p:spPr>
          <a:xfrm>
            <a:off x="914400" y="2057400"/>
            <a:ext cx="4983480" cy="36576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"No data" + warning triangle</a:t>
            </a:r>
            <a:endParaRPr lang="en-US" sz="1500" dirty="0"/>
          </a:p>
        </p:txBody>
      </p:sp>
      <p:sp>
        <p:nvSpPr>
          <p:cNvPr id="8" name="Text 6"/>
          <p:cNvSpPr/>
          <p:nvPr/>
        </p:nvSpPr>
        <p:spPr>
          <a:xfrm>
            <a:off x="914400" y="2423160"/>
            <a:ext cx="4983480" cy="91440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Query attempted, errored. Hover triangle for the message.</a:t>
            </a:r>
            <a:endParaRPr lang="en-US" sz="1300" dirty="0"/>
          </a:p>
        </p:txBody>
      </p:sp>
      <p:sp>
        <p:nvSpPr>
          <p:cNvPr id="9" name="Text 7"/>
          <p:cNvSpPr/>
          <p:nvPr/>
        </p:nvSpPr>
        <p:spPr>
          <a:xfrm>
            <a:off x="914400" y="3429000"/>
            <a:ext cx="4983480" cy="365760"/>
          </a:xfrm>
          <a:prstGeom prst="rect">
            <a:avLst/>
          </a:prstGeom>
          <a:noFill/>
          <a:ln/>
        </p:spPr>
        <p:txBody>
          <a:bodyPr wrap="square" rtlCol="0" anchor="t"/>
          <a:lstStyle/>
          <a:p>
            <a:pPr indent="0" marL="0">
              <a:buNone/>
            </a:pPr>
            <a:r>
              <a:rPr lang="en-US" sz="1200" i="1" dirty="0">
                <a:solidFill>
                  <a:srgbClr val="14B8A6"/>
                </a:solidFill>
                <a:latin typeface="Consolas" pitchFamily="34" charset="0"/>
                <a:ea typeface="Consolas" pitchFamily="34" charset="-122"/>
                <a:cs typeface="Consolas" pitchFamily="34" charset="-120"/>
              </a:rPr>
              <a:t>Bug 2: rates() — parse error</a:t>
            </a:r>
            <a:endParaRPr lang="en-US" sz="1200" dirty="0"/>
          </a:p>
        </p:txBody>
      </p:sp>
      <p:sp>
        <p:nvSpPr>
          <p:cNvPr id="10" name="Shape 8"/>
          <p:cNvSpPr/>
          <p:nvPr/>
        </p:nvSpPr>
        <p:spPr>
          <a:xfrm>
            <a:off x="6199632" y="1554480"/>
            <a:ext cx="5440680" cy="2331720"/>
          </a:xfrm>
          <a:prstGeom prst="roundRect">
            <a:avLst>
              <a:gd name="adj" fmla="val 3137"/>
            </a:avLst>
          </a:prstGeom>
          <a:solidFill>
            <a:srgbClr val="1A2744"/>
          </a:solidFill>
          <a:ln w="12700">
            <a:solidFill>
              <a:srgbClr val="1A2744"/>
            </a:solidFill>
            <a:prstDash val="solid"/>
          </a:ln>
        </p:spPr>
      </p:sp>
      <p:sp>
        <p:nvSpPr>
          <p:cNvPr id="11" name="Shape 9"/>
          <p:cNvSpPr/>
          <p:nvPr/>
        </p:nvSpPr>
        <p:spPr>
          <a:xfrm>
            <a:off x="6199632" y="1554480"/>
            <a:ext cx="164592" cy="2331720"/>
          </a:xfrm>
          <a:prstGeom prst="rect">
            <a:avLst/>
          </a:prstGeom>
          <a:solidFill>
            <a:srgbClr val="22C55E"/>
          </a:solidFill>
          <a:ln w="12700">
            <a:solidFill>
              <a:srgbClr val="22C55E"/>
            </a:solidFill>
            <a:prstDash val="solid"/>
          </a:ln>
        </p:spPr>
      </p:sp>
      <p:sp>
        <p:nvSpPr>
          <p:cNvPr id="12" name="Text 10"/>
          <p:cNvSpPr/>
          <p:nvPr/>
        </p:nvSpPr>
        <p:spPr>
          <a:xfrm>
            <a:off x="6565392" y="1691640"/>
            <a:ext cx="4983480" cy="365760"/>
          </a:xfrm>
          <a:prstGeom prst="rect">
            <a:avLst/>
          </a:prstGeom>
          <a:noFill/>
          <a:ln/>
        </p:spPr>
        <p:txBody>
          <a:bodyPr wrap="square" rtlCol="0" anchor="ctr"/>
          <a:lstStyle/>
          <a:p>
            <a:pPr indent="0" marL="0">
              <a:buNone/>
            </a:pPr>
            <a:r>
              <a:rPr lang="en-US" sz="1400" b="1" spc="300" kern="0" dirty="0">
                <a:solidFill>
                  <a:srgbClr val="22C55E"/>
                </a:solidFill>
                <a:latin typeface="Calibri" pitchFamily="34" charset="0"/>
                <a:ea typeface="Calibri" pitchFamily="34" charset="-122"/>
                <a:cs typeface="Calibri" pitchFamily="34" charset="-120"/>
              </a:rPr>
              <a:t>WORKING (?)</a:t>
            </a:r>
            <a:endParaRPr lang="en-US" sz="1400" dirty="0"/>
          </a:p>
        </p:txBody>
      </p:sp>
      <p:sp>
        <p:nvSpPr>
          <p:cNvPr id="13" name="Text 11"/>
          <p:cNvSpPr/>
          <p:nvPr/>
        </p:nvSpPr>
        <p:spPr>
          <a:xfrm>
            <a:off x="6565392" y="2057400"/>
            <a:ext cx="4983480" cy="36576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 number renders</a:t>
            </a:r>
            <a:endParaRPr lang="en-US" sz="1500" dirty="0"/>
          </a:p>
        </p:txBody>
      </p:sp>
      <p:sp>
        <p:nvSpPr>
          <p:cNvPr id="14" name="Text 12"/>
          <p:cNvSpPr/>
          <p:nvPr/>
        </p:nvSpPr>
        <p:spPr>
          <a:xfrm>
            <a:off x="6565392" y="2423160"/>
            <a:ext cx="4983480" cy="91440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Query ran and returned something. Working ≠ correct — sanity-check the value.</a:t>
            </a:r>
            <a:endParaRPr lang="en-US" sz="1300" dirty="0"/>
          </a:p>
        </p:txBody>
      </p:sp>
      <p:sp>
        <p:nvSpPr>
          <p:cNvPr id="15" name="Text 13"/>
          <p:cNvSpPr/>
          <p:nvPr/>
        </p:nvSpPr>
        <p:spPr>
          <a:xfrm>
            <a:off x="6565392" y="3429000"/>
            <a:ext cx="4983480" cy="365760"/>
          </a:xfrm>
          <a:prstGeom prst="rect">
            <a:avLst/>
          </a:prstGeom>
          <a:noFill/>
          <a:ln/>
        </p:spPr>
        <p:txBody>
          <a:bodyPr wrap="square" rtlCol="0" anchor="t"/>
          <a:lstStyle/>
          <a:p>
            <a:pPr indent="0" marL="0">
              <a:buNone/>
            </a:pPr>
            <a:r>
              <a:rPr lang="en-US" sz="1200" i="1" dirty="0">
                <a:solidFill>
                  <a:srgbClr val="14B8A6"/>
                </a:solidFill>
                <a:latin typeface="Consolas" pitchFamily="34" charset="0"/>
                <a:ea typeface="Consolas" pitchFamily="34" charset="-122"/>
                <a:cs typeface="Consolas" pitchFamily="34" charset="-120"/>
              </a:rPr>
              <a:t>Single quotes ARE valid PromQL</a:t>
            </a:r>
            <a:endParaRPr lang="en-US" sz="1200" dirty="0"/>
          </a:p>
        </p:txBody>
      </p:sp>
      <p:sp>
        <p:nvSpPr>
          <p:cNvPr id="16" name="Shape 14"/>
          <p:cNvSpPr/>
          <p:nvPr/>
        </p:nvSpPr>
        <p:spPr>
          <a:xfrm>
            <a:off x="548640" y="4069080"/>
            <a:ext cx="5440680" cy="2331720"/>
          </a:xfrm>
          <a:prstGeom prst="roundRect">
            <a:avLst>
              <a:gd name="adj" fmla="val 3137"/>
            </a:avLst>
          </a:prstGeom>
          <a:solidFill>
            <a:srgbClr val="1A2744"/>
          </a:solidFill>
          <a:ln w="12700">
            <a:solidFill>
              <a:srgbClr val="1A2744"/>
            </a:solidFill>
            <a:prstDash val="solid"/>
          </a:ln>
        </p:spPr>
      </p:sp>
      <p:sp>
        <p:nvSpPr>
          <p:cNvPr id="17" name="Shape 15"/>
          <p:cNvSpPr/>
          <p:nvPr/>
        </p:nvSpPr>
        <p:spPr>
          <a:xfrm>
            <a:off x="548640" y="4069080"/>
            <a:ext cx="164592" cy="2331720"/>
          </a:xfrm>
          <a:prstGeom prst="rect">
            <a:avLst/>
          </a:prstGeom>
          <a:solidFill>
            <a:srgbClr val="F59E0B"/>
          </a:solidFill>
          <a:ln w="12700">
            <a:solidFill>
              <a:srgbClr val="F59E0B"/>
            </a:solidFill>
            <a:prstDash val="solid"/>
          </a:ln>
        </p:spPr>
      </p:sp>
      <p:sp>
        <p:nvSpPr>
          <p:cNvPr id="18" name="Text 16"/>
          <p:cNvSpPr/>
          <p:nvPr/>
        </p:nvSpPr>
        <p:spPr>
          <a:xfrm>
            <a:off x="914400" y="4206240"/>
            <a:ext cx="4983480" cy="365760"/>
          </a:xfrm>
          <a:prstGeom prst="rect">
            <a:avLst/>
          </a:prstGeom>
          <a:noFill/>
          <a:ln/>
        </p:spPr>
        <p:txBody>
          <a:bodyPr wrap="square" rtlCol="0" anchor="ctr"/>
          <a:lstStyle/>
          <a:p>
            <a:pPr indent="0" marL="0">
              <a:buNone/>
            </a:pPr>
            <a:r>
              <a:rPr lang="en-US" sz="1400" b="1" spc="300" kern="0" dirty="0">
                <a:solidFill>
                  <a:srgbClr val="F59E0B"/>
                </a:solidFill>
                <a:latin typeface="Calibri" pitchFamily="34" charset="0"/>
                <a:ea typeface="Calibri" pitchFamily="34" charset="-122"/>
                <a:cs typeface="Calibri" pitchFamily="34" charset="-120"/>
              </a:rPr>
              <a:t>SILENT GARBAGE</a:t>
            </a:r>
            <a:endParaRPr lang="en-US" sz="1400" dirty="0"/>
          </a:p>
        </p:txBody>
      </p:sp>
      <p:sp>
        <p:nvSpPr>
          <p:cNvPr id="19" name="Text 17"/>
          <p:cNvSpPr/>
          <p:nvPr/>
        </p:nvSpPr>
        <p:spPr>
          <a:xfrm>
            <a:off x="914400" y="4572000"/>
            <a:ext cx="4983480" cy="36576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Graph with unreadable / extreme values</a:t>
            </a:r>
            <a:endParaRPr lang="en-US" sz="1500" dirty="0"/>
          </a:p>
        </p:txBody>
      </p:sp>
      <p:sp>
        <p:nvSpPr>
          <p:cNvPr id="20" name="Text 18"/>
          <p:cNvSpPr/>
          <p:nvPr/>
        </p:nvSpPr>
        <p:spPr>
          <a:xfrm>
            <a:off x="914400" y="4937760"/>
            <a:ext cx="4983480" cy="91440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Query ran. Result is meaningless (Inf, NaN). Most dangerous class.</a:t>
            </a:r>
            <a:endParaRPr lang="en-US" sz="1300" dirty="0"/>
          </a:p>
        </p:txBody>
      </p:sp>
      <p:sp>
        <p:nvSpPr>
          <p:cNvPr id="21" name="Text 19"/>
          <p:cNvSpPr/>
          <p:nvPr/>
        </p:nvSpPr>
        <p:spPr>
          <a:xfrm>
            <a:off x="914400" y="5943600"/>
            <a:ext cx="4983480" cy="365760"/>
          </a:xfrm>
          <a:prstGeom prst="rect">
            <a:avLst/>
          </a:prstGeom>
          <a:noFill/>
          <a:ln/>
        </p:spPr>
        <p:txBody>
          <a:bodyPr wrap="square" rtlCol="0" anchor="t"/>
          <a:lstStyle/>
          <a:p>
            <a:pPr indent="0" marL="0">
              <a:buNone/>
            </a:pPr>
            <a:r>
              <a:rPr lang="en-US" sz="1200" i="1" dirty="0">
                <a:solidFill>
                  <a:srgbClr val="14B8A6"/>
                </a:solidFill>
                <a:latin typeface="Consolas" pitchFamily="34" charset="0"/>
                <a:ea typeface="Consolas" pitchFamily="34" charset="-122"/>
                <a:cs typeface="Consolas" pitchFamily="34" charset="-120"/>
              </a:rPr>
              <a:t>Bug 4: histogram_quantile(95, …)</a:t>
            </a:r>
            <a:endParaRPr lang="en-US" sz="1200" dirty="0"/>
          </a:p>
        </p:txBody>
      </p:sp>
      <p:sp>
        <p:nvSpPr>
          <p:cNvPr id="22" name="Shape 20"/>
          <p:cNvSpPr/>
          <p:nvPr/>
        </p:nvSpPr>
        <p:spPr>
          <a:xfrm>
            <a:off x="6199632" y="4069080"/>
            <a:ext cx="5440680" cy="2331720"/>
          </a:xfrm>
          <a:prstGeom prst="roundRect">
            <a:avLst>
              <a:gd name="adj" fmla="val 3137"/>
            </a:avLst>
          </a:prstGeom>
          <a:solidFill>
            <a:srgbClr val="1A2744"/>
          </a:solidFill>
          <a:ln w="12700">
            <a:solidFill>
              <a:srgbClr val="1A2744"/>
            </a:solidFill>
            <a:prstDash val="solid"/>
          </a:ln>
        </p:spPr>
      </p:sp>
      <p:sp>
        <p:nvSpPr>
          <p:cNvPr id="23" name="Shape 21"/>
          <p:cNvSpPr/>
          <p:nvPr/>
        </p:nvSpPr>
        <p:spPr>
          <a:xfrm>
            <a:off x="6199632" y="4069080"/>
            <a:ext cx="164592" cy="2331720"/>
          </a:xfrm>
          <a:prstGeom prst="rect">
            <a:avLst/>
          </a:prstGeom>
          <a:solidFill>
            <a:srgbClr val="94A3B8"/>
          </a:solidFill>
          <a:ln w="12700">
            <a:solidFill>
              <a:srgbClr val="94A3B8"/>
            </a:solidFill>
            <a:prstDash val="solid"/>
          </a:ln>
        </p:spPr>
      </p:sp>
      <p:sp>
        <p:nvSpPr>
          <p:cNvPr id="24" name="Text 22"/>
          <p:cNvSpPr/>
          <p:nvPr/>
        </p:nvSpPr>
        <p:spPr>
          <a:xfrm>
            <a:off x="6565392" y="4206240"/>
            <a:ext cx="4983480" cy="365760"/>
          </a:xfrm>
          <a:prstGeom prst="rect">
            <a:avLst/>
          </a:prstGeom>
          <a:noFill/>
          <a:ln/>
        </p:spPr>
        <p:txBody>
          <a:bodyPr wrap="square" rtlCol="0" anchor="ctr"/>
          <a:lstStyle/>
          <a:p>
            <a:pPr indent="0" marL="0">
              <a:buNone/>
            </a:pPr>
            <a:r>
              <a:rPr lang="en-US" sz="1400" b="1" spc="300" kern="0" dirty="0">
                <a:solidFill>
                  <a:srgbClr val="94A3B8"/>
                </a:solidFill>
                <a:latin typeface="Calibri" pitchFamily="34" charset="0"/>
                <a:ea typeface="Calibri" pitchFamily="34" charset="-122"/>
                <a:cs typeface="Calibri" pitchFamily="34" charset="-120"/>
              </a:rPr>
              <a:t>SILENT EMPTY</a:t>
            </a:r>
            <a:endParaRPr lang="en-US" sz="1400" dirty="0"/>
          </a:p>
        </p:txBody>
      </p:sp>
      <p:sp>
        <p:nvSpPr>
          <p:cNvPr id="25" name="Text 23"/>
          <p:cNvSpPr/>
          <p:nvPr/>
        </p:nvSpPr>
        <p:spPr>
          <a:xfrm>
            <a:off x="6565392" y="4572000"/>
            <a:ext cx="4983480" cy="365760"/>
          </a:xfrm>
          <a:prstGeom prst="rect">
            <a:avLst/>
          </a:prstGeom>
          <a:noFill/>
          <a:ln/>
        </p:spPr>
        <p:txBody>
          <a:bodyPr wrap="square"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"No data", NO warning</a:t>
            </a:r>
            <a:endParaRPr lang="en-US" sz="1500" dirty="0"/>
          </a:p>
        </p:txBody>
      </p:sp>
      <p:sp>
        <p:nvSpPr>
          <p:cNvPr id="26" name="Text 24"/>
          <p:cNvSpPr/>
          <p:nvPr/>
        </p:nvSpPr>
        <p:spPr>
          <a:xfrm>
            <a:off x="6565392" y="4937760"/>
            <a:ext cx="4983480" cy="91440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Query valid, but no matching series. Typically a typo or wrong metric.</a:t>
            </a:r>
            <a:endParaRPr lang="en-US" sz="1300" dirty="0"/>
          </a:p>
        </p:txBody>
      </p:sp>
      <p:sp>
        <p:nvSpPr>
          <p:cNvPr id="27" name="Text 25"/>
          <p:cNvSpPr/>
          <p:nvPr/>
        </p:nvSpPr>
        <p:spPr>
          <a:xfrm>
            <a:off x="6565392" y="5943600"/>
            <a:ext cx="4983480" cy="365760"/>
          </a:xfrm>
          <a:prstGeom prst="rect">
            <a:avLst/>
          </a:prstGeom>
          <a:noFill/>
          <a:ln/>
        </p:spPr>
        <p:txBody>
          <a:bodyPr wrap="square" rtlCol="0" anchor="t"/>
          <a:lstStyle/>
          <a:p>
            <a:pPr indent="0" marL="0">
              <a:buNone/>
            </a:pPr>
            <a:r>
              <a:rPr lang="en-US" sz="1200" i="1" dirty="0">
                <a:solidFill>
                  <a:srgbClr val="14B8A6"/>
                </a:solidFill>
                <a:latin typeface="Consolas" pitchFamily="34" charset="0"/>
                <a:ea typeface="Consolas" pitchFamily="34" charset="-122"/>
                <a:cs typeface="Consolas" pitchFamily="34" charset="-120"/>
              </a:rPr>
              <a:t>Bug 5: active_connection (singular)</a:t>
            </a:r>
            <a:endParaRPr lang="en-US" sz="1200" dirty="0"/>
          </a:p>
        </p:txBody>
      </p:sp>
      <p:sp>
        <p:nvSpPr>
          <p:cNvPr id="28" name="Text 26"/>
          <p:cNvSpPr/>
          <p:nvPr/>
        </p:nvSpPr>
        <p:spPr>
          <a:xfrm>
            <a:off x="548640" y="6400800"/>
            <a:ext cx="11091672" cy="365760"/>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The warning triangle on a panel is information. It tells you which class of bug you're looking 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Bug 6 — Read the logs first</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The dashboard wasn't even loading. The list was empty. Why?</a:t>
            </a:r>
            <a:endParaRPr lang="en-US" sz="1600" dirty="0"/>
          </a:p>
        </p:txBody>
      </p:sp>
      <p:sp>
        <p:nvSpPr>
          <p:cNvPr id="4" name="Shape 2"/>
          <p:cNvSpPr/>
          <p:nvPr/>
        </p:nvSpPr>
        <p:spPr>
          <a:xfrm>
            <a:off x="548640" y="1600200"/>
            <a:ext cx="11091672" cy="914400"/>
          </a:xfrm>
          <a:prstGeom prst="roundRect">
            <a:avLst>
              <a:gd name="adj" fmla="val 8000"/>
            </a:avLst>
          </a:prstGeom>
          <a:solidFill>
            <a:srgbClr val="1A2744"/>
          </a:solidFill>
          <a:ln w="12700">
            <a:solidFill>
              <a:srgbClr val="1A2744"/>
            </a:solidFill>
            <a:prstDash val="solid"/>
          </a:ln>
        </p:spPr>
      </p:sp>
      <p:sp>
        <p:nvSpPr>
          <p:cNvPr id="5" name="Text 3"/>
          <p:cNvSpPr/>
          <p:nvPr/>
        </p:nvSpPr>
        <p:spPr>
          <a:xfrm>
            <a:off x="777240" y="1691640"/>
            <a:ext cx="10607040" cy="27432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From docker compose logs grafana:</a:t>
            </a:r>
            <a:endParaRPr lang="en-US" sz="1200" dirty="0"/>
          </a:p>
        </p:txBody>
      </p:sp>
      <p:sp>
        <p:nvSpPr>
          <p:cNvPr id="6" name="Text 4"/>
          <p:cNvSpPr/>
          <p:nvPr/>
        </p:nvSpPr>
        <p:spPr>
          <a:xfrm>
            <a:off x="777240" y="1965960"/>
            <a:ext cx="10607040" cy="457200"/>
          </a:xfrm>
          <a:prstGeom prst="rect">
            <a:avLst/>
          </a:prstGeom>
          <a:noFill/>
          <a:ln/>
        </p:spPr>
        <p:txBody>
          <a:bodyPr wrap="square" rtlCol="0" anchor="t"/>
          <a:lstStyle/>
          <a:p>
            <a:pPr indent="0" marL="0">
              <a:buNone/>
            </a:pPr>
            <a:r>
              <a:rPr lang="en-US" sz="1200" dirty="0">
                <a:solidFill>
                  <a:srgbClr val="EF4444"/>
                </a:solidFill>
                <a:latin typeface="Consolas" pitchFamily="34" charset="0"/>
                <a:ea typeface="Consolas" pitchFamily="34" charset="-122"/>
                <a:cs typeface="Consolas" pitchFamily="34" charset="-120"/>
              </a:rPr>
              <a:t>level=error  msg="failed to load dashboard from "  file=app-dashboard.json  error="Dashboard title cannot be empty"</a:t>
            </a:r>
            <a:endParaRPr lang="en-US" sz="1200" dirty="0"/>
          </a:p>
        </p:txBody>
      </p:sp>
      <p:sp>
        <p:nvSpPr>
          <p:cNvPr id="7" name="Shape 5"/>
          <p:cNvSpPr/>
          <p:nvPr/>
        </p:nvSpPr>
        <p:spPr>
          <a:xfrm>
            <a:off x="548640" y="2697480"/>
            <a:ext cx="5440680" cy="3200400"/>
          </a:xfrm>
          <a:prstGeom prst="roundRect">
            <a:avLst>
              <a:gd name="adj" fmla="val 2286"/>
            </a:avLst>
          </a:prstGeom>
          <a:solidFill>
            <a:srgbClr val="1A2744"/>
          </a:solidFill>
          <a:ln w="12700">
            <a:solidFill>
              <a:srgbClr val="1A2744"/>
            </a:solidFill>
            <a:prstDash val="solid"/>
          </a:ln>
        </p:spPr>
      </p:sp>
      <p:sp>
        <p:nvSpPr>
          <p:cNvPr id="8" name="Shape 6"/>
          <p:cNvSpPr/>
          <p:nvPr/>
        </p:nvSpPr>
        <p:spPr>
          <a:xfrm>
            <a:off x="6199632" y="2697480"/>
            <a:ext cx="5440680" cy="3200400"/>
          </a:xfrm>
          <a:prstGeom prst="roundRect">
            <a:avLst>
              <a:gd name="adj" fmla="val 2286"/>
            </a:avLst>
          </a:prstGeom>
          <a:solidFill>
            <a:srgbClr val="1A2744"/>
          </a:solidFill>
          <a:ln w="12700">
            <a:solidFill>
              <a:srgbClr val="1A2744"/>
            </a:solidFill>
            <a:prstDash val="solid"/>
          </a:ln>
        </p:spPr>
      </p:sp>
      <p:sp>
        <p:nvSpPr>
          <p:cNvPr id="9" name="Text 7"/>
          <p:cNvSpPr/>
          <p:nvPr/>
        </p:nvSpPr>
        <p:spPr>
          <a:xfrm>
            <a:off x="777240" y="2788920"/>
            <a:ext cx="4983480" cy="320040"/>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What was in the file</a:t>
            </a:r>
            <a:endParaRPr lang="en-US" sz="1400" dirty="0"/>
          </a:p>
        </p:txBody>
      </p:sp>
      <p:sp>
        <p:nvSpPr>
          <p:cNvPr id="10" name="Text 8"/>
          <p:cNvSpPr/>
          <p:nvPr/>
        </p:nvSpPr>
        <p:spPr>
          <a:xfrm>
            <a:off x="777240" y="3154680"/>
            <a:ext cx="4983480" cy="1371600"/>
          </a:xfrm>
          <a:prstGeom prst="rect">
            <a:avLst/>
          </a:prstGeom>
          <a:noFill/>
          <a:ln/>
        </p:spPr>
        <p:txBody>
          <a:bodyPr wrap="square"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"dashboard":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"title": "Application Dashboard",</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"panels":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1" name="Text 9"/>
          <p:cNvSpPr/>
          <p:nvPr/>
        </p:nvSpPr>
        <p:spPr>
          <a:xfrm>
            <a:off x="777240" y="4572000"/>
            <a:ext cx="4983480" cy="12344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API-import format. Has an outer "dashboard" wrapper. Provisioner looks for "title" at the top — finds nothing.</a:t>
            </a:r>
            <a:endParaRPr lang="en-US" sz="1300" dirty="0"/>
          </a:p>
        </p:txBody>
      </p:sp>
      <p:sp>
        <p:nvSpPr>
          <p:cNvPr id="12" name="Text 10"/>
          <p:cNvSpPr/>
          <p:nvPr/>
        </p:nvSpPr>
        <p:spPr>
          <a:xfrm>
            <a:off x="6428232" y="2788920"/>
            <a:ext cx="4983480" cy="320040"/>
          </a:xfrm>
          <a:prstGeom prst="rect">
            <a:avLst/>
          </a:prstGeom>
          <a:noFill/>
          <a:ln/>
        </p:spPr>
        <p:txBody>
          <a:bodyPr wrap="square"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What it needed to be</a:t>
            </a:r>
            <a:endParaRPr lang="en-US" sz="1400" dirty="0"/>
          </a:p>
        </p:txBody>
      </p:sp>
      <p:sp>
        <p:nvSpPr>
          <p:cNvPr id="13" name="Text 11"/>
          <p:cNvSpPr/>
          <p:nvPr/>
        </p:nvSpPr>
        <p:spPr>
          <a:xfrm>
            <a:off x="6428232" y="3154680"/>
            <a:ext cx="4983480" cy="1371600"/>
          </a:xfrm>
          <a:prstGeom prst="rect">
            <a:avLst/>
          </a:prstGeom>
          <a:noFill/>
          <a:ln/>
        </p:spPr>
        <p:txBody>
          <a:bodyPr wrap="square"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"title": "Application Dashboard",</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"panels":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4" name="Text 12"/>
          <p:cNvSpPr/>
          <p:nvPr/>
        </p:nvSpPr>
        <p:spPr>
          <a:xfrm>
            <a:off x="6428232" y="4572000"/>
            <a:ext cx="4983480" cy="12344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Provisioning format. Flat object, "title" at top level. Grafana loads it.</a:t>
            </a:r>
            <a:endParaRPr lang="en-US" sz="1300" dirty="0"/>
          </a:p>
        </p:txBody>
      </p:sp>
      <p:sp>
        <p:nvSpPr>
          <p:cNvPr id="15" name="Shape 13"/>
          <p:cNvSpPr/>
          <p:nvPr/>
        </p:nvSpPr>
        <p:spPr>
          <a:xfrm>
            <a:off x="548640" y="6035040"/>
            <a:ext cx="11091672" cy="640080"/>
          </a:xfrm>
          <a:prstGeom prst="roundRect">
            <a:avLst>
              <a:gd name="adj" fmla="val 11429"/>
            </a:avLst>
          </a:prstGeom>
          <a:solidFill>
            <a:srgbClr val="1A2744"/>
          </a:solidFill>
          <a:ln w="12700">
            <a:solidFill>
              <a:srgbClr val="1A2744"/>
            </a:solidFill>
            <a:prstDash val="solid"/>
          </a:ln>
        </p:spPr>
      </p:sp>
      <p:sp>
        <p:nvSpPr>
          <p:cNvPr id="16" name="Text 14"/>
          <p:cNvSpPr/>
          <p:nvPr/>
        </p:nvSpPr>
        <p:spPr>
          <a:xfrm>
            <a:off x="777240" y="6035040"/>
            <a:ext cx="10607040" cy="640080"/>
          </a:xfrm>
          <a:prstGeom prst="rect">
            <a:avLst/>
          </a:prstGeom>
          <a:noFill/>
          <a:ln/>
        </p:spPr>
        <p:txBody>
          <a:bodyPr wrap="square" rtlCol="0" anchor="ctr"/>
          <a:lstStyle/>
          <a:p>
            <a:pPr algn="l" indent="0" marL="0">
              <a:buNone/>
            </a:pPr>
            <a:r>
              <a:rPr lang="en-US" sz="1400" i="1" dirty="0">
                <a:solidFill>
                  <a:srgbClr val="14B8A6"/>
                </a:solidFill>
                <a:latin typeface="Calibri" pitchFamily="34" charset="0"/>
                <a:ea typeface="Calibri" pitchFamily="34" charset="-122"/>
                <a:cs typeface="Calibri" pitchFamily="34" charset="-120"/>
              </a:rPr>
              <a:t>Lesson: The system was already telling you what was wrong. You had to read the logs to hear 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Bug 1 — localhost always means "me"</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Same URL, three different machines, three different answers. This is the lesson of Docker networking.</a:t>
            </a:r>
            <a:endParaRPr lang="en-US" sz="1500" dirty="0"/>
          </a:p>
        </p:txBody>
      </p:sp>
      <p:sp>
        <p:nvSpPr>
          <p:cNvPr id="4" name="Shape 2"/>
          <p:cNvSpPr/>
          <p:nvPr/>
        </p:nvSpPr>
        <p:spPr>
          <a:xfrm>
            <a:off x="548640" y="1600200"/>
            <a:ext cx="3657600" cy="4297680"/>
          </a:xfrm>
          <a:prstGeom prst="roundRect">
            <a:avLst>
              <a:gd name="adj" fmla="val 2000"/>
            </a:avLst>
          </a:prstGeom>
          <a:solidFill>
            <a:srgbClr val="1A2744"/>
          </a:solidFill>
          <a:ln w="12700">
            <a:solidFill>
              <a:srgbClr val="1A2744"/>
            </a:solidFill>
            <a:prstDash val="solid"/>
          </a:ln>
        </p:spPr>
      </p:sp>
      <p:sp>
        <p:nvSpPr>
          <p:cNvPr id="5" name="Shape 3"/>
          <p:cNvSpPr/>
          <p:nvPr/>
        </p:nvSpPr>
        <p:spPr>
          <a:xfrm>
            <a:off x="548640" y="1600200"/>
            <a:ext cx="3657600" cy="411480"/>
          </a:xfrm>
          <a:prstGeom prst="rect">
            <a:avLst/>
          </a:prstGeom>
          <a:solidFill>
            <a:srgbClr val="22C55E"/>
          </a:solidFill>
          <a:ln w="12700">
            <a:solidFill>
              <a:srgbClr val="22C55E"/>
            </a:solidFill>
            <a:prstDash val="solid"/>
          </a:ln>
        </p:spPr>
      </p:sp>
      <p:sp>
        <p:nvSpPr>
          <p:cNvPr id="6" name="Text 4"/>
          <p:cNvSpPr/>
          <p:nvPr/>
        </p:nvSpPr>
        <p:spPr>
          <a:xfrm>
            <a:off x="685800" y="1600200"/>
            <a:ext cx="33832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From the Pi shell</a:t>
            </a:r>
            <a:endParaRPr lang="en-US" sz="1300" dirty="0"/>
          </a:p>
        </p:txBody>
      </p:sp>
      <p:sp>
        <p:nvSpPr>
          <p:cNvPr id="7" name="Text 5"/>
          <p:cNvSpPr/>
          <p:nvPr/>
        </p:nvSpPr>
        <p:spPr>
          <a:xfrm>
            <a:off x="731520" y="2194560"/>
            <a:ext cx="3291840" cy="1188720"/>
          </a:xfrm>
          <a:prstGeom prst="rect">
            <a:avLst/>
          </a:prstGeom>
          <a:noFill/>
          <a:ln/>
        </p:spPr>
        <p:txBody>
          <a:bodyPr wrap="square" rtlCol="0" anchor="t"/>
          <a:lstStyle/>
          <a:p>
            <a:pPr indent="0" marL="0">
              <a:buNone/>
            </a:pPr>
            <a:r>
              <a:rPr lang="en-US" sz="1100" dirty="0">
                <a:solidFill>
                  <a:srgbClr val="14B8A6"/>
                </a:solidFill>
                <a:latin typeface="Consolas" pitchFamily="34" charset="0"/>
                <a:ea typeface="Consolas" pitchFamily="34" charset="-122"/>
                <a:cs typeface="Consolas" pitchFamily="34" charset="-120"/>
              </a:rPr>
              <a:t>curl http://localhost:9090/-/healthy</a:t>
            </a:r>
            <a:endParaRPr lang="en-US" sz="1100" dirty="0"/>
          </a:p>
        </p:txBody>
      </p:sp>
      <p:sp>
        <p:nvSpPr>
          <p:cNvPr id="8" name="Text 6"/>
          <p:cNvSpPr/>
          <p:nvPr/>
        </p:nvSpPr>
        <p:spPr>
          <a:xfrm>
            <a:off x="731520" y="3429000"/>
            <a:ext cx="3291840" cy="457200"/>
          </a:xfrm>
          <a:prstGeom prst="rect">
            <a:avLst/>
          </a:prstGeom>
          <a:noFill/>
          <a:ln/>
        </p:spPr>
        <p:txBody>
          <a:bodyPr wrap="square" rtlCol="0" anchor="t"/>
          <a:lstStyle/>
          <a:p>
            <a:pPr indent="0" marL="0">
              <a:buNone/>
            </a:pPr>
            <a:r>
              <a:rPr lang="en-US" sz="1200" b="1" dirty="0">
                <a:solidFill>
                  <a:srgbClr val="22C55E"/>
                </a:solidFill>
                <a:latin typeface="Consolas" pitchFamily="34" charset="0"/>
                <a:ea typeface="Consolas" pitchFamily="34" charset="-122"/>
                <a:cs typeface="Consolas" pitchFamily="34" charset="-120"/>
              </a:rPr>
              <a:t>→ Prometheus Server is Healthy.</a:t>
            </a:r>
            <a:endParaRPr lang="en-US" sz="1200" dirty="0"/>
          </a:p>
        </p:txBody>
      </p:sp>
      <p:sp>
        <p:nvSpPr>
          <p:cNvPr id="9" name="Text 7"/>
          <p:cNvSpPr/>
          <p:nvPr/>
        </p:nvSpPr>
        <p:spPr>
          <a:xfrm>
            <a:off x="731520" y="3977640"/>
            <a:ext cx="3291840" cy="173736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localhost = the Pi.</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The Pi has Prometheus exposed on port 9090 via Docker port mapping.</a:t>
            </a:r>
            <a:endParaRPr lang="en-US" sz="1200" dirty="0"/>
          </a:p>
        </p:txBody>
      </p:sp>
      <p:sp>
        <p:nvSpPr>
          <p:cNvPr id="10" name="Shape 8"/>
          <p:cNvSpPr/>
          <p:nvPr/>
        </p:nvSpPr>
        <p:spPr>
          <a:xfrm>
            <a:off x="4352544" y="1600200"/>
            <a:ext cx="3657600" cy="4297680"/>
          </a:xfrm>
          <a:prstGeom prst="roundRect">
            <a:avLst>
              <a:gd name="adj" fmla="val 2000"/>
            </a:avLst>
          </a:prstGeom>
          <a:solidFill>
            <a:srgbClr val="1A2744"/>
          </a:solidFill>
          <a:ln w="12700">
            <a:solidFill>
              <a:srgbClr val="1A2744"/>
            </a:solidFill>
            <a:prstDash val="solid"/>
          </a:ln>
        </p:spPr>
      </p:sp>
      <p:sp>
        <p:nvSpPr>
          <p:cNvPr id="11" name="Shape 9"/>
          <p:cNvSpPr/>
          <p:nvPr/>
        </p:nvSpPr>
        <p:spPr>
          <a:xfrm>
            <a:off x="4352544" y="1600200"/>
            <a:ext cx="3657600" cy="411480"/>
          </a:xfrm>
          <a:prstGeom prst="rect">
            <a:avLst/>
          </a:prstGeom>
          <a:solidFill>
            <a:srgbClr val="EF4444"/>
          </a:solidFill>
          <a:ln w="12700">
            <a:solidFill>
              <a:srgbClr val="EF4444"/>
            </a:solidFill>
            <a:prstDash val="solid"/>
          </a:ln>
        </p:spPr>
      </p:sp>
      <p:sp>
        <p:nvSpPr>
          <p:cNvPr id="12" name="Text 10"/>
          <p:cNvSpPr/>
          <p:nvPr/>
        </p:nvSpPr>
        <p:spPr>
          <a:xfrm>
            <a:off x="4489704" y="1600200"/>
            <a:ext cx="33832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Inside the Grafana container</a:t>
            </a:r>
            <a:endParaRPr lang="en-US" sz="1300" dirty="0"/>
          </a:p>
        </p:txBody>
      </p:sp>
      <p:sp>
        <p:nvSpPr>
          <p:cNvPr id="13" name="Text 11"/>
          <p:cNvSpPr/>
          <p:nvPr/>
        </p:nvSpPr>
        <p:spPr>
          <a:xfrm>
            <a:off x="4535424" y="2194560"/>
            <a:ext cx="3291840" cy="1188720"/>
          </a:xfrm>
          <a:prstGeom prst="rect">
            <a:avLst/>
          </a:prstGeom>
          <a:noFill/>
          <a:ln/>
        </p:spPr>
        <p:txBody>
          <a:bodyPr wrap="square" rtlCol="0" anchor="t"/>
          <a:lstStyle/>
          <a:p>
            <a:pPr indent="0" marL="0">
              <a:buNone/>
            </a:pPr>
            <a:r>
              <a:rPr lang="en-US" sz="1100" dirty="0">
                <a:solidFill>
                  <a:srgbClr val="14B8A6"/>
                </a:solidFill>
                <a:latin typeface="Consolas" pitchFamily="34" charset="0"/>
                <a:ea typeface="Consolas" pitchFamily="34" charset="-122"/>
                <a:cs typeface="Consolas" pitchFamily="34" charset="-120"/>
              </a:rPr>
              <a:t>docker exec lab056-grafana \</a:t>
            </a:r>
            <a:endParaRPr lang="en-US" sz="1100" dirty="0"/>
          </a:p>
          <a:p>
            <a:pPr indent="0" marL="0">
              <a:buNone/>
            </a:pPr>
            <a:r>
              <a:rPr lang="en-US" sz="1100" dirty="0">
                <a:solidFill>
                  <a:srgbClr val="14B8A6"/>
                </a:solidFill>
                <a:latin typeface="Consolas" pitchFamily="34" charset="0"/>
                <a:ea typeface="Consolas" pitchFamily="34" charset="-122"/>
                <a:cs typeface="Consolas" pitchFamily="34" charset="-120"/>
              </a:rPr>
              <a:t>  wget http://localhost:9090/-/healthy</a:t>
            </a:r>
            <a:endParaRPr lang="en-US" sz="1100" dirty="0"/>
          </a:p>
        </p:txBody>
      </p:sp>
      <p:sp>
        <p:nvSpPr>
          <p:cNvPr id="14" name="Text 12"/>
          <p:cNvSpPr/>
          <p:nvPr/>
        </p:nvSpPr>
        <p:spPr>
          <a:xfrm>
            <a:off x="4535424" y="3429000"/>
            <a:ext cx="3291840" cy="457200"/>
          </a:xfrm>
          <a:prstGeom prst="rect">
            <a:avLst/>
          </a:prstGeom>
          <a:noFill/>
          <a:ln/>
        </p:spPr>
        <p:txBody>
          <a:bodyPr wrap="square" rtlCol="0" anchor="t"/>
          <a:lstStyle/>
          <a:p>
            <a:pPr indent="0" marL="0">
              <a:buNone/>
            </a:pPr>
            <a:r>
              <a:rPr lang="en-US" sz="1200" b="1" dirty="0">
                <a:solidFill>
                  <a:srgbClr val="EF4444"/>
                </a:solidFill>
                <a:latin typeface="Consolas" pitchFamily="34" charset="0"/>
                <a:ea typeface="Consolas" pitchFamily="34" charset="-122"/>
                <a:cs typeface="Consolas" pitchFamily="34" charset="-120"/>
              </a:rPr>
              <a:t>→ Connection refused</a:t>
            </a:r>
            <a:endParaRPr lang="en-US" sz="1200" dirty="0"/>
          </a:p>
        </p:txBody>
      </p:sp>
      <p:sp>
        <p:nvSpPr>
          <p:cNvPr id="15" name="Text 13"/>
          <p:cNvSpPr/>
          <p:nvPr/>
        </p:nvSpPr>
        <p:spPr>
          <a:xfrm>
            <a:off x="4535424" y="3977640"/>
            <a:ext cx="3291840" cy="173736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localhost = Grafana itself.</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Grafana listens on 3000, not 9090. Port 9090 is empty.</a:t>
            </a:r>
            <a:endParaRPr lang="en-US" sz="1200" dirty="0"/>
          </a:p>
        </p:txBody>
      </p:sp>
      <p:sp>
        <p:nvSpPr>
          <p:cNvPr id="16" name="Shape 14"/>
          <p:cNvSpPr/>
          <p:nvPr/>
        </p:nvSpPr>
        <p:spPr>
          <a:xfrm>
            <a:off x="8156448" y="1600200"/>
            <a:ext cx="3657600" cy="4297680"/>
          </a:xfrm>
          <a:prstGeom prst="roundRect">
            <a:avLst>
              <a:gd name="adj" fmla="val 2000"/>
            </a:avLst>
          </a:prstGeom>
          <a:solidFill>
            <a:srgbClr val="1A2744"/>
          </a:solidFill>
          <a:ln w="12700">
            <a:solidFill>
              <a:srgbClr val="1A2744"/>
            </a:solidFill>
            <a:prstDash val="solid"/>
          </a:ln>
        </p:spPr>
      </p:sp>
      <p:sp>
        <p:nvSpPr>
          <p:cNvPr id="17" name="Shape 15"/>
          <p:cNvSpPr/>
          <p:nvPr/>
        </p:nvSpPr>
        <p:spPr>
          <a:xfrm>
            <a:off x="8156448" y="1600200"/>
            <a:ext cx="3657600" cy="411480"/>
          </a:xfrm>
          <a:prstGeom prst="rect">
            <a:avLst/>
          </a:prstGeom>
          <a:solidFill>
            <a:srgbClr val="22C55E"/>
          </a:solidFill>
          <a:ln w="12700">
            <a:solidFill>
              <a:srgbClr val="22C55E"/>
            </a:solidFill>
            <a:prstDash val="solid"/>
          </a:ln>
        </p:spPr>
      </p:sp>
      <p:sp>
        <p:nvSpPr>
          <p:cNvPr id="18" name="Text 16"/>
          <p:cNvSpPr/>
          <p:nvPr/>
        </p:nvSpPr>
        <p:spPr>
          <a:xfrm>
            <a:off x="8293608" y="1600200"/>
            <a:ext cx="338328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Inside Grafana, but using "prometheus"</a:t>
            </a:r>
            <a:endParaRPr lang="en-US" sz="1300" dirty="0"/>
          </a:p>
        </p:txBody>
      </p:sp>
      <p:sp>
        <p:nvSpPr>
          <p:cNvPr id="19" name="Text 17"/>
          <p:cNvSpPr/>
          <p:nvPr/>
        </p:nvSpPr>
        <p:spPr>
          <a:xfrm>
            <a:off x="8339328" y="2194560"/>
            <a:ext cx="3291840" cy="1188720"/>
          </a:xfrm>
          <a:prstGeom prst="rect">
            <a:avLst/>
          </a:prstGeom>
          <a:noFill/>
          <a:ln/>
        </p:spPr>
        <p:txBody>
          <a:bodyPr wrap="square" rtlCol="0" anchor="t"/>
          <a:lstStyle/>
          <a:p>
            <a:pPr indent="0" marL="0">
              <a:buNone/>
            </a:pPr>
            <a:r>
              <a:rPr lang="en-US" sz="1100" dirty="0">
                <a:solidFill>
                  <a:srgbClr val="14B8A6"/>
                </a:solidFill>
                <a:latin typeface="Consolas" pitchFamily="34" charset="0"/>
                <a:ea typeface="Consolas" pitchFamily="34" charset="-122"/>
                <a:cs typeface="Consolas" pitchFamily="34" charset="-120"/>
              </a:rPr>
              <a:t>docker exec lab056-grafana \</a:t>
            </a:r>
            <a:endParaRPr lang="en-US" sz="1100" dirty="0"/>
          </a:p>
          <a:p>
            <a:pPr indent="0" marL="0">
              <a:buNone/>
            </a:pPr>
            <a:r>
              <a:rPr lang="en-US" sz="1100" dirty="0">
                <a:solidFill>
                  <a:srgbClr val="14B8A6"/>
                </a:solidFill>
                <a:latin typeface="Consolas" pitchFamily="34" charset="0"/>
                <a:ea typeface="Consolas" pitchFamily="34" charset="-122"/>
                <a:cs typeface="Consolas" pitchFamily="34" charset="-120"/>
              </a:rPr>
              <a:t>  wget http://prometheus:9090/-/healthy</a:t>
            </a:r>
            <a:endParaRPr lang="en-US" sz="1100" dirty="0"/>
          </a:p>
        </p:txBody>
      </p:sp>
      <p:sp>
        <p:nvSpPr>
          <p:cNvPr id="20" name="Text 18"/>
          <p:cNvSpPr/>
          <p:nvPr/>
        </p:nvSpPr>
        <p:spPr>
          <a:xfrm>
            <a:off x="8339328" y="3429000"/>
            <a:ext cx="3291840" cy="457200"/>
          </a:xfrm>
          <a:prstGeom prst="rect">
            <a:avLst/>
          </a:prstGeom>
          <a:noFill/>
          <a:ln/>
        </p:spPr>
        <p:txBody>
          <a:bodyPr wrap="square" rtlCol="0" anchor="t"/>
          <a:lstStyle/>
          <a:p>
            <a:pPr indent="0" marL="0">
              <a:buNone/>
            </a:pPr>
            <a:r>
              <a:rPr lang="en-US" sz="1200" b="1" dirty="0">
                <a:solidFill>
                  <a:srgbClr val="22C55E"/>
                </a:solidFill>
                <a:latin typeface="Consolas" pitchFamily="34" charset="0"/>
                <a:ea typeface="Consolas" pitchFamily="34" charset="-122"/>
                <a:cs typeface="Consolas" pitchFamily="34" charset="-120"/>
              </a:rPr>
              <a:t>→ Prometheus Server is Healthy.</a:t>
            </a:r>
            <a:endParaRPr lang="en-US" sz="1200" dirty="0"/>
          </a:p>
        </p:txBody>
      </p:sp>
      <p:sp>
        <p:nvSpPr>
          <p:cNvPr id="21" name="Text 19"/>
          <p:cNvSpPr/>
          <p:nvPr/>
        </p:nvSpPr>
        <p:spPr>
          <a:xfrm>
            <a:off x="8339328" y="3977640"/>
            <a:ext cx="3291840" cy="173736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Docker Compose registers each service as a DNS name on the project network.</a:t>
            </a:r>
            <a:endParaRPr lang="en-US" sz="1200" dirty="0"/>
          </a:p>
        </p:txBody>
      </p:sp>
      <p:sp>
        <p:nvSpPr>
          <p:cNvPr id="22" name="Shape 20"/>
          <p:cNvSpPr/>
          <p:nvPr/>
        </p:nvSpPr>
        <p:spPr>
          <a:xfrm>
            <a:off x="548640" y="6080760"/>
            <a:ext cx="11091672" cy="640080"/>
          </a:xfrm>
          <a:prstGeom prst="roundRect">
            <a:avLst>
              <a:gd name="adj" fmla="val 11429"/>
            </a:avLst>
          </a:prstGeom>
          <a:solidFill>
            <a:srgbClr val="1A2744"/>
          </a:solidFill>
          <a:ln w="12700">
            <a:solidFill>
              <a:srgbClr val="1A2744"/>
            </a:solidFill>
            <a:prstDash val="solid"/>
          </a:ln>
        </p:spPr>
      </p:sp>
      <p:sp>
        <p:nvSpPr>
          <p:cNvPr id="23" name="Text 21"/>
          <p:cNvSpPr/>
          <p:nvPr/>
        </p:nvSpPr>
        <p:spPr>
          <a:xfrm>
            <a:off x="777240" y="6080760"/>
            <a:ext cx="10607040" cy="640080"/>
          </a:xfrm>
          <a:prstGeom prst="rect">
            <a:avLst/>
          </a:prstGeom>
          <a:noFill/>
          <a:ln/>
        </p:spPr>
        <p:txBody>
          <a:bodyPr wrap="square" rtlCol="0" anchor="ctr"/>
          <a:lstStyle/>
          <a:p>
            <a:pPr algn="l" indent="0" marL="0">
              <a:buNone/>
            </a:pPr>
            <a:r>
              <a:rPr lang="en-US" sz="1300" i="1" dirty="0">
                <a:solidFill>
                  <a:srgbClr val="14B8A6"/>
                </a:solidFill>
                <a:latin typeface="Calibri" pitchFamily="34" charset="0"/>
                <a:ea typeface="Calibri" pitchFamily="34" charset="-122"/>
                <a:cs typeface="Calibri" pitchFamily="34" charset="-120"/>
              </a:rPr>
              <a:t>Each container has its own private network namespace. Two containers on the same host do not share localhost.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Bug 2 — rate() is a function, rates() is a typo</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rate() smooths a counter into per-second values over a window.</a:t>
            </a:r>
            <a:endParaRPr lang="en-US" sz="1600" dirty="0"/>
          </a:p>
        </p:txBody>
      </p:sp>
      <p:sp>
        <p:nvSpPr>
          <p:cNvPr id="4" name="Shape 2"/>
          <p:cNvSpPr/>
          <p:nvPr/>
        </p:nvSpPr>
        <p:spPr>
          <a:xfrm>
            <a:off x="548640" y="1600200"/>
            <a:ext cx="11091672" cy="2468880"/>
          </a:xfrm>
          <a:prstGeom prst="roundRect">
            <a:avLst>
              <a:gd name="adj" fmla="val 2963"/>
            </a:avLst>
          </a:prstGeom>
          <a:solidFill>
            <a:srgbClr val="1A2744"/>
          </a:solidFill>
          <a:ln w="12700">
            <a:solidFill>
              <a:srgbClr val="1A2744"/>
            </a:solidFill>
            <a:prstDash val="solid"/>
          </a:ln>
        </p:spPr>
      </p:sp>
      <p:sp>
        <p:nvSpPr>
          <p:cNvPr id="5" name="Text 3"/>
          <p:cNvSpPr/>
          <p:nvPr/>
        </p:nvSpPr>
        <p:spPr>
          <a:xfrm>
            <a:off x="777240" y="1691640"/>
            <a:ext cx="1060704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Example: a request counter over 5 minutes</a:t>
            </a:r>
            <a:endParaRPr lang="en-US" sz="1600" dirty="0"/>
          </a:p>
        </p:txBody>
      </p:sp>
      <p:sp>
        <p:nvSpPr>
          <p:cNvPr id="6" name="Text 4"/>
          <p:cNvSpPr/>
          <p:nvPr/>
        </p:nvSpPr>
        <p:spPr>
          <a:xfrm>
            <a:off x="777240" y="2103120"/>
            <a:ext cx="10607040" cy="1874520"/>
          </a:xfrm>
          <a:prstGeom prst="rect">
            <a:avLst/>
          </a:prstGeom>
          <a:noFill/>
          <a:ln/>
        </p:spPr>
        <p:txBody>
          <a:bodyPr wrap="square" rtlCol="0" anchor="t"/>
          <a:lstStyle/>
          <a:p>
            <a:pPr indent="0" marL="0">
              <a:buNone/>
            </a:pPr>
            <a:r>
              <a:rPr lang="en-US" sz="1400" dirty="0">
                <a:solidFill>
                  <a:srgbClr val="FFFFFF"/>
                </a:solidFill>
                <a:latin typeface="Consolas" pitchFamily="34" charset="0"/>
                <a:ea typeface="Consolas" pitchFamily="34" charset="-122"/>
                <a:cs typeface="Consolas" pitchFamily="34" charset="-120"/>
              </a:rPr>
              <a:t>http_requests_total starts at 100,000</a:t>
            </a:r>
            <a:endParaRPr lang="en-US" sz="1400" dirty="0"/>
          </a:p>
          <a:p>
            <a:pPr indent="0" marL="0">
              <a:buNone/>
            </a:pPr>
            <a:r>
              <a:rPr lang="en-US" sz="1400" dirty="0">
                <a:solidFill>
                  <a:srgbClr val="FFFFFF"/>
                </a:solidFill>
                <a:latin typeface="Consolas" pitchFamily="34" charset="0"/>
                <a:ea typeface="Consolas" pitchFamily="34" charset="-122"/>
                <a:cs typeface="Consolas" pitchFamily="34" charset="-120"/>
              </a:rPr>
              <a:t>http_requests_total ends at   130,000</a:t>
            </a:r>
            <a:endParaRPr lang="en-US" sz="1400" dirty="0"/>
          </a:p>
          <a:p>
            <a:pPr indent="0" marL="0">
              <a:buNone/>
            </a:pPr>
            <a:r>
              <a:rPr lang="en-US" sz="1400" dirty="0">
                <a:solidFill>
                  <a:srgbClr val="FFFFFF"/>
                </a:solidFill>
                <a:latin typeface="Consolas" pitchFamily="34" charset="0"/>
                <a:ea typeface="Consolas" pitchFamily="34" charset="-122"/>
                <a:cs typeface="Consolas" pitchFamily="34" charset="-120"/>
              </a:rPr>
              <a:t>Window length:                300 seconds (5 minutes)</a:t>
            </a:r>
            <a:endParaRPr lang="en-US" sz="1400" dirty="0"/>
          </a:p>
          <a:p>
            <a:pPr indent="0" marL="0">
              <a:buNone/>
            </a:pPr>
            <a:endParaRPr lang="en-US" sz="1400" dirty="0"/>
          </a:p>
          <a:p>
            <a:pPr indent="0" marL="0">
              <a:buNone/>
            </a:pPr>
            <a:r>
              <a:rPr lang="en-US" sz="1400" dirty="0">
                <a:solidFill>
                  <a:srgbClr val="FFFFFF"/>
                </a:solidFill>
                <a:latin typeface="Consolas" pitchFamily="34" charset="0"/>
                <a:ea typeface="Consolas" pitchFamily="34" charset="-122"/>
                <a:cs typeface="Consolas" pitchFamily="34" charset="-120"/>
              </a:rPr>
              <a:t>rate(http_requests_total[5m]) = (130000 − 100000) / 300 = 100 req/s</a:t>
            </a:r>
            <a:endParaRPr lang="en-US" sz="1400" dirty="0"/>
          </a:p>
        </p:txBody>
      </p:sp>
      <p:sp>
        <p:nvSpPr>
          <p:cNvPr id="7" name="Shape 5"/>
          <p:cNvSpPr/>
          <p:nvPr/>
        </p:nvSpPr>
        <p:spPr>
          <a:xfrm>
            <a:off x="548640" y="4206240"/>
            <a:ext cx="5440680" cy="2286000"/>
          </a:xfrm>
          <a:prstGeom prst="roundRect">
            <a:avLst>
              <a:gd name="adj" fmla="val 3200"/>
            </a:avLst>
          </a:prstGeom>
          <a:solidFill>
            <a:srgbClr val="1A2744"/>
          </a:solidFill>
          <a:ln w="12700">
            <a:solidFill>
              <a:srgbClr val="1A2744"/>
            </a:solidFill>
            <a:prstDash val="solid"/>
          </a:ln>
        </p:spPr>
      </p:sp>
      <p:sp>
        <p:nvSpPr>
          <p:cNvPr id="8" name="Text 6"/>
          <p:cNvSpPr/>
          <p:nvPr/>
        </p:nvSpPr>
        <p:spPr>
          <a:xfrm>
            <a:off x="777240" y="4297680"/>
            <a:ext cx="502920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Why this matters</a:t>
            </a:r>
            <a:endParaRPr lang="en-US" sz="1400" dirty="0"/>
          </a:p>
        </p:txBody>
      </p:sp>
      <p:sp>
        <p:nvSpPr>
          <p:cNvPr id="9" name="Text 7"/>
          <p:cNvSpPr/>
          <p:nvPr/>
        </p:nvSpPr>
        <p:spPr>
          <a:xfrm>
            <a:off x="777240" y="4663440"/>
            <a:ext cx="5029200" cy="178308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Counters only ever go up. Knowing the total since reboot tells you nothing actionable. rate() converts it into a meaningful "how busy is this thing right now?" reading.</a:t>
            </a:r>
            <a:endParaRPr lang="en-US" sz="1300" dirty="0"/>
          </a:p>
        </p:txBody>
      </p:sp>
      <p:sp>
        <p:nvSpPr>
          <p:cNvPr id="10" name="Shape 8"/>
          <p:cNvSpPr/>
          <p:nvPr/>
        </p:nvSpPr>
        <p:spPr>
          <a:xfrm>
            <a:off x="6199632" y="4206240"/>
            <a:ext cx="5440680" cy="2286000"/>
          </a:xfrm>
          <a:prstGeom prst="roundRect">
            <a:avLst>
              <a:gd name="adj" fmla="val 3200"/>
            </a:avLst>
          </a:prstGeom>
          <a:solidFill>
            <a:srgbClr val="1A2744"/>
          </a:solidFill>
          <a:ln w="12700">
            <a:solidFill>
              <a:srgbClr val="1A2744"/>
            </a:solidFill>
            <a:prstDash val="solid"/>
          </a:ln>
        </p:spPr>
      </p:sp>
      <p:sp>
        <p:nvSpPr>
          <p:cNvPr id="11" name="Text 9"/>
          <p:cNvSpPr/>
          <p:nvPr/>
        </p:nvSpPr>
        <p:spPr>
          <a:xfrm>
            <a:off x="6428232" y="4297680"/>
            <a:ext cx="502920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What Prometheus said</a:t>
            </a:r>
            <a:endParaRPr lang="en-US" sz="1400" dirty="0"/>
          </a:p>
        </p:txBody>
      </p:sp>
      <p:sp>
        <p:nvSpPr>
          <p:cNvPr id="12" name="Text 10"/>
          <p:cNvSpPr/>
          <p:nvPr/>
        </p:nvSpPr>
        <p:spPr>
          <a:xfrm>
            <a:off x="6428232" y="4663440"/>
            <a:ext cx="5029200" cy="457200"/>
          </a:xfrm>
          <a:prstGeom prst="rect">
            <a:avLst/>
          </a:prstGeom>
          <a:noFill/>
          <a:ln/>
        </p:spPr>
        <p:txBody>
          <a:bodyPr wrap="square" rtlCol="0" anchor="t"/>
          <a:lstStyle/>
          <a:p>
            <a:pPr indent="0" marL="0">
              <a:buNone/>
            </a:pPr>
            <a:r>
              <a:rPr lang="en-US" sz="1200" dirty="0">
                <a:solidFill>
                  <a:srgbClr val="EF4444"/>
                </a:solidFill>
                <a:latin typeface="Consolas" pitchFamily="34" charset="0"/>
                <a:ea typeface="Consolas" pitchFamily="34" charset="-122"/>
                <a:cs typeface="Consolas" pitchFamily="34" charset="-120"/>
              </a:rPr>
              <a:t>parse error: unknown function with name "rates"</a:t>
            </a:r>
            <a:endParaRPr lang="en-US" sz="1200" dirty="0"/>
          </a:p>
        </p:txBody>
      </p:sp>
      <p:sp>
        <p:nvSpPr>
          <p:cNvPr id="13" name="Text 11"/>
          <p:cNvSpPr/>
          <p:nvPr/>
        </p:nvSpPr>
        <p:spPr>
          <a:xfrm>
            <a:off x="6428232" y="5166360"/>
            <a:ext cx="5029200" cy="128016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Prompt and explicit. The "loud failure" class — Prometheus hands you the answer.</a:t>
            </a:r>
            <a:endParaRPr lang="en-US" sz="1300" dirty="0"/>
          </a:p>
        </p:txBody>
      </p:sp>
      <p:sp>
        <p:nvSpPr>
          <p:cNvPr id="14" name="Text 12"/>
          <p:cNvSpPr/>
          <p:nvPr/>
        </p:nvSpPr>
        <p:spPr>
          <a:xfrm>
            <a:off x="548640" y="6537960"/>
            <a:ext cx="11091672" cy="274320"/>
          </a:xfrm>
          <a:prstGeom prst="rect">
            <a:avLst/>
          </a:prstGeom>
          <a:noFill/>
          <a:ln/>
        </p:spPr>
        <p:txBody>
          <a:bodyPr wrap="square"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There is no plural form of rate(). It already returns a value per series.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The "bug" that wasn't</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The original lab brief listed six bugs. Only five were real.</a:t>
            </a:r>
            <a:endParaRPr lang="en-US" sz="1600" dirty="0"/>
          </a:p>
        </p:txBody>
      </p:sp>
      <p:sp>
        <p:nvSpPr>
          <p:cNvPr id="4" name="Shape 2"/>
          <p:cNvSpPr/>
          <p:nvPr/>
        </p:nvSpPr>
        <p:spPr>
          <a:xfrm>
            <a:off x="548640" y="1600200"/>
            <a:ext cx="11091672" cy="1280160"/>
          </a:xfrm>
          <a:prstGeom prst="roundRect">
            <a:avLst>
              <a:gd name="adj" fmla="val 5714"/>
            </a:avLst>
          </a:prstGeom>
          <a:solidFill>
            <a:srgbClr val="1A2744"/>
          </a:solidFill>
          <a:ln w="12700">
            <a:solidFill>
              <a:srgbClr val="1A2744"/>
            </a:solidFill>
            <a:prstDash val="solid"/>
          </a:ln>
        </p:spPr>
      </p:sp>
      <p:sp>
        <p:nvSpPr>
          <p:cNvPr id="5" name="Text 3"/>
          <p:cNvSpPr/>
          <p:nvPr/>
        </p:nvSpPr>
        <p:spPr>
          <a:xfrm>
            <a:off x="777240" y="1691640"/>
            <a:ext cx="10607040"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Claim from the lab brief</a:t>
            </a:r>
            <a:endParaRPr lang="en-US" sz="1200" dirty="0"/>
          </a:p>
        </p:txBody>
      </p:sp>
      <p:sp>
        <p:nvSpPr>
          <p:cNvPr id="6" name="Text 4"/>
          <p:cNvSpPr/>
          <p:nvPr/>
        </p:nvSpPr>
        <p:spPr>
          <a:xfrm>
            <a:off x="777240" y="2011680"/>
            <a:ext cx="10607040" cy="777240"/>
          </a:xfrm>
          <a:prstGeom prst="rect">
            <a:avLst/>
          </a:prstGeom>
          <a:noFill/>
          <a:ln/>
        </p:spPr>
        <p:txBody>
          <a:bodyPr wrap="square" rtlCol="0" anchor="t"/>
          <a:lstStyle/>
          <a:p>
            <a:pPr indent="0" marL="0">
              <a:buNone/>
            </a:pPr>
            <a:r>
              <a:rPr lang="en-US" sz="1600" dirty="0">
                <a:solidFill>
                  <a:srgbClr val="FFFFFF"/>
                </a:solidFill>
                <a:latin typeface="Consolas" pitchFamily="34" charset="0"/>
                <a:ea typeface="Consolas" pitchFamily="34" charset="-122"/>
                <a:cs typeface="Consolas" pitchFamily="34" charset="-120"/>
              </a:rPr>
              <a:t>Label matchers must use double quotes for values: status="500" not status='500'</a:t>
            </a:r>
            <a:endParaRPr lang="en-US" sz="1600" dirty="0"/>
          </a:p>
        </p:txBody>
      </p:sp>
      <p:sp>
        <p:nvSpPr>
          <p:cNvPr id="7" name="Shape 5"/>
          <p:cNvSpPr/>
          <p:nvPr/>
        </p:nvSpPr>
        <p:spPr>
          <a:xfrm>
            <a:off x="548640" y="3017520"/>
            <a:ext cx="11091672" cy="1280160"/>
          </a:xfrm>
          <a:prstGeom prst="roundRect">
            <a:avLst>
              <a:gd name="adj" fmla="val 5714"/>
            </a:avLst>
          </a:prstGeom>
          <a:solidFill>
            <a:srgbClr val="1A2744"/>
          </a:solidFill>
          <a:ln w="12700">
            <a:solidFill>
              <a:srgbClr val="1A2744"/>
            </a:solidFill>
            <a:prstDash val="solid"/>
          </a:ln>
        </p:spPr>
      </p:sp>
      <p:sp>
        <p:nvSpPr>
          <p:cNvPr id="8" name="Text 6"/>
          <p:cNvSpPr/>
          <p:nvPr/>
        </p:nvSpPr>
        <p:spPr>
          <a:xfrm>
            <a:off x="777240" y="3108960"/>
            <a:ext cx="10607040" cy="32004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What Prometheus actually does</a:t>
            </a:r>
            <a:endParaRPr lang="en-US" sz="1200" dirty="0"/>
          </a:p>
        </p:txBody>
      </p:sp>
      <p:sp>
        <p:nvSpPr>
          <p:cNvPr id="9" name="Text 7"/>
          <p:cNvSpPr/>
          <p:nvPr/>
        </p:nvSpPr>
        <p:spPr>
          <a:xfrm>
            <a:off x="777240" y="3429000"/>
            <a:ext cx="10607040" cy="777240"/>
          </a:xfrm>
          <a:prstGeom prst="rect">
            <a:avLst/>
          </a:prstGeom>
          <a:noFill/>
          <a:ln/>
        </p:spPr>
        <p:txBody>
          <a:bodyPr wrap="square" rtlCol="0" anchor="t"/>
          <a:lstStyle/>
          <a:p>
            <a:pPr indent="0" marL="0">
              <a:buNone/>
            </a:pPr>
            <a:r>
              <a:rPr lang="en-US" sz="1600" dirty="0">
                <a:solidFill>
                  <a:srgbClr val="22C55E"/>
                </a:solidFill>
                <a:latin typeface="Calibri" pitchFamily="34" charset="0"/>
                <a:ea typeface="Calibri" pitchFamily="34" charset="-122"/>
                <a:cs typeface="Calibri" pitchFamily="34" charset="-120"/>
              </a:rPr>
              <a:t>PromQL accepts single quotes, double quotes, and backticks as equivalent string literals.</a:t>
            </a:r>
            <a:endParaRPr lang="en-US" sz="1600" dirty="0"/>
          </a:p>
        </p:txBody>
      </p:sp>
      <p:sp>
        <p:nvSpPr>
          <p:cNvPr id="10" name="Shape 8"/>
          <p:cNvSpPr/>
          <p:nvPr/>
        </p:nvSpPr>
        <p:spPr>
          <a:xfrm>
            <a:off x="548640" y="4434840"/>
            <a:ext cx="11091672" cy="1417320"/>
          </a:xfrm>
          <a:prstGeom prst="roundRect">
            <a:avLst>
              <a:gd name="adj" fmla="val 5161"/>
            </a:avLst>
          </a:prstGeom>
          <a:solidFill>
            <a:srgbClr val="1A2744"/>
          </a:solidFill>
          <a:ln w="12700">
            <a:solidFill>
              <a:srgbClr val="1A2744"/>
            </a:solidFill>
            <a:prstDash val="solid"/>
          </a:ln>
        </p:spPr>
      </p:sp>
      <p:sp>
        <p:nvSpPr>
          <p:cNvPr id="11" name="Text 9"/>
          <p:cNvSpPr/>
          <p:nvPr/>
        </p:nvSpPr>
        <p:spPr>
          <a:xfrm>
            <a:off x="777240" y="4526280"/>
            <a:ext cx="10607040" cy="32004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How we found out</a:t>
            </a:r>
            <a:endParaRPr lang="en-US" sz="1400" dirty="0"/>
          </a:p>
        </p:txBody>
      </p:sp>
      <p:sp>
        <p:nvSpPr>
          <p:cNvPr id="12" name="Text 10"/>
          <p:cNvSpPr/>
          <p:nvPr/>
        </p:nvSpPr>
        <p:spPr>
          <a:xfrm>
            <a:off x="777240" y="4846320"/>
            <a:ext cx="10607040" cy="1005840"/>
          </a:xfrm>
          <a:prstGeom prst="rect">
            <a:avLst/>
          </a:prstGeom>
          <a:noFill/>
          <a:ln/>
        </p:spPr>
        <p:txBody>
          <a:bodyPr wrap="square"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Pasted the "broken" expression into Prometheus directly:</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sum(rate(http_requests_total{status='500'}[5m]))</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Result: 0.4157 — clean number, no error, no warning. The query works.</a:t>
            </a:r>
            <a:endParaRPr lang="en-US" sz="1300" dirty="0"/>
          </a:p>
        </p:txBody>
      </p:sp>
      <p:sp>
        <p:nvSpPr>
          <p:cNvPr id="13" name="Shape 11"/>
          <p:cNvSpPr/>
          <p:nvPr/>
        </p:nvSpPr>
        <p:spPr>
          <a:xfrm>
            <a:off x="548640" y="5989320"/>
            <a:ext cx="11091672" cy="777240"/>
          </a:xfrm>
          <a:prstGeom prst="roundRect">
            <a:avLst>
              <a:gd name="adj" fmla="val 9412"/>
            </a:avLst>
          </a:prstGeom>
          <a:solidFill>
            <a:srgbClr val="1A2744"/>
          </a:solidFill>
          <a:ln w="12700">
            <a:solidFill>
              <a:srgbClr val="1A2744"/>
            </a:solidFill>
            <a:prstDash val="solid"/>
          </a:ln>
        </p:spPr>
      </p:sp>
      <p:sp>
        <p:nvSpPr>
          <p:cNvPr id="14" name="Text 12"/>
          <p:cNvSpPr/>
          <p:nvPr/>
        </p:nvSpPr>
        <p:spPr>
          <a:xfrm>
            <a:off x="777240" y="5989320"/>
            <a:ext cx="10607040" cy="777240"/>
          </a:xfrm>
          <a:prstGeom prst="rect">
            <a:avLst/>
          </a:prstGeom>
          <a:noFill/>
          <a:ln/>
        </p:spPr>
        <p:txBody>
          <a:bodyPr wrap="square" rtlCol="0" anchor="ctr"/>
          <a:lstStyle/>
          <a:p>
            <a:pPr algn="l" indent="0" marL="0">
              <a:buNone/>
            </a:pPr>
            <a:r>
              <a:rPr lang="en-US" sz="1300" i="1" dirty="0">
                <a:solidFill>
                  <a:srgbClr val="14B8A6"/>
                </a:solidFill>
                <a:latin typeface="Calibri" pitchFamily="34" charset="0"/>
                <a:ea typeface="Calibri" pitchFamily="34" charset="-122"/>
                <a:cs typeface="Calibri" pitchFamily="34" charset="-120"/>
              </a:rPr>
              <a:t>Lesson: Always verify a "bug" is actually a bug by reproducing it against the engine itself. Documentation and team folklore both go stale. Running the query is the source of truth.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Bug 4 — Prometheus warns. Grafana hides it.</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histogram_quantile() takes a fraction (0–1), not a percentage.</a:t>
            </a:r>
            <a:endParaRPr lang="en-US" sz="1600" dirty="0"/>
          </a:p>
        </p:txBody>
      </p:sp>
      <p:sp>
        <p:nvSpPr>
          <p:cNvPr id="4" name="Shape 2"/>
          <p:cNvSpPr/>
          <p:nvPr/>
        </p:nvSpPr>
        <p:spPr>
          <a:xfrm>
            <a:off x="548640" y="1600200"/>
            <a:ext cx="11091672" cy="822960"/>
          </a:xfrm>
          <a:prstGeom prst="roundRect">
            <a:avLst>
              <a:gd name="adj" fmla="val 8889"/>
            </a:avLst>
          </a:prstGeom>
          <a:solidFill>
            <a:srgbClr val="1A2744"/>
          </a:solidFill>
          <a:ln w="12700">
            <a:solidFill>
              <a:srgbClr val="1A2744"/>
            </a:solidFill>
            <a:prstDash val="solid"/>
          </a:ln>
        </p:spPr>
      </p:sp>
      <p:sp>
        <p:nvSpPr>
          <p:cNvPr id="5" name="Text 3"/>
          <p:cNvSpPr/>
          <p:nvPr/>
        </p:nvSpPr>
        <p:spPr>
          <a:xfrm>
            <a:off x="777240" y="1691640"/>
            <a:ext cx="10607040" cy="640080"/>
          </a:xfrm>
          <a:prstGeom prst="rect">
            <a:avLst/>
          </a:prstGeom>
          <a:noFill/>
          <a:ln/>
        </p:spPr>
        <p:txBody>
          <a:bodyPr wrap="square"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histogram_quantile(95, rate(http_request_duration_seconds_bucket[5m]))</a:t>
            </a:r>
            <a:endParaRPr lang="en-US" sz="1600" dirty="0"/>
          </a:p>
        </p:txBody>
      </p:sp>
      <p:sp>
        <p:nvSpPr>
          <p:cNvPr id="6" name="Shape 4"/>
          <p:cNvSpPr/>
          <p:nvPr/>
        </p:nvSpPr>
        <p:spPr>
          <a:xfrm>
            <a:off x="548640" y="2606040"/>
            <a:ext cx="5440680" cy="3108960"/>
          </a:xfrm>
          <a:prstGeom prst="roundRect">
            <a:avLst>
              <a:gd name="adj" fmla="val 2353"/>
            </a:avLst>
          </a:prstGeom>
          <a:solidFill>
            <a:srgbClr val="1A2744"/>
          </a:solidFill>
          <a:ln w="12700">
            <a:solidFill>
              <a:srgbClr val="1A2744"/>
            </a:solidFill>
            <a:prstDash val="solid"/>
          </a:ln>
        </p:spPr>
      </p:sp>
      <p:sp>
        <p:nvSpPr>
          <p:cNvPr id="7" name="Shape 5"/>
          <p:cNvSpPr/>
          <p:nvPr/>
        </p:nvSpPr>
        <p:spPr>
          <a:xfrm>
            <a:off x="6199632" y="2606040"/>
            <a:ext cx="5440680" cy="3108960"/>
          </a:xfrm>
          <a:prstGeom prst="roundRect">
            <a:avLst>
              <a:gd name="adj" fmla="val 2353"/>
            </a:avLst>
          </a:prstGeom>
          <a:solidFill>
            <a:srgbClr val="1A2744"/>
          </a:solidFill>
          <a:ln w="12700">
            <a:solidFill>
              <a:srgbClr val="1A2744"/>
            </a:solidFill>
            <a:prstDash val="solid"/>
          </a:ln>
        </p:spPr>
      </p:sp>
      <p:sp>
        <p:nvSpPr>
          <p:cNvPr id="8" name="Shape 6"/>
          <p:cNvSpPr/>
          <p:nvPr/>
        </p:nvSpPr>
        <p:spPr>
          <a:xfrm>
            <a:off x="777240" y="2697480"/>
            <a:ext cx="502920" cy="502920"/>
          </a:xfrm>
          <a:prstGeom prst="ellipse">
            <a:avLst/>
          </a:prstGeom>
          <a:solidFill>
            <a:srgbClr val="0D9488"/>
          </a:solidFill>
          <a:ln w="12700">
            <a:solidFill>
              <a:srgbClr val="0D9488"/>
            </a:solidFill>
            <a:prstDash val="solid"/>
          </a:ln>
        </p:spPr>
      </p:sp>
      <p:pic>
        <p:nvPicPr>
          <p:cNvPr id="9" name="Image 0" descr="preencoded.png">    </p:cNvPr>
          <p:cNvPicPr>
            <a:picLocks noChangeAspect="1"/>
          </p:cNvPicPr>
          <p:nvPr/>
        </p:nvPicPr>
        <p:blipFill>
          <a:blip r:embed="rId1"/>
          <a:stretch>
            <a:fillRect/>
          </a:stretch>
        </p:blipFill>
        <p:spPr>
          <a:xfrm>
            <a:off x="902970" y="2823210"/>
            <a:ext cx="251460" cy="251460"/>
          </a:xfrm>
          <a:prstGeom prst="rect">
            <a:avLst/>
          </a:prstGeom>
        </p:spPr>
      </p:pic>
      <p:sp>
        <p:nvSpPr>
          <p:cNvPr id="10" name="Text 7"/>
          <p:cNvSpPr/>
          <p:nvPr/>
        </p:nvSpPr>
        <p:spPr>
          <a:xfrm>
            <a:off x="1417320" y="2697480"/>
            <a:ext cx="45720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Prometheus said</a:t>
            </a:r>
            <a:endParaRPr lang="en-US" sz="1600" dirty="0"/>
          </a:p>
        </p:txBody>
      </p:sp>
      <p:sp>
        <p:nvSpPr>
          <p:cNvPr id="11" name="Text 8"/>
          <p:cNvSpPr/>
          <p:nvPr/>
        </p:nvSpPr>
        <p:spPr>
          <a:xfrm>
            <a:off x="777240" y="3337560"/>
            <a:ext cx="4983480" cy="822960"/>
          </a:xfrm>
          <a:prstGeom prst="rect">
            <a:avLst/>
          </a:prstGeom>
          <a:noFill/>
          <a:ln/>
        </p:spPr>
        <p:txBody>
          <a:bodyPr wrap="square" rtlCol="0" anchor="t"/>
          <a:lstStyle/>
          <a:p>
            <a:pPr indent="0" marL="0">
              <a:buNone/>
            </a:pPr>
            <a:r>
              <a:rPr lang="en-US" sz="1300" dirty="0">
                <a:solidFill>
                  <a:srgbClr val="F59E0B"/>
                </a:solidFill>
                <a:latin typeface="Consolas" pitchFamily="34" charset="0"/>
                <a:ea typeface="Consolas" pitchFamily="34" charset="-122"/>
                <a:cs typeface="Consolas" pitchFamily="34" charset="-120"/>
              </a:rPr>
              <a:t>PromQL warning: quantile value should be between 0 and 1, got 95</a:t>
            </a:r>
            <a:endParaRPr lang="en-US" sz="1300" dirty="0"/>
          </a:p>
        </p:txBody>
      </p:sp>
      <p:sp>
        <p:nvSpPr>
          <p:cNvPr id="12" name="Text 9"/>
          <p:cNvSpPr/>
          <p:nvPr/>
        </p:nvSpPr>
        <p:spPr>
          <a:xfrm>
            <a:off x="777240" y="4160520"/>
            <a:ext cx="4983480" cy="411480"/>
          </a:xfrm>
          <a:prstGeom prst="rect">
            <a:avLst/>
          </a:prstGeom>
          <a:noFill/>
          <a:ln/>
        </p:spPr>
        <p:txBody>
          <a:bodyPr wrap="square"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Result: +Inf</a:t>
            </a:r>
            <a:endParaRPr lang="en-US" sz="1400" dirty="0"/>
          </a:p>
        </p:txBody>
      </p:sp>
      <p:sp>
        <p:nvSpPr>
          <p:cNvPr id="13" name="Text 10"/>
          <p:cNvSpPr/>
          <p:nvPr/>
        </p:nvSpPr>
        <p:spPr>
          <a:xfrm>
            <a:off x="777240" y="4617720"/>
            <a:ext cx="4983480" cy="10058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function ran. It returned a value. The value is meaningless. Prometheus told you why — explicitly.</a:t>
            </a:r>
            <a:endParaRPr lang="en-US" sz="1300" dirty="0"/>
          </a:p>
        </p:txBody>
      </p:sp>
      <p:sp>
        <p:nvSpPr>
          <p:cNvPr id="14" name="Shape 11"/>
          <p:cNvSpPr/>
          <p:nvPr/>
        </p:nvSpPr>
        <p:spPr>
          <a:xfrm>
            <a:off x="6428232" y="2697480"/>
            <a:ext cx="502920" cy="502920"/>
          </a:xfrm>
          <a:prstGeom prst="ellipse">
            <a:avLst/>
          </a:prstGeom>
          <a:solidFill>
            <a:srgbClr val="0D9488"/>
          </a:solidFill>
          <a:ln w="12700">
            <a:solidFill>
              <a:srgbClr val="0D9488"/>
            </a:solidFill>
            <a:prstDash val="solid"/>
          </a:ln>
        </p:spPr>
      </p:sp>
      <p:pic>
        <p:nvPicPr>
          <p:cNvPr id="15" name="Image 1" descr="preencoded.png">    </p:cNvPr>
          <p:cNvPicPr>
            <a:picLocks noChangeAspect="1"/>
          </p:cNvPicPr>
          <p:nvPr/>
        </p:nvPicPr>
        <p:blipFill>
          <a:blip r:embed="rId2"/>
          <a:stretch>
            <a:fillRect/>
          </a:stretch>
        </p:blipFill>
        <p:spPr>
          <a:xfrm>
            <a:off x="6553962" y="2823210"/>
            <a:ext cx="251460" cy="251460"/>
          </a:xfrm>
          <a:prstGeom prst="rect">
            <a:avLst/>
          </a:prstGeom>
        </p:spPr>
      </p:pic>
      <p:sp>
        <p:nvSpPr>
          <p:cNvPr id="16" name="Text 12"/>
          <p:cNvSpPr/>
          <p:nvPr/>
        </p:nvSpPr>
        <p:spPr>
          <a:xfrm>
            <a:off x="7068312" y="2697480"/>
            <a:ext cx="4572000" cy="502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Grafana showed</a:t>
            </a:r>
            <a:endParaRPr lang="en-US" sz="1600" dirty="0"/>
          </a:p>
        </p:txBody>
      </p:sp>
      <p:sp>
        <p:nvSpPr>
          <p:cNvPr id="17" name="Text 13"/>
          <p:cNvSpPr/>
          <p:nvPr/>
        </p:nvSpPr>
        <p:spPr>
          <a:xfrm>
            <a:off x="6428232" y="3337560"/>
            <a:ext cx="4983480"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flat empty graph. Tiny warning triangle.</a:t>
            </a:r>
            <a:endParaRPr lang="en-US" sz="1400" dirty="0"/>
          </a:p>
        </p:txBody>
      </p:sp>
      <p:sp>
        <p:nvSpPr>
          <p:cNvPr id="18" name="Text 14"/>
          <p:cNvSpPr/>
          <p:nvPr/>
        </p:nvSpPr>
        <p:spPr>
          <a:xfrm>
            <a:off x="6428232" y="3749040"/>
            <a:ext cx="4983480" cy="41148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No mention of the warning. No clue what went wrong.</a:t>
            </a:r>
            <a:endParaRPr lang="en-US" sz="1300" dirty="0"/>
          </a:p>
        </p:txBody>
      </p:sp>
      <p:sp>
        <p:nvSpPr>
          <p:cNvPr id="19" name="Text 15"/>
          <p:cNvSpPr/>
          <p:nvPr/>
        </p:nvSpPr>
        <p:spPr>
          <a:xfrm>
            <a:off x="6428232" y="4297680"/>
            <a:ext cx="4983480" cy="128016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warning Prometheus emitted was swallowed somewhere between the API and the panel. You only see it if you go to Prometheus directly.</a:t>
            </a:r>
            <a:endParaRPr lang="en-US" sz="1300" dirty="0"/>
          </a:p>
        </p:txBody>
      </p:sp>
      <p:sp>
        <p:nvSpPr>
          <p:cNvPr id="20" name="Shape 16"/>
          <p:cNvSpPr/>
          <p:nvPr/>
        </p:nvSpPr>
        <p:spPr>
          <a:xfrm>
            <a:off x="548640" y="5852160"/>
            <a:ext cx="11091672" cy="777240"/>
          </a:xfrm>
          <a:prstGeom prst="roundRect">
            <a:avLst>
              <a:gd name="adj" fmla="val 9412"/>
            </a:avLst>
          </a:prstGeom>
          <a:solidFill>
            <a:srgbClr val="1A2744"/>
          </a:solidFill>
          <a:ln w="12700">
            <a:solidFill>
              <a:srgbClr val="1A2744"/>
            </a:solidFill>
            <a:prstDash val="solid"/>
          </a:ln>
        </p:spPr>
      </p:sp>
      <p:sp>
        <p:nvSpPr>
          <p:cNvPr id="21" name="Text 17"/>
          <p:cNvSpPr/>
          <p:nvPr/>
        </p:nvSpPr>
        <p:spPr>
          <a:xfrm>
            <a:off x="777240" y="5852160"/>
            <a:ext cx="10607040" cy="777240"/>
          </a:xfrm>
          <a:prstGeom prst="rect">
            <a:avLst/>
          </a:prstGeom>
          <a:noFill/>
          <a:ln/>
        </p:spPr>
        <p:txBody>
          <a:bodyPr wrap="square" rtlCol="0" anchor="ctr"/>
          <a:lstStyle/>
          <a:p>
            <a:pPr algn="l" indent="0" marL="0">
              <a:buNone/>
            </a:pPr>
            <a:r>
              <a:rPr lang="en-US" sz="1400" i="1" dirty="0">
                <a:solidFill>
                  <a:srgbClr val="14B8A6"/>
                </a:solidFill>
                <a:latin typeface="Calibri" pitchFamily="34" charset="0"/>
                <a:ea typeface="Calibri" pitchFamily="34" charset="-122"/>
                <a:cs typeface="Calibri" pitchFamily="34" charset="-120"/>
              </a:rPr>
              <a:t>Prometheus's expression browser is more honest than Grafana's panels. When a panel looks wrong, run its query in Prometheus.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Bug 5 — Prometheus has no spellchecker</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Empty results don't error. A typo in a metric name is the silent killer.</a:t>
            </a:r>
            <a:endParaRPr lang="en-US" sz="1600" dirty="0"/>
          </a:p>
        </p:txBody>
      </p:sp>
      <p:sp>
        <p:nvSpPr>
          <p:cNvPr id="4" name="Shape 2"/>
          <p:cNvSpPr/>
          <p:nvPr/>
        </p:nvSpPr>
        <p:spPr>
          <a:xfrm>
            <a:off x="548640" y="1600200"/>
            <a:ext cx="3611880" cy="1828800"/>
          </a:xfrm>
          <a:prstGeom prst="roundRect">
            <a:avLst>
              <a:gd name="adj" fmla="val 4000"/>
            </a:avLst>
          </a:prstGeom>
          <a:solidFill>
            <a:srgbClr val="1A2744"/>
          </a:solidFill>
          <a:ln w="12700">
            <a:solidFill>
              <a:srgbClr val="1A2744"/>
            </a:solidFill>
            <a:prstDash val="solid"/>
          </a:ln>
        </p:spPr>
      </p:sp>
      <p:sp>
        <p:nvSpPr>
          <p:cNvPr id="5" name="Text 3"/>
          <p:cNvSpPr/>
          <p:nvPr/>
        </p:nvSpPr>
        <p:spPr>
          <a:xfrm>
            <a:off x="777240" y="1691640"/>
            <a:ext cx="3200400" cy="36576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Dashboard</a:t>
            </a:r>
            <a:endParaRPr lang="en-US" sz="1300" dirty="0"/>
          </a:p>
        </p:txBody>
      </p:sp>
      <p:sp>
        <p:nvSpPr>
          <p:cNvPr id="6" name="Text 4"/>
          <p:cNvSpPr/>
          <p:nvPr/>
        </p:nvSpPr>
        <p:spPr>
          <a:xfrm>
            <a:off x="777240" y="2057400"/>
            <a:ext cx="3200400" cy="45720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expr: "active_connection"</a:t>
            </a:r>
            <a:endParaRPr lang="en-US" sz="1300" dirty="0"/>
          </a:p>
        </p:txBody>
      </p:sp>
      <p:sp>
        <p:nvSpPr>
          <p:cNvPr id="7" name="Text 5"/>
          <p:cNvSpPr/>
          <p:nvPr/>
        </p:nvSpPr>
        <p:spPr>
          <a:xfrm>
            <a:off x="777240" y="2606040"/>
            <a:ext cx="3200400" cy="77724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"No data"</a:t>
            </a:r>
            <a:endParaRPr lang="en-US" sz="1300" dirty="0"/>
          </a:p>
          <a:p>
            <a:pPr indent="0" marL="0">
              <a:buNone/>
            </a:pPr>
            <a:r>
              <a:rPr lang="en-US" sz="1300" i="1" dirty="0">
                <a:solidFill>
                  <a:srgbClr val="94A3B8"/>
                </a:solidFill>
                <a:latin typeface="Calibri" pitchFamily="34" charset="0"/>
                <a:ea typeface="Calibri" pitchFamily="34" charset="-122"/>
                <a:cs typeface="Calibri" pitchFamily="34" charset="-120"/>
              </a:rPr>
              <a:t>(no warning)</a:t>
            </a:r>
            <a:endParaRPr lang="en-US" sz="1300" dirty="0"/>
          </a:p>
        </p:txBody>
      </p:sp>
      <p:sp>
        <p:nvSpPr>
          <p:cNvPr id="8" name="Shape 6"/>
          <p:cNvSpPr/>
          <p:nvPr/>
        </p:nvSpPr>
        <p:spPr>
          <a:xfrm>
            <a:off x="4288536" y="1600200"/>
            <a:ext cx="3611880" cy="1828800"/>
          </a:xfrm>
          <a:prstGeom prst="roundRect">
            <a:avLst>
              <a:gd name="adj" fmla="val 4000"/>
            </a:avLst>
          </a:prstGeom>
          <a:solidFill>
            <a:srgbClr val="1A2744"/>
          </a:solidFill>
          <a:ln w="12700">
            <a:solidFill>
              <a:srgbClr val="1A2744"/>
            </a:solidFill>
            <a:prstDash val="solid"/>
          </a:ln>
        </p:spPr>
      </p:sp>
      <p:sp>
        <p:nvSpPr>
          <p:cNvPr id="9" name="Text 7"/>
          <p:cNvSpPr/>
          <p:nvPr/>
        </p:nvSpPr>
        <p:spPr>
          <a:xfrm>
            <a:off x="4517136" y="1691640"/>
            <a:ext cx="3200400" cy="36576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Prometheus</a:t>
            </a:r>
            <a:endParaRPr lang="en-US" sz="1300" dirty="0"/>
          </a:p>
        </p:txBody>
      </p:sp>
      <p:sp>
        <p:nvSpPr>
          <p:cNvPr id="10" name="Text 8"/>
          <p:cNvSpPr/>
          <p:nvPr/>
        </p:nvSpPr>
        <p:spPr>
          <a:xfrm>
            <a:off x="4517136" y="2057400"/>
            <a:ext cx="3200400" cy="45720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active_connection</a:t>
            </a:r>
            <a:endParaRPr lang="en-US" sz="1300" dirty="0"/>
          </a:p>
        </p:txBody>
      </p:sp>
      <p:sp>
        <p:nvSpPr>
          <p:cNvPr id="11" name="Text 9"/>
          <p:cNvSpPr/>
          <p:nvPr/>
        </p:nvSpPr>
        <p:spPr>
          <a:xfrm>
            <a:off x="4517136" y="2606040"/>
            <a:ext cx="3200400" cy="77724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Empty query result.</a:t>
            </a:r>
            <a:endParaRPr lang="en-US" sz="1300" dirty="0"/>
          </a:p>
          <a:p>
            <a:pPr indent="0" marL="0">
              <a:buNone/>
            </a:pPr>
            <a:r>
              <a:rPr lang="en-US" sz="1300" i="1" dirty="0">
                <a:solidFill>
                  <a:srgbClr val="94A3B8"/>
                </a:solidFill>
                <a:latin typeface="Calibri" pitchFamily="34" charset="0"/>
                <a:ea typeface="Calibri" pitchFamily="34" charset="-122"/>
                <a:cs typeface="Calibri" pitchFamily="34" charset="-120"/>
              </a:rPr>
              <a:t>Returned no data.</a:t>
            </a:r>
            <a:endParaRPr lang="en-US" sz="1300" dirty="0"/>
          </a:p>
        </p:txBody>
      </p:sp>
      <p:sp>
        <p:nvSpPr>
          <p:cNvPr id="12" name="Shape 10"/>
          <p:cNvSpPr/>
          <p:nvPr/>
        </p:nvSpPr>
        <p:spPr>
          <a:xfrm>
            <a:off x="8028432" y="1600200"/>
            <a:ext cx="3611880" cy="1828800"/>
          </a:xfrm>
          <a:prstGeom prst="roundRect">
            <a:avLst>
              <a:gd name="adj" fmla="val 4000"/>
            </a:avLst>
          </a:prstGeom>
          <a:solidFill>
            <a:srgbClr val="1A2744"/>
          </a:solidFill>
          <a:ln w="12700">
            <a:solidFill>
              <a:srgbClr val="1A2744"/>
            </a:solidFill>
            <a:prstDash val="solid"/>
          </a:ln>
        </p:spPr>
      </p:sp>
      <p:sp>
        <p:nvSpPr>
          <p:cNvPr id="13" name="Text 11"/>
          <p:cNvSpPr/>
          <p:nvPr/>
        </p:nvSpPr>
        <p:spPr>
          <a:xfrm>
            <a:off x="8257032" y="1691640"/>
            <a:ext cx="3200400" cy="36576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app.py</a:t>
            </a:r>
            <a:endParaRPr lang="en-US" sz="1300" dirty="0"/>
          </a:p>
        </p:txBody>
      </p:sp>
      <p:sp>
        <p:nvSpPr>
          <p:cNvPr id="14" name="Text 12"/>
          <p:cNvSpPr/>
          <p:nvPr/>
        </p:nvSpPr>
        <p:spPr>
          <a:xfrm>
            <a:off x="8257032" y="2057400"/>
            <a:ext cx="3200400" cy="914400"/>
          </a:xfrm>
          <a:prstGeom prst="rect">
            <a:avLst/>
          </a:prstGeom>
          <a:noFill/>
          <a:ln/>
        </p:spPr>
        <p:txBody>
          <a:bodyPr wrap="square" rtlCol="0" anchor="ctr"/>
          <a:lstStyle/>
          <a:p>
            <a:pPr indent="0" marL="0">
              <a:buNone/>
            </a:pPr>
            <a:r>
              <a:rPr lang="en-US" sz="1200" dirty="0">
                <a:solidFill>
                  <a:srgbClr val="22C55E"/>
                </a:solidFill>
                <a:latin typeface="Consolas" pitchFamily="34" charset="0"/>
                <a:ea typeface="Consolas" pitchFamily="34" charset="-122"/>
                <a:cs typeface="Consolas" pitchFamily="34" charset="-120"/>
              </a:rPr>
              <a:t>Gauge('active_connections',</a:t>
            </a:r>
            <a:endParaRPr lang="en-US" sz="1200" dirty="0"/>
          </a:p>
          <a:p>
            <a:pPr indent="0" marL="0">
              <a:buNone/>
            </a:pPr>
            <a:r>
              <a:rPr lang="en-US" sz="1200" dirty="0">
                <a:solidFill>
                  <a:srgbClr val="22C55E"/>
                </a:solidFill>
                <a:latin typeface="Consolas" pitchFamily="34" charset="0"/>
                <a:ea typeface="Consolas" pitchFamily="34" charset="-122"/>
                <a:cs typeface="Consolas" pitchFamily="34" charset="-120"/>
              </a:rPr>
              <a:t>  'Active connections')</a:t>
            </a:r>
            <a:endParaRPr lang="en-US" sz="1200" dirty="0"/>
          </a:p>
        </p:txBody>
      </p:sp>
      <p:sp>
        <p:nvSpPr>
          <p:cNvPr id="15" name="Text 13"/>
          <p:cNvSpPr/>
          <p:nvPr/>
        </p:nvSpPr>
        <p:spPr>
          <a:xfrm>
            <a:off x="8257032" y="3017520"/>
            <a:ext cx="3200400" cy="3657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Plural. Always was.</a:t>
            </a:r>
            <a:endParaRPr lang="en-US" sz="1300" dirty="0"/>
          </a:p>
        </p:txBody>
      </p:sp>
      <p:sp>
        <p:nvSpPr>
          <p:cNvPr id="16" name="Shape 14"/>
          <p:cNvSpPr/>
          <p:nvPr/>
        </p:nvSpPr>
        <p:spPr>
          <a:xfrm>
            <a:off x="548640" y="3611880"/>
            <a:ext cx="11091672" cy="2286000"/>
          </a:xfrm>
          <a:prstGeom prst="roundRect">
            <a:avLst>
              <a:gd name="adj" fmla="val 3200"/>
            </a:avLst>
          </a:prstGeom>
          <a:solidFill>
            <a:srgbClr val="1A2744"/>
          </a:solidFill>
          <a:ln w="12700">
            <a:solidFill>
              <a:srgbClr val="1A2744"/>
            </a:solidFill>
            <a:prstDash val="solid"/>
          </a:ln>
        </p:spPr>
      </p:sp>
      <p:sp>
        <p:nvSpPr>
          <p:cNvPr id="17" name="Text 15"/>
          <p:cNvSpPr/>
          <p:nvPr/>
        </p:nvSpPr>
        <p:spPr>
          <a:xfrm>
            <a:off x="777240" y="3703320"/>
            <a:ext cx="1060704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Habits that catch this</a:t>
            </a:r>
            <a:endParaRPr lang="en-US" sz="1400" dirty="0"/>
          </a:p>
        </p:txBody>
      </p:sp>
      <p:sp>
        <p:nvSpPr>
          <p:cNvPr id="18" name="Text 16"/>
          <p:cNvSpPr/>
          <p:nvPr/>
        </p:nvSpPr>
        <p:spPr>
          <a:xfrm>
            <a:off x="777240" y="4023360"/>
            <a:ext cx="10607040" cy="1828800"/>
          </a:xfrm>
          <a:prstGeom prst="rect">
            <a:avLst/>
          </a:prstGeom>
          <a:noFill/>
          <a:ln/>
        </p:spPr>
        <p:txBody>
          <a:bodyPr wrap="square" rtlCol="0" anchor="ctr"/>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Test queries in Prometheus first — empty result there means bug, not "data not arriving"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List metrics with /api/v1/label/__name__/values to scan for what actually exists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Use a PromQL-aware editor with autocomplete (PromLens, VS Code extension)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For critical dashboards, write a unit test asserting each query returns ≥ 1 series</a:t>
            </a:r>
            <a:endParaRPr lang="en-US" sz="1300" dirty="0"/>
          </a:p>
        </p:txBody>
      </p:sp>
      <p:sp>
        <p:nvSpPr>
          <p:cNvPr id="19" name="Shape 17"/>
          <p:cNvSpPr/>
          <p:nvPr/>
        </p:nvSpPr>
        <p:spPr>
          <a:xfrm>
            <a:off x="548640" y="6035040"/>
            <a:ext cx="11091672" cy="640080"/>
          </a:xfrm>
          <a:prstGeom prst="roundRect">
            <a:avLst>
              <a:gd name="adj" fmla="val 11429"/>
            </a:avLst>
          </a:prstGeom>
          <a:solidFill>
            <a:srgbClr val="1A2744"/>
          </a:solidFill>
          <a:ln w="12700">
            <a:solidFill>
              <a:srgbClr val="1A2744"/>
            </a:solidFill>
            <a:prstDash val="solid"/>
          </a:ln>
        </p:spPr>
      </p:sp>
      <p:sp>
        <p:nvSpPr>
          <p:cNvPr id="20" name="Text 18"/>
          <p:cNvSpPr/>
          <p:nvPr/>
        </p:nvSpPr>
        <p:spPr>
          <a:xfrm>
            <a:off x="777240" y="6035040"/>
            <a:ext cx="10607040" cy="640080"/>
          </a:xfrm>
          <a:prstGeom prst="rect">
            <a:avLst/>
          </a:prstGeom>
          <a:noFill/>
          <a:ln/>
        </p:spPr>
        <p:txBody>
          <a:bodyPr wrap="square" rtlCol="0" anchor="ctr"/>
          <a:lstStyle/>
          <a:p>
            <a:pPr algn="l" indent="0" marL="0">
              <a:buNone/>
            </a:pPr>
            <a:r>
              <a:rPr lang="en-US" sz="1300" i="1" dirty="0">
                <a:solidFill>
                  <a:srgbClr val="14B8A6"/>
                </a:solidFill>
                <a:latin typeface="Calibri" pitchFamily="34" charset="0"/>
                <a:ea typeface="Calibri" pitchFamily="34" charset="-122"/>
                <a:cs typeface="Calibri" pitchFamily="34" charset="-120"/>
              </a:rPr>
              <a:t>This bug class is one of the top causes of "we thought we had monitoring on that" post-mortems.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Sidenote — histogram_quantile is an approximation</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When the dashboard worked, p95 read 2.35 seconds. The app generates max 2.0. Why?</a:t>
            </a:r>
            <a:endParaRPr lang="en-US" sz="1500" dirty="0"/>
          </a:p>
        </p:txBody>
      </p:sp>
      <p:sp>
        <p:nvSpPr>
          <p:cNvPr id="4" name="Shape 2"/>
          <p:cNvSpPr/>
          <p:nvPr/>
        </p:nvSpPr>
        <p:spPr>
          <a:xfrm>
            <a:off x="548640" y="1600200"/>
            <a:ext cx="11091672" cy="2377440"/>
          </a:xfrm>
          <a:prstGeom prst="roundRect">
            <a:avLst>
              <a:gd name="adj" fmla="val 3077"/>
            </a:avLst>
          </a:prstGeom>
          <a:solidFill>
            <a:srgbClr val="1A2744"/>
          </a:solidFill>
          <a:ln w="12700">
            <a:solidFill>
              <a:srgbClr val="1A2744"/>
            </a:solidFill>
            <a:prstDash val="solid"/>
          </a:ln>
        </p:spPr>
      </p:sp>
      <p:sp>
        <p:nvSpPr>
          <p:cNvPr id="5" name="Text 3"/>
          <p:cNvSpPr/>
          <p:nvPr/>
        </p:nvSpPr>
        <p:spPr>
          <a:xfrm>
            <a:off x="777240" y="1691640"/>
            <a:ext cx="10607040" cy="320040"/>
          </a:xfrm>
          <a:prstGeom prst="rect">
            <a:avLst/>
          </a:prstGeom>
          <a:noFill/>
          <a:ln/>
        </p:spPr>
        <p:txBody>
          <a:bodyPr wrap="square" rtlCol="0" anchor="ctr"/>
          <a:lstStyle/>
          <a:p>
            <a:pPr indent="0" marL="0">
              <a:buNone/>
            </a:pPr>
            <a:r>
              <a:rPr lang="en-US" sz="1300" dirty="0">
                <a:solidFill>
                  <a:srgbClr val="14B8A6"/>
                </a:solidFill>
                <a:latin typeface="Calibri" pitchFamily="34" charset="0"/>
                <a:ea typeface="Calibri" pitchFamily="34" charset="-122"/>
                <a:cs typeface="Calibri" pitchFamily="34" charset="-120"/>
              </a:rPr>
              <a:t>Default Python client buckets:</a:t>
            </a:r>
            <a:endParaRPr lang="en-US" sz="1300" dirty="0"/>
          </a:p>
        </p:txBody>
      </p:sp>
      <p:sp>
        <p:nvSpPr>
          <p:cNvPr id="6" name="Text 4"/>
          <p:cNvSpPr/>
          <p:nvPr/>
        </p:nvSpPr>
        <p:spPr>
          <a:xfrm>
            <a:off x="777240" y="2011680"/>
            <a:ext cx="10607040" cy="45720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[0.005, 0.01, 0.025, 0.05, 0.075, 0.1, 0.25, 0.5, 0.75, 1.0, 2.5, 5.0, 7.5, 10.0, +Inf]</a:t>
            </a:r>
            <a:endParaRPr lang="en-US" sz="1300" dirty="0"/>
          </a:p>
        </p:txBody>
      </p:sp>
      <p:sp>
        <p:nvSpPr>
          <p:cNvPr id="7" name="Text 5"/>
          <p:cNvSpPr/>
          <p:nvPr/>
        </p:nvSpPr>
        <p:spPr>
          <a:xfrm>
            <a:off x="777240" y="2514600"/>
            <a:ext cx="10607040" cy="141732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Notice: the boundary above 1.0 jumps to 2.5. Anything between 1.0 and 2.5 lands in the "≤2.5" bucket — including all our 1.5–2.0 second values.</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When histogram_quantile() interpolates p95 inside the "≤2.5" bucket, it linearly extrapolates and lands somewhere around 2.35. The real p95 is closer to 1.9, but we lack the resolution to see it.</a:t>
            </a:r>
            <a:endParaRPr lang="en-US" sz="1300" dirty="0"/>
          </a:p>
        </p:txBody>
      </p:sp>
      <p:sp>
        <p:nvSpPr>
          <p:cNvPr id="8" name="Shape 6"/>
          <p:cNvSpPr/>
          <p:nvPr/>
        </p:nvSpPr>
        <p:spPr>
          <a:xfrm>
            <a:off x="548640" y="4114800"/>
            <a:ext cx="11091672" cy="1371600"/>
          </a:xfrm>
          <a:prstGeom prst="roundRect">
            <a:avLst>
              <a:gd name="adj" fmla="val 5333"/>
            </a:avLst>
          </a:prstGeom>
          <a:solidFill>
            <a:srgbClr val="1A2744"/>
          </a:solidFill>
          <a:ln w="12700">
            <a:solidFill>
              <a:srgbClr val="1A2744"/>
            </a:solidFill>
            <a:prstDash val="solid"/>
          </a:ln>
        </p:spPr>
      </p:sp>
      <p:sp>
        <p:nvSpPr>
          <p:cNvPr id="9" name="Text 7"/>
          <p:cNvSpPr/>
          <p:nvPr/>
        </p:nvSpPr>
        <p:spPr>
          <a:xfrm>
            <a:off x="777240" y="4206240"/>
            <a:ext cx="1060704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Production implication</a:t>
            </a:r>
            <a:endParaRPr lang="en-US" sz="1400" dirty="0"/>
          </a:p>
        </p:txBody>
      </p:sp>
      <p:sp>
        <p:nvSpPr>
          <p:cNvPr id="10" name="Text 8"/>
          <p:cNvSpPr/>
          <p:nvPr/>
        </p:nvSpPr>
        <p:spPr>
          <a:xfrm>
            <a:off x="777240" y="4572000"/>
            <a:ext cx="10607040" cy="86868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If you alert on "p95 latency &gt; 1.0s", and your buckets jump from 1.0 to 2.5, your alert can fire because of the bucket maths even when no real request crossed 1.0. Bucket choice is a design decision, not a default.</a:t>
            </a:r>
            <a:endParaRPr lang="en-US" sz="1300" dirty="0"/>
          </a:p>
        </p:txBody>
      </p:sp>
      <p:sp>
        <p:nvSpPr>
          <p:cNvPr id="11" name="Shape 9"/>
          <p:cNvSpPr/>
          <p:nvPr/>
        </p:nvSpPr>
        <p:spPr>
          <a:xfrm>
            <a:off x="548640" y="5623560"/>
            <a:ext cx="11091672" cy="1005840"/>
          </a:xfrm>
          <a:prstGeom prst="roundRect">
            <a:avLst>
              <a:gd name="adj" fmla="val 7273"/>
            </a:avLst>
          </a:prstGeom>
          <a:solidFill>
            <a:srgbClr val="1A2744"/>
          </a:solidFill>
          <a:ln w="12700">
            <a:solidFill>
              <a:srgbClr val="1A2744"/>
            </a:solidFill>
            <a:prstDash val="solid"/>
          </a:ln>
        </p:spPr>
      </p:sp>
      <p:sp>
        <p:nvSpPr>
          <p:cNvPr id="12" name="Text 10"/>
          <p:cNvSpPr/>
          <p:nvPr/>
        </p:nvSpPr>
        <p:spPr>
          <a:xfrm>
            <a:off x="777240" y="5715000"/>
            <a:ext cx="10607040" cy="32004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How to fix</a:t>
            </a:r>
            <a:endParaRPr lang="en-US" sz="1400" dirty="0"/>
          </a:p>
        </p:txBody>
      </p:sp>
      <p:sp>
        <p:nvSpPr>
          <p:cNvPr id="13" name="Text 11"/>
          <p:cNvSpPr/>
          <p:nvPr/>
        </p:nvSpPr>
        <p:spPr>
          <a:xfrm>
            <a:off x="777240" y="6035040"/>
            <a:ext cx="10607040" cy="594360"/>
          </a:xfrm>
          <a:prstGeom prst="rect">
            <a:avLst/>
          </a:prstGeom>
          <a:noFill/>
          <a:ln/>
        </p:spPr>
        <p:txBody>
          <a:bodyPr wrap="square"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Define explicit buckets that cover the latency range you actually care about: Histogram('duration', '…', buckets=[0.1, 0.25, 0.5, 1.0, 1.25, 1.5, 1.75, 2.0,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You don't need to know everything</a:t>
            </a:r>
            <a:endParaRPr lang="en-US" sz="3200" dirty="0"/>
          </a:p>
        </p:txBody>
      </p:sp>
      <p:sp>
        <p:nvSpPr>
          <p:cNvPr id="3" name="Text 1"/>
          <p:cNvSpPr/>
          <p:nvPr/>
        </p:nvSpPr>
        <p:spPr>
          <a:xfrm>
            <a:off x="548640" y="1051560"/>
            <a:ext cx="11091672" cy="457200"/>
          </a:xfrm>
          <a:prstGeom prst="rect">
            <a:avLst/>
          </a:prstGeom>
          <a:noFill/>
          <a:ln/>
        </p:spPr>
        <p:txBody>
          <a:bodyPr wrap="square" rtlCol="0" anchor="ctr"/>
          <a:lstStyle/>
          <a:p>
            <a:pPr algn="l" indent="0" marL="0">
              <a:buNone/>
            </a:pPr>
            <a:r>
              <a:rPr lang="en-US" sz="2200" i="1" dirty="0">
                <a:solidFill>
                  <a:srgbClr val="14B8A6"/>
                </a:solidFill>
                <a:latin typeface="Calibri" pitchFamily="34" charset="0"/>
                <a:ea typeface="Calibri" pitchFamily="34" charset="-122"/>
                <a:cs typeface="Calibri" pitchFamily="34" charset="-120"/>
              </a:rPr>
              <a:t>You need to know what to ask.</a:t>
            </a:r>
            <a:endParaRPr lang="en-US" sz="2200" dirty="0"/>
          </a:p>
        </p:txBody>
      </p:sp>
      <p:sp>
        <p:nvSpPr>
          <p:cNvPr id="4" name="Text 2"/>
          <p:cNvSpPr/>
          <p:nvPr/>
        </p:nvSpPr>
        <p:spPr>
          <a:xfrm>
            <a:off x="548640" y="1554480"/>
            <a:ext cx="11091672" cy="365760"/>
          </a:xfrm>
          <a:prstGeom prst="rect">
            <a:avLst/>
          </a:prstGeom>
          <a:noFill/>
          <a:ln/>
        </p:spPr>
        <p:txBody>
          <a:bodyPr wrap="square"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Look at how this lab actually got solved.</a:t>
            </a:r>
            <a:endParaRPr lang="en-US" sz="1400" dirty="0"/>
          </a:p>
        </p:txBody>
      </p:sp>
      <p:sp>
        <p:nvSpPr>
          <p:cNvPr id="5" name="Shape 3"/>
          <p:cNvSpPr/>
          <p:nvPr/>
        </p:nvSpPr>
        <p:spPr>
          <a:xfrm>
            <a:off x="548640" y="2103120"/>
            <a:ext cx="11091672" cy="411480"/>
          </a:xfrm>
          <a:prstGeom prst="rect">
            <a:avLst/>
          </a:prstGeom>
          <a:solidFill>
            <a:srgbClr val="0D9488"/>
          </a:solidFill>
          <a:ln w="12700">
            <a:solidFill>
              <a:srgbClr val="0D9488"/>
            </a:solidFill>
            <a:prstDash val="solid"/>
          </a:ln>
        </p:spPr>
      </p:sp>
      <p:sp>
        <p:nvSpPr>
          <p:cNvPr id="6" name="Text 4"/>
          <p:cNvSpPr/>
          <p:nvPr/>
        </p:nvSpPr>
        <p:spPr>
          <a:xfrm>
            <a:off x="731520" y="2103120"/>
            <a:ext cx="13716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Bug</a:t>
            </a:r>
            <a:endParaRPr lang="en-US" sz="1300" dirty="0"/>
          </a:p>
        </p:txBody>
      </p:sp>
      <p:sp>
        <p:nvSpPr>
          <p:cNvPr id="7" name="Text 5"/>
          <p:cNvSpPr/>
          <p:nvPr/>
        </p:nvSpPr>
        <p:spPr>
          <a:xfrm>
            <a:off x="2103120" y="2103120"/>
            <a:ext cx="45720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Knowledge needed</a:t>
            </a:r>
            <a:endParaRPr lang="en-US" sz="1300" dirty="0"/>
          </a:p>
        </p:txBody>
      </p:sp>
      <p:sp>
        <p:nvSpPr>
          <p:cNvPr id="8" name="Text 6"/>
          <p:cNvSpPr/>
          <p:nvPr/>
        </p:nvSpPr>
        <p:spPr>
          <a:xfrm>
            <a:off x="6675120" y="2103120"/>
            <a:ext cx="5148072"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How you actually found it</a:t>
            </a:r>
            <a:endParaRPr lang="en-US" sz="1300" dirty="0"/>
          </a:p>
        </p:txBody>
      </p:sp>
      <p:sp>
        <p:nvSpPr>
          <p:cNvPr id="9" name="Shape 7"/>
          <p:cNvSpPr/>
          <p:nvPr/>
        </p:nvSpPr>
        <p:spPr>
          <a:xfrm>
            <a:off x="548640" y="2514600"/>
            <a:ext cx="11091672" cy="502920"/>
          </a:xfrm>
          <a:prstGeom prst="rect">
            <a:avLst/>
          </a:prstGeom>
          <a:solidFill>
            <a:srgbClr val="1A2744"/>
          </a:solidFill>
          <a:ln w="12700">
            <a:solidFill>
              <a:srgbClr val="1A2744"/>
            </a:solidFill>
            <a:prstDash val="solid"/>
          </a:ln>
        </p:spPr>
      </p:sp>
      <p:sp>
        <p:nvSpPr>
          <p:cNvPr id="10" name="Text 8"/>
          <p:cNvSpPr/>
          <p:nvPr/>
        </p:nvSpPr>
        <p:spPr>
          <a:xfrm>
            <a:off x="731520" y="2514600"/>
            <a:ext cx="1371600" cy="50292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Bug 6</a:t>
            </a:r>
            <a:endParaRPr lang="en-US" sz="1300" dirty="0"/>
          </a:p>
        </p:txBody>
      </p:sp>
      <p:sp>
        <p:nvSpPr>
          <p:cNvPr id="11" name="Text 9"/>
          <p:cNvSpPr/>
          <p:nvPr/>
        </p:nvSpPr>
        <p:spPr>
          <a:xfrm>
            <a:off x="2103120" y="2514600"/>
            <a:ext cx="457200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How to read Grafana logs</a:t>
            </a:r>
            <a:endParaRPr lang="en-US" sz="1300" dirty="0"/>
          </a:p>
        </p:txBody>
      </p:sp>
      <p:sp>
        <p:nvSpPr>
          <p:cNvPr id="12" name="Text 10"/>
          <p:cNvSpPr/>
          <p:nvPr/>
        </p:nvSpPr>
        <p:spPr>
          <a:xfrm>
            <a:off x="6675120" y="2514600"/>
            <a:ext cx="5148072"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system told you</a:t>
            </a:r>
            <a:endParaRPr lang="en-US" sz="1300" dirty="0"/>
          </a:p>
        </p:txBody>
      </p:sp>
      <p:sp>
        <p:nvSpPr>
          <p:cNvPr id="13" name="Shape 11"/>
          <p:cNvSpPr/>
          <p:nvPr/>
        </p:nvSpPr>
        <p:spPr>
          <a:xfrm>
            <a:off x="548640" y="3017520"/>
            <a:ext cx="11091672" cy="502920"/>
          </a:xfrm>
          <a:prstGeom prst="rect">
            <a:avLst/>
          </a:prstGeom>
          <a:solidFill>
            <a:srgbClr val="0F1B2D"/>
          </a:solidFill>
          <a:ln w="12700">
            <a:solidFill>
              <a:srgbClr val="0F1B2D"/>
            </a:solidFill>
            <a:prstDash val="solid"/>
          </a:ln>
        </p:spPr>
      </p:sp>
      <p:sp>
        <p:nvSpPr>
          <p:cNvPr id="14" name="Text 12"/>
          <p:cNvSpPr/>
          <p:nvPr/>
        </p:nvSpPr>
        <p:spPr>
          <a:xfrm>
            <a:off x="731520" y="3017520"/>
            <a:ext cx="1371600" cy="50292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Bug 1</a:t>
            </a:r>
            <a:endParaRPr lang="en-US" sz="1300" dirty="0"/>
          </a:p>
        </p:txBody>
      </p:sp>
      <p:sp>
        <p:nvSpPr>
          <p:cNvPr id="15" name="Text 13"/>
          <p:cNvSpPr/>
          <p:nvPr/>
        </p:nvSpPr>
        <p:spPr>
          <a:xfrm>
            <a:off x="2103120" y="3017520"/>
            <a:ext cx="457200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How to test a network endpoint</a:t>
            </a:r>
            <a:endParaRPr lang="en-US" sz="1300" dirty="0"/>
          </a:p>
        </p:txBody>
      </p:sp>
      <p:sp>
        <p:nvSpPr>
          <p:cNvPr id="16" name="Text 14"/>
          <p:cNvSpPr/>
          <p:nvPr/>
        </p:nvSpPr>
        <p:spPr>
          <a:xfrm>
            <a:off x="6675120" y="3017520"/>
            <a:ext cx="5148072"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error told you</a:t>
            </a:r>
            <a:endParaRPr lang="en-US" sz="1300" dirty="0"/>
          </a:p>
        </p:txBody>
      </p:sp>
      <p:sp>
        <p:nvSpPr>
          <p:cNvPr id="17" name="Shape 15"/>
          <p:cNvSpPr/>
          <p:nvPr/>
        </p:nvSpPr>
        <p:spPr>
          <a:xfrm>
            <a:off x="548640" y="3520440"/>
            <a:ext cx="11091672" cy="502920"/>
          </a:xfrm>
          <a:prstGeom prst="rect">
            <a:avLst/>
          </a:prstGeom>
          <a:solidFill>
            <a:srgbClr val="1A2744"/>
          </a:solidFill>
          <a:ln w="12700">
            <a:solidFill>
              <a:srgbClr val="1A2744"/>
            </a:solidFill>
            <a:prstDash val="solid"/>
          </a:ln>
        </p:spPr>
      </p:sp>
      <p:sp>
        <p:nvSpPr>
          <p:cNvPr id="18" name="Text 16"/>
          <p:cNvSpPr/>
          <p:nvPr/>
        </p:nvSpPr>
        <p:spPr>
          <a:xfrm>
            <a:off x="731520" y="3520440"/>
            <a:ext cx="1371600" cy="50292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Bug 2</a:t>
            </a:r>
            <a:endParaRPr lang="en-US" sz="1300" dirty="0"/>
          </a:p>
        </p:txBody>
      </p:sp>
      <p:sp>
        <p:nvSpPr>
          <p:cNvPr id="19" name="Text 17"/>
          <p:cNvSpPr/>
          <p:nvPr/>
        </p:nvSpPr>
        <p:spPr>
          <a:xfrm>
            <a:off x="2103120" y="3520440"/>
            <a:ext cx="457200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Vague awareness rate() exists</a:t>
            </a:r>
            <a:endParaRPr lang="en-US" sz="1300" dirty="0"/>
          </a:p>
        </p:txBody>
      </p:sp>
      <p:sp>
        <p:nvSpPr>
          <p:cNvPr id="20" name="Text 18"/>
          <p:cNvSpPr/>
          <p:nvPr/>
        </p:nvSpPr>
        <p:spPr>
          <a:xfrm>
            <a:off x="6675120" y="3520440"/>
            <a:ext cx="5148072"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Prometheus told you</a:t>
            </a:r>
            <a:endParaRPr lang="en-US" sz="1300" dirty="0"/>
          </a:p>
        </p:txBody>
      </p:sp>
      <p:sp>
        <p:nvSpPr>
          <p:cNvPr id="21" name="Shape 19"/>
          <p:cNvSpPr/>
          <p:nvPr/>
        </p:nvSpPr>
        <p:spPr>
          <a:xfrm>
            <a:off x="548640" y="4023360"/>
            <a:ext cx="11091672" cy="502920"/>
          </a:xfrm>
          <a:prstGeom prst="rect">
            <a:avLst/>
          </a:prstGeom>
          <a:solidFill>
            <a:srgbClr val="0F1B2D"/>
          </a:solidFill>
          <a:ln w="12700">
            <a:solidFill>
              <a:srgbClr val="0F1B2D"/>
            </a:solidFill>
            <a:prstDash val="solid"/>
          </a:ln>
        </p:spPr>
      </p:sp>
      <p:sp>
        <p:nvSpPr>
          <p:cNvPr id="22" name="Text 20"/>
          <p:cNvSpPr/>
          <p:nvPr/>
        </p:nvSpPr>
        <p:spPr>
          <a:xfrm>
            <a:off x="731520" y="4023360"/>
            <a:ext cx="1371600" cy="50292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Bug 4</a:t>
            </a:r>
            <a:endParaRPr lang="en-US" sz="1300" dirty="0"/>
          </a:p>
        </p:txBody>
      </p:sp>
      <p:sp>
        <p:nvSpPr>
          <p:cNvPr id="23" name="Text 21"/>
          <p:cNvSpPr/>
          <p:nvPr/>
        </p:nvSpPr>
        <p:spPr>
          <a:xfrm>
            <a:off x="2103120" y="4023360"/>
            <a:ext cx="457200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+Inf is not a sensible duration</a:t>
            </a:r>
            <a:endParaRPr lang="en-US" sz="1300" dirty="0"/>
          </a:p>
        </p:txBody>
      </p:sp>
      <p:sp>
        <p:nvSpPr>
          <p:cNvPr id="24" name="Text 22"/>
          <p:cNvSpPr/>
          <p:nvPr/>
        </p:nvSpPr>
        <p:spPr>
          <a:xfrm>
            <a:off x="6675120" y="4023360"/>
            <a:ext cx="5148072"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result told you</a:t>
            </a:r>
            <a:endParaRPr lang="en-US" sz="1300" dirty="0"/>
          </a:p>
        </p:txBody>
      </p:sp>
      <p:sp>
        <p:nvSpPr>
          <p:cNvPr id="25" name="Shape 23"/>
          <p:cNvSpPr/>
          <p:nvPr/>
        </p:nvSpPr>
        <p:spPr>
          <a:xfrm>
            <a:off x="548640" y="4526280"/>
            <a:ext cx="11091672" cy="502920"/>
          </a:xfrm>
          <a:prstGeom prst="rect">
            <a:avLst/>
          </a:prstGeom>
          <a:solidFill>
            <a:srgbClr val="1A2744"/>
          </a:solidFill>
          <a:ln w="12700">
            <a:solidFill>
              <a:srgbClr val="1A2744"/>
            </a:solidFill>
            <a:prstDash val="solid"/>
          </a:ln>
        </p:spPr>
      </p:sp>
      <p:sp>
        <p:nvSpPr>
          <p:cNvPr id="26" name="Text 24"/>
          <p:cNvSpPr/>
          <p:nvPr/>
        </p:nvSpPr>
        <p:spPr>
          <a:xfrm>
            <a:off x="731520" y="4526280"/>
            <a:ext cx="1371600" cy="50292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Bug 5</a:t>
            </a:r>
            <a:endParaRPr lang="en-US" sz="1300" dirty="0"/>
          </a:p>
        </p:txBody>
      </p:sp>
      <p:sp>
        <p:nvSpPr>
          <p:cNvPr id="27" name="Text 25"/>
          <p:cNvSpPr/>
          <p:nvPr/>
        </p:nvSpPr>
        <p:spPr>
          <a:xfrm>
            <a:off x="2103120" y="4526280"/>
            <a:ext cx="4572000"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How to list metric names</a:t>
            </a:r>
            <a:endParaRPr lang="en-US" sz="1300" dirty="0"/>
          </a:p>
        </p:txBody>
      </p:sp>
      <p:sp>
        <p:nvSpPr>
          <p:cNvPr id="28" name="Text 26"/>
          <p:cNvSpPr/>
          <p:nvPr/>
        </p:nvSpPr>
        <p:spPr>
          <a:xfrm>
            <a:off x="6675120" y="4526280"/>
            <a:ext cx="5148072" cy="5029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metric catalogue told you</a:t>
            </a:r>
            <a:endParaRPr lang="en-US" sz="1300" dirty="0"/>
          </a:p>
        </p:txBody>
      </p:sp>
      <p:sp>
        <p:nvSpPr>
          <p:cNvPr id="29" name="Shape 27"/>
          <p:cNvSpPr/>
          <p:nvPr/>
        </p:nvSpPr>
        <p:spPr>
          <a:xfrm>
            <a:off x="548640" y="5349240"/>
            <a:ext cx="11091672" cy="1280160"/>
          </a:xfrm>
          <a:prstGeom prst="roundRect">
            <a:avLst>
              <a:gd name="adj" fmla="val 5714"/>
            </a:avLst>
          </a:prstGeom>
          <a:solidFill>
            <a:srgbClr val="1A2744"/>
          </a:solidFill>
          <a:ln w="12700">
            <a:solidFill>
              <a:srgbClr val="1A2744"/>
            </a:solidFill>
            <a:prstDash val="solid"/>
          </a:ln>
        </p:spPr>
      </p:sp>
      <p:sp>
        <p:nvSpPr>
          <p:cNvPr id="30" name="Text 28"/>
          <p:cNvSpPr/>
          <p:nvPr/>
        </p:nvSpPr>
        <p:spPr>
          <a:xfrm>
            <a:off x="777240" y="5440680"/>
            <a:ext cx="10607040" cy="36576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The skill that actually matters</a:t>
            </a:r>
            <a:endParaRPr lang="en-US" sz="1400" dirty="0"/>
          </a:p>
        </p:txBody>
      </p:sp>
      <p:sp>
        <p:nvSpPr>
          <p:cNvPr id="31" name="Text 29"/>
          <p:cNvSpPr/>
          <p:nvPr/>
        </p:nvSpPr>
        <p:spPr>
          <a:xfrm>
            <a:off x="777240" y="5806440"/>
            <a:ext cx="10607040" cy="77724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layer in your stack has a way to tell you what's wrong. Your job is to find the channel and listen. Read the logs. Test components in isolation. Use APIs, not screenshots. Fluency in any one tool grows naturally — diagnostic instincts compound across all of them.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Validators that grep JSON lie</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Our first validator failed two checks the dashboard was actually passing. The validator was wrong.</a:t>
            </a:r>
            <a:endParaRPr lang="en-US" sz="1500" dirty="0"/>
          </a:p>
        </p:txBody>
      </p:sp>
      <p:sp>
        <p:nvSpPr>
          <p:cNvPr id="4" name="Shape 2"/>
          <p:cNvSpPr/>
          <p:nvPr/>
        </p:nvSpPr>
        <p:spPr>
          <a:xfrm>
            <a:off x="548640" y="1600200"/>
            <a:ext cx="11091672" cy="1554480"/>
          </a:xfrm>
          <a:prstGeom prst="roundRect">
            <a:avLst>
              <a:gd name="adj" fmla="val 4706"/>
            </a:avLst>
          </a:prstGeom>
          <a:solidFill>
            <a:srgbClr val="1A2744"/>
          </a:solidFill>
          <a:ln w="12700">
            <a:solidFill>
              <a:srgbClr val="1A2744"/>
            </a:solidFill>
            <a:prstDash val="solid"/>
          </a:ln>
        </p:spPr>
      </p:sp>
      <p:sp>
        <p:nvSpPr>
          <p:cNvPr id="5" name="Text 3"/>
          <p:cNvSpPr/>
          <p:nvPr/>
        </p:nvSpPr>
        <p:spPr>
          <a:xfrm>
            <a:off x="777240" y="1691640"/>
            <a:ext cx="10607040" cy="365760"/>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The fragile version</a:t>
            </a:r>
            <a:endParaRPr lang="en-US" sz="1400" dirty="0"/>
          </a:p>
        </p:txBody>
      </p:sp>
      <p:sp>
        <p:nvSpPr>
          <p:cNvPr id="6" name="Text 4"/>
          <p:cNvSpPr/>
          <p:nvPr/>
        </p:nvSpPr>
        <p:spPr>
          <a:xfrm>
            <a:off x="777240" y="2057400"/>
            <a:ext cx="10607040" cy="1051560"/>
          </a:xfrm>
          <a:prstGeom prst="rect">
            <a:avLst/>
          </a:prstGeom>
          <a:noFill/>
          <a:ln/>
        </p:spPr>
        <p:txBody>
          <a:bodyPr wrap="square"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curl /api/v1/targets \</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 grep -o '"job":"app","[^}]*"health":"[^"]*"' \</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 sed 's/.*"health":"//;s/"//'</a:t>
            </a:r>
            <a:endParaRPr lang="en-US" sz="1200" dirty="0"/>
          </a:p>
        </p:txBody>
      </p:sp>
      <p:sp>
        <p:nvSpPr>
          <p:cNvPr id="7" name="Shape 5"/>
          <p:cNvSpPr/>
          <p:nvPr/>
        </p:nvSpPr>
        <p:spPr>
          <a:xfrm>
            <a:off x="548640" y="3291840"/>
            <a:ext cx="11091672" cy="1371600"/>
          </a:xfrm>
          <a:prstGeom prst="roundRect">
            <a:avLst>
              <a:gd name="adj" fmla="val 5333"/>
            </a:avLst>
          </a:prstGeom>
          <a:solidFill>
            <a:srgbClr val="1A2744"/>
          </a:solidFill>
          <a:ln w="12700">
            <a:solidFill>
              <a:srgbClr val="1A2744"/>
            </a:solidFill>
            <a:prstDash val="solid"/>
          </a:ln>
        </p:spPr>
      </p:sp>
      <p:sp>
        <p:nvSpPr>
          <p:cNvPr id="8" name="Text 6"/>
          <p:cNvSpPr/>
          <p:nvPr/>
        </p:nvSpPr>
        <p:spPr>
          <a:xfrm>
            <a:off x="777240" y="3383280"/>
            <a:ext cx="10607040" cy="36576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Why it failed</a:t>
            </a:r>
            <a:endParaRPr lang="en-US" sz="1400" dirty="0"/>
          </a:p>
        </p:txBody>
      </p:sp>
      <p:sp>
        <p:nvSpPr>
          <p:cNvPr id="9" name="Text 7"/>
          <p:cNvSpPr/>
          <p:nvPr/>
        </p:nvSpPr>
        <p:spPr>
          <a:xfrm>
            <a:off x="777240" y="3749040"/>
            <a:ext cx="10607040" cy="86868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JSON has no field-order guarantee. The regex assumed "job" and "health" appeared on the same line, in that order. They don't. Other fields interleaved. The regex matched nothing. Validator returned FAIL. The system was actually fine.</a:t>
            </a:r>
            <a:endParaRPr lang="en-US" sz="1300" dirty="0"/>
          </a:p>
        </p:txBody>
      </p:sp>
      <p:sp>
        <p:nvSpPr>
          <p:cNvPr id="10" name="Shape 8"/>
          <p:cNvSpPr/>
          <p:nvPr/>
        </p:nvSpPr>
        <p:spPr>
          <a:xfrm>
            <a:off x="548640" y="4800600"/>
            <a:ext cx="11091672" cy="1554480"/>
          </a:xfrm>
          <a:prstGeom prst="roundRect">
            <a:avLst>
              <a:gd name="adj" fmla="val 4706"/>
            </a:avLst>
          </a:prstGeom>
          <a:solidFill>
            <a:srgbClr val="1A2744"/>
          </a:solidFill>
          <a:ln w="12700">
            <a:solidFill>
              <a:srgbClr val="1A2744"/>
            </a:solidFill>
            <a:prstDash val="solid"/>
          </a:ln>
        </p:spPr>
      </p:sp>
      <p:sp>
        <p:nvSpPr>
          <p:cNvPr id="11" name="Text 9"/>
          <p:cNvSpPr/>
          <p:nvPr/>
        </p:nvSpPr>
        <p:spPr>
          <a:xfrm>
            <a:off x="777240" y="4892040"/>
            <a:ext cx="10607040" cy="365760"/>
          </a:xfrm>
          <a:prstGeom prst="rect">
            <a:avLst/>
          </a:prstGeom>
          <a:noFill/>
          <a:ln/>
        </p:spPr>
        <p:txBody>
          <a:bodyPr wrap="square"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The reliable version</a:t>
            </a:r>
            <a:endParaRPr lang="en-US" sz="1400" dirty="0"/>
          </a:p>
        </p:txBody>
      </p:sp>
      <p:sp>
        <p:nvSpPr>
          <p:cNvPr id="12" name="Text 10"/>
          <p:cNvSpPr/>
          <p:nvPr/>
        </p:nvSpPr>
        <p:spPr>
          <a:xfrm>
            <a:off x="777240" y="5257800"/>
            <a:ext cx="10607040" cy="1051560"/>
          </a:xfrm>
          <a:prstGeom prst="rect">
            <a:avLst/>
          </a:prstGeom>
          <a:noFill/>
          <a:ln/>
        </p:spPr>
        <p:txBody>
          <a:bodyPr wrap="square"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curl /api/v1/targets | python3 -c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import sys, json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data = json.load(sys.stdin)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app = next(t for t in data['data']['activeTargets']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if t['labels']['job'] == 'app')</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sys.exit(0 if app['health'] == 'up' else 1)"</a:t>
            </a:r>
            <a:endParaRPr lang="en-US" sz="1100" dirty="0"/>
          </a:p>
        </p:txBody>
      </p:sp>
      <p:sp>
        <p:nvSpPr>
          <p:cNvPr id="13" name="Shape 11"/>
          <p:cNvSpPr/>
          <p:nvPr/>
        </p:nvSpPr>
        <p:spPr>
          <a:xfrm>
            <a:off x="548640" y="6446520"/>
            <a:ext cx="11091672" cy="365760"/>
          </a:xfrm>
          <a:prstGeom prst="roundRect">
            <a:avLst>
              <a:gd name="adj" fmla="val 20000"/>
            </a:avLst>
          </a:prstGeom>
          <a:solidFill>
            <a:srgbClr val="1A2744"/>
          </a:solidFill>
          <a:ln w="12700">
            <a:solidFill>
              <a:srgbClr val="1A2744"/>
            </a:solidFill>
            <a:prstDash val="solid"/>
          </a:ln>
        </p:spPr>
      </p:sp>
      <p:sp>
        <p:nvSpPr>
          <p:cNvPr id="14" name="Text 12"/>
          <p:cNvSpPr/>
          <p:nvPr/>
        </p:nvSpPr>
        <p:spPr>
          <a:xfrm>
            <a:off x="777240" y="6446520"/>
            <a:ext cx="10607040" cy="365760"/>
          </a:xfrm>
          <a:prstGeom prst="rect">
            <a:avLst/>
          </a:prstGeom>
          <a:noFill/>
          <a:ln/>
        </p:spPr>
        <p:txBody>
          <a:bodyPr wrap="square" rtlCol="0" anchor="ctr"/>
          <a:lstStyle/>
          <a:p>
            <a:pPr algn="ctr" indent="0" marL="0">
              <a:buNone/>
            </a:pPr>
            <a:r>
              <a:rPr lang="en-US" sz="1300" i="1" dirty="0">
                <a:solidFill>
                  <a:srgbClr val="14B8A6"/>
                </a:solidFill>
                <a:latin typeface="Calibri" pitchFamily="34" charset="0"/>
                <a:ea typeface="Calibri" pitchFamily="34" charset="-122"/>
                <a:cs typeface="Calibri" pitchFamily="34" charset="-120"/>
              </a:rPr>
              <a:t>Use jq, or python, or any real JSON parser. Never grep JSON.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Lab vs real life</a:t>
            </a:r>
            <a:endParaRPr lang="en-US" sz="3200" dirty="0"/>
          </a:p>
        </p:txBody>
      </p:sp>
      <p:sp>
        <p:nvSpPr>
          <p:cNvPr id="3" name="Text 1"/>
          <p:cNvSpPr/>
          <p:nvPr/>
        </p:nvSpPr>
        <p:spPr>
          <a:xfrm>
            <a:off x="548640" y="1051560"/>
            <a:ext cx="11091672" cy="365760"/>
          </a:xfrm>
          <a:prstGeom prst="rect">
            <a:avLst/>
          </a:prstGeom>
          <a:noFill/>
          <a:ln/>
        </p:spPr>
        <p:txBody>
          <a:bodyPr wrap="square"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What you'd see in production that this lab simplifies away.</a:t>
            </a:r>
            <a:endParaRPr lang="en-US" sz="1400" dirty="0"/>
          </a:p>
        </p:txBody>
      </p:sp>
      <p:sp>
        <p:nvSpPr>
          <p:cNvPr id="4" name="Shape 2"/>
          <p:cNvSpPr/>
          <p:nvPr/>
        </p:nvSpPr>
        <p:spPr>
          <a:xfrm>
            <a:off x="548640" y="1554480"/>
            <a:ext cx="5440680" cy="1417320"/>
          </a:xfrm>
          <a:prstGeom prst="roundRect">
            <a:avLst>
              <a:gd name="adj" fmla="val 5161"/>
            </a:avLst>
          </a:prstGeom>
          <a:solidFill>
            <a:srgbClr val="1A2744"/>
          </a:solidFill>
          <a:ln w="12700">
            <a:solidFill>
              <a:srgbClr val="1A2744"/>
            </a:solidFill>
            <a:prstDash val="solid"/>
          </a:ln>
        </p:spPr>
      </p:sp>
      <p:sp>
        <p:nvSpPr>
          <p:cNvPr id="5" name="Shape 3"/>
          <p:cNvSpPr/>
          <p:nvPr/>
        </p:nvSpPr>
        <p:spPr>
          <a:xfrm>
            <a:off x="731520" y="2011680"/>
            <a:ext cx="502920" cy="502920"/>
          </a:xfrm>
          <a:prstGeom prst="ellipse">
            <a:avLst/>
          </a:prstGeom>
          <a:solidFill>
            <a:srgbClr val="0D9488"/>
          </a:solidFill>
          <a:ln w="1270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857250" y="2137410"/>
            <a:ext cx="251460" cy="251460"/>
          </a:xfrm>
          <a:prstGeom prst="rect">
            <a:avLst/>
          </a:prstGeom>
        </p:spPr>
      </p:pic>
      <p:sp>
        <p:nvSpPr>
          <p:cNvPr id="7" name="Text 4"/>
          <p:cNvSpPr/>
          <p:nvPr/>
        </p:nvSpPr>
        <p:spPr>
          <a:xfrm>
            <a:off x="1417320" y="1691640"/>
            <a:ext cx="640080" cy="274320"/>
          </a:xfrm>
          <a:prstGeom prst="rect">
            <a:avLst/>
          </a:prstGeom>
          <a:noFill/>
          <a:ln/>
        </p:spPr>
        <p:txBody>
          <a:bodyPr wrap="square"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LAB</a:t>
            </a:r>
            <a:endParaRPr lang="en-US" sz="1000" dirty="0"/>
          </a:p>
        </p:txBody>
      </p:sp>
      <p:sp>
        <p:nvSpPr>
          <p:cNvPr id="8" name="Text 5"/>
          <p:cNvSpPr/>
          <p:nvPr/>
        </p:nvSpPr>
        <p:spPr>
          <a:xfrm>
            <a:off x="1417320" y="192024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http://prometheus:9090 (Compose service name)</a:t>
            </a:r>
            <a:endParaRPr lang="en-US" sz="1200" dirty="0"/>
          </a:p>
        </p:txBody>
      </p:sp>
      <p:sp>
        <p:nvSpPr>
          <p:cNvPr id="9" name="Text 6"/>
          <p:cNvSpPr/>
          <p:nvPr/>
        </p:nvSpPr>
        <p:spPr>
          <a:xfrm>
            <a:off x="1417320" y="2331720"/>
            <a:ext cx="640080" cy="274320"/>
          </a:xfrm>
          <a:prstGeom prst="rect">
            <a:avLst/>
          </a:prstGeom>
          <a:noFill/>
          <a:ln/>
        </p:spPr>
        <p:txBody>
          <a:bodyPr wrap="square" rtlCol="0" anchor="ctr"/>
          <a:lstStyle/>
          <a:p>
            <a:pPr indent="0" marL="0">
              <a:buNone/>
            </a:pPr>
            <a:r>
              <a:rPr lang="en-US" sz="1000" b="1" spc="200" kern="0" dirty="0">
                <a:solidFill>
                  <a:srgbClr val="14B8A6"/>
                </a:solidFill>
                <a:latin typeface="Calibri" pitchFamily="34" charset="0"/>
                <a:ea typeface="Calibri" pitchFamily="34" charset="-122"/>
                <a:cs typeface="Calibri" pitchFamily="34" charset="-120"/>
              </a:rPr>
              <a:t>REAL</a:t>
            </a:r>
            <a:endParaRPr lang="en-US" sz="1000" dirty="0"/>
          </a:p>
        </p:txBody>
      </p:sp>
      <p:sp>
        <p:nvSpPr>
          <p:cNvPr id="10" name="Text 7"/>
          <p:cNvSpPr/>
          <p:nvPr/>
        </p:nvSpPr>
        <p:spPr>
          <a:xfrm>
            <a:off x="1417320" y="256032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http://prometheus.monitoring.svc.cluster.local:9090 (Kubernetes Service DNS)</a:t>
            </a:r>
            <a:endParaRPr lang="en-US" sz="1200" dirty="0"/>
          </a:p>
        </p:txBody>
      </p:sp>
      <p:sp>
        <p:nvSpPr>
          <p:cNvPr id="11" name="Shape 8"/>
          <p:cNvSpPr/>
          <p:nvPr/>
        </p:nvSpPr>
        <p:spPr>
          <a:xfrm>
            <a:off x="6199632" y="1554480"/>
            <a:ext cx="5440680" cy="1417320"/>
          </a:xfrm>
          <a:prstGeom prst="roundRect">
            <a:avLst>
              <a:gd name="adj" fmla="val 5161"/>
            </a:avLst>
          </a:prstGeom>
          <a:solidFill>
            <a:srgbClr val="1A2744"/>
          </a:solidFill>
          <a:ln w="12700">
            <a:solidFill>
              <a:srgbClr val="1A2744"/>
            </a:solidFill>
            <a:prstDash val="solid"/>
          </a:ln>
        </p:spPr>
      </p:sp>
      <p:sp>
        <p:nvSpPr>
          <p:cNvPr id="12" name="Shape 9"/>
          <p:cNvSpPr/>
          <p:nvPr/>
        </p:nvSpPr>
        <p:spPr>
          <a:xfrm>
            <a:off x="6382512" y="2011680"/>
            <a:ext cx="502920" cy="502920"/>
          </a:xfrm>
          <a:prstGeom prst="ellipse">
            <a:avLst/>
          </a:prstGeom>
          <a:solidFill>
            <a:srgbClr val="0D9488"/>
          </a:solidFill>
          <a:ln w="12700">
            <a:solidFill>
              <a:srgbClr val="0D9488"/>
            </a:solidFill>
            <a:prstDash val="solid"/>
          </a:ln>
        </p:spPr>
      </p:sp>
      <p:pic>
        <p:nvPicPr>
          <p:cNvPr id="13" name="Image 1" descr="preencoded.png">    </p:cNvPr>
          <p:cNvPicPr>
            <a:picLocks noChangeAspect="1"/>
          </p:cNvPicPr>
          <p:nvPr/>
        </p:nvPicPr>
        <p:blipFill>
          <a:blip r:embed="rId2"/>
          <a:stretch>
            <a:fillRect/>
          </a:stretch>
        </p:blipFill>
        <p:spPr>
          <a:xfrm>
            <a:off x="6508242" y="2137410"/>
            <a:ext cx="251460" cy="251460"/>
          </a:xfrm>
          <a:prstGeom prst="rect">
            <a:avLst/>
          </a:prstGeom>
        </p:spPr>
      </p:pic>
      <p:sp>
        <p:nvSpPr>
          <p:cNvPr id="14" name="Text 10"/>
          <p:cNvSpPr/>
          <p:nvPr/>
        </p:nvSpPr>
        <p:spPr>
          <a:xfrm>
            <a:off x="7068312" y="1691640"/>
            <a:ext cx="640080" cy="274320"/>
          </a:xfrm>
          <a:prstGeom prst="rect">
            <a:avLst/>
          </a:prstGeom>
          <a:noFill/>
          <a:ln/>
        </p:spPr>
        <p:txBody>
          <a:bodyPr wrap="square"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LAB</a:t>
            </a:r>
            <a:endParaRPr lang="en-US" sz="1000" dirty="0"/>
          </a:p>
        </p:txBody>
      </p:sp>
      <p:sp>
        <p:nvSpPr>
          <p:cNvPr id="15" name="Text 11"/>
          <p:cNvSpPr/>
          <p:nvPr/>
        </p:nvSpPr>
        <p:spPr>
          <a:xfrm>
            <a:off x="7068312" y="192024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Hand-edited dashboard JSON</a:t>
            </a:r>
            <a:endParaRPr lang="en-US" sz="1200" dirty="0"/>
          </a:p>
        </p:txBody>
      </p:sp>
      <p:sp>
        <p:nvSpPr>
          <p:cNvPr id="16" name="Text 12"/>
          <p:cNvSpPr/>
          <p:nvPr/>
        </p:nvSpPr>
        <p:spPr>
          <a:xfrm>
            <a:off x="7068312" y="2331720"/>
            <a:ext cx="640080" cy="274320"/>
          </a:xfrm>
          <a:prstGeom prst="rect">
            <a:avLst/>
          </a:prstGeom>
          <a:noFill/>
          <a:ln/>
        </p:spPr>
        <p:txBody>
          <a:bodyPr wrap="square" rtlCol="0" anchor="ctr"/>
          <a:lstStyle/>
          <a:p>
            <a:pPr indent="0" marL="0">
              <a:buNone/>
            </a:pPr>
            <a:r>
              <a:rPr lang="en-US" sz="1000" b="1" spc="200" kern="0" dirty="0">
                <a:solidFill>
                  <a:srgbClr val="14B8A6"/>
                </a:solidFill>
                <a:latin typeface="Calibri" pitchFamily="34" charset="0"/>
                <a:ea typeface="Calibri" pitchFamily="34" charset="-122"/>
                <a:cs typeface="Calibri" pitchFamily="34" charset="-120"/>
              </a:rPr>
              <a:t>REAL</a:t>
            </a:r>
            <a:endParaRPr lang="en-US" sz="1000" dirty="0"/>
          </a:p>
        </p:txBody>
      </p:sp>
      <p:sp>
        <p:nvSpPr>
          <p:cNvPr id="17" name="Text 13"/>
          <p:cNvSpPr/>
          <p:nvPr/>
        </p:nvSpPr>
        <p:spPr>
          <a:xfrm>
            <a:off x="7068312" y="256032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Terraform Grafana provider, Grafonnet, or HTTP API — versioned, reviewed, deployed via CI</a:t>
            </a:r>
            <a:endParaRPr lang="en-US" sz="1200" dirty="0"/>
          </a:p>
        </p:txBody>
      </p:sp>
      <p:sp>
        <p:nvSpPr>
          <p:cNvPr id="18" name="Shape 14"/>
          <p:cNvSpPr/>
          <p:nvPr/>
        </p:nvSpPr>
        <p:spPr>
          <a:xfrm>
            <a:off x="548640" y="3108960"/>
            <a:ext cx="5440680" cy="1417320"/>
          </a:xfrm>
          <a:prstGeom prst="roundRect">
            <a:avLst>
              <a:gd name="adj" fmla="val 5161"/>
            </a:avLst>
          </a:prstGeom>
          <a:solidFill>
            <a:srgbClr val="1A2744"/>
          </a:solidFill>
          <a:ln w="12700">
            <a:solidFill>
              <a:srgbClr val="1A2744"/>
            </a:solidFill>
            <a:prstDash val="solid"/>
          </a:ln>
        </p:spPr>
      </p:sp>
      <p:sp>
        <p:nvSpPr>
          <p:cNvPr id="19" name="Shape 15"/>
          <p:cNvSpPr/>
          <p:nvPr/>
        </p:nvSpPr>
        <p:spPr>
          <a:xfrm>
            <a:off x="731520" y="3566160"/>
            <a:ext cx="502920" cy="502920"/>
          </a:xfrm>
          <a:prstGeom prst="ellipse">
            <a:avLst/>
          </a:prstGeom>
          <a:solidFill>
            <a:srgbClr val="0D9488"/>
          </a:solidFill>
          <a:ln w="12700">
            <a:solidFill>
              <a:srgbClr val="0D9488"/>
            </a:solidFill>
            <a:prstDash val="solid"/>
          </a:ln>
        </p:spPr>
      </p:sp>
      <p:pic>
        <p:nvPicPr>
          <p:cNvPr id="20" name="Image 2" descr="preencoded.png">    </p:cNvPr>
          <p:cNvPicPr>
            <a:picLocks noChangeAspect="1"/>
          </p:cNvPicPr>
          <p:nvPr/>
        </p:nvPicPr>
        <p:blipFill>
          <a:blip r:embed="rId3"/>
          <a:stretch>
            <a:fillRect/>
          </a:stretch>
        </p:blipFill>
        <p:spPr>
          <a:xfrm>
            <a:off x="857250" y="3691890"/>
            <a:ext cx="251460" cy="251460"/>
          </a:xfrm>
          <a:prstGeom prst="rect">
            <a:avLst/>
          </a:prstGeom>
        </p:spPr>
      </p:pic>
      <p:sp>
        <p:nvSpPr>
          <p:cNvPr id="21" name="Text 16"/>
          <p:cNvSpPr/>
          <p:nvPr/>
        </p:nvSpPr>
        <p:spPr>
          <a:xfrm>
            <a:off x="1417320" y="3246120"/>
            <a:ext cx="640080" cy="274320"/>
          </a:xfrm>
          <a:prstGeom prst="rect">
            <a:avLst/>
          </a:prstGeom>
          <a:noFill/>
          <a:ln/>
        </p:spPr>
        <p:txBody>
          <a:bodyPr wrap="square"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LAB</a:t>
            </a:r>
            <a:endParaRPr lang="en-US" sz="1000" dirty="0"/>
          </a:p>
        </p:txBody>
      </p:sp>
      <p:sp>
        <p:nvSpPr>
          <p:cNvPr id="22" name="Text 17"/>
          <p:cNvSpPr/>
          <p:nvPr/>
        </p:nvSpPr>
        <p:spPr>
          <a:xfrm>
            <a:off x="1417320" y="347472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dashboard, hardcoded queries</a:t>
            </a:r>
            <a:endParaRPr lang="en-US" sz="1200" dirty="0"/>
          </a:p>
        </p:txBody>
      </p:sp>
      <p:sp>
        <p:nvSpPr>
          <p:cNvPr id="23" name="Text 18"/>
          <p:cNvSpPr/>
          <p:nvPr/>
        </p:nvSpPr>
        <p:spPr>
          <a:xfrm>
            <a:off x="1417320" y="3886200"/>
            <a:ext cx="640080" cy="274320"/>
          </a:xfrm>
          <a:prstGeom prst="rect">
            <a:avLst/>
          </a:prstGeom>
          <a:noFill/>
          <a:ln/>
        </p:spPr>
        <p:txBody>
          <a:bodyPr wrap="square" rtlCol="0" anchor="ctr"/>
          <a:lstStyle/>
          <a:p>
            <a:pPr indent="0" marL="0">
              <a:buNone/>
            </a:pPr>
            <a:r>
              <a:rPr lang="en-US" sz="1000" b="1" spc="200" kern="0" dirty="0">
                <a:solidFill>
                  <a:srgbClr val="14B8A6"/>
                </a:solidFill>
                <a:latin typeface="Calibri" pitchFamily="34" charset="0"/>
                <a:ea typeface="Calibri" pitchFamily="34" charset="-122"/>
                <a:cs typeface="Calibri" pitchFamily="34" charset="-120"/>
              </a:rPr>
              <a:t>REAL</a:t>
            </a:r>
            <a:endParaRPr lang="en-US" sz="1000" dirty="0"/>
          </a:p>
        </p:txBody>
      </p:sp>
      <p:sp>
        <p:nvSpPr>
          <p:cNvPr id="24" name="Text 19"/>
          <p:cNvSpPr/>
          <p:nvPr/>
        </p:nvSpPr>
        <p:spPr>
          <a:xfrm>
            <a:off x="1417320" y="411480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Template variables for environment/service/instance — one dashboard serves all environments</a:t>
            </a:r>
            <a:endParaRPr lang="en-US" sz="1200" dirty="0"/>
          </a:p>
        </p:txBody>
      </p:sp>
      <p:sp>
        <p:nvSpPr>
          <p:cNvPr id="25" name="Shape 20"/>
          <p:cNvSpPr/>
          <p:nvPr/>
        </p:nvSpPr>
        <p:spPr>
          <a:xfrm>
            <a:off x="6199632" y="3108960"/>
            <a:ext cx="5440680" cy="1417320"/>
          </a:xfrm>
          <a:prstGeom prst="roundRect">
            <a:avLst>
              <a:gd name="adj" fmla="val 5161"/>
            </a:avLst>
          </a:prstGeom>
          <a:solidFill>
            <a:srgbClr val="1A2744"/>
          </a:solidFill>
          <a:ln w="12700">
            <a:solidFill>
              <a:srgbClr val="1A2744"/>
            </a:solidFill>
            <a:prstDash val="solid"/>
          </a:ln>
        </p:spPr>
      </p:sp>
      <p:sp>
        <p:nvSpPr>
          <p:cNvPr id="26" name="Shape 21"/>
          <p:cNvSpPr/>
          <p:nvPr/>
        </p:nvSpPr>
        <p:spPr>
          <a:xfrm>
            <a:off x="6382512" y="3566160"/>
            <a:ext cx="502920" cy="502920"/>
          </a:xfrm>
          <a:prstGeom prst="ellipse">
            <a:avLst/>
          </a:prstGeom>
          <a:solidFill>
            <a:srgbClr val="0D9488"/>
          </a:solidFill>
          <a:ln w="12700">
            <a:solidFill>
              <a:srgbClr val="0D9488"/>
            </a:solidFill>
            <a:prstDash val="solid"/>
          </a:ln>
        </p:spPr>
      </p:sp>
      <p:pic>
        <p:nvPicPr>
          <p:cNvPr id="27" name="Image 3" descr="preencoded.png">    </p:cNvPr>
          <p:cNvPicPr>
            <a:picLocks noChangeAspect="1"/>
          </p:cNvPicPr>
          <p:nvPr/>
        </p:nvPicPr>
        <p:blipFill>
          <a:blip r:embed="rId4"/>
          <a:stretch>
            <a:fillRect/>
          </a:stretch>
        </p:blipFill>
        <p:spPr>
          <a:xfrm>
            <a:off x="6508242" y="3691890"/>
            <a:ext cx="251460" cy="251460"/>
          </a:xfrm>
          <a:prstGeom prst="rect">
            <a:avLst/>
          </a:prstGeom>
        </p:spPr>
      </p:pic>
      <p:sp>
        <p:nvSpPr>
          <p:cNvPr id="28" name="Text 22"/>
          <p:cNvSpPr/>
          <p:nvPr/>
        </p:nvSpPr>
        <p:spPr>
          <a:xfrm>
            <a:off x="7068312" y="3246120"/>
            <a:ext cx="640080" cy="274320"/>
          </a:xfrm>
          <a:prstGeom prst="rect">
            <a:avLst/>
          </a:prstGeom>
          <a:noFill/>
          <a:ln/>
        </p:spPr>
        <p:txBody>
          <a:bodyPr wrap="square"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LAB</a:t>
            </a:r>
            <a:endParaRPr lang="en-US" sz="1000" dirty="0"/>
          </a:p>
        </p:txBody>
      </p:sp>
      <p:sp>
        <p:nvSpPr>
          <p:cNvPr id="29" name="Text 23"/>
          <p:cNvSpPr/>
          <p:nvPr/>
        </p:nvSpPr>
        <p:spPr>
          <a:xfrm>
            <a:off x="7068312" y="347472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Default histogram buckets</a:t>
            </a:r>
            <a:endParaRPr lang="en-US" sz="1200" dirty="0"/>
          </a:p>
        </p:txBody>
      </p:sp>
      <p:sp>
        <p:nvSpPr>
          <p:cNvPr id="30" name="Text 24"/>
          <p:cNvSpPr/>
          <p:nvPr/>
        </p:nvSpPr>
        <p:spPr>
          <a:xfrm>
            <a:off x="7068312" y="3886200"/>
            <a:ext cx="640080" cy="274320"/>
          </a:xfrm>
          <a:prstGeom prst="rect">
            <a:avLst/>
          </a:prstGeom>
          <a:noFill/>
          <a:ln/>
        </p:spPr>
        <p:txBody>
          <a:bodyPr wrap="square" rtlCol="0" anchor="ctr"/>
          <a:lstStyle/>
          <a:p>
            <a:pPr indent="0" marL="0">
              <a:buNone/>
            </a:pPr>
            <a:r>
              <a:rPr lang="en-US" sz="1000" b="1" spc="200" kern="0" dirty="0">
                <a:solidFill>
                  <a:srgbClr val="14B8A6"/>
                </a:solidFill>
                <a:latin typeface="Calibri" pitchFamily="34" charset="0"/>
                <a:ea typeface="Calibri" pitchFamily="34" charset="-122"/>
                <a:cs typeface="Calibri" pitchFamily="34" charset="-120"/>
              </a:rPr>
              <a:t>REAL</a:t>
            </a:r>
            <a:endParaRPr lang="en-US" sz="1000" dirty="0"/>
          </a:p>
        </p:txBody>
      </p:sp>
      <p:sp>
        <p:nvSpPr>
          <p:cNvPr id="31" name="Text 25"/>
          <p:cNvSpPr/>
          <p:nvPr/>
        </p:nvSpPr>
        <p:spPr>
          <a:xfrm>
            <a:off x="7068312" y="411480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Buckets explicitly chosen to cover the latency range that matters for SLO/SLI thresholds</a:t>
            </a:r>
            <a:endParaRPr lang="en-US" sz="1200" dirty="0"/>
          </a:p>
        </p:txBody>
      </p:sp>
      <p:sp>
        <p:nvSpPr>
          <p:cNvPr id="32" name="Shape 26"/>
          <p:cNvSpPr/>
          <p:nvPr/>
        </p:nvSpPr>
        <p:spPr>
          <a:xfrm>
            <a:off x="548640" y="4663440"/>
            <a:ext cx="5440680" cy="1417320"/>
          </a:xfrm>
          <a:prstGeom prst="roundRect">
            <a:avLst>
              <a:gd name="adj" fmla="val 5161"/>
            </a:avLst>
          </a:prstGeom>
          <a:solidFill>
            <a:srgbClr val="1A2744"/>
          </a:solidFill>
          <a:ln w="12700">
            <a:solidFill>
              <a:srgbClr val="1A2744"/>
            </a:solidFill>
            <a:prstDash val="solid"/>
          </a:ln>
        </p:spPr>
      </p:sp>
      <p:sp>
        <p:nvSpPr>
          <p:cNvPr id="33" name="Shape 27"/>
          <p:cNvSpPr/>
          <p:nvPr/>
        </p:nvSpPr>
        <p:spPr>
          <a:xfrm>
            <a:off x="731520" y="5120640"/>
            <a:ext cx="502920" cy="502920"/>
          </a:xfrm>
          <a:prstGeom prst="ellipse">
            <a:avLst/>
          </a:prstGeom>
          <a:solidFill>
            <a:srgbClr val="0D9488"/>
          </a:solidFill>
          <a:ln w="12700">
            <a:solidFill>
              <a:srgbClr val="0D9488"/>
            </a:solidFill>
            <a:prstDash val="solid"/>
          </a:ln>
        </p:spPr>
      </p:sp>
      <p:pic>
        <p:nvPicPr>
          <p:cNvPr id="34" name="Image 4" descr="preencoded.png">    </p:cNvPr>
          <p:cNvPicPr>
            <a:picLocks noChangeAspect="1"/>
          </p:cNvPicPr>
          <p:nvPr/>
        </p:nvPicPr>
        <p:blipFill>
          <a:blip r:embed="rId5"/>
          <a:stretch>
            <a:fillRect/>
          </a:stretch>
        </p:blipFill>
        <p:spPr>
          <a:xfrm>
            <a:off x="857250" y="5246370"/>
            <a:ext cx="251460" cy="251460"/>
          </a:xfrm>
          <a:prstGeom prst="rect">
            <a:avLst/>
          </a:prstGeom>
        </p:spPr>
      </p:pic>
      <p:sp>
        <p:nvSpPr>
          <p:cNvPr id="35" name="Text 28"/>
          <p:cNvSpPr/>
          <p:nvPr/>
        </p:nvSpPr>
        <p:spPr>
          <a:xfrm>
            <a:off x="1417320" y="4800600"/>
            <a:ext cx="640080" cy="274320"/>
          </a:xfrm>
          <a:prstGeom prst="rect">
            <a:avLst/>
          </a:prstGeom>
          <a:noFill/>
          <a:ln/>
        </p:spPr>
        <p:txBody>
          <a:bodyPr wrap="square"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LAB</a:t>
            </a:r>
            <a:endParaRPr lang="en-US" sz="1000" dirty="0"/>
          </a:p>
        </p:txBody>
      </p:sp>
      <p:sp>
        <p:nvSpPr>
          <p:cNvPr id="36" name="Text 29"/>
          <p:cNvSpPr/>
          <p:nvPr/>
        </p:nvSpPr>
        <p:spPr>
          <a:xfrm>
            <a:off x="1417320" y="502920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Dashboard is the only signal</a:t>
            </a:r>
            <a:endParaRPr lang="en-US" sz="1200" dirty="0"/>
          </a:p>
        </p:txBody>
      </p:sp>
      <p:sp>
        <p:nvSpPr>
          <p:cNvPr id="37" name="Text 30"/>
          <p:cNvSpPr/>
          <p:nvPr/>
        </p:nvSpPr>
        <p:spPr>
          <a:xfrm>
            <a:off x="1417320" y="5440680"/>
            <a:ext cx="640080" cy="274320"/>
          </a:xfrm>
          <a:prstGeom prst="rect">
            <a:avLst/>
          </a:prstGeom>
          <a:noFill/>
          <a:ln/>
        </p:spPr>
        <p:txBody>
          <a:bodyPr wrap="square" rtlCol="0" anchor="ctr"/>
          <a:lstStyle/>
          <a:p>
            <a:pPr indent="0" marL="0">
              <a:buNone/>
            </a:pPr>
            <a:r>
              <a:rPr lang="en-US" sz="1000" b="1" spc="200" kern="0" dirty="0">
                <a:solidFill>
                  <a:srgbClr val="14B8A6"/>
                </a:solidFill>
                <a:latin typeface="Calibri" pitchFamily="34" charset="0"/>
                <a:ea typeface="Calibri" pitchFamily="34" charset="-122"/>
                <a:cs typeface="Calibri" pitchFamily="34" charset="-120"/>
              </a:rPr>
              <a:t>REAL</a:t>
            </a:r>
            <a:endParaRPr lang="en-US" sz="1000" dirty="0"/>
          </a:p>
        </p:txBody>
      </p:sp>
      <p:sp>
        <p:nvSpPr>
          <p:cNvPr id="38" name="Text 31"/>
          <p:cNvSpPr/>
          <p:nvPr/>
        </p:nvSpPr>
        <p:spPr>
          <a:xfrm>
            <a:off x="1417320" y="566928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Alerting via Alertmanager, on-call rotations, runbooks linked from each panel</a:t>
            </a:r>
            <a:endParaRPr lang="en-US" sz="1200" dirty="0"/>
          </a:p>
        </p:txBody>
      </p:sp>
      <p:sp>
        <p:nvSpPr>
          <p:cNvPr id="39" name="Shape 32"/>
          <p:cNvSpPr/>
          <p:nvPr/>
        </p:nvSpPr>
        <p:spPr>
          <a:xfrm>
            <a:off x="6199632" y="4663440"/>
            <a:ext cx="5440680" cy="1417320"/>
          </a:xfrm>
          <a:prstGeom prst="roundRect">
            <a:avLst>
              <a:gd name="adj" fmla="val 5161"/>
            </a:avLst>
          </a:prstGeom>
          <a:solidFill>
            <a:srgbClr val="1A2744"/>
          </a:solidFill>
          <a:ln w="12700">
            <a:solidFill>
              <a:srgbClr val="1A2744"/>
            </a:solidFill>
            <a:prstDash val="solid"/>
          </a:ln>
        </p:spPr>
      </p:sp>
      <p:sp>
        <p:nvSpPr>
          <p:cNvPr id="40" name="Shape 33"/>
          <p:cNvSpPr/>
          <p:nvPr/>
        </p:nvSpPr>
        <p:spPr>
          <a:xfrm>
            <a:off x="6382512" y="5120640"/>
            <a:ext cx="502920" cy="502920"/>
          </a:xfrm>
          <a:prstGeom prst="ellipse">
            <a:avLst/>
          </a:prstGeom>
          <a:solidFill>
            <a:srgbClr val="0D9488"/>
          </a:solidFill>
          <a:ln w="12700">
            <a:solidFill>
              <a:srgbClr val="0D9488"/>
            </a:solidFill>
            <a:prstDash val="solid"/>
          </a:ln>
        </p:spPr>
      </p:sp>
      <p:pic>
        <p:nvPicPr>
          <p:cNvPr id="41" name="Image 5" descr="preencoded.png">    </p:cNvPr>
          <p:cNvPicPr>
            <a:picLocks noChangeAspect="1"/>
          </p:cNvPicPr>
          <p:nvPr/>
        </p:nvPicPr>
        <p:blipFill>
          <a:blip r:embed="rId6"/>
          <a:stretch>
            <a:fillRect/>
          </a:stretch>
        </p:blipFill>
        <p:spPr>
          <a:xfrm>
            <a:off x="6508242" y="5246370"/>
            <a:ext cx="251460" cy="251460"/>
          </a:xfrm>
          <a:prstGeom prst="rect">
            <a:avLst/>
          </a:prstGeom>
        </p:spPr>
      </p:pic>
      <p:sp>
        <p:nvSpPr>
          <p:cNvPr id="42" name="Text 34"/>
          <p:cNvSpPr/>
          <p:nvPr/>
        </p:nvSpPr>
        <p:spPr>
          <a:xfrm>
            <a:off x="7068312" y="4800600"/>
            <a:ext cx="640080" cy="274320"/>
          </a:xfrm>
          <a:prstGeom prst="rect">
            <a:avLst/>
          </a:prstGeom>
          <a:noFill/>
          <a:ln/>
        </p:spPr>
        <p:txBody>
          <a:bodyPr wrap="square"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LAB</a:t>
            </a:r>
            <a:endParaRPr lang="en-US" sz="1000" dirty="0"/>
          </a:p>
        </p:txBody>
      </p:sp>
      <p:sp>
        <p:nvSpPr>
          <p:cNvPr id="43" name="Text 35"/>
          <p:cNvSpPr/>
          <p:nvPr/>
        </p:nvSpPr>
        <p:spPr>
          <a:xfrm>
            <a:off x="7068312" y="502920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/api/datasources/name/.../health</a:t>
            </a:r>
            <a:endParaRPr lang="en-US" sz="1200" dirty="0"/>
          </a:p>
        </p:txBody>
      </p:sp>
      <p:sp>
        <p:nvSpPr>
          <p:cNvPr id="44" name="Text 36"/>
          <p:cNvSpPr/>
          <p:nvPr/>
        </p:nvSpPr>
        <p:spPr>
          <a:xfrm>
            <a:off x="7068312" y="5440680"/>
            <a:ext cx="640080" cy="274320"/>
          </a:xfrm>
          <a:prstGeom prst="rect">
            <a:avLst/>
          </a:prstGeom>
          <a:noFill/>
          <a:ln/>
        </p:spPr>
        <p:txBody>
          <a:bodyPr wrap="square" rtlCol="0" anchor="ctr"/>
          <a:lstStyle/>
          <a:p>
            <a:pPr indent="0" marL="0">
              <a:buNone/>
            </a:pPr>
            <a:r>
              <a:rPr lang="en-US" sz="1000" b="1" spc="200" kern="0" dirty="0">
                <a:solidFill>
                  <a:srgbClr val="14B8A6"/>
                </a:solidFill>
                <a:latin typeface="Calibri" pitchFamily="34" charset="0"/>
                <a:ea typeface="Calibri" pitchFamily="34" charset="-122"/>
                <a:cs typeface="Calibri" pitchFamily="34" charset="-120"/>
              </a:rPr>
              <a:t>REAL</a:t>
            </a:r>
            <a:endParaRPr lang="en-US" sz="1000" dirty="0"/>
          </a:p>
        </p:txBody>
      </p:sp>
      <p:sp>
        <p:nvSpPr>
          <p:cNvPr id="45" name="Text 37"/>
          <p:cNvSpPr/>
          <p:nvPr/>
        </p:nvSpPr>
        <p:spPr>
          <a:xfrm>
            <a:off x="7068312" y="5669280"/>
            <a:ext cx="4434840" cy="4114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UID-based endpoints (Grafana 13+). Name-based health probe is deprecated.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11274552"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3" name="Shape 1"/>
          <p:cNvSpPr/>
          <p:nvPr/>
        </p:nvSpPr>
        <p:spPr>
          <a:xfrm>
            <a:off x="548640" y="1280160"/>
            <a:ext cx="5440680" cy="1463040"/>
          </a:xfrm>
          <a:prstGeom prst="roundRect">
            <a:avLst>
              <a:gd name="adj" fmla="val 5000"/>
            </a:avLst>
          </a:prstGeom>
          <a:solidFill>
            <a:srgbClr val="1A2744"/>
          </a:solidFill>
          <a:ln w="12700">
            <a:solidFill>
              <a:srgbClr val="1A2744"/>
            </a:solidFill>
            <a:prstDash val="solid"/>
          </a:ln>
        </p:spPr>
      </p:sp>
      <p:sp>
        <p:nvSpPr>
          <p:cNvPr id="4" name="Shape 2"/>
          <p:cNvSpPr/>
          <p:nvPr/>
        </p:nvSpPr>
        <p:spPr>
          <a:xfrm>
            <a:off x="731520" y="1737360"/>
            <a:ext cx="548640" cy="548640"/>
          </a:xfrm>
          <a:prstGeom prst="ellipse">
            <a:avLst/>
          </a:prstGeom>
          <a:solidFill>
            <a:srgbClr val="0D9488"/>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868680" y="1874520"/>
            <a:ext cx="274320" cy="274320"/>
          </a:xfrm>
          <a:prstGeom prst="rect">
            <a:avLst/>
          </a:prstGeom>
        </p:spPr>
      </p:pic>
      <p:sp>
        <p:nvSpPr>
          <p:cNvPr id="6" name="Text 3"/>
          <p:cNvSpPr/>
          <p:nvPr/>
        </p:nvSpPr>
        <p:spPr>
          <a:xfrm>
            <a:off x="1463040" y="1463040"/>
            <a:ext cx="4389120" cy="41148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Read the logs first</a:t>
            </a:r>
            <a:endParaRPr lang="en-US" sz="1400" dirty="0"/>
          </a:p>
        </p:txBody>
      </p:sp>
      <p:sp>
        <p:nvSpPr>
          <p:cNvPr id="7" name="Text 4"/>
          <p:cNvSpPr/>
          <p:nvPr/>
        </p:nvSpPr>
        <p:spPr>
          <a:xfrm>
            <a:off x="1463040" y="1874520"/>
            <a:ext cx="4389120" cy="8686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When something isn't behaving as expected, the system has usually already told you why. Look there before you look anywhere else.</a:t>
            </a:r>
            <a:endParaRPr lang="en-US" sz="1200" dirty="0"/>
          </a:p>
        </p:txBody>
      </p:sp>
      <p:sp>
        <p:nvSpPr>
          <p:cNvPr id="8" name="Shape 5"/>
          <p:cNvSpPr/>
          <p:nvPr/>
        </p:nvSpPr>
        <p:spPr>
          <a:xfrm>
            <a:off x="6199632" y="1280160"/>
            <a:ext cx="5440680" cy="1463040"/>
          </a:xfrm>
          <a:prstGeom prst="roundRect">
            <a:avLst>
              <a:gd name="adj" fmla="val 5000"/>
            </a:avLst>
          </a:prstGeom>
          <a:solidFill>
            <a:srgbClr val="1A2744"/>
          </a:solidFill>
          <a:ln w="12700">
            <a:solidFill>
              <a:srgbClr val="1A2744"/>
            </a:solidFill>
            <a:prstDash val="solid"/>
          </a:ln>
        </p:spPr>
      </p:sp>
      <p:sp>
        <p:nvSpPr>
          <p:cNvPr id="9" name="Shape 6"/>
          <p:cNvSpPr/>
          <p:nvPr/>
        </p:nvSpPr>
        <p:spPr>
          <a:xfrm>
            <a:off x="6382512" y="1737360"/>
            <a:ext cx="548640" cy="548640"/>
          </a:xfrm>
          <a:prstGeom prst="ellipse">
            <a:avLst/>
          </a:prstGeom>
          <a:solidFill>
            <a:srgbClr val="0D9488"/>
          </a:solidFill>
          <a:ln w="12700">
            <a:solidFill>
              <a:srgbClr val="0D9488"/>
            </a:solidFill>
            <a:prstDash val="solid"/>
          </a:ln>
        </p:spPr>
      </p:sp>
      <p:pic>
        <p:nvPicPr>
          <p:cNvPr id="10" name="Image 1" descr="preencoded.png">    </p:cNvPr>
          <p:cNvPicPr>
            <a:picLocks noChangeAspect="1"/>
          </p:cNvPicPr>
          <p:nvPr/>
        </p:nvPicPr>
        <p:blipFill>
          <a:blip r:embed="rId2"/>
          <a:stretch>
            <a:fillRect/>
          </a:stretch>
        </p:blipFill>
        <p:spPr>
          <a:xfrm>
            <a:off x="6519672" y="1874520"/>
            <a:ext cx="274320" cy="274320"/>
          </a:xfrm>
          <a:prstGeom prst="rect">
            <a:avLst/>
          </a:prstGeom>
        </p:spPr>
      </p:pic>
      <p:sp>
        <p:nvSpPr>
          <p:cNvPr id="11" name="Text 7"/>
          <p:cNvSpPr/>
          <p:nvPr/>
        </p:nvSpPr>
        <p:spPr>
          <a:xfrm>
            <a:off x="7114032" y="1463040"/>
            <a:ext cx="4389120" cy="41148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localhost always means "me"</a:t>
            </a:r>
            <a:endParaRPr lang="en-US" sz="1400" dirty="0"/>
          </a:p>
        </p:txBody>
      </p:sp>
      <p:sp>
        <p:nvSpPr>
          <p:cNvPr id="12" name="Text 8"/>
          <p:cNvSpPr/>
          <p:nvPr/>
        </p:nvSpPr>
        <p:spPr>
          <a:xfrm>
            <a:off x="7114032" y="1874520"/>
            <a:ext cx="4389120" cy="8686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And "me" depends on where you're running. Inside a container, localhost is that container — not the host, not other containers.</a:t>
            </a:r>
            <a:endParaRPr lang="en-US" sz="1200" dirty="0"/>
          </a:p>
        </p:txBody>
      </p:sp>
      <p:sp>
        <p:nvSpPr>
          <p:cNvPr id="13" name="Shape 9"/>
          <p:cNvSpPr/>
          <p:nvPr/>
        </p:nvSpPr>
        <p:spPr>
          <a:xfrm>
            <a:off x="548640" y="2907792"/>
            <a:ext cx="5440680" cy="1463040"/>
          </a:xfrm>
          <a:prstGeom prst="roundRect">
            <a:avLst>
              <a:gd name="adj" fmla="val 5000"/>
            </a:avLst>
          </a:prstGeom>
          <a:solidFill>
            <a:srgbClr val="1A2744"/>
          </a:solidFill>
          <a:ln w="12700">
            <a:solidFill>
              <a:srgbClr val="1A2744"/>
            </a:solidFill>
            <a:prstDash val="solid"/>
          </a:ln>
        </p:spPr>
      </p:sp>
      <p:sp>
        <p:nvSpPr>
          <p:cNvPr id="14" name="Shape 10"/>
          <p:cNvSpPr/>
          <p:nvPr/>
        </p:nvSpPr>
        <p:spPr>
          <a:xfrm>
            <a:off x="731520" y="3364992"/>
            <a:ext cx="548640" cy="548640"/>
          </a:xfrm>
          <a:prstGeom prst="ellipse">
            <a:avLst/>
          </a:prstGeom>
          <a:solidFill>
            <a:srgbClr val="0D9488"/>
          </a:solidFill>
          <a:ln w="12700">
            <a:solidFill>
              <a:srgbClr val="0D9488"/>
            </a:solidFill>
            <a:prstDash val="solid"/>
          </a:ln>
        </p:spPr>
      </p:sp>
      <p:pic>
        <p:nvPicPr>
          <p:cNvPr id="15" name="Image 2" descr="preencoded.png">    </p:cNvPr>
          <p:cNvPicPr>
            <a:picLocks noChangeAspect="1"/>
          </p:cNvPicPr>
          <p:nvPr/>
        </p:nvPicPr>
        <p:blipFill>
          <a:blip r:embed="rId3"/>
          <a:stretch>
            <a:fillRect/>
          </a:stretch>
        </p:blipFill>
        <p:spPr>
          <a:xfrm>
            <a:off x="868680" y="3502152"/>
            <a:ext cx="274320" cy="274320"/>
          </a:xfrm>
          <a:prstGeom prst="rect">
            <a:avLst/>
          </a:prstGeom>
        </p:spPr>
      </p:pic>
      <p:sp>
        <p:nvSpPr>
          <p:cNvPr id="16" name="Text 11"/>
          <p:cNvSpPr/>
          <p:nvPr/>
        </p:nvSpPr>
        <p:spPr>
          <a:xfrm>
            <a:off x="1463040" y="3090672"/>
            <a:ext cx="4389120" cy="41148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Prometheus is more honest than Grafana</a:t>
            </a:r>
            <a:endParaRPr lang="en-US" sz="1400" dirty="0"/>
          </a:p>
        </p:txBody>
      </p:sp>
      <p:sp>
        <p:nvSpPr>
          <p:cNvPr id="17" name="Text 12"/>
          <p:cNvSpPr/>
          <p:nvPr/>
        </p:nvSpPr>
        <p:spPr>
          <a:xfrm>
            <a:off x="1463040" y="3502152"/>
            <a:ext cx="4389120" cy="8686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Run dashboard queries directly in Prometheus's expression browser. Errors and warnings Grafana hides will be obvious there.</a:t>
            </a:r>
            <a:endParaRPr lang="en-US" sz="1200" dirty="0"/>
          </a:p>
        </p:txBody>
      </p:sp>
      <p:sp>
        <p:nvSpPr>
          <p:cNvPr id="18" name="Shape 13"/>
          <p:cNvSpPr/>
          <p:nvPr/>
        </p:nvSpPr>
        <p:spPr>
          <a:xfrm>
            <a:off x="6199632" y="2907792"/>
            <a:ext cx="5440680" cy="1463040"/>
          </a:xfrm>
          <a:prstGeom prst="roundRect">
            <a:avLst>
              <a:gd name="adj" fmla="val 5000"/>
            </a:avLst>
          </a:prstGeom>
          <a:solidFill>
            <a:srgbClr val="1A2744"/>
          </a:solidFill>
          <a:ln w="12700">
            <a:solidFill>
              <a:srgbClr val="1A2744"/>
            </a:solidFill>
            <a:prstDash val="solid"/>
          </a:ln>
        </p:spPr>
      </p:sp>
      <p:sp>
        <p:nvSpPr>
          <p:cNvPr id="19" name="Shape 14"/>
          <p:cNvSpPr/>
          <p:nvPr/>
        </p:nvSpPr>
        <p:spPr>
          <a:xfrm>
            <a:off x="6382512" y="3364992"/>
            <a:ext cx="548640" cy="548640"/>
          </a:xfrm>
          <a:prstGeom prst="ellipse">
            <a:avLst/>
          </a:prstGeom>
          <a:solidFill>
            <a:srgbClr val="0D9488"/>
          </a:solidFill>
          <a:ln w="12700">
            <a:solidFill>
              <a:srgbClr val="0D9488"/>
            </a:solidFill>
            <a:prstDash val="solid"/>
          </a:ln>
        </p:spPr>
      </p:sp>
      <p:pic>
        <p:nvPicPr>
          <p:cNvPr id="20" name="Image 3" descr="preencoded.png">    </p:cNvPr>
          <p:cNvPicPr>
            <a:picLocks noChangeAspect="1"/>
          </p:cNvPicPr>
          <p:nvPr/>
        </p:nvPicPr>
        <p:blipFill>
          <a:blip r:embed="rId4"/>
          <a:stretch>
            <a:fillRect/>
          </a:stretch>
        </p:blipFill>
        <p:spPr>
          <a:xfrm>
            <a:off x="6519672" y="3502152"/>
            <a:ext cx="274320" cy="274320"/>
          </a:xfrm>
          <a:prstGeom prst="rect">
            <a:avLst/>
          </a:prstGeom>
        </p:spPr>
      </p:pic>
      <p:sp>
        <p:nvSpPr>
          <p:cNvPr id="21" name="Text 15"/>
          <p:cNvSpPr/>
          <p:nvPr/>
        </p:nvSpPr>
        <p:spPr>
          <a:xfrm>
            <a:off x="7114032" y="3090672"/>
            <a:ext cx="4389120" cy="41148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Verify your assumptions against the engine</a:t>
            </a:r>
            <a:endParaRPr lang="en-US" sz="1400" dirty="0"/>
          </a:p>
        </p:txBody>
      </p:sp>
      <p:sp>
        <p:nvSpPr>
          <p:cNvPr id="22" name="Text 16"/>
          <p:cNvSpPr/>
          <p:nvPr/>
        </p:nvSpPr>
        <p:spPr>
          <a:xfrm>
            <a:off x="7114032" y="3502152"/>
            <a:ext cx="4389120" cy="8686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Documentation goes stale. Team folklore goes wrong. The query language's actual behaviour is the source of truth.</a:t>
            </a:r>
            <a:endParaRPr lang="en-US" sz="1200" dirty="0"/>
          </a:p>
        </p:txBody>
      </p:sp>
      <p:sp>
        <p:nvSpPr>
          <p:cNvPr id="23" name="Shape 17"/>
          <p:cNvSpPr/>
          <p:nvPr/>
        </p:nvSpPr>
        <p:spPr>
          <a:xfrm>
            <a:off x="548640" y="4535424"/>
            <a:ext cx="5440680" cy="1463040"/>
          </a:xfrm>
          <a:prstGeom prst="roundRect">
            <a:avLst>
              <a:gd name="adj" fmla="val 5000"/>
            </a:avLst>
          </a:prstGeom>
          <a:solidFill>
            <a:srgbClr val="1A2744"/>
          </a:solidFill>
          <a:ln w="12700">
            <a:solidFill>
              <a:srgbClr val="1A2744"/>
            </a:solidFill>
            <a:prstDash val="solid"/>
          </a:ln>
        </p:spPr>
      </p:sp>
      <p:sp>
        <p:nvSpPr>
          <p:cNvPr id="24" name="Shape 18"/>
          <p:cNvSpPr/>
          <p:nvPr/>
        </p:nvSpPr>
        <p:spPr>
          <a:xfrm>
            <a:off x="731520" y="4992624"/>
            <a:ext cx="548640" cy="548640"/>
          </a:xfrm>
          <a:prstGeom prst="ellipse">
            <a:avLst/>
          </a:prstGeom>
          <a:solidFill>
            <a:srgbClr val="0D9488"/>
          </a:solidFill>
          <a:ln w="12700">
            <a:solidFill>
              <a:srgbClr val="0D9488"/>
            </a:solidFill>
            <a:prstDash val="solid"/>
          </a:ln>
        </p:spPr>
      </p:sp>
      <p:pic>
        <p:nvPicPr>
          <p:cNvPr id="25" name="Image 4" descr="preencoded.png">    </p:cNvPr>
          <p:cNvPicPr>
            <a:picLocks noChangeAspect="1"/>
          </p:cNvPicPr>
          <p:nvPr/>
        </p:nvPicPr>
        <p:blipFill>
          <a:blip r:embed="rId5"/>
          <a:stretch>
            <a:fillRect/>
          </a:stretch>
        </p:blipFill>
        <p:spPr>
          <a:xfrm>
            <a:off x="868680" y="5129784"/>
            <a:ext cx="274320" cy="274320"/>
          </a:xfrm>
          <a:prstGeom prst="rect">
            <a:avLst/>
          </a:prstGeom>
        </p:spPr>
      </p:pic>
      <p:sp>
        <p:nvSpPr>
          <p:cNvPr id="26" name="Text 19"/>
          <p:cNvSpPr/>
          <p:nvPr/>
        </p:nvSpPr>
        <p:spPr>
          <a:xfrm>
            <a:off x="1463040" y="4718304"/>
            <a:ext cx="4389120" cy="41148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Empty results are not errors</a:t>
            </a:r>
            <a:endParaRPr lang="en-US" sz="1400" dirty="0"/>
          </a:p>
        </p:txBody>
      </p:sp>
      <p:sp>
        <p:nvSpPr>
          <p:cNvPr id="27" name="Text 20"/>
          <p:cNvSpPr/>
          <p:nvPr/>
        </p:nvSpPr>
        <p:spPr>
          <a:xfrm>
            <a:off x="1463040" y="5129784"/>
            <a:ext cx="4389120" cy="8686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A typo in a metric name silently returns nothing. Treat "No data" without a warning triangle as a different bug class from "No data" with one.</a:t>
            </a:r>
            <a:endParaRPr lang="en-US" sz="1200" dirty="0"/>
          </a:p>
        </p:txBody>
      </p:sp>
      <p:sp>
        <p:nvSpPr>
          <p:cNvPr id="28" name="Shape 21"/>
          <p:cNvSpPr/>
          <p:nvPr/>
        </p:nvSpPr>
        <p:spPr>
          <a:xfrm>
            <a:off x="6199632" y="4535424"/>
            <a:ext cx="5440680" cy="1463040"/>
          </a:xfrm>
          <a:prstGeom prst="roundRect">
            <a:avLst>
              <a:gd name="adj" fmla="val 5000"/>
            </a:avLst>
          </a:prstGeom>
          <a:solidFill>
            <a:srgbClr val="1A2744"/>
          </a:solidFill>
          <a:ln w="12700">
            <a:solidFill>
              <a:srgbClr val="1A2744"/>
            </a:solidFill>
            <a:prstDash val="solid"/>
          </a:ln>
        </p:spPr>
      </p:sp>
      <p:sp>
        <p:nvSpPr>
          <p:cNvPr id="29" name="Shape 22"/>
          <p:cNvSpPr/>
          <p:nvPr/>
        </p:nvSpPr>
        <p:spPr>
          <a:xfrm>
            <a:off x="6382512" y="4992624"/>
            <a:ext cx="548640" cy="548640"/>
          </a:xfrm>
          <a:prstGeom prst="ellipse">
            <a:avLst/>
          </a:prstGeom>
          <a:solidFill>
            <a:srgbClr val="0D9488"/>
          </a:solidFill>
          <a:ln w="12700">
            <a:solidFill>
              <a:srgbClr val="0D9488"/>
            </a:solidFill>
            <a:prstDash val="solid"/>
          </a:ln>
        </p:spPr>
      </p:sp>
      <p:pic>
        <p:nvPicPr>
          <p:cNvPr id="30" name="Image 5" descr="preencoded.png">    </p:cNvPr>
          <p:cNvPicPr>
            <a:picLocks noChangeAspect="1"/>
          </p:cNvPicPr>
          <p:nvPr/>
        </p:nvPicPr>
        <p:blipFill>
          <a:blip r:embed="rId6"/>
          <a:stretch>
            <a:fillRect/>
          </a:stretch>
        </p:blipFill>
        <p:spPr>
          <a:xfrm>
            <a:off x="6519672" y="5129784"/>
            <a:ext cx="274320" cy="274320"/>
          </a:xfrm>
          <a:prstGeom prst="rect">
            <a:avLst/>
          </a:prstGeom>
        </p:spPr>
      </p:pic>
      <p:sp>
        <p:nvSpPr>
          <p:cNvPr id="31" name="Text 23"/>
          <p:cNvSpPr/>
          <p:nvPr/>
        </p:nvSpPr>
        <p:spPr>
          <a:xfrm>
            <a:off x="7114032" y="4718304"/>
            <a:ext cx="4389120" cy="41148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Never grep JSON</a:t>
            </a:r>
            <a:endParaRPr lang="en-US" sz="1400" dirty="0"/>
          </a:p>
        </p:txBody>
      </p:sp>
      <p:sp>
        <p:nvSpPr>
          <p:cNvPr id="32" name="Text 24"/>
          <p:cNvSpPr/>
          <p:nvPr/>
        </p:nvSpPr>
        <p:spPr>
          <a:xfrm>
            <a:off x="7114032" y="5129784"/>
            <a:ext cx="4389120" cy="8686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Use a real parser — jq, python, anything. Field order isn't stable. String-matching JSON produces validators that lie.</a:t>
            </a:r>
            <a:endParaRPr lang="en-US" sz="1200" dirty="0"/>
          </a:p>
        </p:txBody>
      </p:sp>
      <p:sp>
        <p:nvSpPr>
          <p:cNvPr id="33" name="Shape 25"/>
          <p:cNvSpPr/>
          <p:nvPr/>
        </p:nvSpPr>
        <p:spPr>
          <a:xfrm>
            <a:off x="548640" y="5897880"/>
            <a:ext cx="11091672" cy="777240"/>
          </a:xfrm>
          <a:prstGeom prst="roundRect">
            <a:avLst>
              <a:gd name="adj" fmla="val 9412"/>
            </a:avLst>
          </a:prstGeom>
          <a:solidFill>
            <a:srgbClr val="1A2744"/>
          </a:solidFill>
          <a:ln w="12700">
            <a:solidFill>
              <a:srgbClr val="1A2744"/>
            </a:solidFill>
            <a:prstDash val="solid"/>
          </a:ln>
        </p:spPr>
      </p:sp>
      <p:sp>
        <p:nvSpPr>
          <p:cNvPr id="34" name="Text 26"/>
          <p:cNvSpPr/>
          <p:nvPr/>
        </p:nvSpPr>
        <p:spPr>
          <a:xfrm>
            <a:off x="777240" y="5897880"/>
            <a:ext cx="10607040" cy="777240"/>
          </a:xfrm>
          <a:prstGeom prst="rect">
            <a:avLst/>
          </a:prstGeom>
          <a:noFill/>
          <a:ln/>
        </p:spPr>
        <p:txBody>
          <a:bodyPr wrap="square" rtlCol="0" anchor="ctr"/>
          <a:lstStyle/>
          <a:p>
            <a:pPr algn="ctr" indent="0" marL="0">
              <a:buNone/>
            </a:pPr>
            <a:r>
              <a:rPr lang="en-US" sz="1400" i="1" dirty="0">
                <a:solidFill>
                  <a:srgbClr val="14B8A6"/>
                </a:solidFill>
                <a:latin typeface="Calibri" pitchFamily="34" charset="0"/>
                <a:ea typeface="Calibri" pitchFamily="34" charset="-122"/>
                <a:cs typeface="Calibri" pitchFamily="34" charset="-120"/>
              </a:rPr>
              <a:t>Lab 056 complete — five real bugs across three layers, one false-positive corrected, and one validator made honest.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2026-05-01T09:28:16Z</dcterms:created>
  <dcterms:modified xsi:type="dcterms:W3CDTF">2026-05-01T09:28:16Z</dcterms:modified>
</cp:coreProperties>
</file>